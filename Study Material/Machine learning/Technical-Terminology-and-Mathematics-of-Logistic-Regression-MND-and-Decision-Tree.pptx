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Fraunces Medium"/>
      <p:regular r:id="rId16"/>
    </p:embeddedFont>
    <p:embeddedFont>
      <p:font typeface="Fraunces Medium"/>
      <p:regular r:id="rId17"/>
    </p:embeddedFont>
    <p:embeddedFont>
      <p:font typeface="Fraunces Medium"/>
      <p:regular r:id="rId18"/>
    </p:embeddedFont>
    <p:embeddedFont>
      <p:font typeface="Fraunces Medium"/>
      <p:regular r:id="rId19"/>
    </p:embeddedFont>
    <p:embeddedFont>
      <p:font typeface="Epilogue"/>
      <p:regular r:id="rId20"/>
    </p:embeddedFont>
    <p:embeddedFont>
      <p:font typeface="Epilogue"/>
      <p:regular r:id="rId21"/>
    </p:embeddedFont>
    <p:embeddedFont>
      <p:font typeface="Epilogue"/>
      <p:regular r:id="rId22"/>
    </p:embeddedFont>
    <p:embeddedFont>
      <p:font typeface="Epilogue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565" y="994886"/>
            <a:ext cx="7722870" cy="4377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850"/>
              </a:lnSpc>
              <a:buNone/>
            </a:pPr>
            <a:r>
              <a:rPr lang="en-US" sz="5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Technical Terminology and Mathematics of Logistic Regression, MND, and Decision Tree</a:t>
            </a:r>
            <a:endParaRPr lang="en-US" sz="5500" dirty="0"/>
          </a:p>
        </p:txBody>
      </p:sp>
      <p:sp>
        <p:nvSpPr>
          <p:cNvPr id="4" name="Text 1"/>
          <p:cNvSpPr/>
          <p:nvPr/>
        </p:nvSpPr>
        <p:spPr>
          <a:xfrm>
            <a:off x="710565" y="5676662"/>
            <a:ext cx="7722870" cy="97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presentation delves into the technical aspects of Logistic Regression, Multinomial and Ordinal Logistic Regression (MND), and Decision Trees, focusing on their mathematical underpinnings.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10565" y="6894552"/>
            <a:ext cx="324803" cy="324802"/>
          </a:xfrm>
          <a:prstGeom prst="roundRect">
            <a:avLst>
              <a:gd name="adj" fmla="val 28149721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" y="6902172"/>
            <a:ext cx="309562" cy="3095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6809" y="6879431"/>
            <a:ext cx="2319814" cy="35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by Lokesh Belekar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9355" y="615315"/>
            <a:ext cx="757809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Introduction to Logistic Regression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69355" y="2600682"/>
            <a:ext cx="503277" cy="503277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44020" y="2684502"/>
            <a:ext cx="153829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996351" y="2600682"/>
            <a:ext cx="2950250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Predicting Binary Outcomes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96351" y="3434001"/>
            <a:ext cx="2950250" cy="250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Logistic Regression is a statistical method used for predicting binary outcomes, such as whether a customer will purchase a product or not.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0319" y="2600682"/>
            <a:ext cx="503277" cy="503277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20218" y="2684502"/>
            <a:ext cx="203359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0897314" y="2600682"/>
            <a:ext cx="2950250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Probability Estimation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897314" y="3434001"/>
            <a:ext cx="2950250" cy="14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model estimates the probability of an event occurring, given a set of independent variables.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69355" y="6414611"/>
            <a:ext cx="503277" cy="503277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8423" y="6498431"/>
            <a:ext cx="185142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996351" y="6414611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Classification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96351" y="6898362"/>
            <a:ext cx="6851094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Based on the estimated probabilities, the model classifies observations into two categories.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551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Fundamentals of Logistic Regression: Sigmoid Function and Log-Odds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Sigmoid Function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sigmoid function is a mathematical function that maps any real number to a value between 0 and 1, representing probability.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Log-Odds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7511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Log-odds, or the logit, transform probabilities into a linear function, making it easier to estimate coefficients using linear regression methods.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6010" y="670917"/>
            <a:ext cx="7764780" cy="1847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Parameter Estimation in Logistic Regression: Maximum Likelihood Estimation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460093" y="2813447"/>
            <a:ext cx="22860" cy="4745117"/>
          </a:xfrm>
          <a:prstGeom prst="roundRect">
            <a:avLst>
              <a:gd name="adj" fmla="val 362004"/>
            </a:avLst>
          </a:prstGeom>
          <a:solidFill>
            <a:srgbClr val="414A70"/>
          </a:solidFill>
          <a:ln/>
        </p:spPr>
      </p:sp>
      <p:sp>
        <p:nvSpPr>
          <p:cNvPr id="5" name="Shape 2"/>
          <p:cNvSpPr/>
          <p:nvPr/>
        </p:nvSpPr>
        <p:spPr>
          <a:xfrm>
            <a:off x="6670298" y="3245168"/>
            <a:ext cx="689610" cy="22860"/>
          </a:xfrm>
          <a:prstGeom prst="roundRect">
            <a:avLst>
              <a:gd name="adj" fmla="val 362004"/>
            </a:avLst>
          </a:prstGeom>
          <a:solidFill>
            <a:srgbClr val="414A70"/>
          </a:solidFill>
          <a:ln/>
        </p:spPr>
      </p:sp>
      <p:sp>
        <p:nvSpPr>
          <p:cNvPr id="6" name="Shape 3"/>
          <p:cNvSpPr/>
          <p:nvPr/>
        </p:nvSpPr>
        <p:spPr>
          <a:xfrm>
            <a:off x="6249888" y="3035022"/>
            <a:ext cx="443270" cy="443270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3717" y="3108841"/>
            <a:ext cx="135493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55111" y="3010376"/>
            <a:ext cx="2462808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Likelihood Function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555111" y="3436382"/>
            <a:ext cx="6385679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likelihood function measures how likely the observed data is given a set of parameter values.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670298" y="4892516"/>
            <a:ext cx="689610" cy="22860"/>
          </a:xfrm>
          <a:prstGeom prst="roundRect">
            <a:avLst>
              <a:gd name="adj" fmla="val 362004"/>
            </a:avLst>
          </a:prstGeom>
          <a:solidFill>
            <a:srgbClr val="414A70"/>
          </a:solidFill>
          <a:ln/>
        </p:spPr>
      </p:sp>
      <p:sp>
        <p:nvSpPr>
          <p:cNvPr id="11" name="Shape 8"/>
          <p:cNvSpPr/>
          <p:nvPr/>
        </p:nvSpPr>
        <p:spPr>
          <a:xfrm>
            <a:off x="6249888" y="4682371"/>
            <a:ext cx="443270" cy="443270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1929" y="4756190"/>
            <a:ext cx="179070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555111" y="4657725"/>
            <a:ext cx="2462808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Optimization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555111" y="5083731"/>
            <a:ext cx="6385679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goal of maximum likelihood estimation is to find the parameter values that maximize the likelihood function.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670298" y="6539865"/>
            <a:ext cx="689610" cy="22860"/>
          </a:xfrm>
          <a:prstGeom prst="roundRect">
            <a:avLst>
              <a:gd name="adj" fmla="val 362004"/>
            </a:avLst>
          </a:prstGeom>
          <a:solidFill>
            <a:srgbClr val="414A70"/>
          </a:solidFill>
          <a:ln/>
        </p:spPr>
      </p:sp>
      <p:sp>
        <p:nvSpPr>
          <p:cNvPr id="16" name="Shape 13"/>
          <p:cNvSpPr/>
          <p:nvPr/>
        </p:nvSpPr>
        <p:spPr>
          <a:xfrm>
            <a:off x="6249888" y="6329720"/>
            <a:ext cx="443270" cy="443270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89906" y="6403538"/>
            <a:ext cx="163116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7555111" y="6305074"/>
            <a:ext cx="2462808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Iterative Algorithm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55111" y="6731079"/>
            <a:ext cx="6385679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 iterative algorithm, such as gradient descent, is used to find the optimal parameter values.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6407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Interpreting Logistic Regression Coefficients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21794"/>
            <a:ext cx="7556421" cy="4143613"/>
          </a:xfrm>
          <a:prstGeom prst="roundRect">
            <a:avLst>
              <a:gd name="adj" fmla="val 229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810" y="2929414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14624" y="307312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Coefficient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9024" y="307312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Interpretation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7810" y="3579733"/>
            <a:ext cx="7541181" cy="17390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514624" y="372344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Positive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89024" y="3723442"/>
            <a:ext cx="3313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Increase in the independent variable increases the probability of the event occurring.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7810" y="5318760"/>
            <a:ext cx="7541181" cy="17390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514624" y="546246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Negative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9024" y="5462468"/>
            <a:ext cx="3313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Increase in the independent variable decreases the probability of the event occurring.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Multinomial Logistic Regression (MNL)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Multiple Categories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951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MNL extends Logistic Regression to handle dependent variables with more than two categories.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1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Probabilistic Model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951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MNL estimates the probability of each category, given the values of the independent variables.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128" y="6075045"/>
            <a:ext cx="295322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Categorical Prediction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951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model predicts the most likely category based on the estimated probabilities.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16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Ordinal Logistic Regression (Proportional Odds Model)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69356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Ordered Categories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194209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Ordinal Logistic Regression handles dependent variables with ordered categories, such as low, medium, and high.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69356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703790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Cumulative Probabilities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54853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model estimates the cumulative probability of being in a particular category or below.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9969"/>
            <a:ext cx="7556421" cy="2047994"/>
          </a:xfrm>
          <a:prstGeom prst="roundRect">
            <a:avLst>
              <a:gd name="adj" fmla="val 465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704403"/>
            <a:ext cx="42164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Proportional Odds Assumption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194822"/>
            <a:ext cx="70875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model assumes that the effect of the independent variables on the cumulative probabilities is proportional across categories.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1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93990"/>
            <a:ext cx="7886700" cy="1122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Decision Tree: Entropy, Information Gain, and Gini Index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86188"/>
            <a:ext cx="448985" cy="4489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650" y="2514719"/>
            <a:ext cx="2245400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Entropy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28650" y="2903101"/>
            <a:ext cx="788670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Entropy measures the impurity of a set of data, with higher entropy indicating greater uncertainty.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016812"/>
            <a:ext cx="448985" cy="4489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650" y="4645343"/>
            <a:ext cx="2245400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Information Gain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28650" y="5033724"/>
            <a:ext cx="788670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Information gain measures the reduction in entropy after splitting a node, indicating the usefulness of an attribute for classification.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6147435"/>
            <a:ext cx="448985" cy="4489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650" y="6775966"/>
            <a:ext cx="2245400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Gini Index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28650" y="7164348"/>
            <a:ext cx="788670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Gini index measures the probability of misclassifying a randomly chosen observation, with lower values indicating better classification.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154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255" y="3259336"/>
            <a:ext cx="12727186" cy="62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Conclusion: Comparing and Choosing Among Models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4255" y="4189928"/>
            <a:ext cx="13221891" cy="3295650"/>
          </a:xfrm>
          <a:prstGeom prst="roundRect">
            <a:avLst>
              <a:gd name="adj" fmla="val 256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1875" y="4197548"/>
            <a:ext cx="13205222" cy="5786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519" y="4325898"/>
            <a:ext cx="3995023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Model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319593" y="4325898"/>
            <a:ext cx="3991213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Strengths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720858" y="4325898"/>
            <a:ext cx="3995023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Weaknesses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11875" y="4776192"/>
            <a:ext cx="13205222" cy="9005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14519" y="4904542"/>
            <a:ext cx="3995023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Logistic Regression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319593" y="4904542"/>
            <a:ext cx="3991213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Interpretable coefficients, robust to outliers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720858" y="4904542"/>
            <a:ext cx="3995023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Assumes linear relationship, requires large sample size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11875" y="5676781"/>
            <a:ext cx="13205222" cy="9005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14519" y="5805130"/>
            <a:ext cx="3995023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MND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319593" y="5805130"/>
            <a:ext cx="3991213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Handles multiple categories, flexible in modeling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720858" y="5805130"/>
            <a:ext cx="3995023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Less interpretable, can be computationally intensive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11875" y="6577370"/>
            <a:ext cx="13205222" cy="9005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14519" y="6705719"/>
            <a:ext cx="3995023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Decision Tree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319593" y="6705719"/>
            <a:ext cx="3991213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Easy to understand, handles both categorical and continuous variables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9720858" y="6705719"/>
            <a:ext cx="3995023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Prone to overfitting, sensitive to small changes in data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2024-11-19T01:13:22Z</dcterms:created>
  <dcterms:modified xsi:type="dcterms:W3CDTF">2024-11-19T01:13:22Z</dcterms:modified>
</cp:coreProperties>
</file>