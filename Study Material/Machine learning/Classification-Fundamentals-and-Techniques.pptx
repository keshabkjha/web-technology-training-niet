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ontserrat"/>
      <p:regular r:id="rId17"/>
    </p:embeddedFont>
    <p:embeddedFont>
      <p:font typeface="Montserrat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568291"/>
            <a:ext cx="7416403" cy="2902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600"/>
              </a:lnSpc>
              <a:buNone/>
            </a:pPr>
            <a:r>
              <a:rPr lang="en-US" sz="6050" b="1" spc="-61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Classification: Fundamentals and Techniques</a:t>
            </a:r>
            <a:endParaRPr lang="en-US" sz="6050" dirty="0"/>
          </a:p>
        </p:txBody>
      </p:sp>
      <p:sp>
        <p:nvSpPr>
          <p:cNvPr id="4" name="Text 1"/>
          <p:cNvSpPr/>
          <p:nvPr/>
        </p:nvSpPr>
        <p:spPr>
          <a:xfrm>
            <a:off x="6350198" y="4841319"/>
            <a:ext cx="741640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This presentation will provide a comprehensive overview of the classification problem, covering key algorithms, evaluation metrics, and real-world applications.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350198" y="6247924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818" y="6255544"/>
            <a:ext cx="379690" cy="3796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68478" y="6229469"/>
            <a:ext cx="1374696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Source Sans Pro Bold" pitchFamily="34" charset="0"/>
                <a:ea typeface="Source Sans Pro Bold" pitchFamily="34" charset="-122"/>
                <a:cs typeface="Source Sans Pro Bold" pitchFamily="34" charset="-120"/>
              </a:rPr>
              <a:t>by Mentor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042868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b="1" spc="-44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Understanding the Classification Problem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63798" y="3093244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5" name="Text 2"/>
          <p:cNvSpPr/>
          <p:nvPr/>
        </p:nvSpPr>
        <p:spPr>
          <a:xfrm>
            <a:off x="1077158" y="3202543"/>
            <a:ext cx="12858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spc="-27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665923" y="3093244"/>
            <a:ext cx="2782729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Predicting Class Labels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65923" y="3942517"/>
            <a:ext cx="2782729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Classification algorithms learn to map input features to discrete output classes or categories.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695468" y="3093244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9" name="Text 6"/>
          <p:cNvSpPr/>
          <p:nvPr/>
        </p:nvSpPr>
        <p:spPr>
          <a:xfrm>
            <a:off x="4875490" y="3202543"/>
            <a:ext cx="195263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spc="-27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97592" y="3093244"/>
            <a:ext cx="2782729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Supervised Learning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97592" y="3942517"/>
            <a:ext cx="2782729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Classification is a type of supervised learning, where the model is trained on labeled data.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863798" y="5947648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3" name="Text 10"/>
          <p:cNvSpPr/>
          <p:nvPr/>
        </p:nvSpPr>
        <p:spPr>
          <a:xfrm>
            <a:off x="1043464" y="6056948"/>
            <a:ext cx="19585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spc="-27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665923" y="5947648"/>
            <a:ext cx="297692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Decision Boundaries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665923" y="6446282"/>
            <a:ext cx="6614279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goal is to learn optimal decision boundaries that separate different classes in the feature space.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325052"/>
            <a:ext cx="129028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b="1" spc="-44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Supervised Learning: Algorithms and Approaches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434459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Linear Models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3798" y="4942046"/>
            <a:ext cx="389894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Logistic Regression, Linear Discriminant Analysis (LDA)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576" y="434459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Tree-based Models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72576" y="4942046"/>
            <a:ext cx="389894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Decision Trees, Random Forests, Gradient Boosting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434459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Kernel Methods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81354" y="4942046"/>
            <a:ext cx="389894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Support Vector Machines (SVMs)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05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8322" y="674370"/>
            <a:ext cx="7427357" cy="1393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50"/>
              </a:lnSpc>
              <a:buNone/>
            </a:pPr>
            <a:r>
              <a:rPr lang="en-US" sz="4350" b="1" spc="-44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Unsupervised Learning: Clustering Techniques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858322" y="2435423"/>
            <a:ext cx="3591163" cy="2437805"/>
          </a:xfrm>
          <a:prstGeom prst="roundRect">
            <a:avLst>
              <a:gd name="adj" fmla="val 1509"/>
            </a:avLst>
          </a:prstGeom>
          <a:solidFill>
            <a:srgbClr val="303132"/>
          </a:solidFill>
          <a:ln/>
        </p:spPr>
      </p:sp>
      <p:sp>
        <p:nvSpPr>
          <p:cNvPr id="5" name="Text 2"/>
          <p:cNvSpPr/>
          <p:nvPr/>
        </p:nvSpPr>
        <p:spPr>
          <a:xfrm>
            <a:off x="1103471" y="2680573"/>
            <a:ext cx="2791063" cy="34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spc="-22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K-Means Clustering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103471" y="3175992"/>
            <a:ext cx="3100864" cy="1103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Partitions data into K clusters based on similarity of feature vectors.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4694634" y="2435423"/>
            <a:ext cx="3591163" cy="2437805"/>
          </a:xfrm>
          <a:prstGeom prst="roundRect">
            <a:avLst>
              <a:gd name="adj" fmla="val 1509"/>
            </a:avLst>
          </a:prstGeom>
          <a:solidFill>
            <a:srgbClr val="303132"/>
          </a:solidFill>
          <a:ln/>
        </p:spPr>
      </p:sp>
      <p:sp>
        <p:nvSpPr>
          <p:cNvPr id="8" name="Text 5"/>
          <p:cNvSpPr/>
          <p:nvPr/>
        </p:nvSpPr>
        <p:spPr>
          <a:xfrm>
            <a:off x="4939784" y="2680573"/>
            <a:ext cx="3100864" cy="696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spc="-22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Hierarchical Clustering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4939784" y="3524369"/>
            <a:ext cx="3100864" cy="1103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Builds a hierarchy of clusters, useful for discovering natural groupings.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58322" y="5118378"/>
            <a:ext cx="3591163" cy="2437805"/>
          </a:xfrm>
          <a:prstGeom prst="roundRect">
            <a:avLst>
              <a:gd name="adj" fmla="val 1509"/>
            </a:avLst>
          </a:prstGeom>
          <a:solidFill>
            <a:srgbClr val="303132"/>
          </a:solidFill>
          <a:ln/>
        </p:spPr>
      </p:sp>
      <p:sp>
        <p:nvSpPr>
          <p:cNvPr id="11" name="Text 8"/>
          <p:cNvSpPr/>
          <p:nvPr/>
        </p:nvSpPr>
        <p:spPr>
          <a:xfrm>
            <a:off x="1103471" y="5363528"/>
            <a:ext cx="2786777" cy="34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spc="-22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DBSCAN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103471" y="5858947"/>
            <a:ext cx="3100864" cy="1103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Density-based clustering that can identify clusters of arbitrary shape and size.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4694634" y="5118378"/>
            <a:ext cx="3591163" cy="2437805"/>
          </a:xfrm>
          <a:prstGeom prst="roundRect">
            <a:avLst>
              <a:gd name="adj" fmla="val 1509"/>
            </a:avLst>
          </a:prstGeom>
          <a:solidFill>
            <a:srgbClr val="303132"/>
          </a:solidFill>
          <a:ln/>
        </p:spPr>
      </p:sp>
      <p:sp>
        <p:nvSpPr>
          <p:cNvPr id="14" name="Text 11"/>
          <p:cNvSpPr/>
          <p:nvPr/>
        </p:nvSpPr>
        <p:spPr>
          <a:xfrm>
            <a:off x="4939784" y="5363528"/>
            <a:ext cx="3100864" cy="696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spc="-22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Gaussian Mixture Models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4939784" y="6207323"/>
            <a:ext cx="3100864" cy="1103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Models data as a mixture of Gaussian distributions, useful for soft clustering.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92096" y="634603"/>
            <a:ext cx="7532608" cy="1307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00"/>
              </a:lnSpc>
              <a:buNone/>
            </a:pPr>
            <a:r>
              <a:rPr lang="en-US" sz="4100" b="1" spc="-41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 Engineering and Selection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6622137" y="2287667"/>
            <a:ext cx="30480" cy="5307330"/>
          </a:xfrm>
          <a:prstGeom prst="roundRect">
            <a:avLst>
              <a:gd name="adj" fmla="val 113290"/>
            </a:avLst>
          </a:prstGeom>
          <a:solidFill>
            <a:srgbClr val="494A4B"/>
          </a:solidFill>
          <a:ln/>
        </p:spPr>
      </p:sp>
      <p:sp>
        <p:nvSpPr>
          <p:cNvPr id="5" name="Shape 2"/>
          <p:cNvSpPr/>
          <p:nvPr/>
        </p:nvSpPr>
        <p:spPr>
          <a:xfrm>
            <a:off x="6865858" y="2790349"/>
            <a:ext cx="805696" cy="30480"/>
          </a:xfrm>
          <a:prstGeom prst="roundRect">
            <a:avLst>
              <a:gd name="adj" fmla="val 113290"/>
            </a:avLst>
          </a:prstGeom>
          <a:solidFill>
            <a:srgbClr val="494A4B"/>
          </a:solidFill>
          <a:ln/>
        </p:spPr>
      </p:sp>
      <p:sp>
        <p:nvSpPr>
          <p:cNvPr id="6" name="Shape 3"/>
          <p:cNvSpPr/>
          <p:nvPr/>
        </p:nvSpPr>
        <p:spPr>
          <a:xfrm>
            <a:off x="6378416" y="2546628"/>
            <a:ext cx="517922" cy="517922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7" name="Text 4"/>
          <p:cNvSpPr/>
          <p:nvPr/>
        </p:nvSpPr>
        <p:spPr>
          <a:xfrm>
            <a:off x="6577370" y="2648545"/>
            <a:ext cx="119896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b="1" spc="-25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7903488" y="2517815"/>
            <a:ext cx="2640687" cy="326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spc="-21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Preprocessing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7903488" y="2982873"/>
            <a:ext cx="5921216" cy="690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Handling missing values, encoding categorical features, scaling numerical features.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865858" y="4636175"/>
            <a:ext cx="805696" cy="30480"/>
          </a:xfrm>
          <a:prstGeom prst="roundRect">
            <a:avLst>
              <a:gd name="adj" fmla="val 113290"/>
            </a:avLst>
          </a:prstGeom>
          <a:solidFill>
            <a:srgbClr val="494A4B"/>
          </a:solidFill>
          <a:ln/>
        </p:spPr>
      </p:sp>
      <p:sp>
        <p:nvSpPr>
          <p:cNvPr id="11" name="Shape 8"/>
          <p:cNvSpPr/>
          <p:nvPr/>
        </p:nvSpPr>
        <p:spPr>
          <a:xfrm>
            <a:off x="6378416" y="4392454"/>
            <a:ext cx="517922" cy="517922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2" name="Text 9"/>
          <p:cNvSpPr/>
          <p:nvPr/>
        </p:nvSpPr>
        <p:spPr>
          <a:xfrm>
            <a:off x="6546294" y="4494371"/>
            <a:ext cx="182047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b="1" spc="-25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7903488" y="4363641"/>
            <a:ext cx="2615922" cy="326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spc="-21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 Creation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7903488" y="4828699"/>
            <a:ext cx="5921216" cy="690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Deriving new features from existing ones to capture relevant information.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865858" y="6482001"/>
            <a:ext cx="805696" cy="30480"/>
          </a:xfrm>
          <a:prstGeom prst="roundRect">
            <a:avLst>
              <a:gd name="adj" fmla="val 113290"/>
            </a:avLst>
          </a:prstGeom>
          <a:solidFill>
            <a:srgbClr val="494A4B"/>
          </a:solidFill>
          <a:ln/>
        </p:spPr>
      </p:sp>
      <p:sp>
        <p:nvSpPr>
          <p:cNvPr id="16" name="Shape 13"/>
          <p:cNvSpPr/>
          <p:nvPr/>
        </p:nvSpPr>
        <p:spPr>
          <a:xfrm>
            <a:off x="6378416" y="6238280"/>
            <a:ext cx="517922" cy="517922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7" name="Text 14"/>
          <p:cNvSpPr/>
          <p:nvPr/>
        </p:nvSpPr>
        <p:spPr>
          <a:xfrm>
            <a:off x="6545937" y="6340197"/>
            <a:ext cx="182761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b="1" spc="-25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7903488" y="6209467"/>
            <a:ext cx="2615922" cy="326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spc="-21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 Selection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7903488" y="6674525"/>
            <a:ext cx="5921216" cy="690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Identifying the most informative features for the classification task.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106091"/>
            <a:ext cx="7278886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b="1" spc="-44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Model Evaluation Metrics</a:t>
            </a:r>
            <a:endParaRPr lang="en-US" sz="4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198" y="2177534"/>
            <a:ext cx="616982" cy="6169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50198" y="304133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Accuracy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350198" y="3539966"/>
            <a:ext cx="3523059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Overall correctness of the model's predictions.</a:t>
            </a:r>
            <a:endParaRPr lang="en-US" sz="1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3423" y="2177534"/>
            <a:ext cx="616982" cy="61698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43423" y="304133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Precision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0243423" y="3539966"/>
            <a:ext cx="3523178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Fraction of true positives among the predicted positives.</a:t>
            </a:r>
            <a:endParaRPr lang="en-US" sz="1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198" y="5020747"/>
            <a:ext cx="616982" cy="61698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50198" y="5884545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Recall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6350198" y="6383179"/>
            <a:ext cx="3523059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Fraction of true positives that are correctly identified.</a:t>
            </a:r>
            <a:endParaRPr lang="en-US" sz="1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3423" y="5020747"/>
            <a:ext cx="616982" cy="61698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43423" y="5884545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F1-Score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0243423" y="6383179"/>
            <a:ext cx="3523178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Harmonic mean of precision and recall, balancing the two metrics.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1736" y="935236"/>
            <a:ext cx="7396520" cy="637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spc="-40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Overfitting and Underfitting</a:t>
            </a:r>
            <a:endParaRPr lang="en-US" sz="4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736" y="1909048"/>
            <a:ext cx="1121926" cy="179510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30133" y="2133362"/>
            <a:ext cx="2549843" cy="31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spc="-20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Underfitting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730133" y="2586633"/>
            <a:ext cx="6114931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Model is too simple and fails to capture the underlying patterns in the data.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736" y="3704153"/>
            <a:ext cx="1121926" cy="179510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30133" y="3928467"/>
            <a:ext cx="2549843" cy="31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spc="-20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Optimal Fit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7730133" y="4381738"/>
            <a:ext cx="6114931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Model complexity is well-matched to the task, balancing bias and variance.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736" y="5499259"/>
            <a:ext cx="1121926" cy="17951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30133" y="5723573"/>
            <a:ext cx="2549843" cy="31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spc="-20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Overfitting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7730133" y="6176843"/>
            <a:ext cx="6114931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Model is too complex and memorizes the training data, performing poorly on new data.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5696" y="961549"/>
            <a:ext cx="7235904" cy="653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100"/>
              </a:lnSpc>
              <a:buNone/>
            </a:pPr>
            <a:r>
              <a:rPr lang="en-US" sz="4100" b="1" spc="-41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Cross-Validation Strategies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1135737" y="1960721"/>
            <a:ext cx="30480" cy="5307330"/>
          </a:xfrm>
          <a:prstGeom prst="roundRect">
            <a:avLst>
              <a:gd name="adj" fmla="val 113290"/>
            </a:avLst>
          </a:prstGeom>
          <a:solidFill>
            <a:srgbClr val="494A4B"/>
          </a:solidFill>
          <a:ln/>
        </p:spPr>
      </p:sp>
      <p:sp>
        <p:nvSpPr>
          <p:cNvPr id="5" name="Shape 2"/>
          <p:cNvSpPr/>
          <p:nvPr/>
        </p:nvSpPr>
        <p:spPr>
          <a:xfrm>
            <a:off x="1379458" y="2463403"/>
            <a:ext cx="805696" cy="30480"/>
          </a:xfrm>
          <a:prstGeom prst="roundRect">
            <a:avLst>
              <a:gd name="adj" fmla="val 113290"/>
            </a:avLst>
          </a:prstGeom>
          <a:solidFill>
            <a:srgbClr val="494A4B"/>
          </a:solidFill>
          <a:ln/>
        </p:spPr>
      </p:sp>
      <p:sp>
        <p:nvSpPr>
          <p:cNvPr id="6" name="Shape 3"/>
          <p:cNvSpPr/>
          <p:nvPr/>
        </p:nvSpPr>
        <p:spPr>
          <a:xfrm>
            <a:off x="892016" y="2219682"/>
            <a:ext cx="517922" cy="517922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7" name="Text 4"/>
          <p:cNvSpPr/>
          <p:nvPr/>
        </p:nvSpPr>
        <p:spPr>
          <a:xfrm>
            <a:off x="1090970" y="2321600"/>
            <a:ext cx="119896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b="1" spc="-25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2417088" y="2190869"/>
            <a:ext cx="2615922" cy="326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spc="-21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Holdout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2417088" y="2655927"/>
            <a:ext cx="5921216" cy="690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Partition data into training and test sets, evaluate on the held-out test set.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379458" y="4309229"/>
            <a:ext cx="805696" cy="30480"/>
          </a:xfrm>
          <a:prstGeom prst="roundRect">
            <a:avLst>
              <a:gd name="adj" fmla="val 113290"/>
            </a:avLst>
          </a:prstGeom>
          <a:solidFill>
            <a:srgbClr val="494A4B"/>
          </a:solidFill>
          <a:ln/>
        </p:spPr>
      </p:sp>
      <p:sp>
        <p:nvSpPr>
          <p:cNvPr id="11" name="Shape 8"/>
          <p:cNvSpPr/>
          <p:nvPr/>
        </p:nvSpPr>
        <p:spPr>
          <a:xfrm>
            <a:off x="892016" y="4065508"/>
            <a:ext cx="517922" cy="517922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2" name="Text 9"/>
          <p:cNvSpPr/>
          <p:nvPr/>
        </p:nvSpPr>
        <p:spPr>
          <a:xfrm>
            <a:off x="1059894" y="4167426"/>
            <a:ext cx="182047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b="1" spc="-25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2417088" y="4036695"/>
            <a:ext cx="2615922" cy="326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spc="-21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K-Fold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2417088" y="4501753"/>
            <a:ext cx="5921216" cy="690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Divide data into K folds, train on K-1 folds and validate on the remaining fold.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79458" y="6155055"/>
            <a:ext cx="805696" cy="30480"/>
          </a:xfrm>
          <a:prstGeom prst="roundRect">
            <a:avLst>
              <a:gd name="adj" fmla="val 113290"/>
            </a:avLst>
          </a:prstGeom>
          <a:solidFill>
            <a:srgbClr val="494A4B"/>
          </a:solidFill>
          <a:ln/>
        </p:spPr>
      </p:sp>
      <p:sp>
        <p:nvSpPr>
          <p:cNvPr id="16" name="Shape 13"/>
          <p:cNvSpPr/>
          <p:nvPr/>
        </p:nvSpPr>
        <p:spPr>
          <a:xfrm>
            <a:off x="892016" y="5911334"/>
            <a:ext cx="517922" cy="517922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7" name="Text 14"/>
          <p:cNvSpPr/>
          <p:nvPr/>
        </p:nvSpPr>
        <p:spPr>
          <a:xfrm>
            <a:off x="1059537" y="6013252"/>
            <a:ext cx="182761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b="1" spc="-25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2417088" y="5882521"/>
            <a:ext cx="2615922" cy="326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spc="-21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Stratified K-Fold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2417088" y="6347579"/>
            <a:ext cx="5921216" cy="690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Ensure each fold has the same class distribution as the original dataset.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305526"/>
            <a:ext cx="10175915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b="1" spc="-44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Imbalanced Datasets and Handling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62378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Challenges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3798" y="4221242"/>
            <a:ext cx="3898940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Classification models tend to be biased towards the majority class, leading to poor performance on the minority class.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576" y="362378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Techniques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72576" y="4221242"/>
            <a:ext cx="3898940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Oversampling the minority class, undersampling the majority class, or using class weights to balance the classes.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62378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Evaluation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81354" y="4221242"/>
            <a:ext cx="3898940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 metrics like precision, recall, and F1-score instead of accuracy to assess model performance on imbalanced data.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521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0573" y="3357682"/>
            <a:ext cx="10430828" cy="625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900"/>
              </a:lnSpc>
              <a:buNone/>
            </a:pPr>
            <a:r>
              <a:rPr lang="en-US" sz="3900" b="1" spc="-39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Real-World Applications of Classification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70573" y="4313277"/>
            <a:ext cx="6434614" cy="1545312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5" name="Text 2"/>
          <p:cNvSpPr/>
          <p:nvPr/>
        </p:nvSpPr>
        <p:spPr>
          <a:xfrm>
            <a:off x="990719" y="4533424"/>
            <a:ext cx="2501979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b="1" spc="-20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Image Recognition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90719" y="4978122"/>
            <a:ext cx="5994321" cy="660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Classify images of objects, animals, or scenes for applications like autonomous vehicles and photo organization.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425333" y="4313277"/>
            <a:ext cx="6434614" cy="1545312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8" name="Text 5"/>
          <p:cNvSpPr/>
          <p:nvPr/>
        </p:nvSpPr>
        <p:spPr>
          <a:xfrm>
            <a:off x="7645479" y="4533424"/>
            <a:ext cx="2501979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b="1" spc="-20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Spam Detection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645479" y="4978122"/>
            <a:ext cx="5994321" cy="660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Classify emails as spam or ham to protect users from unwanted and malicious content.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70573" y="6078736"/>
            <a:ext cx="6434614" cy="1545312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11" name="Text 8"/>
          <p:cNvSpPr/>
          <p:nvPr/>
        </p:nvSpPr>
        <p:spPr>
          <a:xfrm>
            <a:off x="990719" y="6298882"/>
            <a:ext cx="2501979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b="1" spc="-20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Medical Diagnosis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90719" y="6743581"/>
            <a:ext cx="5994321" cy="660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Classify medical conditions based on patient symptoms, lab tests, and medical history.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425333" y="6078736"/>
            <a:ext cx="6434614" cy="1545312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14" name="Text 11"/>
          <p:cNvSpPr/>
          <p:nvPr/>
        </p:nvSpPr>
        <p:spPr>
          <a:xfrm>
            <a:off x="7645479" y="6298882"/>
            <a:ext cx="3026569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b="1" spc="-20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Credit Risk Assessment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7645479" y="6743581"/>
            <a:ext cx="5994321" cy="660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Classify loan applicants as high or low risk to support financial decision-making.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2024-11-18T13:18:04Z</dcterms:created>
  <dcterms:modified xsi:type="dcterms:W3CDTF">2024-11-18T13:18:04Z</dcterms:modified>
</cp:coreProperties>
</file>