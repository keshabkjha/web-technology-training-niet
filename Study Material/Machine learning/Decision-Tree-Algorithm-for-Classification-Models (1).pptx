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4630400" cy="8229600"/>
  <p:notesSz cx="8229600" cy="14630400"/>
  <p:embeddedFontLst>
    <p:embeddedFont>
      <p:font typeface="IBM Plex Sans Medium"/>
      <p:regular r:id="rId17"/>
    </p:embeddedFont>
    <p:embeddedFont>
      <p:font typeface="IBM Plex Sans Medium"/>
      <p:regular r:id="rId18"/>
    </p:embeddedFont>
    <p:embeddedFont>
      <p:font typeface="IBM Plex Sans Medium"/>
      <p:regular r:id="rId19"/>
    </p:embeddedFont>
    <p:embeddedFont>
      <p:font typeface="IBM Plex Sans Medium"/>
      <p:regular r:id="rId20"/>
    </p:embeddedFont>
    <p:embeddedFont>
      <p:font typeface="Roboto"/>
      <p:regular r:id="rId21"/>
    </p:embeddedFont>
    <p:embeddedFont>
      <p:font typeface="Roboto"/>
      <p:regular r:id="rId22"/>
    </p:embeddedFont>
    <p:embeddedFont>
      <p:font typeface="Roboto"/>
      <p:regular r:id="rId23"/>
    </p:embeddedFont>
    <p:embeddedFont>
      <p:font typeface="Roboto"/>
      <p:regular r:id="rId24"/>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3-1.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4-1.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5-1.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6-1.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7-1.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8-1.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9-1.pn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0-1.pn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1-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7.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9.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0.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754975"/>
            <a:ext cx="7556421" cy="3912870"/>
          </a:xfrm>
          <a:prstGeom prst="rect">
            <a:avLst/>
          </a:prstGeom>
          <a:noFill/>
          <a:ln/>
        </p:spPr>
        <p:txBody>
          <a:bodyPr wrap="square" lIns="0" tIns="0" rIns="0" bIns="0" rtlCol="0" anchor="t"/>
          <a:lstStyle/>
          <a:p>
            <a:pPr indent="0" marL="0">
              <a:lnSpc>
                <a:spcPts val="7700"/>
              </a:lnSpc>
              <a:buNone/>
            </a:pPr>
            <a:r>
              <a:rPr lang="en-US" sz="6150" dirty="0">
                <a:solidFill>
                  <a:srgbClr val="F3F3F2"/>
                </a:solidFill>
                <a:latin typeface="IBM Plex Sans Medium" pitchFamily="34" charset="0"/>
                <a:ea typeface="IBM Plex Sans Medium" pitchFamily="34" charset="-122"/>
                <a:cs typeface="IBM Plex Sans Medium" pitchFamily="34" charset="-120"/>
              </a:rPr>
              <a:t>Decision Tree Algorithm for Classification Models</a:t>
            </a:r>
            <a:endParaRPr lang="en-US" sz="6150" dirty="0"/>
          </a:p>
        </p:txBody>
      </p:sp>
      <p:sp>
        <p:nvSpPr>
          <p:cNvPr id="4" name="Text 1"/>
          <p:cNvSpPr/>
          <p:nvPr/>
        </p:nvSpPr>
        <p:spPr>
          <a:xfrm>
            <a:off x="6280190" y="5008007"/>
            <a:ext cx="7556421" cy="1814513"/>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In this presentation, we will explore the fundamentals of the decision tree algorithm and its application in building classification models. From understanding the key concepts to evaluating the performance, this comprehensive overview will equip you with the knowledge to leverage the power of decision trees in your data analysis and modeling efforts.</a:t>
            </a:r>
            <a:endParaRPr lang="en-US" sz="1750" dirty="0"/>
          </a:p>
        </p:txBody>
      </p:sp>
      <p:sp>
        <p:nvSpPr>
          <p:cNvPr id="5" name="Shape 2"/>
          <p:cNvSpPr/>
          <p:nvPr/>
        </p:nvSpPr>
        <p:spPr>
          <a:xfrm>
            <a:off x="6280190" y="7094577"/>
            <a:ext cx="362903" cy="362903"/>
          </a:xfrm>
          <a:prstGeom prst="roundRect">
            <a:avLst>
              <a:gd name="adj" fmla="val 25194296"/>
            </a:avLst>
          </a:prstGeom>
          <a:noFill/>
          <a:ln w="7620">
            <a:solidFill>
              <a:srgbClr val="FFFFFF"/>
            </a:solidFill>
            <a:prstDash val="solid"/>
          </a:ln>
        </p:spPr>
      </p:sp>
      <p:pic>
        <p:nvPicPr>
          <p:cNvPr id="6" name="Image 1" descr="preencoded.png">    </p:cNvPr>
          <p:cNvPicPr>
            <a:picLocks noChangeAspect="1"/>
          </p:cNvPicPr>
          <p:nvPr/>
        </p:nvPicPr>
        <p:blipFill>
          <a:blip r:embed="rId2"/>
          <a:stretch>
            <a:fillRect/>
          </a:stretch>
        </p:blipFill>
        <p:spPr>
          <a:xfrm>
            <a:off x="6287810" y="7102197"/>
            <a:ext cx="347663" cy="347663"/>
          </a:xfrm>
          <a:prstGeom prst="rect">
            <a:avLst/>
          </a:prstGeom>
        </p:spPr>
      </p:pic>
      <p:sp>
        <p:nvSpPr>
          <p:cNvPr id="7" name="Text 3"/>
          <p:cNvSpPr/>
          <p:nvPr/>
        </p:nvSpPr>
        <p:spPr>
          <a:xfrm>
            <a:off x="6756440" y="7077670"/>
            <a:ext cx="1286113" cy="396835"/>
          </a:xfrm>
          <a:prstGeom prst="rect">
            <a:avLst/>
          </a:prstGeom>
          <a:noFill/>
          <a:ln/>
        </p:spPr>
        <p:txBody>
          <a:bodyPr wrap="none" lIns="0" tIns="0" rIns="0" bIns="0" rtlCol="0" anchor="t"/>
          <a:lstStyle/>
          <a:p>
            <a:pPr algn="l" indent="0" marL="0">
              <a:lnSpc>
                <a:spcPts val="3100"/>
              </a:lnSpc>
              <a:buNone/>
            </a:pPr>
            <a:r>
              <a:rPr lang="en-US" sz="2200" b="1" dirty="0">
                <a:solidFill>
                  <a:srgbClr val="D4D4D1"/>
                </a:solidFill>
                <a:latin typeface="Roboto Bold" pitchFamily="34" charset="0"/>
                <a:ea typeface="Roboto Bold" pitchFamily="34" charset="-122"/>
                <a:cs typeface="Roboto Bold" pitchFamily="34" charset="-120"/>
              </a:rPr>
              <a:t>by Mentor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720447" y="830937"/>
            <a:ext cx="7112556" cy="643176"/>
          </a:xfrm>
          <a:prstGeom prst="rect">
            <a:avLst/>
          </a:prstGeom>
          <a:noFill/>
          <a:ln/>
        </p:spPr>
        <p:txBody>
          <a:bodyPr wrap="none" lIns="0" tIns="0" rIns="0" bIns="0" rtlCol="0" anchor="t"/>
          <a:lstStyle/>
          <a:p>
            <a:pPr indent="0" marL="0">
              <a:lnSpc>
                <a:spcPts val="5050"/>
              </a:lnSpc>
              <a:buNone/>
            </a:pPr>
            <a:r>
              <a:rPr lang="en-US" sz="4050" dirty="0">
                <a:solidFill>
                  <a:srgbClr val="F3F3F2"/>
                </a:solidFill>
                <a:latin typeface="IBM Plex Sans Medium" pitchFamily="34" charset="0"/>
                <a:ea typeface="IBM Plex Sans Medium" pitchFamily="34" charset="-122"/>
                <a:cs typeface="IBM Plex Sans Medium" pitchFamily="34" charset="-120"/>
              </a:rPr>
              <a:t>Introduction to Decision Trees</a:t>
            </a:r>
            <a:endParaRPr lang="en-US" sz="4050" dirty="0"/>
          </a:p>
        </p:txBody>
      </p:sp>
      <p:sp>
        <p:nvSpPr>
          <p:cNvPr id="4" name="Shape 1"/>
          <p:cNvSpPr/>
          <p:nvPr/>
        </p:nvSpPr>
        <p:spPr>
          <a:xfrm>
            <a:off x="1017746" y="1782842"/>
            <a:ext cx="22860" cy="5615702"/>
          </a:xfrm>
          <a:prstGeom prst="roundRect">
            <a:avLst>
              <a:gd name="adj" fmla="val 135069"/>
            </a:avLst>
          </a:prstGeom>
          <a:solidFill>
            <a:srgbClr val="61646A"/>
          </a:solidFill>
          <a:ln/>
        </p:spPr>
      </p:sp>
      <p:sp>
        <p:nvSpPr>
          <p:cNvPr id="5" name="Shape 2"/>
          <p:cNvSpPr/>
          <p:nvPr/>
        </p:nvSpPr>
        <p:spPr>
          <a:xfrm>
            <a:off x="1237833" y="2234327"/>
            <a:ext cx="720447" cy="22860"/>
          </a:xfrm>
          <a:prstGeom prst="roundRect">
            <a:avLst>
              <a:gd name="adj" fmla="val 135069"/>
            </a:avLst>
          </a:prstGeom>
          <a:solidFill>
            <a:srgbClr val="61646A"/>
          </a:solidFill>
          <a:ln/>
        </p:spPr>
      </p:sp>
      <p:sp>
        <p:nvSpPr>
          <p:cNvPr id="6" name="Shape 3"/>
          <p:cNvSpPr/>
          <p:nvPr/>
        </p:nvSpPr>
        <p:spPr>
          <a:xfrm>
            <a:off x="797659" y="2014299"/>
            <a:ext cx="463034" cy="463034"/>
          </a:xfrm>
          <a:prstGeom prst="roundRect">
            <a:avLst>
              <a:gd name="adj" fmla="val 6668"/>
            </a:avLst>
          </a:prstGeom>
          <a:solidFill>
            <a:srgbClr val="484B51"/>
          </a:solidFill>
          <a:ln/>
        </p:spPr>
      </p:sp>
      <p:sp>
        <p:nvSpPr>
          <p:cNvPr id="7" name="Text 4"/>
          <p:cNvSpPr/>
          <p:nvPr/>
        </p:nvSpPr>
        <p:spPr>
          <a:xfrm>
            <a:off x="936486" y="2091452"/>
            <a:ext cx="185261" cy="308729"/>
          </a:xfrm>
          <a:prstGeom prst="rect">
            <a:avLst/>
          </a:prstGeom>
          <a:noFill/>
          <a:ln/>
        </p:spPr>
        <p:txBody>
          <a:bodyPr wrap="none" lIns="0" tIns="0" rIns="0" bIns="0" rtlCol="0" anchor="t"/>
          <a:lstStyle/>
          <a:p>
            <a:pPr algn="ctr" indent="0" marL="0">
              <a:lnSpc>
                <a:spcPts val="2400"/>
              </a:lnSpc>
              <a:buNone/>
            </a:pPr>
            <a:r>
              <a:rPr lang="en-US" sz="2400" dirty="0">
                <a:solidFill>
                  <a:srgbClr val="D4D4D1"/>
                </a:solidFill>
                <a:latin typeface="IBM Plex Sans Medium" pitchFamily="34" charset="0"/>
                <a:ea typeface="IBM Plex Sans Medium" pitchFamily="34" charset="-122"/>
                <a:cs typeface="IBM Plex Sans Medium" pitchFamily="34" charset="-120"/>
              </a:rPr>
              <a:t>1</a:t>
            </a:r>
            <a:endParaRPr lang="en-US" sz="2400" dirty="0"/>
          </a:p>
        </p:txBody>
      </p:sp>
      <p:sp>
        <p:nvSpPr>
          <p:cNvPr id="8" name="Text 5"/>
          <p:cNvSpPr/>
          <p:nvPr/>
        </p:nvSpPr>
        <p:spPr>
          <a:xfrm>
            <a:off x="2161223" y="1988582"/>
            <a:ext cx="2593658" cy="321588"/>
          </a:xfrm>
          <a:prstGeom prst="rect">
            <a:avLst/>
          </a:prstGeom>
          <a:noFill/>
          <a:ln/>
        </p:spPr>
        <p:txBody>
          <a:bodyPr wrap="none" lIns="0" tIns="0" rIns="0" bIns="0" rtlCol="0" anchor="t"/>
          <a:lstStyle/>
          <a:p>
            <a:pPr algn="l" indent="0" marL="0">
              <a:lnSpc>
                <a:spcPts val="2500"/>
              </a:lnSpc>
              <a:buNone/>
            </a:pPr>
            <a:r>
              <a:rPr lang="en-US" sz="2000" dirty="0">
                <a:solidFill>
                  <a:srgbClr val="D4D4D1"/>
                </a:solidFill>
                <a:latin typeface="IBM Plex Sans Medium" pitchFamily="34" charset="0"/>
                <a:ea typeface="IBM Plex Sans Medium" pitchFamily="34" charset="-122"/>
                <a:cs typeface="IBM Plex Sans Medium" pitchFamily="34" charset="-120"/>
              </a:rPr>
              <a:t>Hierarchical Structure</a:t>
            </a:r>
            <a:endParaRPr lang="en-US" sz="2000" dirty="0"/>
          </a:p>
        </p:txBody>
      </p:sp>
      <p:sp>
        <p:nvSpPr>
          <p:cNvPr id="9" name="Text 6"/>
          <p:cNvSpPr/>
          <p:nvPr/>
        </p:nvSpPr>
        <p:spPr>
          <a:xfrm>
            <a:off x="2161223" y="2433638"/>
            <a:ext cx="6262330" cy="987981"/>
          </a:xfrm>
          <a:prstGeom prst="rect">
            <a:avLst/>
          </a:prstGeom>
          <a:noFill/>
          <a:ln/>
        </p:spPr>
        <p:txBody>
          <a:bodyPr wrap="square" lIns="0" tIns="0" rIns="0" bIns="0" rtlCol="0" anchor="t"/>
          <a:lstStyle/>
          <a:p>
            <a:pPr algn="l" indent="0" marL="0">
              <a:lnSpc>
                <a:spcPts val="2550"/>
              </a:lnSpc>
              <a:buNone/>
            </a:pPr>
            <a:r>
              <a:rPr lang="en-US" sz="1600" dirty="0">
                <a:solidFill>
                  <a:srgbClr val="D4D4D1"/>
                </a:solidFill>
                <a:latin typeface="Roboto" pitchFamily="34" charset="0"/>
                <a:ea typeface="Roboto" pitchFamily="34" charset="-122"/>
                <a:cs typeface="Roboto" pitchFamily="34" charset="-120"/>
              </a:rPr>
              <a:t>Decision trees are a type of supervised learning algorithm that recursively partitions the input space into smaller regions based on feature values.</a:t>
            </a:r>
            <a:endParaRPr lang="en-US" sz="1600" dirty="0"/>
          </a:p>
        </p:txBody>
      </p:sp>
      <p:sp>
        <p:nvSpPr>
          <p:cNvPr id="10" name="Shape 7"/>
          <p:cNvSpPr/>
          <p:nvPr/>
        </p:nvSpPr>
        <p:spPr>
          <a:xfrm>
            <a:off x="1237833" y="4284583"/>
            <a:ext cx="720447" cy="22860"/>
          </a:xfrm>
          <a:prstGeom prst="roundRect">
            <a:avLst>
              <a:gd name="adj" fmla="val 135069"/>
            </a:avLst>
          </a:prstGeom>
          <a:solidFill>
            <a:srgbClr val="61646A"/>
          </a:solidFill>
          <a:ln/>
        </p:spPr>
      </p:sp>
      <p:sp>
        <p:nvSpPr>
          <p:cNvPr id="11" name="Shape 8"/>
          <p:cNvSpPr/>
          <p:nvPr/>
        </p:nvSpPr>
        <p:spPr>
          <a:xfrm>
            <a:off x="797659" y="4064556"/>
            <a:ext cx="463034" cy="463034"/>
          </a:xfrm>
          <a:prstGeom prst="roundRect">
            <a:avLst>
              <a:gd name="adj" fmla="val 6668"/>
            </a:avLst>
          </a:prstGeom>
          <a:solidFill>
            <a:srgbClr val="484B51"/>
          </a:solidFill>
          <a:ln/>
        </p:spPr>
      </p:sp>
      <p:sp>
        <p:nvSpPr>
          <p:cNvPr id="12" name="Text 9"/>
          <p:cNvSpPr/>
          <p:nvPr/>
        </p:nvSpPr>
        <p:spPr>
          <a:xfrm>
            <a:off x="936486" y="4141708"/>
            <a:ext cx="185261" cy="308729"/>
          </a:xfrm>
          <a:prstGeom prst="rect">
            <a:avLst/>
          </a:prstGeom>
          <a:noFill/>
          <a:ln/>
        </p:spPr>
        <p:txBody>
          <a:bodyPr wrap="none" lIns="0" tIns="0" rIns="0" bIns="0" rtlCol="0" anchor="t"/>
          <a:lstStyle/>
          <a:p>
            <a:pPr algn="ctr" indent="0" marL="0">
              <a:lnSpc>
                <a:spcPts val="2400"/>
              </a:lnSpc>
              <a:buNone/>
            </a:pPr>
            <a:r>
              <a:rPr lang="en-US" sz="2400" dirty="0">
                <a:solidFill>
                  <a:srgbClr val="D4D4D1"/>
                </a:solidFill>
                <a:latin typeface="IBM Plex Sans Medium" pitchFamily="34" charset="0"/>
                <a:ea typeface="IBM Plex Sans Medium" pitchFamily="34" charset="-122"/>
                <a:cs typeface="IBM Plex Sans Medium" pitchFamily="34" charset="-120"/>
              </a:rPr>
              <a:t>2</a:t>
            </a:r>
            <a:endParaRPr lang="en-US" sz="2400" dirty="0"/>
          </a:p>
        </p:txBody>
      </p:sp>
      <p:sp>
        <p:nvSpPr>
          <p:cNvPr id="13" name="Text 10"/>
          <p:cNvSpPr/>
          <p:nvPr/>
        </p:nvSpPr>
        <p:spPr>
          <a:xfrm>
            <a:off x="2161223" y="4038838"/>
            <a:ext cx="2573060" cy="321588"/>
          </a:xfrm>
          <a:prstGeom prst="rect">
            <a:avLst/>
          </a:prstGeom>
          <a:noFill/>
          <a:ln/>
        </p:spPr>
        <p:txBody>
          <a:bodyPr wrap="none" lIns="0" tIns="0" rIns="0" bIns="0" rtlCol="0" anchor="t"/>
          <a:lstStyle/>
          <a:p>
            <a:pPr algn="l" indent="0" marL="0">
              <a:lnSpc>
                <a:spcPts val="2500"/>
              </a:lnSpc>
              <a:buNone/>
            </a:pPr>
            <a:r>
              <a:rPr lang="en-US" sz="2000" dirty="0">
                <a:solidFill>
                  <a:srgbClr val="D4D4D1"/>
                </a:solidFill>
                <a:latin typeface="IBM Plex Sans Medium" pitchFamily="34" charset="0"/>
                <a:ea typeface="IBM Plex Sans Medium" pitchFamily="34" charset="-122"/>
                <a:cs typeface="IBM Plex Sans Medium" pitchFamily="34" charset="-120"/>
              </a:rPr>
              <a:t>Intuitive Visualization</a:t>
            </a:r>
            <a:endParaRPr lang="en-US" sz="2000" dirty="0"/>
          </a:p>
        </p:txBody>
      </p:sp>
      <p:sp>
        <p:nvSpPr>
          <p:cNvPr id="14" name="Text 11"/>
          <p:cNvSpPr/>
          <p:nvPr/>
        </p:nvSpPr>
        <p:spPr>
          <a:xfrm>
            <a:off x="2161223" y="4483894"/>
            <a:ext cx="6262330" cy="987981"/>
          </a:xfrm>
          <a:prstGeom prst="rect">
            <a:avLst/>
          </a:prstGeom>
          <a:noFill/>
          <a:ln/>
        </p:spPr>
        <p:txBody>
          <a:bodyPr wrap="square" lIns="0" tIns="0" rIns="0" bIns="0" rtlCol="0" anchor="t"/>
          <a:lstStyle/>
          <a:p>
            <a:pPr algn="l" indent="0" marL="0">
              <a:lnSpc>
                <a:spcPts val="2550"/>
              </a:lnSpc>
              <a:buNone/>
            </a:pPr>
            <a:r>
              <a:rPr lang="en-US" sz="1600" dirty="0">
                <a:solidFill>
                  <a:srgbClr val="D4D4D1"/>
                </a:solidFill>
                <a:latin typeface="Roboto" pitchFamily="34" charset="0"/>
                <a:ea typeface="Roboto" pitchFamily="34" charset="-122"/>
                <a:cs typeface="Roboto" pitchFamily="34" charset="-120"/>
              </a:rPr>
              <a:t>The hierarchical structure of decision trees provides an intuitive way to visualize the decision-making process and understand the underlying logic.</a:t>
            </a:r>
            <a:endParaRPr lang="en-US" sz="1600" dirty="0"/>
          </a:p>
        </p:txBody>
      </p:sp>
      <p:sp>
        <p:nvSpPr>
          <p:cNvPr id="15" name="Shape 12"/>
          <p:cNvSpPr/>
          <p:nvPr/>
        </p:nvSpPr>
        <p:spPr>
          <a:xfrm>
            <a:off x="1237833" y="6334839"/>
            <a:ext cx="720447" cy="22860"/>
          </a:xfrm>
          <a:prstGeom prst="roundRect">
            <a:avLst>
              <a:gd name="adj" fmla="val 135069"/>
            </a:avLst>
          </a:prstGeom>
          <a:solidFill>
            <a:srgbClr val="61646A"/>
          </a:solidFill>
          <a:ln/>
        </p:spPr>
      </p:sp>
      <p:sp>
        <p:nvSpPr>
          <p:cNvPr id="16" name="Shape 13"/>
          <p:cNvSpPr/>
          <p:nvPr/>
        </p:nvSpPr>
        <p:spPr>
          <a:xfrm>
            <a:off x="797659" y="6114812"/>
            <a:ext cx="463034" cy="463034"/>
          </a:xfrm>
          <a:prstGeom prst="roundRect">
            <a:avLst>
              <a:gd name="adj" fmla="val 6668"/>
            </a:avLst>
          </a:prstGeom>
          <a:solidFill>
            <a:srgbClr val="484B51"/>
          </a:solidFill>
          <a:ln/>
        </p:spPr>
      </p:sp>
      <p:sp>
        <p:nvSpPr>
          <p:cNvPr id="17" name="Text 14"/>
          <p:cNvSpPr/>
          <p:nvPr/>
        </p:nvSpPr>
        <p:spPr>
          <a:xfrm>
            <a:off x="936486" y="6191964"/>
            <a:ext cx="185261" cy="308729"/>
          </a:xfrm>
          <a:prstGeom prst="rect">
            <a:avLst/>
          </a:prstGeom>
          <a:noFill/>
          <a:ln/>
        </p:spPr>
        <p:txBody>
          <a:bodyPr wrap="none" lIns="0" tIns="0" rIns="0" bIns="0" rtlCol="0" anchor="t"/>
          <a:lstStyle/>
          <a:p>
            <a:pPr algn="ctr" indent="0" marL="0">
              <a:lnSpc>
                <a:spcPts val="2400"/>
              </a:lnSpc>
              <a:buNone/>
            </a:pPr>
            <a:r>
              <a:rPr lang="en-US" sz="2400" dirty="0">
                <a:solidFill>
                  <a:srgbClr val="D4D4D1"/>
                </a:solidFill>
                <a:latin typeface="IBM Plex Sans Medium" pitchFamily="34" charset="0"/>
                <a:ea typeface="IBM Plex Sans Medium" pitchFamily="34" charset="-122"/>
                <a:cs typeface="IBM Plex Sans Medium" pitchFamily="34" charset="-120"/>
              </a:rPr>
              <a:t>3</a:t>
            </a:r>
            <a:endParaRPr lang="en-US" sz="2400" dirty="0"/>
          </a:p>
        </p:txBody>
      </p:sp>
      <p:sp>
        <p:nvSpPr>
          <p:cNvPr id="18" name="Text 15"/>
          <p:cNvSpPr/>
          <p:nvPr/>
        </p:nvSpPr>
        <p:spPr>
          <a:xfrm>
            <a:off x="2161223" y="6089094"/>
            <a:ext cx="3448050" cy="321588"/>
          </a:xfrm>
          <a:prstGeom prst="rect">
            <a:avLst/>
          </a:prstGeom>
          <a:noFill/>
          <a:ln/>
        </p:spPr>
        <p:txBody>
          <a:bodyPr wrap="none" lIns="0" tIns="0" rIns="0" bIns="0" rtlCol="0" anchor="t"/>
          <a:lstStyle/>
          <a:p>
            <a:pPr algn="l" indent="0" marL="0">
              <a:lnSpc>
                <a:spcPts val="2500"/>
              </a:lnSpc>
              <a:buNone/>
            </a:pPr>
            <a:r>
              <a:rPr lang="en-US" sz="2000" dirty="0">
                <a:solidFill>
                  <a:srgbClr val="D4D4D1"/>
                </a:solidFill>
                <a:latin typeface="IBM Plex Sans Medium" pitchFamily="34" charset="0"/>
                <a:ea typeface="IBM Plex Sans Medium" pitchFamily="34" charset="-122"/>
                <a:cs typeface="IBM Plex Sans Medium" pitchFamily="34" charset="-120"/>
              </a:rPr>
              <a:t>Classification and Regression</a:t>
            </a:r>
            <a:endParaRPr lang="en-US" sz="2000" dirty="0"/>
          </a:p>
        </p:txBody>
      </p:sp>
      <p:sp>
        <p:nvSpPr>
          <p:cNvPr id="19" name="Text 16"/>
          <p:cNvSpPr/>
          <p:nvPr/>
        </p:nvSpPr>
        <p:spPr>
          <a:xfrm>
            <a:off x="2161223" y="6534150"/>
            <a:ext cx="6262330" cy="658654"/>
          </a:xfrm>
          <a:prstGeom prst="rect">
            <a:avLst/>
          </a:prstGeom>
          <a:noFill/>
          <a:ln/>
        </p:spPr>
        <p:txBody>
          <a:bodyPr wrap="square" lIns="0" tIns="0" rIns="0" bIns="0" rtlCol="0" anchor="t"/>
          <a:lstStyle/>
          <a:p>
            <a:pPr algn="l" indent="0" marL="0">
              <a:lnSpc>
                <a:spcPts val="2550"/>
              </a:lnSpc>
              <a:buNone/>
            </a:pPr>
            <a:r>
              <a:rPr lang="en-US" sz="1600" dirty="0">
                <a:solidFill>
                  <a:srgbClr val="D4D4D1"/>
                </a:solidFill>
                <a:latin typeface="Roboto" pitchFamily="34" charset="0"/>
                <a:ea typeface="Roboto" pitchFamily="34" charset="-122"/>
                <a:cs typeface="Roboto" pitchFamily="34" charset="-120"/>
              </a:rPr>
              <a:t>Decision trees can be used for both classification and regression tasks, depending on the nature of the target variable.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908328"/>
            <a:ext cx="7556421" cy="1417558"/>
          </a:xfrm>
          <a:prstGeom prst="rect">
            <a:avLst/>
          </a:prstGeom>
          <a:noFill/>
          <a:ln/>
        </p:spPr>
        <p:txBody>
          <a:bodyPr wrap="squar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Key Concepts of Decision Trees</a:t>
            </a:r>
            <a:endParaRPr lang="en-US" sz="4450" dirty="0"/>
          </a:p>
        </p:txBody>
      </p:sp>
      <p:sp>
        <p:nvSpPr>
          <p:cNvPr id="4" name="Shape 1"/>
          <p:cNvSpPr/>
          <p:nvPr/>
        </p:nvSpPr>
        <p:spPr>
          <a:xfrm>
            <a:off x="6280190" y="2666048"/>
            <a:ext cx="3664863" cy="2032754"/>
          </a:xfrm>
          <a:prstGeom prst="roundRect">
            <a:avLst>
              <a:gd name="adj" fmla="val 1674"/>
            </a:avLst>
          </a:prstGeom>
          <a:solidFill>
            <a:srgbClr val="484B51"/>
          </a:solidFill>
          <a:ln/>
        </p:spPr>
      </p:sp>
      <p:sp>
        <p:nvSpPr>
          <p:cNvPr id="5" name="Text 2"/>
          <p:cNvSpPr/>
          <p:nvPr/>
        </p:nvSpPr>
        <p:spPr>
          <a:xfrm>
            <a:off x="6507004" y="2892862"/>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Node</a:t>
            </a:r>
            <a:endParaRPr lang="en-US" sz="2200" dirty="0"/>
          </a:p>
        </p:txBody>
      </p:sp>
      <p:sp>
        <p:nvSpPr>
          <p:cNvPr id="6" name="Text 3"/>
          <p:cNvSpPr/>
          <p:nvPr/>
        </p:nvSpPr>
        <p:spPr>
          <a:xfrm>
            <a:off x="6507004" y="3383280"/>
            <a:ext cx="3211235" cy="1088708"/>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A node in a decision tree represents a feature or attribute used to make a decision.</a:t>
            </a:r>
            <a:endParaRPr lang="en-US" sz="1750" dirty="0"/>
          </a:p>
        </p:txBody>
      </p:sp>
      <p:sp>
        <p:nvSpPr>
          <p:cNvPr id="7" name="Shape 4"/>
          <p:cNvSpPr/>
          <p:nvPr/>
        </p:nvSpPr>
        <p:spPr>
          <a:xfrm>
            <a:off x="10171867" y="2666048"/>
            <a:ext cx="3664863" cy="2032754"/>
          </a:xfrm>
          <a:prstGeom prst="roundRect">
            <a:avLst>
              <a:gd name="adj" fmla="val 1674"/>
            </a:avLst>
          </a:prstGeom>
          <a:solidFill>
            <a:srgbClr val="484B51"/>
          </a:solidFill>
          <a:ln/>
        </p:spPr>
      </p:sp>
      <p:sp>
        <p:nvSpPr>
          <p:cNvPr id="8" name="Text 5"/>
          <p:cNvSpPr/>
          <p:nvPr/>
        </p:nvSpPr>
        <p:spPr>
          <a:xfrm>
            <a:off x="10398681" y="2892862"/>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Branch</a:t>
            </a:r>
            <a:endParaRPr lang="en-US" sz="2200" dirty="0"/>
          </a:p>
        </p:txBody>
      </p:sp>
      <p:sp>
        <p:nvSpPr>
          <p:cNvPr id="9" name="Text 6"/>
          <p:cNvSpPr/>
          <p:nvPr/>
        </p:nvSpPr>
        <p:spPr>
          <a:xfrm>
            <a:off x="10398681" y="3383280"/>
            <a:ext cx="3211235" cy="1088708"/>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Branches represent the possible values or outcomes of a decision made at a node.</a:t>
            </a:r>
            <a:endParaRPr lang="en-US" sz="1750" dirty="0"/>
          </a:p>
        </p:txBody>
      </p:sp>
      <p:sp>
        <p:nvSpPr>
          <p:cNvPr id="10" name="Shape 7"/>
          <p:cNvSpPr/>
          <p:nvPr/>
        </p:nvSpPr>
        <p:spPr>
          <a:xfrm>
            <a:off x="6280190" y="4925616"/>
            <a:ext cx="3664863" cy="2395657"/>
          </a:xfrm>
          <a:prstGeom prst="roundRect">
            <a:avLst>
              <a:gd name="adj" fmla="val 1420"/>
            </a:avLst>
          </a:prstGeom>
          <a:solidFill>
            <a:srgbClr val="484B51"/>
          </a:solidFill>
          <a:ln/>
        </p:spPr>
      </p:sp>
      <p:sp>
        <p:nvSpPr>
          <p:cNvPr id="11" name="Text 8"/>
          <p:cNvSpPr/>
          <p:nvPr/>
        </p:nvSpPr>
        <p:spPr>
          <a:xfrm>
            <a:off x="6507004" y="5152430"/>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Leaf Node</a:t>
            </a:r>
            <a:endParaRPr lang="en-US" sz="2200" dirty="0"/>
          </a:p>
        </p:txBody>
      </p:sp>
      <p:sp>
        <p:nvSpPr>
          <p:cNvPr id="12" name="Text 9"/>
          <p:cNvSpPr/>
          <p:nvPr/>
        </p:nvSpPr>
        <p:spPr>
          <a:xfrm>
            <a:off x="6507004" y="5642848"/>
            <a:ext cx="3211235" cy="1088708"/>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Leaf nodes represent the final classification or prediction made by the decision tree.</a:t>
            </a:r>
            <a:endParaRPr lang="en-US" sz="1750" dirty="0"/>
          </a:p>
        </p:txBody>
      </p:sp>
      <p:sp>
        <p:nvSpPr>
          <p:cNvPr id="13" name="Shape 10"/>
          <p:cNvSpPr/>
          <p:nvPr/>
        </p:nvSpPr>
        <p:spPr>
          <a:xfrm>
            <a:off x="10171867" y="4925616"/>
            <a:ext cx="3664863" cy="2395657"/>
          </a:xfrm>
          <a:prstGeom prst="roundRect">
            <a:avLst>
              <a:gd name="adj" fmla="val 1420"/>
            </a:avLst>
          </a:prstGeom>
          <a:solidFill>
            <a:srgbClr val="484B51"/>
          </a:solidFill>
          <a:ln/>
        </p:spPr>
      </p:sp>
      <p:sp>
        <p:nvSpPr>
          <p:cNvPr id="14" name="Text 11"/>
          <p:cNvSpPr/>
          <p:nvPr/>
        </p:nvSpPr>
        <p:spPr>
          <a:xfrm>
            <a:off x="10398681" y="5152430"/>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Root Node</a:t>
            </a:r>
            <a:endParaRPr lang="en-US" sz="2200" dirty="0"/>
          </a:p>
        </p:txBody>
      </p:sp>
      <p:sp>
        <p:nvSpPr>
          <p:cNvPr id="15" name="Text 12"/>
          <p:cNvSpPr/>
          <p:nvPr/>
        </p:nvSpPr>
        <p:spPr>
          <a:xfrm>
            <a:off x="10398681" y="5642848"/>
            <a:ext cx="3211235" cy="1451610"/>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The root node is the top-most node in the decision tree, where the algorithm starts the decision-making process.</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2539960"/>
            <a:ext cx="6213515" cy="708779"/>
          </a:xfrm>
          <a:prstGeom prst="rect">
            <a:avLst/>
          </a:prstGeom>
          <a:noFill/>
          <a:ln/>
        </p:spPr>
        <p:txBody>
          <a:bodyPr wrap="non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Building a Decision Tree</a:t>
            </a:r>
            <a:endParaRPr lang="en-US" sz="4450" dirty="0"/>
          </a:p>
        </p:txBody>
      </p:sp>
      <p:sp>
        <p:nvSpPr>
          <p:cNvPr id="3" name="Text 1"/>
          <p:cNvSpPr/>
          <p:nvPr/>
        </p:nvSpPr>
        <p:spPr>
          <a:xfrm>
            <a:off x="793790" y="3815715"/>
            <a:ext cx="2835235" cy="354330"/>
          </a:xfrm>
          <a:prstGeom prst="rect">
            <a:avLst/>
          </a:prstGeom>
          <a:noFill/>
          <a:ln/>
        </p:spPr>
        <p:txBody>
          <a:bodyPr wrap="none" lIns="0" tIns="0" rIns="0" bIns="0" rtlCol="0" anchor="t"/>
          <a:lstStyle/>
          <a:p>
            <a:pPr indent="0" marL="0">
              <a:lnSpc>
                <a:spcPts val="2750"/>
              </a:lnSpc>
              <a:buNone/>
            </a:pPr>
            <a:r>
              <a:rPr lang="en-US" sz="2200" dirty="0">
                <a:solidFill>
                  <a:srgbClr val="F3F3F2"/>
                </a:solidFill>
                <a:latin typeface="IBM Plex Sans Medium" pitchFamily="34" charset="0"/>
                <a:ea typeface="IBM Plex Sans Medium" pitchFamily="34" charset="-122"/>
                <a:cs typeface="IBM Plex Sans Medium" pitchFamily="34" charset="-120"/>
              </a:rPr>
              <a:t>Data Preparation</a:t>
            </a:r>
            <a:endParaRPr lang="en-US" sz="2200" dirty="0"/>
          </a:p>
        </p:txBody>
      </p:sp>
      <p:sp>
        <p:nvSpPr>
          <p:cNvPr id="4" name="Text 2"/>
          <p:cNvSpPr/>
          <p:nvPr/>
        </p:nvSpPr>
        <p:spPr>
          <a:xfrm>
            <a:off x="793790" y="4396859"/>
            <a:ext cx="3978116" cy="1088708"/>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Ensure the dataset is clean, relevant, and appropriately formatted for the decision tree algorithm.</a:t>
            </a:r>
            <a:endParaRPr lang="en-US" sz="1750" dirty="0"/>
          </a:p>
        </p:txBody>
      </p:sp>
      <p:sp>
        <p:nvSpPr>
          <p:cNvPr id="5" name="Text 3"/>
          <p:cNvSpPr/>
          <p:nvPr/>
        </p:nvSpPr>
        <p:spPr>
          <a:xfrm>
            <a:off x="5332928" y="3815715"/>
            <a:ext cx="2835235" cy="354330"/>
          </a:xfrm>
          <a:prstGeom prst="rect">
            <a:avLst/>
          </a:prstGeom>
          <a:noFill/>
          <a:ln/>
        </p:spPr>
        <p:txBody>
          <a:bodyPr wrap="none" lIns="0" tIns="0" rIns="0" bIns="0" rtlCol="0" anchor="t"/>
          <a:lstStyle/>
          <a:p>
            <a:pPr indent="0" marL="0">
              <a:lnSpc>
                <a:spcPts val="2750"/>
              </a:lnSpc>
              <a:buNone/>
            </a:pPr>
            <a:r>
              <a:rPr lang="en-US" sz="2200" dirty="0">
                <a:solidFill>
                  <a:srgbClr val="F3F3F2"/>
                </a:solidFill>
                <a:latin typeface="IBM Plex Sans Medium" pitchFamily="34" charset="0"/>
                <a:ea typeface="IBM Plex Sans Medium" pitchFamily="34" charset="-122"/>
                <a:cs typeface="IBM Plex Sans Medium" pitchFamily="34" charset="-120"/>
              </a:rPr>
              <a:t>Feature Selection</a:t>
            </a:r>
            <a:endParaRPr lang="en-US" sz="2200" dirty="0"/>
          </a:p>
        </p:txBody>
      </p:sp>
      <p:sp>
        <p:nvSpPr>
          <p:cNvPr id="6" name="Text 4"/>
          <p:cNvSpPr/>
          <p:nvPr/>
        </p:nvSpPr>
        <p:spPr>
          <a:xfrm>
            <a:off x="5332928" y="4396859"/>
            <a:ext cx="3978116" cy="1088708"/>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Identify the most informative features that will help the decision tree make accurate predictions.</a:t>
            </a:r>
            <a:endParaRPr lang="en-US" sz="1750" dirty="0"/>
          </a:p>
        </p:txBody>
      </p:sp>
      <p:sp>
        <p:nvSpPr>
          <p:cNvPr id="7" name="Text 5"/>
          <p:cNvSpPr/>
          <p:nvPr/>
        </p:nvSpPr>
        <p:spPr>
          <a:xfrm>
            <a:off x="9872067" y="3815715"/>
            <a:ext cx="2835235" cy="354330"/>
          </a:xfrm>
          <a:prstGeom prst="rect">
            <a:avLst/>
          </a:prstGeom>
          <a:noFill/>
          <a:ln/>
        </p:spPr>
        <p:txBody>
          <a:bodyPr wrap="none" lIns="0" tIns="0" rIns="0" bIns="0" rtlCol="0" anchor="t"/>
          <a:lstStyle/>
          <a:p>
            <a:pPr indent="0" marL="0">
              <a:lnSpc>
                <a:spcPts val="2750"/>
              </a:lnSpc>
              <a:buNone/>
            </a:pPr>
            <a:r>
              <a:rPr lang="en-US" sz="2200" dirty="0">
                <a:solidFill>
                  <a:srgbClr val="F3F3F2"/>
                </a:solidFill>
                <a:latin typeface="IBM Plex Sans Medium" pitchFamily="34" charset="0"/>
                <a:ea typeface="IBM Plex Sans Medium" pitchFamily="34" charset="-122"/>
                <a:cs typeface="IBM Plex Sans Medium" pitchFamily="34" charset="-120"/>
              </a:rPr>
              <a:t>Tree Construction</a:t>
            </a:r>
            <a:endParaRPr lang="en-US" sz="2200" dirty="0"/>
          </a:p>
        </p:txBody>
      </p:sp>
      <p:sp>
        <p:nvSpPr>
          <p:cNvPr id="8" name="Text 6"/>
          <p:cNvSpPr/>
          <p:nvPr/>
        </p:nvSpPr>
        <p:spPr>
          <a:xfrm>
            <a:off x="9872067" y="4396859"/>
            <a:ext cx="3978116" cy="1088708"/>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Recursively split the data based on feature values to grow the decision tree and create the hierarchical structure.</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793790" y="1288256"/>
            <a:ext cx="7556421" cy="1417558"/>
          </a:xfrm>
          <a:prstGeom prst="rect">
            <a:avLst/>
          </a:prstGeom>
          <a:noFill/>
          <a:ln/>
        </p:spPr>
        <p:txBody>
          <a:bodyPr wrap="squar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Splitting Criteria (Gini Index, Information Gain)</a:t>
            </a:r>
            <a:endParaRPr lang="en-US" sz="4450" dirty="0"/>
          </a:p>
        </p:txBody>
      </p:sp>
      <p:sp>
        <p:nvSpPr>
          <p:cNvPr id="4" name="Shape 1"/>
          <p:cNvSpPr/>
          <p:nvPr/>
        </p:nvSpPr>
        <p:spPr>
          <a:xfrm>
            <a:off x="793790" y="3301127"/>
            <a:ext cx="510302" cy="510302"/>
          </a:xfrm>
          <a:prstGeom prst="roundRect">
            <a:avLst>
              <a:gd name="adj" fmla="val 6667"/>
            </a:avLst>
          </a:prstGeom>
          <a:solidFill>
            <a:srgbClr val="484B51"/>
          </a:solidFill>
          <a:ln/>
        </p:spPr>
      </p:sp>
      <p:sp>
        <p:nvSpPr>
          <p:cNvPr id="5" name="Text 2"/>
          <p:cNvSpPr/>
          <p:nvPr/>
        </p:nvSpPr>
        <p:spPr>
          <a:xfrm>
            <a:off x="946785" y="3386138"/>
            <a:ext cx="204192" cy="340281"/>
          </a:xfrm>
          <a:prstGeom prst="rect">
            <a:avLst/>
          </a:prstGeom>
          <a:noFill/>
          <a:ln/>
        </p:spPr>
        <p:txBody>
          <a:bodyPr wrap="none" lIns="0" tIns="0" rIns="0" bIns="0" rtlCol="0" anchor="t"/>
          <a:lstStyle/>
          <a:p>
            <a:pPr algn="ctr" indent="0" marL="0">
              <a:lnSpc>
                <a:spcPts val="2650"/>
              </a:lnSpc>
              <a:buNone/>
            </a:pPr>
            <a:r>
              <a:rPr lang="en-US" sz="2650" dirty="0">
                <a:solidFill>
                  <a:srgbClr val="D4D4D1"/>
                </a:solidFill>
                <a:latin typeface="IBM Plex Sans Medium" pitchFamily="34" charset="0"/>
                <a:ea typeface="IBM Plex Sans Medium" pitchFamily="34" charset="-122"/>
                <a:cs typeface="IBM Plex Sans Medium" pitchFamily="34" charset="-120"/>
              </a:rPr>
              <a:t>1</a:t>
            </a:r>
            <a:endParaRPr lang="en-US" sz="2650" dirty="0"/>
          </a:p>
        </p:txBody>
      </p:sp>
      <p:sp>
        <p:nvSpPr>
          <p:cNvPr id="6" name="Text 3"/>
          <p:cNvSpPr/>
          <p:nvPr/>
        </p:nvSpPr>
        <p:spPr>
          <a:xfrm>
            <a:off x="1530906" y="3301127"/>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Gini Index</a:t>
            </a:r>
            <a:endParaRPr lang="en-US" sz="2200" dirty="0"/>
          </a:p>
        </p:txBody>
      </p:sp>
      <p:sp>
        <p:nvSpPr>
          <p:cNvPr id="7" name="Text 4"/>
          <p:cNvSpPr/>
          <p:nvPr/>
        </p:nvSpPr>
        <p:spPr>
          <a:xfrm>
            <a:off x="1530906" y="3791545"/>
            <a:ext cx="2927747" cy="1451610"/>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A measure of impurity that evaluates the likelihood of a random sample being misclassified.</a:t>
            </a:r>
            <a:endParaRPr lang="en-US" sz="1750" dirty="0"/>
          </a:p>
        </p:txBody>
      </p:sp>
      <p:sp>
        <p:nvSpPr>
          <p:cNvPr id="8" name="Shape 5"/>
          <p:cNvSpPr/>
          <p:nvPr/>
        </p:nvSpPr>
        <p:spPr>
          <a:xfrm>
            <a:off x="4685467" y="3301127"/>
            <a:ext cx="510302" cy="510302"/>
          </a:xfrm>
          <a:prstGeom prst="roundRect">
            <a:avLst>
              <a:gd name="adj" fmla="val 6667"/>
            </a:avLst>
          </a:prstGeom>
          <a:solidFill>
            <a:srgbClr val="484B51"/>
          </a:solidFill>
          <a:ln/>
        </p:spPr>
      </p:sp>
      <p:sp>
        <p:nvSpPr>
          <p:cNvPr id="9" name="Text 6"/>
          <p:cNvSpPr/>
          <p:nvPr/>
        </p:nvSpPr>
        <p:spPr>
          <a:xfrm>
            <a:off x="4838462" y="3386138"/>
            <a:ext cx="204192" cy="340281"/>
          </a:xfrm>
          <a:prstGeom prst="rect">
            <a:avLst/>
          </a:prstGeom>
          <a:noFill/>
          <a:ln/>
        </p:spPr>
        <p:txBody>
          <a:bodyPr wrap="none" lIns="0" tIns="0" rIns="0" bIns="0" rtlCol="0" anchor="t"/>
          <a:lstStyle/>
          <a:p>
            <a:pPr algn="ctr" indent="0" marL="0">
              <a:lnSpc>
                <a:spcPts val="2650"/>
              </a:lnSpc>
              <a:buNone/>
            </a:pPr>
            <a:r>
              <a:rPr lang="en-US" sz="2650" dirty="0">
                <a:solidFill>
                  <a:srgbClr val="D4D4D1"/>
                </a:solidFill>
                <a:latin typeface="IBM Plex Sans Medium" pitchFamily="34" charset="0"/>
                <a:ea typeface="IBM Plex Sans Medium" pitchFamily="34" charset="-122"/>
                <a:cs typeface="IBM Plex Sans Medium" pitchFamily="34" charset="-120"/>
              </a:rPr>
              <a:t>2</a:t>
            </a:r>
            <a:endParaRPr lang="en-US" sz="2650" dirty="0"/>
          </a:p>
        </p:txBody>
      </p:sp>
      <p:sp>
        <p:nvSpPr>
          <p:cNvPr id="10" name="Text 7"/>
          <p:cNvSpPr/>
          <p:nvPr/>
        </p:nvSpPr>
        <p:spPr>
          <a:xfrm>
            <a:off x="5422583" y="3301127"/>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Information Gain</a:t>
            </a:r>
            <a:endParaRPr lang="en-US" sz="2200" dirty="0"/>
          </a:p>
        </p:txBody>
      </p:sp>
      <p:sp>
        <p:nvSpPr>
          <p:cNvPr id="11" name="Text 8"/>
          <p:cNvSpPr/>
          <p:nvPr/>
        </p:nvSpPr>
        <p:spPr>
          <a:xfrm>
            <a:off x="5422583" y="3791545"/>
            <a:ext cx="2927747" cy="1451610"/>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Measures the reduction in entropy or uncertainty when a feature is used to split the data.</a:t>
            </a:r>
            <a:endParaRPr lang="en-US" sz="1750" dirty="0"/>
          </a:p>
        </p:txBody>
      </p:sp>
      <p:sp>
        <p:nvSpPr>
          <p:cNvPr id="12" name="Shape 9"/>
          <p:cNvSpPr/>
          <p:nvPr/>
        </p:nvSpPr>
        <p:spPr>
          <a:xfrm>
            <a:off x="793790" y="5725120"/>
            <a:ext cx="510302" cy="510302"/>
          </a:xfrm>
          <a:prstGeom prst="roundRect">
            <a:avLst>
              <a:gd name="adj" fmla="val 6667"/>
            </a:avLst>
          </a:prstGeom>
          <a:solidFill>
            <a:srgbClr val="484B51"/>
          </a:solidFill>
          <a:ln/>
        </p:spPr>
      </p:sp>
      <p:sp>
        <p:nvSpPr>
          <p:cNvPr id="13" name="Text 10"/>
          <p:cNvSpPr/>
          <p:nvPr/>
        </p:nvSpPr>
        <p:spPr>
          <a:xfrm>
            <a:off x="946785" y="5810131"/>
            <a:ext cx="204192" cy="340281"/>
          </a:xfrm>
          <a:prstGeom prst="rect">
            <a:avLst/>
          </a:prstGeom>
          <a:noFill/>
          <a:ln/>
        </p:spPr>
        <p:txBody>
          <a:bodyPr wrap="none" lIns="0" tIns="0" rIns="0" bIns="0" rtlCol="0" anchor="t"/>
          <a:lstStyle/>
          <a:p>
            <a:pPr algn="ctr" indent="0" marL="0">
              <a:lnSpc>
                <a:spcPts val="2650"/>
              </a:lnSpc>
              <a:buNone/>
            </a:pPr>
            <a:r>
              <a:rPr lang="en-US" sz="2650" dirty="0">
                <a:solidFill>
                  <a:srgbClr val="D4D4D1"/>
                </a:solidFill>
                <a:latin typeface="IBM Plex Sans Medium" pitchFamily="34" charset="0"/>
                <a:ea typeface="IBM Plex Sans Medium" pitchFamily="34" charset="-122"/>
                <a:cs typeface="IBM Plex Sans Medium" pitchFamily="34" charset="-120"/>
              </a:rPr>
              <a:t>3</a:t>
            </a:r>
            <a:endParaRPr lang="en-US" sz="2650" dirty="0"/>
          </a:p>
        </p:txBody>
      </p:sp>
      <p:sp>
        <p:nvSpPr>
          <p:cNvPr id="14" name="Text 11"/>
          <p:cNvSpPr/>
          <p:nvPr/>
        </p:nvSpPr>
        <p:spPr>
          <a:xfrm>
            <a:off x="1530906" y="5725120"/>
            <a:ext cx="2835235" cy="354330"/>
          </a:xfrm>
          <a:prstGeom prst="rect">
            <a:avLst/>
          </a:prstGeom>
          <a:noFill/>
          <a:ln/>
        </p:spPr>
        <p:txBody>
          <a:bodyPr wrap="none" lIns="0" tIns="0" rIns="0" bIns="0" rtlCol="0" anchor="t"/>
          <a:lstStyle/>
          <a:p>
            <a:pPr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Optimal Splitting</a:t>
            </a:r>
            <a:endParaRPr lang="en-US" sz="2200" dirty="0"/>
          </a:p>
        </p:txBody>
      </p:sp>
      <p:sp>
        <p:nvSpPr>
          <p:cNvPr id="15" name="Text 12"/>
          <p:cNvSpPr/>
          <p:nvPr/>
        </p:nvSpPr>
        <p:spPr>
          <a:xfrm>
            <a:off x="1530906" y="6215539"/>
            <a:ext cx="6819305" cy="725805"/>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The decision tree algorithm selects the feature that maximizes the Gini Index or Information Gain to split the data at each node.</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759381"/>
            <a:ext cx="6016823" cy="708779"/>
          </a:xfrm>
          <a:prstGeom prst="rect">
            <a:avLst/>
          </a:prstGeom>
          <a:noFill/>
          <a:ln/>
        </p:spPr>
        <p:txBody>
          <a:bodyPr wrap="non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Pruning and Overfitting</a:t>
            </a:r>
            <a:endParaRPr lang="en-US" sz="4450" dirty="0"/>
          </a:p>
        </p:txBody>
      </p:sp>
      <p:pic>
        <p:nvPicPr>
          <p:cNvPr id="4" name="Image 1" descr="preencoded.png">    </p:cNvPr>
          <p:cNvPicPr>
            <a:picLocks noChangeAspect="1"/>
          </p:cNvPicPr>
          <p:nvPr/>
        </p:nvPicPr>
        <p:blipFill>
          <a:blip r:embed="rId2"/>
          <a:stretch>
            <a:fillRect/>
          </a:stretch>
        </p:blipFill>
        <p:spPr>
          <a:xfrm>
            <a:off x="6280190" y="1808321"/>
            <a:ext cx="1134070" cy="2032754"/>
          </a:xfrm>
          <a:prstGeom prst="rect">
            <a:avLst/>
          </a:prstGeom>
        </p:spPr>
      </p:pic>
      <p:sp>
        <p:nvSpPr>
          <p:cNvPr id="5" name="Text 1"/>
          <p:cNvSpPr/>
          <p:nvPr/>
        </p:nvSpPr>
        <p:spPr>
          <a:xfrm>
            <a:off x="7754422" y="2035135"/>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Overfitting</a:t>
            </a:r>
            <a:endParaRPr lang="en-US" sz="2200" dirty="0"/>
          </a:p>
        </p:txBody>
      </p:sp>
      <p:sp>
        <p:nvSpPr>
          <p:cNvPr id="6" name="Text 2"/>
          <p:cNvSpPr/>
          <p:nvPr/>
        </p:nvSpPr>
        <p:spPr>
          <a:xfrm>
            <a:off x="7754422" y="2525554"/>
            <a:ext cx="6082189" cy="1088708"/>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Decision trees can become too complex and fit the training data too closely, leading to poor generalization on new, unseen data.</a:t>
            </a:r>
            <a:endParaRPr lang="en-US" sz="1750" dirty="0"/>
          </a:p>
        </p:txBody>
      </p:sp>
      <p:pic>
        <p:nvPicPr>
          <p:cNvPr id="7" name="Image 2" descr="preencoded.png">    </p:cNvPr>
          <p:cNvPicPr>
            <a:picLocks noChangeAspect="1"/>
          </p:cNvPicPr>
          <p:nvPr/>
        </p:nvPicPr>
        <p:blipFill>
          <a:blip r:embed="rId3"/>
          <a:stretch>
            <a:fillRect/>
          </a:stretch>
        </p:blipFill>
        <p:spPr>
          <a:xfrm>
            <a:off x="6280190" y="3841075"/>
            <a:ext cx="1134070" cy="1814513"/>
          </a:xfrm>
          <a:prstGeom prst="rect">
            <a:avLst/>
          </a:prstGeom>
        </p:spPr>
      </p:pic>
      <p:sp>
        <p:nvSpPr>
          <p:cNvPr id="8" name="Text 3"/>
          <p:cNvSpPr/>
          <p:nvPr/>
        </p:nvSpPr>
        <p:spPr>
          <a:xfrm>
            <a:off x="7754422" y="4067889"/>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Pruning</a:t>
            </a:r>
            <a:endParaRPr lang="en-US" sz="2200" dirty="0"/>
          </a:p>
        </p:txBody>
      </p:sp>
      <p:sp>
        <p:nvSpPr>
          <p:cNvPr id="9" name="Text 4"/>
          <p:cNvSpPr/>
          <p:nvPr/>
        </p:nvSpPr>
        <p:spPr>
          <a:xfrm>
            <a:off x="7754422" y="4558308"/>
            <a:ext cx="6082189" cy="725805"/>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Pruning techniques are used to simplify the decision tree and prevent overfitting by removing unnecessary branches.</a:t>
            </a:r>
            <a:endParaRPr lang="en-US" sz="1750" dirty="0"/>
          </a:p>
        </p:txBody>
      </p:sp>
      <p:pic>
        <p:nvPicPr>
          <p:cNvPr id="10" name="Image 3" descr="preencoded.png">    </p:cNvPr>
          <p:cNvPicPr>
            <a:picLocks noChangeAspect="1"/>
          </p:cNvPicPr>
          <p:nvPr/>
        </p:nvPicPr>
        <p:blipFill>
          <a:blip r:embed="rId4"/>
          <a:stretch>
            <a:fillRect/>
          </a:stretch>
        </p:blipFill>
        <p:spPr>
          <a:xfrm>
            <a:off x="6280190" y="5655588"/>
            <a:ext cx="1134070" cy="1814513"/>
          </a:xfrm>
          <a:prstGeom prst="rect">
            <a:avLst/>
          </a:prstGeom>
        </p:spPr>
      </p:pic>
      <p:sp>
        <p:nvSpPr>
          <p:cNvPr id="11" name="Text 5"/>
          <p:cNvSpPr/>
          <p:nvPr/>
        </p:nvSpPr>
        <p:spPr>
          <a:xfrm>
            <a:off x="7754422" y="5882402"/>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Balanced Complexity</a:t>
            </a:r>
            <a:endParaRPr lang="en-US" sz="2200" dirty="0"/>
          </a:p>
        </p:txBody>
      </p:sp>
      <p:sp>
        <p:nvSpPr>
          <p:cNvPr id="12" name="Text 6"/>
          <p:cNvSpPr/>
          <p:nvPr/>
        </p:nvSpPr>
        <p:spPr>
          <a:xfrm>
            <a:off x="7754422" y="6372820"/>
            <a:ext cx="6082189" cy="725805"/>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The goal is to find the right balance between model complexity and generalization performance.</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2301954"/>
            <a:ext cx="12656582" cy="708779"/>
          </a:xfrm>
          <a:prstGeom prst="rect">
            <a:avLst/>
          </a:prstGeom>
          <a:noFill/>
          <a:ln/>
        </p:spPr>
        <p:txBody>
          <a:bodyPr wrap="non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Advantages and Disadvantages of Decision Trees</a:t>
            </a:r>
            <a:endParaRPr lang="en-US" sz="4450" dirty="0"/>
          </a:p>
        </p:txBody>
      </p:sp>
      <p:sp>
        <p:nvSpPr>
          <p:cNvPr id="3" name="Text 1"/>
          <p:cNvSpPr/>
          <p:nvPr/>
        </p:nvSpPr>
        <p:spPr>
          <a:xfrm>
            <a:off x="793790" y="3577709"/>
            <a:ext cx="2835235" cy="354330"/>
          </a:xfrm>
          <a:prstGeom prst="rect">
            <a:avLst/>
          </a:prstGeom>
          <a:noFill/>
          <a:ln/>
        </p:spPr>
        <p:txBody>
          <a:bodyPr wrap="none" lIns="0" tIns="0" rIns="0" bIns="0" rtlCol="0" anchor="t"/>
          <a:lstStyle/>
          <a:p>
            <a:pPr indent="0" marL="0">
              <a:lnSpc>
                <a:spcPts val="2750"/>
              </a:lnSpc>
              <a:buNone/>
            </a:pPr>
            <a:r>
              <a:rPr lang="en-US" sz="2200" dirty="0">
                <a:solidFill>
                  <a:srgbClr val="F3F3F2"/>
                </a:solidFill>
                <a:latin typeface="IBM Plex Sans Medium" pitchFamily="34" charset="0"/>
                <a:ea typeface="IBM Plex Sans Medium" pitchFamily="34" charset="-122"/>
                <a:cs typeface="IBM Plex Sans Medium" pitchFamily="34" charset="-120"/>
              </a:rPr>
              <a:t>Advantages</a:t>
            </a:r>
            <a:endParaRPr lang="en-US" sz="2200" dirty="0"/>
          </a:p>
        </p:txBody>
      </p:sp>
      <p:sp>
        <p:nvSpPr>
          <p:cNvPr id="4" name="Text 2"/>
          <p:cNvSpPr/>
          <p:nvPr/>
        </p:nvSpPr>
        <p:spPr>
          <a:xfrm>
            <a:off x="793790" y="4158853"/>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Intuitive and easy to interpret</a:t>
            </a:r>
            <a:endParaRPr lang="en-US" sz="1750" dirty="0"/>
          </a:p>
        </p:txBody>
      </p:sp>
      <p:sp>
        <p:nvSpPr>
          <p:cNvPr id="5" name="Text 3"/>
          <p:cNvSpPr/>
          <p:nvPr/>
        </p:nvSpPr>
        <p:spPr>
          <a:xfrm>
            <a:off x="793790" y="4601051"/>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Can handle both numerical and categorical features</a:t>
            </a:r>
            <a:endParaRPr lang="en-US" sz="1750" dirty="0"/>
          </a:p>
        </p:txBody>
      </p:sp>
      <p:sp>
        <p:nvSpPr>
          <p:cNvPr id="6" name="Text 4"/>
          <p:cNvSpPr/>
          <p:nvPr/>
        </p:nvSpPr>
        <p:spPr>
          <a:xfrm>
            <a:off x="793790" y="5043249"/>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Robust to outliers and missing values</a:t>
            </a:r>
            <a:endParaRPr lang="en-US" sz="1750" dirty="0"/>
          </a:p>
        </p:txBody>
      </p:sp>
      <p:sp>
        <p:nvSpPr>
          <p:cNvPr id="7" name="Text 5"/>
          <p:cNvSpPr/>
          <p:nvPr/>
        </p:nvSpPr>
        <p:spPr>
          <a:xfrm>
            <a:off x="793790" y="5485448"/>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Able to capture non-linear relationships</a:t>
            </a:r>
            <a:endParaRPr lang="en-US" sz="1750" dirty="0"/>
          </a:p>
        </p:txBody>
      </p:sp>
      <p:sp>
        <p:nvSpPr>
          <p:cNvPr id="8" name="Text 6"/>
          <p:cNvSpPr/>
          <p:nvPr/>
        </p:nvSpPr>
        <p:spPr>
          <a:xfrm>
            <a:off x="7599521" y="3577709"/>
            <a:ext cx="2835235" cy="354330"/>
          </a:xfrm>
          <a:prstGeom prst="rect">
            <a:avLst/>
          </a:prstGeom>
          <a:noFill/>
          <a:ln/>
        </p:spPr>
        <p:txBody>
          <a:bodyPr wrap="none" lIns="0" tIns="0" rIns="0" bIns="0" rtlCol="0" anchor="t"/>
          <a:lstStyle/>
          <a:p>
            <a:pPr indent="0" marL="0">
              <a:lnSpc>
                <a:spcPts val="2750"/>
              </a:lnSpc>
              <a:buNone/>
            </a:pPr>
            <a:r>
              <a:rPr lang="en-US" sz="2200" dirty="0">
                <a:solidFill>
                  <a:srgbClr val="F3F3F2"/>
                </a:solidFill>
                <a:latin typeface="IBM Plex Sans Medium" pitchFamily="34" charset="0"/>
                <a:ea typeface="IBM Plex Sans Medium" pitchFamily="34" charset="-122"/>
                <a:cs typeface="IBM Plex Sans Medium" pitchFamily="34" charset="-120"/>
              </a:rPr>
              <a:t>Disadvantages</a:t>
            </a:r>
            <a:endParaRPr lang="en-US" sz="2200" dirty="0"/>
          </a:p>
        </p:txBody>
      </p:sp>
      <p:sp>
        <p:nvSpPr>
          <p:cNvPr id="9" name="Text 7"/>
          <p:cNvSpPr/>
          <p:nvPr/>
        </p:nvSpPr>
        <p:spPr>
          <a:xfrm>
            <a:off x="7599521" y="4158853"/>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Prone to overfitting if not properly pruned</a:t>
            </a:r>
            <a:endParaRPr lang="en-US" sz="1750" dirty="0"/>
          </a:p>
        </p:txBody>
      </p:sp>
      <p:sp>
        <p:nvSpPr>
          <p:cNvPr id="10" name="Text 8"/>
          <p:cNvSpPr/>
          <p:nvPr/>
        </p:nvSpPr>
        <p:spPr>
          <a:xfrm>
            <a:off x="7599521" y="4601051"/>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Sensitive to the way the data is split</a:t>
            </a:r>
            <a:endParaRPr lang="en-US" sz="1750" dirty="0"/>
          </a:p>
        </p:txBody>
      </p:sp>
      <p:sp>
        <p:nvSpPr>
          <p:cNvPr id="11" name="Text 9"/>
          <p:cNvSpPr/>
          <p:nvPr/>
        </p:nvSpPr>
        <p:spPr>
          <a:xfrm>
            <a:off x="7599521" y="5043249"/>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May not perform well on large, high-dimensional datasets</a:t>
            </a:r>
            <a:endParaRPr lang="en-US" sz="1750" dirty="0"/>
          </a:p>
        </p:txBody>
      </p:sp>
      <p:sp>
        <p:nvSpPr>
          <p:cNvPr id="12" name="Text 10"/>
          <p:cNvSpPr/>
          <p:nvPr/>
        </p:nvSpPr>
        <p:spPr>
          <a:xfrm>
            <a:off x="7599521" y="5485448"/>
            <a:ext cx="62447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D4D4D1"/>
                </a:solidFill>
                <a:latin typeface="Roboto" pitchFamily="34" charset="0"/>
                <a:ea typeface="Roboto" pitchFamily="34" charset="-122"/>
                <a:cs typeface="Roboto" pitchFamily="34" charset="-120"/>
              </a:rPr>
              <a:t>Cannot extrapolate beyond the range of the training data</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835235"/>
          </a:xfrm>
          <a:prstGeom prst="rect">
            <a:avLst/>
          </a:prstGeom>
        </p:spPr>
      </p:pic>
      <p:sp>
        <p:nvSpPr>
          <p:cNvPr id="3" name="Text 0"/>
          <p:cNvSpPr/>
          <p:nvPr/>
        </p:nvSpPr>
        <p:spPr>
          <a:xfrm>
            <a:off x="793790" y="3821430"/>
            <a:ext cx="9840516" cy="708779"/>
          </a:xfrm>
          <a:prstGeom prst="rect">
            <a:avLst/>
          </a:prstGeom>
          <a:noFill/>
          <a:ln/>
        </p:spPr>
        <p:txBody>
          <a:bodyPr wrap="non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Evaluating Decision Tree Performance</a:t>
            </a:r>
            <a:endParaRPr lang="en-US" sz="4450" dirty="0"/>
          </a:p>
        </p:txBody>
      </p:sp>
      <p:pic>
        <p:nvPicPr>
          <p:cNvPr id="4" name="Image 1" descr="preencoded.png">    </p:cNvPr>
          <p:cNvPicPr>
            <a:picLocks noChangeAspect="1"/>
          </p:cNvPicPr>
          <p:nvPr/>
        </p:nvPicPr>
        <p:blipFill>
          <a:blip r:embed="rId2"/>
          <a:stretch>
            <a:fillRect/>
          </a:stretch>
        </p:blipFill>
        <p:spPr>
          <a:xfrm>
            <a:off x="793790" y="4870371"/>
            <a:ext cx="566976" cy="566976"/>
          </a:xfrm>
          <a:prstGeom prst="rect">
            <a:avLst/>
          </a:prstGeom>
        </p:spPr>
      </p:pic>
      <p:sp>
        <p:nvSpPr>
          <p:cNvPr id="5" name="Text 1"/>
          <p:cNvSpPr/>
          <p:nvPr/>
        </p:nvSpPr>
        <p:spPr>
          <a:xfrm>
            <a:off x="793790" y="5664160"/>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Accuracy</a:t>
            </a:r>
            <a:endParaRPr lang="en-US" sz="2200" dirty="0"/>
          </a:p>
        </p:txBody>
      </p:sp>
      <p:sp>
        <p:nvSpPr>
          <p:cNvPr id="6" name="Text 2"/>
          <p:cNvSpPr/>
          <p:nvPr/>
        </p:nvSpPr>
        <p:spPr>
          <a:xfrm>
            <a:off x="793790" y="6154579"/>
            <a:ext cx="3005495" cy="1088708"/>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The proportion of correct predictions made by the decision tree model.</a:t>
            </a:r>
            <a:endParaRPr lang="en-US" sz="1750" dirty="0"/>
          </a:p>
        </p:txBody>
      </p:sp>
      <p:pic>
        <p:nvPicPr>
          <p:cNvPr id="7" name="Image 2" descr="preencoded.png">    </p:cNvPr>
          <p:cNvPicPr>
            <a:picLocks noChangeAspect="1"/>
          </p:cNvPicPr>
          <p:nvPr/>
        </p:nvPicPr>
        <p:blipFill>
          <a:blip r:embed="rId3"/>
          <a:stretch>
            <a:fillRect/>
          </a:stretch>
        </p:blipFill>
        <p:spPr>
          <a:xfrm>
            <a:off x="4139446" y="4870371"/>
            <a:ext cx="566976" cy="566976"/>
          </a:xfrm>
          <a:prstGeom prst="rect">
            <a:avLst/>
          </a:prstGeom>
        </p:spPr>
      </p:pic>
      <p:sp>
        <p:nvSpPr>
          <p:cNvPr id="8" name="Text 3"/>
          <p:cNvSpPr/>
          <p:nvPr/>
        </p:nvSpPr>
        <p:spPr>
          <a:xfrm>
            <a:off x="4139446" y="5664160"/>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Precision</a:t>
            </a:r>
            <a:endParaRPr lang="en-US" sz="2200" dirty="0"/>
          </a:p>
        </p:txBody>
      </p:sp>
      <p:sp>
        <p:nvSpPr>
          <p:cNvPr id="9" name="Text 4"/>
          <p:cNvSpPr/>
          <p:nvPr/>
        </p:nvSpPr>
        <p:spPr>
          <a:xfrm>
            <a:off x="4139446" y="6154579"/>
            <a:ext cx="3005614" cy="1088708"/>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The fraction of true positive predictions among all positive predictions.</a:t>
            </a:r>
            <a:endParaRPr lang="en-US" sz="1750" dirty="0"/>
          </a:p>
        </p:txBody>
      </p:sp>
      <p:pic>
        <p:nvPicPr>
          <p:cNvPr id="10" name="Image 3" descr="preencoded.png">    </p:cNvPr>
          <p:cNvPicPr>
            <a:picLocks noChangeAspect="1"/>
          </p:cNvPicPr>
          <p:nvPr/>
        </p:nvPicPr>
        <p:blipFill>
          <a:blip r:embed="rId4"/>
          <a:stretch>
            <a:fillRect/>
          </a:stretch>
        </p:blipFill>
        <p:spPr>
          <a:xfrm>
            <a:off x="7485221" y="4870371"/>
            <a:ext cx="566976" cy="566976"/>
          </a:xfrm>
          <a:prstGeom prst="rect">
            <a:avLst/>
          </a:prstGeom>
        </p:spPr>
      </p:pic>
      <p:sp>
        <p:nvSpPr>
          <p:cNvPr id="11" name="Text 5"/>
          <p:cNvSpPr/>
          <p:nvPr/>
        </p:nvSpPr>
        <p:spPr>
          <a:xfrm>
            <a:off x="7485221" y="5664160"/>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Recall</a:t>
            </a:r>
            <a:endParaRPr lang="en-US" sz="2200" dirty="0"/>
          </a:p>
        </p:txBody>
      </p:sp>
      <p:sp>
        <p:nvSpPr>
          <p:cNvPr id="12" name="Text 6"/>
          <p:cNvSpPr/>
          <p:nvPr/>
        </p:nvSpPr>
        <p:spPr>
          <a:xfrm>
            <a:off x="7485221" y="6154579"/>
            <a:ext cx="3005614" cy="1088708"/>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The fraction of true positive predictions among all actual positive instances.</a:t>
            </a:r>
            <a:endParaRPr lang="en-US" sz="1750" dirty="0"/>
          </a:p>
        </p:txBody>
      </p:sp>
      <p:pic>
        <p:nvPicPr>
          <p:cNvPr id="13" name="Image 4" descr="preencoded.png">    </p:cNvPr>
          <p:cNvPicPr>
            <a:picLocks noChangeAspect="1"/>
          </p:cNvPicPr>
          <p:nvPr/>
        </p:nvPicPr>
        <p:blipFill>
          <a:blip r:embed="rId5"/>
          <a:stretch>
            <a:fillRect/>
          </a:stretch>
        </p:blipFill>
        <p:spPr>
          <a:xfrm>
            <a:off x="10830997" y="4870371"/>
            <a:ext cx="566976" cy="566976"/>
          </a:xfrm>
          <a:prstGeom prst="rect">
            <a:avLst/>
          </a:prstGeom>
        </p:spPr>
      </p:pic>
      <p:sp>
        <p:nvSpPr>
          <p:cNvPr id="14" name="Text 7"/>
          <p:cNvSpPr/>
          <p:nvPr/>
        </p:nvSpPr>
        <p:spPr>
          <a:xfrm>
            <a:off x="10830997" y="5664160"/>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D4D4D1"/>
                </a:solidFill>
                <a:latin typeface="IBM Plex Sans Medium" pitchFamily="34" charset="0"/>
                <a:ea typeface="IBM Plex Sans Medium" pitchFamily="34" charset="-122"/>
                <a:cs typeface="IBM Plex Sans Medium" pitchFamily="34" charset="-120"/>
              </a:rPr>
              <a:t>F1-Score</a:t>
            </a:r>
            <a:endParaRPr lang="en-US" sz="2200" dirty="0"/>
          </a:p>
        </p:txBody>
      </p:sp>
      <p:sp>
        <p:nvSpPr>
          <p:cNvPr id="15" name="Text 8"/>
          <p:cNvSpPr/>
          <p:nvPr/>
        </p:nvSpPr>
        <p:spPr>
          <a:xfrm>
            <a:off x="10830997" y="6154579"/>
            <a:ext cx="3005614" cy="1088708"/>
          </a:xfrm>
          <a:prstGeom prst="rect">
            <a:avLst/>
          </a:prstGeom>
          <a:noFill/>
          <a:ln/>
        </p:spPr>
        <p:txBody>
          <a:bodyPr wrap="square" lIns="0" tIns="0" rIns="0" bIns="0" rtlCol="0" anchor="t"/>
          <a:lstStyle/>
          <a:p>
            <a:pPr algn="l" indent="0" marL="0">
              <a:lnSpc>
                <a:spcPts val="2850"/>
              </a:lnSpc>
              <a:buNone/>
            </a:pPr>
            <a:r>
              <a:rPr lang="en-US" sz="1750" dirty="0">
                <a:solidFill>
                  <a:srgbClr val="D4D4D1"/>
                </a:solidFill>
                <a:latin typeface="Roboto" pitchFamily="34" charset="0"/>
                <a:ea typeface="Roboto" pitchFamily="34" charset="-122"/>
                <a:cs typeface="Roboto" pitchFamily="34" charset="-120"/>
              </a:rPr>
              <a:t>The harmonic mean of precision and recall, providing a balanced metric.</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835235"/>
          </a:xfrm>
          <a:prstGeom prst="rect">
            <a:avLst/>
          </a:prstGeom>
        </p:spPr>
      </p:pic>
      <p:sp>
        <p:nvSpPr>
          <p:cNvPr id="3" name="Text 0"/>
          <p:cNvSpPr/>
          <p:nvPr/>
        </p:nvSpPr>
        <p:spPr>
          <a:xfrm>
            <a:off x="793790" y="3534370"/>
            <a:ext cx="10424517" cy="708779"/>
          </a:xfrm>
          <a:prstGeom prst="rect">
            <a:avLst/>
          </a:prstGeom>
          <a:noFill/>
          <a:ln/>
        </p:spPr>
        <p:txBody>
          <a:bodyPr wrap="none" lIns="0" tIns="0" rIns="0" bIns="0" rtlCol="0" anchor="t"/>
          <a:lstStyle/>
          <a:p>
            <a:pPr indent="0" marL="0">
              <a:lnSpc>
                <a:spcPts val="5550"/>
              </a:lnSpc>
              <a:buNone/>
            </a:pPr>
            <a:r>
              <a:rPr lang="en-US" sz="4450" dirty="0">
                <a:solidFill>
                  <a:srgbClr val="F3F3F2"/>
                </a:solidFill>
                <a:latin typeface="IBM Plex Sans Medium" pitchFamily="34" charset="0"/>
                <a:ea typeface="IBM Plex Sans Medium" pitchFamily="34" charset="-122"/>
                <a:cs typeface="IBM Plex Sans Medium" pitchFamily="34" charset="-120"/>
              </a:rPr>
              <a:t>Confusion Matrix and Evaluation Metrics</a:t>
            </a:r>
            <a:endParaRPr lang="en-US" sz="4450" dirty="0"/>
          </a:p>
        </p:txBody>
      </p:sp>
      <p:sp>
        <p:nvSpPr>
          <p:cNvPr id="4" name="Shape 1"/>
          <p:cNvSpPr/>
          <p:nvPr/>
        </p:nvSpPr>
        <p:spPr>
          <a:xfrm>
            <a:off x="793790" y="4583311"/>
            <a:ext cx="13042821" cy="1966198"/>
          </a:xfrm>
          <a:prstGeom prst="roundRect">
            <a:avLst>
              <a:gd name="adj" fmla="val 1730"/>
            </a:avLst>
          </a:prstGeom>
          <a:noFill/>
          <a:ln w="7620">
            <a:solidFill>
              <a:srgbClr val="FFFFFF">
                <a:alpha val="24000"/>
              </a:srgbClr>
            </a:solidFill>
            <a:prstDash val="solid"/>
          </a:ln>
        </p:spPr>
      </p:sp>
      <p:sp>
        <p:nvSpPr>
          <p:cNvPr id="5" name="Shape 2"/>
          <p:cNvSpPr/>
          <p:nvPr/>
        </p:nvSpPr>
        <p:spPr>
          <a:xfrm>
            <a:off x="801410" y="4590931"/>
            <a:ext cx="13026271" cy="650319"/>
          </a:xfrm>
          <a:prstGeom prst="rect">
            <a:avLst/>
          </a:prstGeom>
          <a:solidFill>
            <a:srgbClr val="FFFFFF">
              <a:alpha val="4000"/>
            </a:srgbClr>
          </a:solidFill>
          <a:ln/>
        </p:spPr>
      </p:sp>
      <p:sp>
        <p:nvSpPr>
          <p:cNvPr id="6" name="Text 3"/>
          <p:cNvSpPr/>
          <p:nvPr/>
        </p:nvSpPr>
        <p:spPr>
          <a:xfrm>
            <a:off x="1029653" y="4734639"/>
            <a:ext cx="3884176" cy="362903"/>
          </a:xfrm>
          <a:prstGeom prst="rect">
            <a:avLst/>
          </a:prstGeom>
          <a:noFill/>
          <a:ln/>
        </p:spPr>
        <p:txBody>
          <a:bodyPr wrap="none" lIns="0" tIns="0" rIns="0" bIns="0" rtlCol="0" anchor="t"/>
          <a:lstStyle/>
          <a:p>
            <a:pPr indent="0" marL="0">
              <a:lnSpc>
                <a:spcPts val="2850"/>
              </a:lnSpc>
              <a:buNone/>
            </a:pPr>
            <a:endParaRPr lang="en-US" sz="1750" dirty="0"/>
          </a:p>
        </p:txBody>
      </p:sp>
      <p:sp>
        <p:nvSpPr>
          <p:cNvPr id="7" name="Text 4"/>
          <p:cNvSpPr/>
          <p:nvPr/>
        </p:nvSpPr>
        <p:spPr>
          <a:xfrm>
            <a:off x="5375077" y="4734639"/>
            <a:ext cx="388036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Predicted Positive</a:t>
            </a:r>
            <a:endParaRPr lang="en-US" sz="1750" dirty="0"/>
          </a:p>
        </p:txBody>
      </p:sp>
      <p:sp>
        <p:nvSpPr>
          <p:cNvPr id="8" name="Text 5"/>
          <p:cNvSpPr/>
          <p:nvPr/>
        </p:nvSpPr>
        <p:spPr>
          <a:xfrm>
            <a:off x="9716691" y="4734639"/>
            <a:ext cx="388417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Predicted Negative</a:t>
            </a:r>
            <a:endParaRPr lang="en-US" sz="1750" dirty="0"/>
          </a:p>
        </p:txBody>
      </p:sp>
      <p:sp>
        <p:nvSpPr>
          <p:cNvPr id="9" name="Shape 6"/>
          <p:cNvSpPr/>
          <p:nvPr/>
        </p:nvSpPr>
        <p:spPr>
          <a:xfrm>
            <a:off x="801410" y="5241250"/>
            <a:ext cx="13026271" cy="650319"/>
          </a:xfrm>
          <a:prstGeom prst="rect">
            <a:avLst/>
          </a:prstGeom>
          <a:solidFill>
            <a:srgbClr val="000000">
              <a:alpha val="4000"/>
            </a:srgbClr>
          </a:solidFill>
          <a:ln/>
        </p:spPr>
      </p:sp>
      <p:sp>
        <p:nvSpPr>
          <p:cNvPr id="10" name="Text 7"/>
          <p:cNvSpPr/>
          <p:nvPr/>
        </p:nvSpPr>
        <p:spPr>
          <a:xfrm>
            <a:off x="1029653" y="5384959"/>
            <a:ext cx="388417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Actual Positive</a:t>
            </a:r>
            <a:endParaRPr lang="en-US" sz="1750" dirty="0"/>
          </a:p>
        </p:txBody>
      </p:sp>
      <p:sp>
        <p:nvSpPr>
          <p:cNvPr id="11" name="Text 8"/>
          <p:cNvSpPr/>
          <p:nvPr/>
        </p:nvSpPr>
        <p:spPr>
          <a:xfrm>
            <a:off x="5375077" y="5384959"/>
            <a:ext cx="388036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True Positive (TP)</a:t>
            </a:r>
            <a:endParaRPr lang="en-US" sz="1750" dirty="0"/>
          </a:p>
        </p:txBody>
      </p:sp>
      <p:sp>
        <p:nvSpPr>
          <p:cNvPr id="12" name="Text 9"/>
          <p:cNvSpPr/>
          <p:nvPr/>
        </p:nvSpPr>
        <p:spPr>
          <a:xfrm>
            <a:off x="9716691" y="5384959"/>
            <a:ext cx="388417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False Negative (FN)</a:t>
            </a:r>
            <a:endParaRPr lang="en-US" sz="1750" dirty="0"/>
          </a:p>
        </p:txBody>
      </p:sp>
      <p:sp>
        <p:nvSpPr>
          <p:cNvPr id="13" name="Shape 10"/>
          <p:cNvSpPr/>
          <p:nvPr/>
        </p:nvSpPr>
        <p:spPr>
          <a:xfrm>
            <a:off x="801410" y="5891570"/>
            <a:ext cx="13026271" cy="650319"/>
          </a:xfrm>
          <a:prstGeom prst="rect">
            <a:avLst/>
          </a:prstGeom>
          <a:solidFill>
            <a:srgbClr val="FFFFFF">
              <a:alpha val="4000"/>
            </a:srgbClr>
          </a:solidFill>
          <a:ln/>
        </p:spPr>
      </p:sp>
      <p:sp>
        <p:nvSpPr>
          <p:cNvPr id="14" name="Text 11"/>
          <p:cNvSpPr/>
          <p:nvPr/>
        </p:nvSpPr>
        <p:spPr>
          <a:xfrm>
            <a:off x="1029653" y="6035278"/>
            <a:ext cx="388417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Actual Negative</a:t>
            </a:r>
            <a:endParaRPr lang="en-US" sz="1750" dirty="0"/>
          </a:p>
        </p:txBody>
      </p:sp>
      <p:sp>
        <p:nvSpPr>
          <p:cNvPr id="15" name="Text 12"/>
          <p:cNvSpPr/>
          <p:nvPr/>
        </p:nvSpPr>
        <p:spPr>
          <a:xfrm>
            <a:off x="5375077" y="6035278"/>
            <a:ext cx="388036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False Positive (FP)</a:t>
            </a:r>
            <a:endParaRPr lang="en-US" sz="1750" dirty="0"/>
          </a:p>
        </p:txBody>
      </p:sp>
      <p:sp>
        <p:nvSpPr>
          <p:cNvPr id="16" name="Text 13"/>
          <p:cNvSpPr/>
          <p:nvPr/>
        </p:nvSpPr>
        <p:spPr>
          <a:xfrm>
            <a:off x="9716691" y="6035278"/>
            <a:ext cx="3884176" cy="362903"/>
          </a:xfrm>
          <a:prstGeom prst="rect">
            <a:avLst/>
          </a:prstGeom>
          <a:noFill/>
          <a:ln/>
        </p:spPr>
        <p:txBody>
          <a:bodyPr wrap="non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True Negative (TN)</a:t>
            </a:r>
            <a:endParaRPr lang="en-US" sz="1750" dirty="0"/>
          </a:p>
        </p:txBody>
      </p:sp>
      <p:sp>
        <p:nvSpPr>
          <p:cNvPr id="17" name="Text 14"/>
          <p:cNvSpPr/>
          <p:nvPr/>
        </p:nvSpPr>
        <p:spPr>
          <a:xfrm>
            <a:off x="793790" y="6804660"/>
            <a:ext cx="13042821" cy="725805"/>
          </a:xfrm>
          <a:prstGeom prst="rect">
            <a:avLst/>
          </a:prstGeom>
          <a:noFill/>
          <a:ln/>
        </p:spPr>
        <p:txBody>
          <a:bodyPr wrap="square" lIns="0" tIns="0" rIns="0" bIns="0" rtlCol="0" anchor="t"/>
          <a:lstStyle/>
          <a:p>
            <a:pPr indent="0" marL="0">
              <a:lnSpc>
                <a:spcPts val="2850"/>
              </a:lnSpc>
              <a:buNone/>
            </a:pPr>
            <a:r>
              <a:rPr lang="en-US" sz="1750" dirty="0">
                <a:solidFill>
                  <a:srgbClr val="D4D4D1"/>
                </a:solidFill>
                <a:latin typeface="Roboto" pitchFamily="34" charset="0"/>
                <a:ea typeface="Roboto" pitchFamily="34" charset="-122"/>
                <a:cs typeface="Roboto" pitchFamily="34" charset="-120"/>
              </a:rPr>
              <a:t>These evaluation metrics provide a comprehensive assessment of the decision tree model's performance, enabling you to understand its strengths, weaknesses, and suitability for your specific classification task.</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184344" y="719971"/>
            <a:ext cx="7748111" cy="1246108"/>
          </a:xfrm>
          <a:prstGeom prst="rect">
            <a:avLst/>
          </a:prstGeom>
          <a:noFill/>
          <a:ln/>
        </p:spPr>
        <p:txBody>
          <a:bodyPr wrap="square" lIns="0" tIns="0" rIns="0" bIns="0" rtlCol="0" anchor="t"/>
          <a:lstStyle/>
          <a:p>
            <a:pPr indent="0" marL="0">
              <a:lnSpc>
                <a:spcPts val="4900"/>
              </a:lnSpc>
              <a:buNone/>
            </a:pPr>
            <a:r>
              <a:rPr lang="en-US" sz="3900" dirty="0">
                <a:solidFill>
                  <a:srgbClr val="F3F3F2"/>
                </a:solidFill>
                <a:latin typeface="IBM Plex Sans Medium" pitchFamily="34" charset="0"/>
                <a:ea typeface="IBM Plex Sans Medium" pitchFamily="34" charset="-122"/>
                <a:cs typeface="IBM Plex Sans Medium" pitchFamily="34" charset="-120"/>
              </a:rPr>
              <a:t>Conclusion and Future Considerations</a:t>
            </a:r>
            <a:endParaRPr lang="en-US" sz="3900" dirty="0"/>
          </a:p>
        </p:txBody>
      </p:sp>
      <p:sp>
        <p:nvSpPr>
          <p:cNvPr id="4" name="Shape 1"/>
          <p:cNvSpPr/>
          <p:nvPr/>
        </p:nvSpPr>
        <p:spPr>
          <a:xfrm>
            <a:off x="6184344" y="2489478"/>
            <a:ext cx="448628" cy="448628"/>
          </a:xfrm>
          <a:prstGeom prst="roundRect">
            <a:avLst>
              <a:gd name="adj" fmla="val 6668"/>
            </a:avLst>
          </a:prstGeom>
          <a:solidFill>
            <a:srgbClr val="484B51"/>
          </a:solidFill>
          <a:ln/>
        </p:spPr>
      </p:sp>
      <p:sp>
        <p:nvSpPr>
          <p:cNvPr id="5" name="Text 2"/>
          <p:cNvSpPr/>
          <p:nvPr/>
        </p:nvSpPr>
        <p:spPr>
          <a:xfrm>
            <a:off x="6318885" y="2564249"/>
            <a:ext cx="179546" cy="299085"/>
          </a:xfrm>
          <a:prstGeom prst="rect">
            <a:avLst/>
          </a:prstGeom>
          <a:noFill/>
          <a:ln/>
        </p:spPr>
        <p:txBody>
          <a:bodyPr wrap="none" lIns="0" tIns="0" rIns="0" bIns="0" rtlCol="0" anchor="t"/>
          <a:lstStyle/>
          <a:p>
            <a:pPr algn="ctr" indent="0" marL="0">
              <a:lnSpc>
                <a:spcPts val="2350"/>
              </a:lnSpc>
              <a:buNone/>
            </a:pPr>
            <a:r>
              <a:rPr lang="en-US" sz="2350" dirty="0">
                <a:solidFill>
                  <a:srgbClr val="D4D4D1"/>
                </a:solidFill>
                <a:latin typeface="IBM Plex Sans Medium" pitchFamily="34" charset="0"/>
                <a:ea typeface="IBM Plex Sans Medium" pitchFamily="34" charset="-122"/>
                <a:cs typeface="IBM Plex Sans Medium" pitchFamily="34" charset="-120"/>
              </a:rPr>
              <a:t>1</a:t>
            </a:r>
            <a:endParaRPr lang="en-US" sz="2350" dirty="0"/>
          </a:p>
        </p:txBody>
      </p:sp>
      <p:sp>
        <p:nvSpPr>
          <p:cNvPr id="6" name="Text 3"/>
          <p:cNvSpPr/>
          <p:nvPr/>
        </p:nvSpPr>
        <p:spPr>
          <a:xfrm>
            <a:off x="6832283" y="2489478"/>
            <a:ext cx="2682954" cy="311587"/>
          </a:xfrm>
          <a:prstGeom prst="rect">
            <a:avLst/>
          </a:prstGeom>
          <a:noFill/>
          <a:ln/>
        </p:spPr>
        <p:txBody>
          <a:bodyPr wrap="none" lIns="0" tIns="0" rIns="0" bIns="0" rtlCol="0" anchor="t"/>
          <a:lstStyle/>
          <a:p>
            <a:pPr indent="0" marL="0">
              <a:lnSpc>
                <a:spcPts val="2450"/>
              </a:lnSpc>
              <a:buNone/>
            </a:pPr>
            <a:r>
              <a:rPr lang="en-US" sz="1950" dirty="0">
                <a:solidFill>
                  <a:srgbClr val="D4D4D1"/>
                </a:solidFill>
                <a:latin typeface="IBM Plex Sans Medium" pitchFamily="34" charset="0"/>
                <a:ea typeface="IBM Plex Sans Medium" pitchFamily="34" charset="-122"/>
                <a:cs typeface="IBM Plex Sans Medium" pitchFamily="34" charset="-120"/>
              </a:rPr>
              <a:t>Ongoing Improvements</a:t>
            </a:r>
            <a:endParaRPr lang="en-US" sz="1950" dirty="0"/>
          </a:p>
        </p:txBody>
      </p:sp>
      <p:sp>
        <p:nvSpPr>
          <p:cNvPr id="7" name="Text 4"/>
          <p:cNvSpPr/>
          <p:nvPr/>
        </p:nvSpPr>
        <p:spPr>
          <a:xfrm>
            <a:off x="6832283" y="2920603"/>
            <a:ext cx="3126462" cy="1595438"/>
          </a:xfrm>
          <a:prstGeom prst="rect">
            <a:avLst/>
          </a:prstGeom>
          <a:noFill/>
          <a:ln/>
        </p:spPr>
        <p:txBody>
          <a:bodyPr wrap="square" lIns="0" tIns="0" rIns="0" bIns="0" rtlCol="0" anchor="t"/>
          <a:lstStyle/>
          <a:p>
            <a:pPr indent="0" marL="0">
              <a:lnSpc>
                <a:spcPts val="2500"/>
              </a:lnSpc>
              <a:buNone/>
            </a:pPr>
            <a:r>
              <a:rPr lang="en-US" sz="1550" dirty="0">
                <a:solidFill>
                  <a:srgbClr val="D4D4D1"/>
                </a:solidFill>
                <a:latin typeface="Roboto" pitchFamily="34" charset="0"/>
                <a:ea typeface="Roboto" pitchFamily="34" charset="-122"/>
                <a:cs typeface="Roboto" pitchFamily="34" charset="-120"/>
              </a:rPr>
              <a:t>Decision tree algorithms are continuously evolving, with new techniques and enhancements to improve their performance and applicability.</a:t>
            </a:r>
            <a:endParaRPr lang="en-US" sz="1550" dirty="0"/>
          </a:p>
        </p:txBody>
      </p:sp>
      <p:sp>
        <p:nvSpPr>
          <p:cNvPr id="8" name="Shape 5"/>
          <p:cNvSpPr/>
          <p:nvPr/>
        </p:nvSpPr>
        <p:spPr>
          <a:xfrm>
            <a:off x="10158055" y="2489478"/>
            <a:ext cx="448628" cy="448628"/>
          </a:xfrm>
          <a:prstGeom prst="roundRect">
            <a:avLst>
              <a:gd name="adj" fmla="val 6668"/>
            </a:avLst>
          </a:prstGeom>
          <a:solidFill>
            <a:srgbClr val="484B51"/>
          </a:solidFill>
          <a:ln/>
        </p:spPr>
      </p:sp>
      <p:sp>
        <p:nvSpPr>
          <p:cNvPr id="9" name="Text 6"/>
          <p:cNvSpPr/>
          <p:nvPr/>
        </p:nvSpPr>
        <p:spPr>
          <a:xfrm>
            <a:off x="10292596" y="2564249"/>
            <a:ext cx="179546" cy="299085"/>
          </a:xfrm>
          <a:prstGeom prst="rect">
            <a:avLst/>
          </a:prstGeom>
          <a:noFill/>
          <a:ln/>
        </p:spPr>
        <p:txBody>
          <a:bodyPr wrap="none" lIns="0" tIns="0" rIns="0" bIns="0" rtlCol="0" anchor="t"/>
          <a:lstStyle/>
          <a:p>
            <a:pPr algn="ctr" indent="0" marL="0">
              <a:lnSpc>
                <a:spcPts val="2350"/>
              </a:lnSpc>
              <a:buNone/>
            </a:pPr>
            <a:r>
              <a:rPr lang="en-US" sz="2350" dirty="0">
                <a:solidFill>
                  <a:srgbClr val="D4D4D1"/>
                </a:solidFill>
                <a:latin typeface="IBM Plex Sans Medium" pitchFamily="34" charset="0"/>
                <a:ea typeface="IBM Plex Sans Medium" pitchFamily="34" charset="-122"/>
                <a:cs typeface="IBM Plex Sans Medium" pitchFamily="34" charset="-120"/>
              </a:rPr>
              <a:t>2</a:t>
            </a:r>
            <a:endParaRPr lang="en-US" sz="2350" dirty="0"/>
          </a:p>
        </p:txBody>
      </p:sp>
      <p:sp>
        <p:nvSpPr>
          <p:cNvPr id="10" name="Text 7"/>
          <p:cNvSpPr/>
          <p:nvPr/>
        </p:nvSpPr>
        <p:spPr>
          <a:xfrm>
            <a:off x="10805993" y="2489478"/>
            <a:ext cx="2492812" cy="311587"/>
          </a:xfrm>
          <a:prstGeom prst="rect">
            <a:avLst/>
          </a:prstGeom>
          <a:noFill/>
          <a:ln/>
        </p:spPr>
        <p:txBody>
          <a:bodyPr wrap="none" lIns="0" tIns="0" rIns="0" bIns="0" rtlCol="0" anchor="t"/>
          <a:lstStyle/>
          <a:p>
            <a:pPr indent="0" marL="0">
              <a:lnSpc>
                <a:spcPts val="2450"/>
              </a:lnSpc>
              <a:buNone/>
            </a:pPr>
            <a:r>
              <a:rPr lang="en-US" sz="1950" dirty="0">
                <a:solidFill>
                  <a:srgbClr val="D4D4D1"/>
                </a:solidFill>
                <a:latin typeface="IBM Plex Sans Medium" pitchFamily="34" charset="0"/>
                <a:ea typeface="IBM Plex Sans Medium" pitchFamily="34" charset="-122"/>
                <a:cs typeface="IBM Plex Sans Medium" pitchFamily="34" charset="-120"/>
              </a:rPr>
              <a:t>Ensemble Methods</a:t>
            </a:r>
            <a:endParaRPr lang="en-US" sz="1950" dirty="0"/>
          </a:p>
        </p:txBody>
      </p:sp>
      <p:sp>
        <p:nvSpPr>
          <p:cNvPr id="11" name="Text 8"/>
          <p:cNvSpPr/>
          <p:nvPr/>
        </p:nvSpPr>
        <p:spPr>
          <a:xfrm>
            <a:off x="10805993" y="2920603"/>
            <a:ext cx="3126462" cy="1595438"/>
          </a:xfrm>
          <a:prstGeom prst="rect">
            <a:avLst/>
          </a:prstGeom>
          <a:noFill/>
          <a:ln/>
        </p:spPr>
        <p:txBody>
          <a:bodyPr wrap="square" lIns="0" tIns="0" rIns="0" bIns="0" rtlCol="0" anchor="t"/>
          <a:lstStyle/>
          <a:p>
            <a:pPr indent="0" marL="0">
              <a:lnSpc>
                <a:spcPts val="2500"/>
              </a:lnSpc>
              <a:buNone/>
            </a:pPr>
            <a:r>
              <a:rPr lang="en-US" sz="1550" dirty="0">
                <a:solidFill>
                  <a:srgbClr val="D4D4D1"/>
                </a:solidFill>
                <a:latin typeface="Roboto" pitchFamily="34" charset="0"/>
                <a:ea typeface="Roboto" pitchFamily="34" charset="-122"/>
                <a:cs typeface="Roboto" pitchFamily="34" charset="-120"/>
              </a:rPr>
              <a:t>Combining multiple decision trees, such as in random forests or gradient boosting, can further enhance the model's predictive power.</a:t>
            </a:r>
            <a:endParaRPr lang="en-US" sz="1550" dirty="0"/>
          </a:p>
        </p:txBody>
      </p:sp>
      <p:sp>
        <p:nvSpPr>
          <p:cNvPr id="12" name="Shape 9"/>
          <p:cNvSpPr/>
          <p:nvPr/>
        </p:nvSpPr>
        <p:spPr>
          <a:xfrm>
            <a:off x="6184344" y="4939665"/>
            <a:ext cx="448628" cy="448628"/>
          </a:xfrm>
          <a:prstGeom prst="roundRect">
            <a:avLst>
              <a:gd name="adj" fmla="val 6668"/>
            </a:avLst>
          </a:prstGeom>
          <a:solidFill>
            <a:srgbClr val="484B51"/>
          </a:solidFill>
          <a:ln/>
        </p:spPr>
      </p:sp>
      <p:sp>
        <p:nvSpPr>
          <p:cNvPr id="13" name="Text 10"/>
          <p:cNvSpPr/>
          <p:nvPr/>
        </p:nvSpPr>
        <p:spPr>
          <a:xfrm>
            <a:off x="6318885" y="5014436"/>
            <a:ext cx="179546" cy="299085"/>
          </a:xfrm>
          <a:prstGeom prst="rect">
            <a:avLst/>
          </a:prstGeom>
          <a:noFill/>
          <a:ln/>
        </p:spPr>
        <p:txBody>
          <a:bodyPr wrap="none" lIns="0" tIns="0" rIns="0" bIns="0" rtlCol="0" anchor="t"/>
          <a:lstStyle/>
          <a:p>
            <a:pPr algn="ctr" indent="0" marL="0">
              <a:lnSpc>
                <a:spcPts val="2350"/>
              </a:lnSpc>
              <a:buNone/>
            </a:pPr>
            <a:r>
              <a:rPr lang="en-US" sz="2350" dirty="0">
                <a:solidFill>
                  <a:srgbClr val="D4D4D1"/>
                </a:solidFill>
                <a:latin typeface="IBM Plex Sans Medium" pitchFamily="34" charset="0"/>
                <a:ea typeface="IBM Plex Sans Medium" pitchFamily="34" charset="-122"/>
                <a:cs typeface="IBM Plex Sans Medium" pitchFamily="34" charset="-120"/>
              </a:rPr>
              <a:t>3</a:t>
            </a:r>
            <a:endParaRPr lang="en-US" sz="2350" dirty="0"/>
          </a:p>
        </p:txBody>
      </p:sp>
      <p:sp>
        <p:nvSpPr>
          <p:cNvPr id="14" name="Text 11"/>
          <p:cNvSpPr/>
          <p:nvPr/>
        </p:nvSpPr>
        <p:spPr>
          <a:xfrm>
            <a:off x="6832283" y="4939665"/>
            <a:ext cx="2492812" cy="311587"/>
          </a:xfrm>
          <a:prstGeom prst="rect">
            <a:avLst/>
          </a:prstGeom>
          <a:noFill/>
          <a:ln/>
        </p:spPr>
        <p:txBody>
          <a:bodyPr wrap="none" lIns="0" tIns="0" rIns="0" bIns="0" rtlCol="0" anchor="t"/>
          <a:lstStyle/>
          <a:p>
            <a:pPr indent="0" marL="0">
              <a:lnSpc>
                <a:spcPts val="2450"/>
              </a:lnSpc>
              <a:buNone/>
            </a:pPr>
            <a:r>
              <a:rPr lang="en-US" sz="1950" dirty="0">
                <a:solidFill>
                  <a:srgbClr val="D4D4D1"/>
                </a:solidFill>
                <a:latin typeface="IBM Plex Sans Medium" pitchFamily="34" charset="0"/>
                <a:ea typeface="IBM Plex Sans Medium" pitchFamily="34" charset="-122"/>
                <a:cs typeface="IBM Plex Sans Medium" pitchFamily="34" charset="-120"/>
              </a:rPr>
              <a:t>Adaptability</a:t>
            </a:r>
            <a:endParaRPr lang="en-US" sz="1950" dirty="0"/>
          </a:p>
        </p:txBody>
      </p:sp>
      <p:sp>
        <p:nvSpPr>
          <p:cNvPr id="15" name="Text 12"/>
          <p:cNvSpPr/>
          <p:nvPr/>
        </p:nvSpPr>
        <p:spPr>
          <a:xfrm>
            <a:off x="6832283" y="5370790"/>
            <a:ext cx="7100173" cy="638175"/>
          </a:xfrm>
          <a:prstGeom prst="rect">
            <a:avLst/>
          </a:prstGeom>
          <a:noFill/>
          <a:ln/>
        </p:spPr>
        <p:txBody>
          <a:bodyPr wrap="square" lIns="0" tIns="0" rIns="0" bIns="0" rtlCol="0" anchor="t"/>
          <a:lstStyle/>
          <a:p>
            <a:pPr indent="0" marL="0">
              <a:lnSpc>
                <a:spcPts val="2500"/>
              </a:lnSpc>
              <a:buNone/>
            </a:pPr>
            <a:r>
              <a:rPr lang="en-US" sz="1550" dirty="0">
                <a:solidFill>
                  <a:srgbClr val="D4D4D1"/>
                </a:solidFill>
                <a:latin typeface="Roboto" pitchFamily="34" charset="0"/>
                <a:ea typeface="Roboto" pitchFamily="34" charset="-122"/>
                <a:cs typeface="Roboto" pitchFamily="34" charset="-120"/>
              </a:rPr>
              <a:t>Decision trees can be adapted to handle a wide range of classification problems, making them a versatile tool in the data scientist's toolkit.</a:t>
            </a:r>
            <a:endParaRPr lang="en-US" sz="1550" dirty="0"/>
          </a:p>
        </p:txBody>
      </p:sp>
      <p:sp>
        <p:nvSpPr>
          <p:cNvPr id="16" name="Text 13"/>
          <p:cNvSpPr/>
          <p:nvPr/>
        </p:nvSpPr>
        <p:spPr>
          <a:xfrm>
            <a:off x="6184344" y="6233279"/>
            <a:ext cx="7748111" cy="1276350"/>
          </a:xfrm>
          <a:prstGeom prst="rect">
            <a:avLst/>
          </a:prstGeom>
          <a:noFill/>
          <a:ln/>
        </p:spPr>
        <p:txBody>
          <a:bodyPr wrap="square" lIns="0" tIns="0" rIns="0" bIns="0" rtlCol="0" anchor="t"/>
          <a:lstStyle/>
          <a:p>
            <a:pPr indent="0" marL="0">
              <a:lnSpc>
                <a:spcPts val="2500"/>
              </a:lnSpc>
              <a:buNone/>
            </a:pPr>
            <a:r>
              <a:rPr lang="en-US" sz="1550" dirty="0">
                <a:solidFill>
                  <a:srgbClr val="D4D4D1"/>
                </a:solidFill>
                <a:latin typeface="Roboto" pitchFamily="34" charset="0"/>
                <a:ea typeface="Roboto" pitchFamily="34" charset="-122"/>
                <a:cs typeface="Roboto" pitchFamily="34" charset="-120"/>
              </a:rPr>
              <a:t>As you continue your journey in machine learning, remember the key principles and best practices of decision tree algorithms. By understanding their strengths, limitations, and evaluation techniques, you can leverage this powerful tool to tackle your classification challenges effectively.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2024-11-18T13:53:41Z</dcterms:created>
  <dcterms:modified xsi:type="dcterms:W3CDTF">2024-11-18T13:53:41Z</dcterms:modified>
</cp:coreProperties>
</file>