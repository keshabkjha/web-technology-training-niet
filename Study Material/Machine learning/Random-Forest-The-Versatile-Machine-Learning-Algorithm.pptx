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9-1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0-1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1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C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7252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06987"/>
            <a:ext cx="7556421" cy="2934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700"/>
              </a:lnSpc>
              <a:buNone/>
            </a:pPr>
            <a:r>
              <a:rPr lang="en-US" sz="6150" b="1" spc="-185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Forest: The Versatile Machine Learning Algorithm</a:t>
            </a:r>
            <a:endParaRPr lang="en-US" sz="6150" dirty="0"/>
          </a:p>
        </p:txBody>
      </p:sp>
      <p:sp>
        <p:nvSpPr>
          <p:cNvPr id="4" name="Text 1"/>
          <p:cNvSpPr/>
          <p:nvPr/>
        </p:nvSpPr>
        <p:spPr>
          <a:xfrm>
            <a:off x="793790" y="4881801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 is a powerful ensemble learning method that combines multiple decision trees to make accurate predictions. It's known for its versatility and ability to handle complex datasets.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6242566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0" y="6250186"/>
            <a:ext cx="347663" cy="3476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70040" y="6225659"/>
            <a:ext cx="2443401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200" b="1" spc="-36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by Lokesh Belekar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61135"/>
            <a:ext cx="63135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spc="-134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is Random Forest?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76522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66999" y="2850237"/>
            <a:ext cx="13656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7017306" y="27652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Ensemble Learning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017306" y="3255645"/>
            <a:ext cx="2927747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 combines the predictions of multiple decision trees to improve accuracy and reduce overfitting.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10171867" y="276522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24981" y="2850237"/>
            <a:ext cx="20407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10908983" y="27652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Trees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908983" y="3255645"/>
            <a:ext cx="2927747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decision tree in the forest independently learns from the data, making decisions based on features.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6280190" y="5552123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0566" y="5637133"/>
            <a:ext cx="209431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4" name="Text 11"/>
          <p:cNvSpPr/>
          <p:nvPr/>
        </p:nvSpPr>
        <p:spPr>
          <a:xfrm>
            <a:off x="7017306" y="555212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Voting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17306" y="6042541"/>
            <a:ext cx="681930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final prediction is determined by a majority vote among the individual trees, resulting in a more robust outcome.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58509"/>
            <a:ext cx="921008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spc="-134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Components of Random Forest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Trees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215408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tree is built using a random subset of features and data points, promoting diversity.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332928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Bagging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332928" y="4215408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aggregating, or bagging, involves sampling with replacement to create multiple training sets.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872067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Randomness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2067" y="4215408"/>
            <a:ext cx="39781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each node, a random subset of features is considered for splitting, preventing bias towards specific features.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983950"/>
            <a:ext cx="787824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spc="-134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Advantages of Random Forest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5032891"/>
            <a:ext cx="4196358" cy="2047994"/>
          </a:xfrm>
          <a:prstGeom prst="roundRect">
            <a:avLst>
              <a:gd name="adj" fmla="val 46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8224" y="52673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 Accuracy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8224" y="57577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Combines multiple trees, reducing variance and improving prediction accuracy.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5032891"/>
            <a:ext cx="4196358" cy="2047994"/>
          </a:xfrm>
          <a:prstGeom prst="roundRect">
            <a:avLst>
              <a:gd name="adj" fmla="val 46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51396" y="52673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Robustness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51396" y="5757743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prone to overfitting, handling noisy and complex datasets well.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9640133" y="5032891"/>
            <a:ext cx="4196358" cy="2047994"/>
          </a:xfrm>
          <a:prstGeom prst="roundRect">
            <a:avLst>
              <a:gd name="adj" fmla="val 46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4568" y="52673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Importance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74568" y="57577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insights into the relative importance of features in the decision-making process.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38914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spc="-134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When to use Random Forest?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2596634"/>
            <a:ext cx="7556421" cy="4793933"/>
          </a:xfrm>
          <a:prstGeom prst="roundRect">
            <a:avLst>
              <a:gd name="adj" fmla="val 1987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1410" y="2604254"/>
            <a:ext cx="7541181" cy="10132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274796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Classification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4802624" y="2747963"/>
            <a:ext cx="331315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categories, like spam detection or customer churn.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801410" y="3617476"/>
            <a:ext cx="7541181" cy="137612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028224" y="3761184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Regression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4802624" y="3761184"/>
            <a:ext cx="331315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continuous values, like house prices or stock prices.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801410" y="4993600"/>
            <a:ext cx="7541181" cy="13761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1028224" y="5137309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Dimensional Data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802624" y="5137309"/>
            <a:ext cx="331315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Handling datasets with numerous features, effectively reducing noise.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801410" y="6369725"/>
            <a:ext cx="7541181" cy="10132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1028224" y="651343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Values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4802624" y="6513433"/>
            <a:ext cx="331315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Tolerant to missing values, offering robust performance.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453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6991" y="2995017"/>
            <a:ext cx="7263289" cy="613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850" b="1" spc="-116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How does Random Forest work?</a:t>
            </a:r>
            <a:endParaRPr lang="en-US" sz="3850" dirty="0"/>
          </a:p>
        </p:txBody>
      </p:sp>
      <p:sp>
        <p:nvSpPr>
          <p:cNvPr id="4" name="Shape 1"/>
          <p:cNvSpPr/>
          <p:nvPr/>
        </p:nvSpPr>
        <p:spPr>
          <a:xfrm>
            <a:off x="969883" y="3902750"/>
            <a:ext cx="22860" cy="3785354"/>
          </a:xfrm>
          <a:prstGeom prst="roundRect">
            <a:avLst>
              <a:gd name="adj" fmla="val 360644"/>
            </a:avLst>
          </a:prstGeom>
          <a:solidFill>
            <a:srgbClr val="2A1999"/>
          </a:solidFill>
          <a:ln/>
        </p:spPr>
      </p:sp>
      <p:sp>
        <p:nvSpPr>
          <p:cNvPr id="5" name="Shape 2"/>
          <p:cNvSpPr/>
          <p:nvPr/>
        </p:nvSpPr>
        <p:spPr>
          <a:xfrm>
            <a:off x="1179255" y="4332803"/>
            <a:ext cx="686991" cy="22860"/>
          </a:xfrm>
          <a:prstGeom prst="roundRect">
            <a:avLst>
              <a:gd name="adj" fmla="val 360644"/>
            </a:avLst>
          </a:prstGeom>
          <a:solidFill>
            <a:srgbClr val="2A1999"/>
          </a:solidFill>
          <a:ln/>
        </p:spPr>
      </p:sp>
      <p:sp>
        <p:nvSpPr>
          <p:cNvPr id="6" name="Shape 3"/>
          <p:cNvSpPr/>
          <p:nvPr/>
        </p:nvSpPr>
        <p:spPr>
          <a:xfrm>
            <a:off x="760512" y="4123492"/>
            <a:ext cx="441603" cy="441603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2199" y="4197072"/>
            <a:ext cx="118110" cy="29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b="1" spc="-7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2060853" y="4098965"/>
            <a:ext cx="245364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b="1" spc="-58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Training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060853" y="4523423"/>
            <a:ext cx="11882557" cy="314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00" spc="-31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decision trees are trained on random subsets of data and features.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79255" y="5659993"/>
            <a:ext cx="686991" cy="22860"/>
          </a:xfrm>
          <a:prstGeom prst="roundRect">
            <a:avLst>
              <a:gd name="adj" fmla="val 360644"/>
            </a:avLst>
          </a:prstGeom>
          <a:solidFill>
            <a:srgbClr val="2A1999"/>
          </a:solidFill>
          <a:ln/>
        </p:spPr>
      </p:sp>
      <p:sp>
        <p:nvSpPr>
          <p:cNvPr id="11" name="Shape 8"/>
          <p:cNvSpPr/>
          <p:nvPr/>
        </p:nvSpPr>
        <p:spPr>
          <a:xfrm>
            <a:off x="760512" y="5450681"/>
            <a:ext cx="441603" cy="441603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028" y="5524262"/>
            <a:ext cx="176570" cy="29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b="1" spc="-7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2060853" y="5426154"/>
            <a:ext cx="245364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b="1" spc="-58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Prediction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060853" y="5850612"/>
            <a:ext cx="11882557" cy="314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00" spc="-31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new data point, each tree predicts a class or value, and the final prediction is based on a majority vote.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179255" y="6987183"/>
            <a:ext cx="686991" cy="22860"/>
          </a:xfrm>
          <a:prstGeom prst="roundRect">
            <a:avLst>
              <a:gd name="adj" fmla="val 360644"/>
            </a:avLst>
          </a:prstGeom>
          <a:solidFill>
            <a:srgbClr val="2A1999"/>
          </a:solidFill>
          <a:ln/>
        </p:spPr>
      </p:sp>
      <p:sp>
        <p:nvSpPr>
          <p:cNvPr id="16" name="Shape 13"/>
          <p:cNvSpPr/>
          <p:nvPr/>
        </p:nvSpPr>
        <p:spPr>
          <a:xfrm>
            <a:off x="760512" y="6777871"/>
            <a:ext cx="441603" cy="441603"/>
          </a:xfrm>
          <a:prstGeom prst="roundRect">
            <a:avLst>
              <a:gd name="adj" fmla="val 18669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0647" y="6851452"/>
            <a:ext cx="181213" cy="29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b="1" spc="-7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2060853" y="6753344"/>
            <a:ext cx="245364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b="1" spc="-58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Ensemble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060853" y="7177802"/>
            <a:ext cx="11882557" cy="314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00" spc="-31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combined predictions of all trees provide a more robust and accurate outcome.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3079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88393" y="551617"/>
            <a:ext cx="7740015" cy="1253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00"/>
              </a:lnSpc>
              <a:buNone/>
            </a:pPr>
            <a:r>
              <a:rPr lang="en-US" sz="3900" b="1" spc="-118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Importance in Random Forest</a:t>
            </a:r>
            <a:endParaRPr lang="en-US" sz="39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93" y="2106216"/>
            <a:ext cx="501372" cy="50137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188393" y="2808089"/>
            <a:ext cx="2507337" cy="313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b="1" spc="-59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Importance</a:t>
            </a:r>
            <a:endParaRPr lang="en-US" sz="1950" dirty="0"/>
          </a:p>
        </p:txBody>
      </p:sp>
      <p:sp>
        <p:nvSpPr>
          <p:cNvPr id="6" name="Text 2"/>
          <p:cNvSpPr/>
          <p:nvPr/>
        </p:nvSpPr>
        <p:spPr>
          <a:xfrm>
            <a:off x="6188393" y="3241715"/>
            <a:ext cx="7740015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spc="-32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Measures how much each feature contributes to the accuracy of the model.</a:t>
            </a:r>
            <a:endParaRPr lang="en-US" sz="15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93" y="4164449"/>
            <a:ext cx="501372" cy="50137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188393" y="4866323"/>
            <a:ext cx="2507337" cy="313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b="1" spc="-59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Ranking</a:t>
            </a:r>
            <a:endParaRPr lang="en-US" sz="1950" dirty="0"/>
          </a:p>
        </p:txBody>
      </p:sp>
      <p:sp>
        <p:nvSpPr>
          <p:cNvPr id="9" name="Text 4"/>
          <p:cNvSpPr/>
          <p:nvPr/>
        </p:nvSpPr>
        <p:spPr>
          <a:xfrm>
            <a:off x="6188393" y="5299948"/>
            <a:ext cx="7740015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spc="-32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a ranking of features, highlighting the most influential ones.</a:t>
            </a:r>
            <a:endParaRPr lang="en-US" sz="15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393" y="6222683"/>
            <a:ext cx="501372" cy="50137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188393" y="6924556"/>
            <a:ext cx="2507337" cy="313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b="1" spc="-59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Insights</a:t>
            </a:r>
            <a:endParaRPr lang="en-US" sz="1950" dirty="0"/>
          </a:p>
        </p:txBody>
      </p:sp>
      <p:sp>
        <p:nvSpPr>
          <p:cNvPr id="12" name="Text 6"/>
          <p:cNvSpPr/>
          <p:nvPr/>
        </p:nvSpPr>
        <p:spPr>
          <a:xfrm>
            <a:off x="6188393" y="7358182"/>
            <a:ext cx="7740015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spc="-32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understand which features are most relevant to the prediction task.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3073" y="608290"/>
            <a:ext cx="7597854" cy="1380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4300" b="1" spc="-130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Hyperparameter Tuning in Random Forest</a:t>
            </a:r>
            <a:endParaRPr lang="en-US" sz="43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73" y="2319933"/>
            <a:ext cx="1104424" cy="176712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208728" y="2540794"/>
            <a:ext cx="2761178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b="1" spc="-65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Number of Trees</a:t>
            </a:r>
            <a:endParaRPr lang="en-US" sz="2150" dirty="0"/>
          </a:p>
        </p:txBody>
      </p:sp>
      <p:sp>
        <p:nvSpPr>
          <p:cNvPr id="6" name="Text 2"/>
          <p:cNvSpPr/>
          <p:nvPr/>
        </p:nvSpPr>
        <p:spPr>
          <a:xfrm>
            <a:off x="2208728" y="3018353"/>
            <a:ext cx="6162199" cy="706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170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Increasing the number of trees improves accuracy but also increases computation time.</a:t>
            </a:r>
            <a:endParaRPr lang="en-US" sz="17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73" y="4087058"/>
            <a:ext cx="1104424" cy="176712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208728" y="4307919"/>
            <a:ext cx="2761178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b="1" spc="-65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Max Depth</a:t>
            </a:r>
            <a:endParaRPr lang="en-US" sz="2150" dirty="0"/>
          </a:p>
        </p:txBody>
      </p:sp>
      <p:sp>
        <p:nvSpPr>
          <p:cNvPr id="9" name="Text 4"/>
          <p:cNvSpPr/>
          <p:nvPr/>
        </p:nvSpPr>
        <p:spPr>
          <a:xfrm>
            <a:off x="2208728" y="4785479"/>
            <a:ext cx="6162199" cy="706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170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Controls the complexity of individual trees, preventing overfitting.</a:t>
            </a:r>
            <a:endParaRPr lang="en-US" sz="17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73" y="5854184"/>
            <a:ext cx="1104424" cy="176712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208728" y="6075045"/>
            <a:ext cx="2976801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50" b="1" spc="-65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Minimum Samples Split</a:t>
            </a:r>
            <a:endParaRPr lang="en-US" sz="2150" dirty="0"/>
          </a:p>
        </p:txBody>
      </p:sp>
      <p:sp>
        <p:nvSpPr>
          <p:cNvPr id="12" name="Text 6"/>
          <p:cNvSpPr/>
          <p:nvPr/>
        </p:nvSpPr>
        <p:spPr>
          <a:xfrm>
            <a:off x="2208728" y="6552605"/>
            <a:ext cx="6162199" cy="706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170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Sets the minimum number of data points required to split a node, impacting tree structure.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118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241" y="3430429"/>
            <a:ext cx="9672876" cy="70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00"/>
              </a:lnSpc>
              <a:buNone/>
            </a:pPr>
            <a:r>
              <a:rPr lang="en-US" sz="4400" b="1" spc="-133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Evaluation Metrics for Random Forest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87241" y="4723686"/>
            <a:ext cx="506135" cy="506135"/>
          </a:xfrm>
          <a:prstGeom prst="roundRect">
            <a:avLst>
              <a:gd name="adj" fmla="val 1866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2622" y="4807982"/>
            <a:ext cx="135374" cy="337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1518285" y="4723686"/>
            <a:ext cx="2811899" cy="35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6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Accuracy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518285" y="5210056"/>
            <a:ext cx="5684520" cy="71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Percentage of correct predictions, suitable for balanced datasets.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427714" y="4723686"/>
            <a:ext cx="506135" cy="506135"/>
          </a:xfrm>
          <a:prstGeom prst="roundRect">
            <a:avLst>
              <a:gd name="adj" fmla="val 1866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79519" y="4807982"/>
            <a:ext cx="202406" cy="337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8158758" y="4723686"/>
            <a:ext cx="2811899" cy="35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6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Precision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158758" y="5210056"/>
            <a:ext cx="5684520" cy="71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Proportion of true positives among all predicted positives, important for minimizing false positives.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787241" y="6407587"/>
            <a:ext cx="506135" cy="506135"/>
          </a:xfrm>
          <a:prstGeom prst="roundRect">
            <a:avLst>
              <a:gd name="adj" fmla="val 1866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6427" y="6491883"/>
            <a:ext cx="207645" cy="337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4" name="Text 11"/>
          <p:cNvSpPr/>
          <p:nvPr/>
        </p:nvSpPr>
        <p:spPr>
          <a:xfrm>
            <a:off x="1518285" y="6407587"/>
            <a:ext cx="2811899" cy="35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6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Recall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518285" y="6893957"/>
            <a:ext cx="5684520" cy="71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Proportion of true positives among all actual positives, crucial for identifying all positive instances.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7427714" y="6407587"/>
            <a:ext cx="506135" cy="506135"/>
          </a:xfrm>
          <a:prstGeom prst="roundRect">
            <a:avLst>
              <a:gd name="adj" fmla="val 18667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71780" y="6491883"/>
            <a:ext cx="218003" cy="337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spc="-80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2650" dirty="0"/>
          </a:p>
        </p:txBody>
      </p:sp>
      <p:sp>
        <p:nvSpPr>
          <p:cNvPr id="18" name="Text 15"/>
          <p:cNvSpPr/>
          <p:nvPr/>
        </p:nvSpPr>
        <p:spPr>
          <a:xfrm>
            <a:off x="8158758" y="6407587"/>
            <a:ext cx="2811899" cy="35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6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F1-Score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158758" y="6893957"/>
            <a:ext cx="5684520" cy="71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spc="-35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Harmonic mean of precision and recall, balancing both metrics.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802499"/>
            <a:ext cx="917114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spc="-134" kern="0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Interpreting Random Forest Results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4851440"/>
            <a:ext cx="4196358" cy="2410897"/>
          </a:xfrm>
          <a:prstGeom prst="roundRect">
            <a:avLst>
              <a:gd name="adj" fmla="val 39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8224" y="50858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Importance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8224" y="5576292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which features drive predictions is key to gaining insights and making informed decisions.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4851440"/>
            <a:ext cx="4196358" cy="2410897"/>
          </a:xfrm>
          <a:prstGeom prst="roundRect">
            <a:avLst>
              <a:gd name="adj" fmla="val 39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51396" y="50858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 Performance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51396" y="5576292"/>
            <a:ext cx="372749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Evaluating accuracy, precision, and recall metrics provides a comprehensive assessment of model effectiveness.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9640133" y="4851440"/>
            <a:ext cx="4196358" cy="2410897"/>
          </a:xfrm>
          <a:prstGeom prst="roundRect">
            <a:avLst>
              <a:gd name="adj" fmla="val 3952"/>
            </a:avLst>
          </a:prstGeom>
          <a:solidFill>
            <a:srgbClr val="110080"/>
          </a:solidFill>
          <a:ln w="7620">
            <a:solidFill>
              <a:srgbClr val="2A19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4568" y="50858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spc="-67" kern="0" dirty="0">
                <a:solidFill>
                  <a:srgbClr val="E5E0D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Business Impact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74568" y="5576292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spc="-36" kern="0" dirty="0">
                <a:solidFill>
                  <a:srgbClr val="E5E0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Translating model results into actionable insights that can improve business operations and outcomes.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2024-11-18T14:16:01Z</dcterms:created>
  <dcterms:modified xsi:type="dcterms:W3CDTF">2024-11-18T14:16:01Z</dcterms:modified>
</cp:coreProperties>
</file>