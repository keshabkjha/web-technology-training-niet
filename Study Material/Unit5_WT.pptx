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4"/>
  </p:notesMasterIdLst>
  <p:handoutMasterIdLst>
    <p:handoutMasterId r:id="rId125"/>
  </p:handoutMasterIdLst>
  <p:sldIdLst>
    <p:sldId id="256" r:id="rId2"/>
    <p:sldId id="257" r:id="rId3"/>
    <p:sldId id="410" r:id="rId4"/>
    <p:sldId id="290" r:id="rId5"/>
    <p:sldId id="411" r:id="rId6"/>
    <p:sldId id="292" r:id="rId7"/>
    <p:sldId id="294" r:id="rId8"/>
    <p:sldId id="295" r:id="rId9"/>
    <p:sldId id="296" r:id="rId10"/>
    <p:sldId id="297" r:id="rId11"/>
    <p:sldId id="298" r:id="rId12"/>
    <p:sldId id="299" r:id="rId13"/>
    <p:sldId id="300" r:id="rId14"/>
    <p:sldId id="301" r:id="rId15"/>
    <p:sldId id="412" r:id="rId16"/>
    <p:sldId id="302" r:id="rId17"/>
    <p:sldId id="303" r:id="rId18"/>
    <p:sldId id="304" r:id="rId19"/>
    <p:sldId id="306" r:id="rId20"/>
    <p:sldId id="307" r:id="rId21"/>
    <p:sldId id="308" r:id="rId22"/>
    <p:sldId id="309" r:id="rId23"/>
    <p:sldId id="312" r:id="rId24"/>
    <p:sldId id="311" r:id="rId25"/>
    <p:sldId id="310" r:id="rId26"/>
    <p:sldId id="313" r:id="rId27"/>
    <p:sldId id="314" r:id="rId28"/>
    <p:sldId id="319" r:id="rId29"/>
    <p:sldId id="321" r:id="rId30"/>
    <p:sldId id="322" r:id="rId31"/>
    <p:sldId id="323" r:id="rId32"/>
    <p:sldId id="324" r:id="rId33"/>
    <p:sldId id="325" r:id="rId34"/>
    <p:sldId id="320" r:id="rId35"/>
    <p:sldId id="315" r:id="rId36"/>
    <p:sldId id="316" r:id="rId37"/>
    <p:sldId id="317" r:id="rId38"/>
    <p:sldId id="328" r:id="rId39"/>
    <p:sldId id="327" r:id="rId40"/>
    <p:sldId id="326" r:id="rId41"/>
    <p:sldId id="318" r:id="rId42"/>
    <p:sldId id="331" r:id="rId43"/>
    <p:sldId id="332" r:id="rId44"/>
    <p:sldId id="333" r:id="rId45"/>
    <p:sldId id="334" r:id="rId46"/>
    <p:sldId id="329" r:id="rId47"/>
    <p:sldId id="330" r:id="rId48"/>
    <p:sldId id="335" r:id="rId49"/>
    <p:sldId id="343" r:id="rId50"/>
    <p:sldId id="336" r:id="rId51"/>
    <p:sldId id="344" r:id="rId52"/>
    <p:sldId id="337" r:id="rId53"/>
    <p:sldId id="338" r:id="rId54"/>
    <p:sldId id="345" r:id="rId55"/>
    <p:sldId id="339" r:id="rId56"/>
    <p:sldId id="340" r:id="rId57"/>
    <p:sldId id="347" r:id="rId58"/>
    <p:sldId id="348" r:id="rId59"/>
    <p:sldId id="349" r:id="rId60"/>
    <p:sldId id="351" r:id="rId61"/>
    <p:sldId id="355" r:id="rId62"/>
    <p:sldId id="356" r:id="rId63"/>
    <p:sldId id="357" r:id="rId64"/>
    <p:sldId id="358" r:id="rId65"/>
    <p:sldId id="352" r:id="rId66"/>
    <p:sldId id="353" r:id="rId67"/>
    <p:sldId id="354" r:id="rId68"/>
    <p:sldId id="350" r:id="rId69"/>
    <p:sldId id="346" r:id="rId70"/>
    <p:sldId id="342" r:id="rId71"/>
    <p:sldId id="341" r:id="rId72"/>
    <p:sldId id="359" r:id="rId73"/>
    <p:sldId id="360" r:id="rId74"/>
    <p:sldId id="361" r:id="rId75"/>
    <p:sldId id="362" r:id="rId76"/>
    <p:sldId id="363" r:id="rId77"/>
    <p:sldId id="364" r:id="rId78"/>
    <p:sldId id="365" r:id="rId79"/>
    <p:sldId id="366" r:id="rId80"/>
    <p:sldId id="367" r:id="rId81"/>
    <p:sldId id="368" r:id="rId82"/>
    <p:sldId id="369" r:id="rId83"/>
    <p:sldId id="370" r:id="rId84"/>
    <p:sldId id="371" r:id="rId85"/>
    <p:sldId id="372" r:id="rId86"/>
    <p:sldId id="373" r:id="rId87"/>
    <p:sldId id="374" r:id="rId88"/>
    <p:sldId id="375" r:id="rId89"/>
    <p:sldId id="376" r:id="rId90"/>
    <p:sldId id="377" r:id="rId91"/>
    <p:sldId id="378" r:id="rId92"/>
    <p:sldId id="379" r:id="rId93"/>
    <p:sldId id="380" r:id="rId94"/>
    <p:sldId id="381" r:id="rId95"/>
    <p:sldId id="382" r:id="rId96"/>
    <p:sldId id="383" r:id="rId97"/>
    <p:sldId id="384" r:id="rId98"/>
    <p:sldId id="385" r:id="rId99"/>
    <p:sldId id="386" r:id="rId100"/>
    <p:sldId id="387" r:id="rId101"/>
    <p:sldId id="388" r:id="rId102"/>
    <p:sldId id="389" r:id="rId103"/>
    <p:sldId id="390" r:id="rId104"/>
    <p:sldId id="391" r:id="rId105"/>
    <p:sldId id="392" r:id="rId106"/>
    <p:sldId id="393" r:id="rId107"/>
    <p:sldId id="394" r:id="rId108"/>
    <p:sldId id="395" r:id="rId109"/>
    <p:sldId id="396" r:id="rId110"/>
    <p:sldId id="397" r:id="rId111"/>
    <p:sldId id="398" r:id="rId112"/>
    <p:sldId id="399" r:id="rId113"/>
    <p:sldId id="400" r:id="rId114"/>
    <p:sldId id="401" r:id="rId115"/>
    <p:sldId id="402" r:id="rId116"/>
    <p:sldId id="403" r:id="rId117"/>
    <p:sldId id="404" r:id="rId118"/>
    <p:sldId id="407" r:id="rId119"/>
    <p:sldId id="408" r:id="rId120"/>
    <p:sldId id="405" r:id="rId121"/>
    <p:sldId id="406" r:id="rId122"/>
    <p:sldId id="409" r:id="rId1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510" autoAdjust="0"/>
    <p:restoredTop sz="94660"/>
  </p:normalViewPr>
  <p:slideViewPr>
    <p:cSldViewPr>
      <p:cViewPr varScale="1">
        <p:scale>
          <a:sx n="47" d="100"/>
          <a:sy n="47" d="100"/>
        </p:scale>
        <p:origin x="1027" y="43"/>
      </p:cViewPr>
      <p:guideLst>
        <p:guide orient="horz" pos="2160"/>
        <p:guide pos="3840"/>
      </p:guideLst>
    </p:cSldViewPr>
  </p:slideViewPr>
  <p:notesTextViewPr>
    <p:cViewPr>
      <p:scale>
        <a:sx n="100" d="100"/>
        <a:sy n="100" d="100"/>
      </p:scale>
      <p:origin x="0" y="0"/>
    </p:cViewPr>
  </p:notesTextViewPr>
  <p:notesViewPr>
    <p:cSldViewPr>
      <p:cViewPr varScale="1">
        <p:scale>
          <a:sx n="55" d="100"/>
          <a:sy n="55" d="100"/>
        </p:scale>
        <p:origin x="-2886" y="-102"/>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theme" Target="theme/theme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notesMaster" Target="notesMasters/notesMaster1.xml"/><Relationship Id="rId129" Type="http://schemas.openxmlformats.org/officeDocument/2006/relationships/tableStyles" Target="tableStyles.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handoutMaster" Target="handoutMasters/handoutMaster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A8E894EF-B93C-4B6D-8FB8-8960BCB5A269}" type="datetimeFigureOut">
              <a:rPr lang="en-US" smtClean="0"/>
              <a:pPr/>
              <a:t>11/7/2024</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B14A4A95-7A0B-4549-9352-6E6525D64E4D}" type="slidenum">
              <a:rPr lang="en-US" smtClean="0"/>
              <a:pPr/>
              <a:t>‹#›</a:t>
            </a:fld>
            <a:endParaRPr 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8407A98-9A18-4E47-AF94-789022A0201E}" type="datetimeFigureOut">
              <a:rPr lang="en-US" smtClean="0"/>
              <a:pPr/>
              <a:t>11/7/2024</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635F52E-BA8C-4FAB-BCFA-C67A14D9CE22}"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421128-6AC1-7C64-4C58-5F4A58D0DA4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DCC9575-CBFE-E0BB-4FDF-CD00C1D16EF8}"/>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DC5F2C7D-5C94-ABFB-4F5A-2BB9D14F408B}"/>
              </a:ext>
            </a:extLst>
          </p:cNvPr>
          <p:cNvSpPr>
            <a:spLocks noGrp="1"/>
          </p:cNvSpPr>
          <p:nvPr>
            <p:ph type="body" idx="1"/>
          </p:nvPr>
        </p:nvSpPr>
        <p:spPr/>
        <p:txBody>
          <a:bodyPr>
            <a:normAutofit/>
          </a:bodyPr>
          <a:lstStyle/>
          <a:p>
            <a:endParaRPr lang="en-US"/>
          </a:p>
        </p:txBody>
      </p:sp>
      <p:sp>
        <p:nvSpPr>
          <p:cNvPr id="4" name="Slide Number Placeholder 3">
            <a:extLst>
              <a:ext uri="{FF2B5EF4-FFF2-40B4-BE49-F238E27FC236}">
                <a16:creationId xmlns:a16="http://schemas.microsoft.com/office/drawing/2014/main" id="{48BCF40F-3553-B567-CA2E-4E232C8B7CC5}"/>
              </a:ext>
            </a:extLst>
          </p:cNvPr>
          <p:cNvSpPr>
            <a:spLocks noGrp="1"/>
          </p:cNvSpPr>
          <p:nvPr>
            <p:ph type="sldNum" sz="quarter" idx="10"/>
          </p:nvPr>
        </p:nvSpPr>
        <p:spPr/>
        <p:txBody>
          <a:bodyPr/>
          <a:lstStyle/>
          <a:p>
            <a:fld id="{1635F52E-BA8C-4FAB-BCFA-C67A14D9CE22}" type="slidenum">
              <a:rPr lang="en-US" smtClean="0"/>
              <a:pPr/>
              <a:t>3</a:t>
            </a:fld>
            <a:endParaRPr lang="en-US"/>
          </a:p>
        </p:txBody>
      </p:sp>
    </p:spTree>
    <p:extLst>
      <p:ext uri="{BB962C8B-B14F-4D97-AF65-F5344CB8AC3E}">
        <p14:creationId xmlns:p14="http://schemas.microsoft.com/office/powerpoint/2010/main" val="423557713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B27F877E-E541-4CF0-9C5D-FE57091354DE}" type="datetime1">
              <a:rPr lang="en-US" smtClean="0"/>
              <a:pPr/>
              <a:t>11/7/2024</a:t>
            </a:fld>
            <a:endParaRPr lang="en-US"/>
          </a:p>
        </p:txBody>
      </p:sp>
      <p:sp>
        <p:nvSpPr>
          <p:cNvPr id="5" name="Footer Placeholder 4"/>
          <p:cNvSpPr>
            <a:spLocks noGrp="1"/>
          </p:cNvSpPr>
          <p:nvPr>
            <p:ph type="ftr" sz="quarter" idx="11"/>
          </p:nvPr>
        </p:nvSpPr>
        <p:spPr/>
        <p:txBody>
          <a:bodyPr/>
          <a:lstStyle/>
          <a:p>
            <a:r>
              <a:rPr lang="en-US"/>
              <a:t>Faculty Name             Subject code and abbreviation                Unit Number</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4B5DF74-0636-4B7E-B688-C92430C532AB}" type="datetime1">
              <a:rPr lang="en-US" smtClean="0"/>
              <a:pPr/>
              <a:t>11/7/2024</a:t>
            </a:fld>
            <a:endParaRPr lang="en-US"/>
          </a:p>
        </p:txBody>
      </p:sp>
      <p:sp>
        <p:nvSpPr>
          <p:cNvPr id="5" name="Footer Placeholder 4"/>
          <p:cNvSpPr>
            <a:spLocks noGrp="1"/>
          </p:cNvSpPr>
          <p:nvPr>
            <p:ph type="ftr" sz="quarter" idx="11"/>
          </p:nvPr>
        </p:nvSpPr>
        <p:spPr/>
        <p:txBody>
          <a:bodyPr/>
          <a:lstStyle/>
          <a:p>
            <a:r>
              <a:rPr lang="en-US"/>
              <a:t>Faculty Name             Subject code and abbreviation                Unit Number</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30025AD-8303-4818-AEF8-2F555F93C3DE}" type="datetime1">
              <a:rPr lang="en-US" smtClean="0"/>
              <a:pPr/>
              <a:t>11/7/2024</a:t>
            </a:fld>
            <a:endParaRPr lang="en-US"/>
          </a:p>
        </p:txBody>
      </p:sp>
      <p:sp>
        <p:nvSpPr>
          <p:cNvPr id="5" name="Footer Placeholder 4"/>
          <p:cNvSpPr>
            <a:spLocks noGrp="1"/>
          </p:cNvSpPr>
          <p:nvPr>
            <p:ph type="ftr" sz="quarter" idx="11"/>
          </p:nvPr>
        </p:nvSpPr>
        <p:spPr/>
        <p:txBody>
          <a:bodyPr/>
          <a:lstStyle/>
          <a:p>
            <a:r>
              <a:rPr lang="en-US"/>
              <a:t>Faculty Name             Subject code and abbreviation                Unit Number</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354C25C0-26E4-4740-A3C1-76DEBB26CA39}" type="datetime1">
              <a:rPr lang="en-US" smtClean="0"/>
              <a:pPr/>
              <a:t>11/7/2024</a:t>
            </a:fld>
            <a:endParaRPr lang="en-US"/>
          </a:p>
        </p:txBody>
      </p:sp>
      <p:sp>
        <p:nvSpPr>
          <p:cNvPr id="6" name="Footer Placeholder 5"/>
          <p:cNvSpPr>
            <a:spLocks noGrp="1"/>
          </p:cNvSpPr>
          <p:nvPr>
            <p:ph type="ftr" sz="quarter" idx="11"/>
          </p:nvPr>
        </p:nvSpPr>
        <p:spPr/>
        <p:txBody>
          <a:bodyPr/>
          <a:lstStyle/>
          <a:p>
            <a:r>
              <a:rPr lang="en-US"/>
              <a:t>Faculty Name             Subject code and abbreviation                Unit Number</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828002D-C390-4C4A-A039-214EA62E0C17}" type="datetime1">
              <a:rPr lang="en-US" smtClean="0"/>
              <a:pPr/>
              <a:t>11/7/2024</a:t>
            </a:fld>
            <a:endParaRPr lang="en-US"/>
          </a:p>
        </p:txBody>
      </p:sp>
      <p:sp>
        <p:nvSpPr>
          <p:cNvPr id="8" name="Footer Placeholder 7"/>
          <p:cNvSpPr>
            <a:spLocks noGrp="1"/>
          </p:cNvSpPr>
          <p:nvPr>
            <p:ph type="ftr" sz="quarter" idx="11"/>
          </p:nvPr>
        </p:nvSpPr>
        <p:spPr/>
        <p:txBody>
          <a:bodyPr/>
          <a:lstStyle/>
          <a:p>
            <a:r>
              <a:rPr lang="en-US"/>
              <a:t>Faculty Name             Subject code and abbreviation                Unit Number</a:t>
            </a:r>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405104E6-E2C5-4135-B66B-A5DEB5F30595}" type="datetime1">
              <a:rPr lang="en-US" smtClean="0"/>
              <a:pPr/>
              <a:t>11/7/2024</a:t>
            </a:fld>
            <a:endParaRPr lang="en-US"/>
          </a:p>
        </p:txBody>
      </p:sp>
      <p:sp>
        <p:nvSpPr>
          <p:cNvPr id="4" name="Footer Placeholder 3"/>
          <p:cNvSpPr>
            <a:spLocks noGrp="1"/>
          </p:cNvSpPr>
          <p:nvPr>
            <p:ph type="ftr" sz="quarter" idx="11"/>
          </p:nvPr>
        </p:nvSpPr>
        <p:spPr/>
        <p:txBody>
          <a:bodyPr/>
          <a:lstStyle/>
          <a:p>
            <a:r>
              <a:rPr lang="en-US"/>
              <a:t>Faculty Name             Subject code and abbreviation                Unit Number</a:t>
            </a:r>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8CE66EB-B766-47B3-AD84-E2DC940F14AD}" type="datetime1">
              <a:rPr lang="en-US" smtClean="0"/>
              <a:pPr/>
              <a:t>11/7/2024</a:t>
            </a:fld>
            <a:endParaRPr lang="en-US"/>
          </a:p>
        </p:txBody>
      </p:sp>
      <p:sp>
        <p:nvSpPr>
          <p:cNvPr id="3" name="Footer Placeholder 2"/>
          <p:cNvSpPr>
            <a:spLocks noGrp="1"/>
          </p:cNvSpPr>
          <p:nvPr>
            <p:ph type="ftr" sz="quarter" idx="11"/>
          </p:nvPr>
        </p:nvSpPr>
        <p:spPr/>
        <p:txBody>
          <a:bodyPr/>
          <a:lstStyle/>
          <a:p>
            <a:r>
              <a:rPr lang="en-US"/>
              <a:t>Faculty Name             Subject code and abbreviation                Unit Number</a:t>
            </a:r>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FABB209-01F0-42DB-9CDF-2CFB9507E1FD}" type="datetime1">
              <a:rPr lang="en-US" smtClean="0"/>
              <a:pPr/>
              <a:t>11/7/2024</a:t>
            </a:fld>
            <a:endParaRPr lang="en-US"/>
          </a:p>
        </p:txBody>
      </p:sp>
      <p:sp>
        <p:nvSpPr>
          <p:cNvPr id="6" name="Footer Placeholder 5"/>
          <p:cNvSpPr>
            <a:spLocks noGrp="1"/>
          </p:cNvSpPr>
          <p:nvPr>
            <p:ph type="ftr" sz="quarter" idx="11"/>
          </p:nvPr>
        </p:nvSpPr>
        <p:spPr/>
        <p:txBody>
          <a:bodyPr/>
          <a:lstStyle/>
          <a:p>
            <a:r>
              <a:rPr lang="en-US"/>
              <a:t>Faculty Name             Subject code and abbreviation                Unit Number</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23CF176-075F-4090-8288-838FFA053F00}" type="datetime1">
              <a:rPr lang="en-US" smtClean="0"/>
              <a:pPr/>
              <a:t>11/7/2024</a:t>
            </a:fld>
            <a:endParaRPr lang="en-US"/>
          </a:p>
        </p:txBody>
      </p:sp>
      <p:sp>
        <p:nvSpPr>
          <p:cNvPr id="6" name="Footer Placeholder 5"/>
          <p:cNvSpPr>
            <a:spLocks noGrp="1"/>
          </p:cNvSpPr>
          <p:nvPr>
            <p:ph type="ftr" sz="quarter" idx="11"/>
          </p:nvPr>
        </p:nvSpPr>
        <p:spPr/>
        <p:txBody>
          <a:bodyPr/>
          <a:lstStyle/>
          <a:p>
            <a:r>
              <a:rPr lang="en-US"/>
              <a:t>Faculty Name             Subject code and abbreviation                Unit Number</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A0E4FAD-F1CD-4000-9E76-3E09B5117EC1}" type="datetime1">
              <a:rPr lang="en-US" smtClean="0"/>
              <a:pPr/>
              <a:t>11/7/2024</a:t>
            </a:fld>
            <a:endParaRPr lang="en-US"/>
          </a:p>
        </p:txBody>
      </p:sp>
      <p:sp>
        <p:nvSpPr>
          <p:cNvPr id="5" name="Footer Placeholder 4"/>
          <p:cNvSpPr>
            <a:spLocks noGrp="1"/>
          </p:cNvSpPr>
          <p:nvPr>
            <p:ph type="ftr" sz="quarter" idx="11"/>
          </p:nvPr>
        </p:nvSpPr>
        <p:spPr/>
        <p:txBody>
          <a:bodyPr/>
          <a:lstStyle/>
          <a:p>
            <a:r>
              <a:rPr lang="en-US"/>
              <a:t>Faculty Name             Subject code and abbreviation                Unit Number</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D0F47AA-C66A-44B6-992B-77E30688C2B4}" type="datetime1">
              <a:rPr lang="en-US" smtClean="0"/>
              <a:pPr/>
              <a:t>11/7/2024</a:t>
            </a:fld>
            <a:endParaRPr lang="en-US"/>
          </a:p>
        </p:txBody>
      </p:sp>
      <p:sp>
        <p:nvSpPr>
          <p:cNvPr id="5" name="Footer Placeholder 4"/>
          <p:cNvSpPr>
            <a:spLocks noGrp="1"/>
          </p:cNvSpPr>
          <p:nvPr>
            <p:ph type="ftr" sz="quarter" idx="11"/>
          </p:nvPr>
        </p:nvSpPr>
        <p:spPr/>
        <p:txBody>
          <a:bodyPr/>
          <a:lstStyle/>
          <a:p>
            <a:r>
              <a:rPr lang="en-US"/>
              <a:t>Faculty Name             Subject code and abbreviation                Unit Number</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1673F92-5234-4A8B-8DDA-8477AADCC01B}" type="datetime1">
              <a:rPr lang="en-US" smtClean="0"/>
              <a:pPr/>
              <a:t>11/7/2024</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Faculty Name             Subject code and abbreviation                Unit Number</a:t>
            </a:r>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jpe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3.jpe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4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8" Type="http://schemas.openxmlformats.org/officeDocument/2006/relationships/hyperlink" Target="https://www.youtube.com/watch?v=g6zGd6ycktY&amp;list=PLo4R2IscWKdVqzh_QECsxCq7QB1CUpYfi&amp;index=3" TargetMode="External"/><Relationship Id="rId3" Type="http://schemas.openxmlformats.org/officeDocument/2006/relationships/hyperlink" Target="https://www.youtube.com/watch?v=KMj49syT8JM&amp;list=PLJ5C_6qdAvBHiqw9Yc7-_vyfbBG1Bmfg_" TargetMode="External"/><Relationship Id="rId7" Type="http://schemas.openxmlformats.org/officeDocument/2006/relationships/hyperlink" Target="https://www.youtube.com/watch?v=g6zGd6ycktY&amp;list=PLo4R2IscWKdVqzh_QECsxCq7QB1CUpYfi&amp;index=2" TargetMode="External"/><Relationship Id="rId2" Type="http://schemas.openxmlformats.org/officeDocument/2006/relationships/image" Target="../media/image3.jpeg"/><Relationship Id="rId1" Type="http://schemas.openxmlformats.org/officeDocument/2006/relationships/slideLayout" Target="../slideLayouts/slideLayout2.xml"/><Relationship Id="rId6" Type="http://schemas.openxmlformats.org/officeDocument/2006/relationships/hyperlink" Target="https://www.youtube.com/watch?v=g6zGd6ycktY&amp;list=PLo4R2IscWKdVqzh_QECsxCq7QB1CUpYfi&amp;index=1" TargetMode="External"/><Relationship Id="rId5" Type="http://schemas.openxmlformats.org/officeDocument/2006/relationships/hyperlink" Target="https://www.youtube.com/watch?v=jyzBKgXxHww&amp;list=PLJ5C_6qdAvBHiqw9Yc7-_vyfbBG1Bmfg_&amp;index=3" TargetMode="External"/><Relationship Id="rId4" Type="http://schemas.openxmlformats.org/officeDocument/2006/relationships/hyperlink" Target="https://www.youtube.com/watch?v=biKUffL8cm4&amp;list=PLJ5C_6qdAvBHiqw9Yc7-_vyfbBG1Bmfg_&amp;index=2" TargetMode="External"/></Relationships>
</file>

<file path=ppt/slides/_rels/slide119.xml.rels><?xml version="1.0" encoding="UTF-8" standalone="yes"?>
<Relationships xmlns="http://schemas.openxmlformats.org/package/2006/relationships"><Relationship Id="rId3" Type="http://schemas.openxmlformats.org/officeDocument/2006/relationships/hyperlink" Target="https://www.youtube.com/watch?v=g6zGd6ycktY&amp;list=PLo4R2IscWKdVqzh_QECsxCq7QB1CUpYfi&amp;index=4" TargetMode="External"/><Relationship Id="rId7" Type="http://schemas.openxmlformats.org/officeDocument/2006/relationships/hyperlink" Target="https://www.youtube.com/watch?v=g6zGd6ycktY&amp;list=PLo4R2IscWKdVqzh_QECsxCq7QB1CUpYfi&amp;index=8" TargetMode="External"/><Relationship Id="rId2" Type="http://schemas.openxmlformats.org/officeDocument/2006/relationships/image" Target="../media/image3.jpeg"/><Relationship Id="rId1" Type="http://schemas.openxmlformats.org/officeDocument/2006/relationships/slideLayout" Target="../slideLayouts/slideLayout2.xml"/><Relationship Id="rId6" Type="http://schemas.openxmlformats.org/officeDocument/2006/relationships/hyperlink" Target="https://www.youtube.com/watch?v=g6zGd6ycktY&amp;list=PLo4R2IscWKdVqzh_QECsxCq7QB1CUpYfi&amp;index=7" TargetMode="External"/><Relationship Id="rId5" Type="http://schemas.openxmlformats.org/officeDocument/2006/relationships/hyperlink" Target="https://www.youtube.com/watch?v=g6zGd6ycktY&amp;list=PLo4R2IscWKdVqzh_QECsxCq7QB1CUpYfi&amp;index=6" TargetMode="External"/><Relationship Id="rId4" Type="http://schemas.openxmlformats.org/officeDocument/2006/relationships/hyperlink" Target="https://www.youtube.com/watch?v=g6zGd6ycktY&amp;list=PLo4R2IscWKdVqzh_QECsxCq7QB1CUpYfi&amp;index=5" TargetMode="External"/></Relationships>
</file>

<file path=ppt/slides/_rels/slide12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209800" y="0"/>
            <a:ext cx="9982200" cy="909036"/>
          </a:xfr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a:noAutofit/>
          </a:bodyPr>
          <a:lstStyle/>
          <a:p>
            <a:r>
              <a:rPr lang="en-US" sz="2800" dirty="0" err="1"/>
              <a:t>Noida</a:t>
            </a:r>
            <a:r>
              <a:rPr lang="en-US" sz="2800" dirty="0"/>
              <a:t> Institute of Engineering and Technology, Greater </a:t>
            </a:r>
            <a:r>
              <a:rPr lang="en-US" sz="2800" dirty="0" err="1"/>
              <a:t>Noida</a:t>
            </a:r>
            <a:endParaRPr lang="en-US" sz="2800" dirty="0"/>
          </a:p>
        </p:txBody>
      </p:sp>
      <p:sp>
        <p:nvSpPr>
          <p:cNvPr id="3" name="Subtitle 2"/>
          <p:cNvSpPr>
            <a:spLocks noGrp="1"/>
          </p:cNvSpPr>
          <p:nvPr>
            <p:ph type="subTitle" idx="1"/>
          </p:nvPr>
        </p:nvSpPr>
        <p:spPr>
          <a:xfrm>
            <a:off x="1828800" y="1213837"/>
            <a:ext cx="9448800" cy="767363"/>
          </a:xfrm>
          <a:ln>
            <a:solidFill>
              <a:schemeClr val="accent2"/>
            </a:solidFill>
          </a:ln>
        </p:spPr>
        <p:style>
          <a:lnRef idx="2">
            <a:schemeClr val="accent5"/>
          </a:lnRef>
          <a:fillRef idx="1">
            <a:schemeClr val="lt1"/>
          </a:fillRef>
          <a:effectRef idx="0">
            <a:schemeClr val="accent5"/>
          </a:effectRef>
          <a:fontRef idx="minor">
            <a:schemeClr val="dk1"/>
          </a:fontRef>
        </p:style>
        <p:txBody>
          <a:bodyPr>
            <a:normAutofit/>
          </a:bodyPr>
          <a:lstStyle/>
          <a:p>
            <a:r>
              <a:rPr lang="en-US" sz="3200" dirty="0">
                <a:solidFill>
                  <a:schemeClr val="tx1"/>
                </a:solidFill>
              </a:rPr>
              <a:t> </a:t>
            </a:r>
            <a:r>
              <a:rPr lang="en-US" sz="2400" dirty="0">
                <a:solidFill>
                  <a:schemeClr val="tx1"/>
                </a:solidFill>
                <a:latin typeface="Times New Roman" panose="02020603050405020304" pitchFamily="18" charset="0"/>
                <a:cs typeface="Times New Roman" panose="02020603050405020304" pitchFamily="18" charset="0"/>
              </a:rPr>
              <a:t>Unit V PHP</a:t>
            </a:r>
          </a:p>
        </p:txBody>
      </p:sp>
      <p:sp>
        <p:nvSpPr>
          <p:cNvPr id="6" name="Subtitle 2"/>
          <p:cNvSpPr txBox="1">
            <a:spLocks/>
          </p:cNvSpPr>
          <p:nvPr/>
        </p:nvSpPr>
        <p:spPr>
          <a:xfrm>
            <a:off x="8991600" y="4222750"/>
            <a:ext cx="3048000" cy="1752600"/>
          </a:xfrm>
          <a:prstGeom prst="rect">
            <a:avLst/>
          </a:prstGeom>
          <a:ln>
            <a:solidFill>
              <a:schemeClr val="accent2"/>
            </a:solidFill>
          </a:ln>
        </p:spPr>
        <p:style>
          <a:lnRef idx="2">
            <a:schemeClr val="accent5"/>
          </a:lnRef>
          <a:fillRef idx="1">
            <a:schemeClr val="lt1"/>
          </a:fillRef>
          <a:effectRef idx="0">
            <a:schemeClr val="accent5"/>
          </a:effectRef>
          <a:fontRef idx="minor">
            <a:schemeClr val="dk1"/>
          </a:fontRef>
        </p:style>
        <p:txBody>
          <a:bodyPr vert="horz" lIns="91440" tIns="45720" rIns="91440" bIns="45720" rtlCol="0">
            <a:normAutofit lnSpcReduction="10000"/>
          </a:bodyPr>
          <a:lstStyle/>
          <a:p>
            <a:pPr algn="ctr">
              <a:spcBef>
                <a:spcPct val="20000"/>
              </a:spcBef>
              <a:defRPr/>
            </a:pPr>
            <a:r>
              <a:rPr lang="en-US" sz="2400" dirty="0">
                <a:solidFill>
                  <a:schemeClr val="tx1"/>
                </a:solidFill>
              </a:rPr>
              <a:t>Vaishali Mishra</a:t>
            </a:r>
          </a:p>
          <a:p>
            <a:pPr algn="ctr">
              <a:spcBef>
                <a:spcPct val="20000"/>
              </a:spcBef>
              <a:defRPr/>
            </a:pPr>
            <a:r>
              <a:rPr lang="en-US" sz="2400" dirty="0">
                <a:solidFill>
                  <a:schemeClr val="tx1"/>
                </a:solidFill>
              </a:rPr>
              <a:t>Assistant Professor</a:t>
            </a:r>
          </a:p>
          <a:p>
            <a:pPr algn="ctr">
              <a:spcBef>
                <a:spcPct val="20000"/>
              </a:spcBef>
              <a:defRPr/>
            </a:pPr>
            <a:r>
              <a:rPr lang="en-US" sz="2400" dirty="0">
                <a:solidFill>
                  <a:schemeClr val="tx1"/>
                </a:solidFill>
              </a:rPr>
              <a:t>CSE </a:t>
            </a:r>
          </a:p>
          <a:p>
            <a:pPr algn="ctr">
              <a:spcBef>
                <a:spcPct val="20000"/>
              </a:spcBef>
              <a:defRPr/>
            </a:pPr>
            <a:r>
              <a:rPr lang="en-US" sz="2400" dirty="0">
                <a:solidFill>
                  <a:schemeClr val="tx1"/>
                </a:solidFill>
              </a:rPr>
              <a:t>Department</a:t>
            </a:r>
          </a:p>
        </p:txBody>
      </p:sp>
      <p:pic>
        <p:nvPicPr>
          <p:cNvPr id="1027" name="Picture 3" descr="C:\Users\Manks\Downloads\128_calendar-schedule-credit-mortgage-date-512.png"/>
          <p:cNvPicPr>
            <a:picLocks noChangeAspect="1" noChangeArrowheads="1"/>
          </p:cNvPicPr>
          <p:nvPr/>
        </p:nvPicPr>
        <p:blipFill>
          <a:blip r:embed="rId3" cstate="print"/>
          <a:srcRect/>
          <a:stretch>
            <a:fillRect/>
          </a:stretch>
        </p:blipFill>
        <p:spPr bwMode="auto">
          <a:xfrm flipH="1">
            <a:off x="1905000" y="5943600"/>
            <a:ext cx="533400" cy="533400"/>
          </a:xfrm>
          <a:prstGeom prst="rect">
            <a:avLst/>
          </a:prstGeom>
          <a:noFill/>
        </p:spPr>
      </p:pic>
      <p:sp>
        <p:nvSpPr>
          <p:cNvPr id="9" name="Date Placeholder 8"/>
          <p:cNvSpPr>
            <a:spLocks noGrp="1"/>
          </p:cNvSpPr>
          <p:nvPr>
            <p:ph type="dt" sz="half" idx="10"/>
          </p:nvPr>
        </p:nvSpPr>
        <p:spPr>
          <a:xfrm>
            <a:off x="1905000" y="6492876"/>
            <a:ext cx="2133600" cy="365125"/>
          </a:xfrm>
        </p:spPr>
        <p:txBody>
          <a:bodyPr/>
          <a:lstStyle/>
          <a:p>
            <a:fld id="{38801551-5877-4C21-9B34-9746B04ED5CA}" type="datetime1">
              <a:rPr lang="en-US" smtClean="0"/>
              <a:pPr/>
              <a:t>11/7/2024</a:t>
            </a:fld>
            <a:endParaRPr lang="en-US" dirty="0"/>
          </a:p>
        </p:txBody>
      </p:sp>
      <p:sp>
        <p:nvSpPr>
          <p:cNvPr id="10" name="Slide Number Placeholder 9"/>
          <p:cNvSpPr>
            <a:spLocks noGrp="1"/>
          </p:cNvSpPr>
          <p:nvPr>
            <p:ph type="sldNum" sz="quarter" idx="12"/>
          </p:nvPr>
        </p:nvSpPr>
        <p:spPr/>
        <p:txBody>
          <a:bodyPr/>
          <a:lstStyle/>
          <a:p>
            <a:fld id="{B6F15528-21DE-4FAA-801E-634DDDAF4B2B}" type="slidenum">
              <a:rPr lang="en-US" smtClean="0"/>
              <a:pPr/>
              <a:t>1</a:t>
            </a:fld>
            <a:endParaRPr lang="en-US"/>
          </a:p>
        </p:txBody>
      </p:sp>
      <p:pic>
        <p:nvPicPr>
          <p:cNvPr id="11" name="Picture 4" descr="C:\Users\Manks\Downloads\speak.png"/>
          <p:cNvPicPr>
            <a:picLocks noChangeAspect="1" noChangeArrowheads="1"/>
          </p:cNvPicPr>
          <p:nvPr/>
        </p:nvPicPr>
        <p:blipFill>
          <a:blip r:embed="rId4" cstate="print"/>
          <a:srcRect/>
          <a:stretch>
            <a:fillRect/>
          </a:stretch>
        </p:blipFill>
        <p:spPr bwMode="auto">
          <a:xfrm>
            <a:off x="9677400" y="2508250"/>
            <a:ext cx="1524000" cy="1524000"/>
          </a:xfrm>
          <a:prstGeom prst="rect">
            <a:avLst/>
          </a:prstGeom>
          <a:noFill/>
        </p:spPr>
      </p:pic>
      <p:sp>
        <p:nvSpPr>
          <p:cNvPr id="12" name="Subtitle 2"/>
          <p:cNvSpPr txBox="1">
            <a:spLocks/>
          </p:cNvSpPr>
          <p:nvPr/>
        </p:nvSpPr>
        <p:spPr>
          <a:xfrm>
            <a:off x="381000" y="2895600"/>
            <a:ext cx="2057400" cy="533400"/>
          </a:xfrm>
          <a:prstGeom prst="rect">
            <a:avLst/>
          </a:prstGeom>
          <a:ln>
            <a:solidFill>
              <a:schemeClr val="accent2"/>
            </a:solidFill>
          </a:ln>
        </p:spPr>
        <p:style>
          <a:lnRef idx="2">
            <a:schemeClr val="accent5"/>
          </a:lnRef>
          <a:fillRef idx="1">
            <a:schemeClr val="lt1"/>
          </a:fillRef>
          <a:effectRef idx="0">
            <a:schemeClr val="accent5"/>
          </a:effectRef>
          <a:fontRef idx="minor">
            <a:schemeClr val="dk1"/>
          </a:fontRef>
        </p:style>
        <p:txBody>
          <a:bodyPr vert="horz" lIns="91440" tIns="45720" rIns="91440" bIns="45720" rtlCol="0">
            <a:normAutofit/>
          </a:bodyPr>
          <a:lstStyle/>
          <a:p>
            <a:pPr algn="ctr">
              <a:spcBef>
                <a:spcPct val="20000"/>
              </a:spcBef>
              <a:defRPr/>
            </a:pPr>
            <a:r>
              <a:rPr lang="en-US" sz="2500" dirty="0">
                <a:solidFill>
                  <a:schemeClr val="tx1"/>
                </a:solidFill>
              </a:rPr>
              <a:t>Unit: 5</a:t>
            </a:r>
          </a:p>
        </p:txBody>
      </p:sp>
      <p:sp>
        <p:nvSpPr>
          <p:cNvPr id="13" name="Footer Placeholder 12"/>
          <p:cNvSpPr>
            <a:spLocks noGrp="1"/>
          </p:cNvSpPr>
          <p:nvPr>
            <p:ph type="ftr" sz="quarter" idx="11"/>
          </p:nvPr>
        </p:nvSpPr>
        <p:spPr>
          <a:xfrm>
            <a:off x="3810000" y="6248401"/>
            <a:ext cx="5029200" cy="365125"/>
          </a:xfrm>
        </p:spPr>
        <p:txBody>
          <a:bodyPr/>
          <a:lstStyle/>
          <a:p>
            <a:r>
              <a:rPr lang="en-US" dirty="0"/>
              <a:t>Vaishali Mishra            ACSE0505 Web Technology                Unit 5</a:t>
            </a:r>
          </a:p>
        </p:txBody>
      </p:sp>
      <p:sp>
        <p:nvSpPr>
          <p:cNvPr id="14" name="Subtitle 2"/>
          <p:cNvSpPr txBox="1">
            <a:spLocks/>
          </p:cNvSpPr>
          <p:nvPr/>
        </p:nvSpPr>
        <p:spPr>
          <a:xfrm>
            <a:off x="341671" y="3749675"/>
            <a:ext cx="4191000" cy="838200"/>
          </a:xfrm>
          <a:prstGeom prst="rect">
            <a:avLst/>
          </a:prstGeom>
          <a:ln>
            <a:solidFill>
              <a:schemeClr val="accent2"/>
            </a:solidFill>
          </a:ln>
        </p:spPr>
        <p:style>
          <a:lnRef idx="2">
            <a:schemeClr val="accent5"/>
          </a:lnRef>
          <a:fillRef idx="1">
            <a:schemeClr val="lt1"/>
          </a:fillRef>
          <a:effectRef idx="0">
            <a:schemeClr val="accent5"/>
          </a:effectRef>
          <a:fontRef idx="minor">
            <a:schemeClr val="dk1"/>
          </a:fontRef>
        </p:style>
        <p:txBody>
          <a:bodyPr vert="horz" lIns="91440" tIns="45720" rIns="91440" bIns="45720" rtlCol="0">
            <a:normAutofit/>
          </a:bodyPr>
          <a:lstStyle/>
          <a:p>
            <a:pPr algn="ctr">
              <a:spcBef>
                <a:spcPct val="20000"/>
              </a:spcBef>
              <a:defRPr/>
            </a:pPr>
            <a:r>
              <a:rPr lang="en-US" sz="2000" dirty="0">
                <a:solidFill>
                  <a:schemeClr val="tx1"/>
                </a:solidFill>
              </a:rPr>
              <a:t>Web Technology (ACSE0505)</a:t>
            </a:r>
          </a:p>
        </p:txBody>
      </p:sp>
      <p:sp>
        <p:nvSpPr>
          <p:cNvPr id="15" name="Subtitle 2"/>
          <p:cNvSpPr txBox="1">
            <a:spLocks/>
          </p:cNvSpPr>
          <p:nvPr/>
        </p:nvSpPr>
        <p:spPr>
          <a:xfrm>
            <a:off x="341671" y="4908550"/>
            <a:ext cx="4191000" cy="838200"/>
          </a:xfrm>
          <a:prstGeom prst="rect">
            <a:avLst/>
          </a:prstGeom>
          <a:ln>
            <a:solidFill>
              <a:schemeClr val="accent2"/>
            </a:solidFill>
          </a:ln>
        </p:spPr>
        <p:style>
          <a:lnRef idx="2">
            <a:schemeClr val="accent5"/>
          </a:lnRef>
          <a:fillRef idx="1">
            <a:schemeClr val="lt1"/>
          </a:fillRef>
          <a:effectRef idx="0">
            <a:schemeClr val="accent5"/>
          </a:effectRef>
          <a:fontRef idx="minor">
            <a:schemeClr val="dk1"/>
          </a:fontRef>
        </p:style>
        <p:txBody>
          <a:bodyPr vert="horz" lIns="91440" tIns="45720" rIns="91440" bIns="45720" rtlCol="0">
            <a:normAutofit/>
          </a:bodyPr>
          <a:lstStyle/>
          <a:p>
            <a:pPr algn="ctr">
              <a:spcBef>
                <a:spcPct val="20000"/>
              </a:spcBef>
              <a:defRPr/>
            </a:pPr>
            <a:r>
              <a:rPr lang="en-US" sz="2000" dirty="0">
                <a:solidFill>
                  <a:schemeClr val="tx1"/>
                </a:solidFill>
              </a:rPr>
              <a:t>Course Details</a:t>
            </a:r>
            <a:br>
              <a:rPr lang="en-US" sz="2000" dirty="0">
                <a:solidFill>
                  <a:schemeClr val="tx1"/>
                </a:solidFill>
              </a:rPr>
            </a:br>
            <a:r>
              <a:rPr lang="en-US" sz="2000" dirty="0">
                <a:solidFill>
                  <a:schemeClr val="tx1"/>
                </a:solidFill>
              </a:rPr>
              <a:t>(Ex: B Tech 4</a:t>
            </a:r>
            <a:r>
              <a:rPr lang="en-US" sz="2000" baseline="30000" dirty="0">
                <a:solidFill>
                  <a:schemeClr val="tx1"/>
                </a:solidFill>
              </a:rPr>
              <a:t>th</a:t>
            </a:r>
            <a:r>
              <a:rPr lang="en-US" sz="2000" dirty="0">
                <a:solidFill>
                  <a:schemeClr val="tx1"/>
                </a:solidFill>
              </a:rPr>
              <a:t> </a:t>
            </a:r>
            <a:r>
              <a:rPr lang="en-US" sz="2000" dirty="0" err="1">
                <a:solidFill>
                  <a:schemeClr val="tx1"/>
                </a:solidFill>
              </a:rPr>
              <a:t>Sem</a:t>
            </a:r>
            <a:r>
              <a:rPr lang="en-US" sz="2000" dirty="0">
                <a:solidFill>
                  <a:schemeClr val="tx1"/>
                </a:solidFill>
              </a:rPr>
              <a:t>)</a:t>
            </a:r>
          </a:p>
        </p:txBody>
      </p:sp>
      <p:pic>
        <p:nvPicPr>
          <p:cNvPr id="7" name="Picture 6"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pic>
        <p:nvPicPr>
          <p:cNvPr id="4" name="Picture 3">
            <a:extLst>
              <a:ext uri="{FF2B5EF4-FFF2-40B4-BE49-F238E27FC236}">
                <a16:creationId xmlns:a16="http://schemas.microsoft.com/office/drawing/2014/main" id="{F22BC5E1-6968-9875-45C9-70678979B56D}"/>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486900" y="2267434"/>
            <a:ext cx="1905000" cy="17526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14B705BA-44BE-4E4D-8011-0D7C387D63D6}" type="datetime1">
              <a:rPr lang="en-US" smtClean="0"/>
              <a:pPr/>
              <a:t>11/7/2024</a:t>
            </a:fld>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2</a:t>
            </a:fld>
            <a:endParaRPr lang="en-US"/>
          </a:p>
        </p:txBody>
      </p:sp>
      <p:sp>
        <p:nvSpPr>
          <p:cNvPr id="8" name="Title 1"/>
          <p:cNvSpPr txBox="1">
            <a:spLocks/>
          </p:cNvSpPr>
          <p:nvPr/>
        </p:nvSpPr>
        <p:spPr>
          <a:xfrm>
            <a:off x="2895600" y="2"/>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a:spcBef>
                <a:spcPct val="0"/>
              </a:spcBef>
              <a:buNone/>
              <a:defRPr sz="2800"/>
            </a:lvl1pPr>
          </a:lstStyle>
          <a:p>
            <a:r>
              <a:rPr lang="en-IN" sz="2800" b="1" dirty="0"/>
              <a:t>Faculty Profile</a:t>
            </a:r>
            <a:endParaRPr lang="en-US" dirty="0"/>
          </a:p>
        </p:txBody>
      </p:sp>
      <p:sp>
        <p:nvSpPr>
          <p:cNvPr id="10" name="Footer Placeholder 9"/>
          <p:cNvSpPr>
            <a:spLocks noGrp="1"/>
          </p:cNvSpPr>
          <p:nvPr>
            <p:ph type="ftr" sz="quarter" idx="11"/>
          </p:nvPr>
        </p:nvSpPr>
        <p:spPr>
          <a:xfrm>
            <a:off x="4038600" y="6356351"/>
            <a:ext cx="5029200" cy="365125"/>
          </a:xfrm>
        </p:spPr>
        <p:txBody>
          <a:bodyPr/>
          <a:lstStyle/>
          <a:p>
            <a:r>
              <a:rPr lang="en-US" dirty="0"/>
              <a:t>Vaishali Mishra            ACSE0505 Web Technology                Unit 5</a:t>
            </a:r>
          </a:p>
        </p:txBody>
      </p:sp>
      <p:pic>
        <p:nvPicPr>
          <p:cNvPr id="2" name="Picture 1" descr="A black and red logo&#10;&#10;Description automatically generated">
            <a:extLst>
              <a:ext uri="{FF2B5EF4-FFF2-40B4-BE49-F238E27FC236}">
                <a16:creationId xmlns:a16="http://schemas.microsoft.com/office/drawing/2014/main" id="{E0FE3D31-D8EE-48C8-60A1-49FE37AD37E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pic>
        <p:nvPicPr>
          <p:cNvPr id="5" name="Picture 4">
            <a:extLst>
              <a:ext uri="{FF2B5EF4-FFF2-40B4-BE49-F238E27FC236}">
                <a16:creationId xmlns:a16="http://schemas.microsoft.com/office/drawing/2014/main" id="{6C21B736-ED2C-6E35-F9D4-7A3B2703599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610600" y="1828802"/>
            <a:ext cx="1905000" cy="1752600"/>
          </a:xfrm>
          <a:prstGeom prst="rect">
            <a:avLst/>
          </a:prstGeom>
        </p:spPr>
      </p:pic>
      <p:graphicFrame>
        <p:nvGraphicFramePr>
          <p:cNvPr id="9" name="Table 8">
            <a:extLst>
              <a:ext uri="{FF2B5EF4-FFF2-40B4-BE49-F238E27FC236}">
                <a16:creationId xmlns:a16="http://schemas.microsoft.com/office/drawing/2014/main" id="{EF60BB2A-6441-4DEA-254E-C137AE520068}"/>
              </a:ext>
            </a:extLst>
          </p:cNvPr>
          <p:cNvGraphicFramePr>
            <a:graphicFrameLocks noGrp="1"/>
          </p:cNvGraphicFramePr>
          <p:nvPr>
            <p:extLst>
              <p:ext uri="{D42A27DB-BD31-4B8C-83A1-F6EECF244321}">
                <p14:modId xmlns:p14="http://schemas.microsoft.com/office/powerpoint/2010/main" val="4243561821"/>
              </p:ext>
            </p:extLst>
          </p:nvPr>
        </p:nvGraphicFramePr>
        <p:xfrm>
          <a:off x="1676400" y="1969618"/>
          <a:ext cx="5346032" cy="1752601"/>
        </p:xfrm>
        <a:graphic>
          <a:graphicData uri="http://schemas.openxmlformats.org/drawingml/2006/table">
            <a:tbl>
              <a:tblPr firstRow="1" firstCol="1" bandRow="1">
                <a:tableStyleId>{5C22544A-7EE6-4342-B048-85BDC9FD1C3A}</a:tableStyleId>
              </a:tblPr>
              <a:tblGrid>
                <a:gridCol w="1350261">
                  <a:extLst>
                    <a:ext uri="{9D8B030D-6E8A-4147-A177-3AD203B41FA5}">
                      <a16:colId xmlns:a16="http://schemas.microsoft.com/office/drawing/2014/main" val="2388514437"/>
                    </a:ext>
                  </a:extLst>
                </a:gridCol>
                <a:gridCol w="2374021">
                  <a:extLst>
                    <a:ext uri="{9D8B030D-6E8A-4147-A177-3AD203B41FA5}">
                      <a16:colId xmlns:a16="http://schemas.microsoft.com/office/drawing/2014/main" val="4208449999"/>
                    </a:ext>
                  </a:extLst>
                </a:gridCol>
                <a:gridCol w="1621750">
                  <a:extLst>
                    <a:ext uri="{9D8B030D-6E8A-4147-A177-3AD203B41FA5}">
                      <a16:colId xmlns:a16="http://schemas.microsoft.com/office/drawing/2014/main" val="3720504369"/>
                    </a:ext>
                  </a:extLst>
                </a:gridCol>
              </a:tblGrid>
              <a:tr h="370173">
                <a:tc>
                  <a:txBody>
                    <a:bodyPr/>
                    <a:lstStyle/>
                    <a:p>
                      <a:pPr>
                        <a:lnSpc>
                          <a:spcPct val="107000"/>
                        </a:lnSpc>
                        <a:spcAft>
                          <a:spcPts val="800"/>
                        </a:spcAft>
                      </a:pPr>
                      <a:r>
                        <a:rPr lang="en-IN" sz="1100" kern="100">
                          <a:effectLst/>
                        </a:rPr>
                        <a:t>Course</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IN" sz="1100" kern="100" dirty="0">
                          <a:effectLst/>
                        </a:rPr>
                        <a:t>Board / University</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IN" sz="1100" kern="100">
                          <a:effectLst/>
                        </a:rPr>
                        <a:t>Year Of Passing</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559631475"/>
                  </a:ext>
                </a:extLst>
              </a:tr>
              <a:tr h="691214">
                <a:tc>
                  <a:txBody>
                    <a:bodyPr/>
                    <a:lstStyle/>
                    <a:p>
                      <a:pPr>
                        <a:lnSpc>
                          <a:spcPct val="107000"/>
                        </a:lnSpc>
                        <a:spcAft>
                          <a:spcPts val="800"/>
                        </a:spcAft>
                      </a:pPr>
                      <a:r>
                        <a:rPr lang="en-IN" sz="1100" kern="100">
                          <a:effectLst/>
                        </a:rPr>
                        <a:t>M. Tech</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IN" sz="1100" kern="100" dirty="0">
                          <a:effectLst/>
                        </a:rPr>
                        <a:t>GBTU, Lucknow</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IN" sz="1100" kern="100">
                          <a:effectLst/>
                        </a:rPr>
                        <a:t>2009</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128638523"/>
                  </a:ext>
                </a:extLst>
              </a:tr>
              <a:tr h="691214">
                <a:tc>
                  <a:txBody>
                    <a:bodyPr/>
                    <a:lstStyle/>
                    <a:p>
                      <a:pPr>
                        <a:lnSpc>
                          <a:spcPct val="107000"/>
                        </a:lnSpc>
                        <a:spcAft>
                          <a:spcPts val="800"/>
                        </a:spcAft>
                      </a:pPr>
                      <a:r>
                        <a:rPr lang="en-IN" sz="1100" kern="100">
                          <a:effectLst/>
                        </a:rPr>
                        <a:t>B.tech</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IN" sz="1100" kern="100" dirty="0">
                          <a:effectLst/>
                        </a:rPr>
                        <a:t>UPTU, Lucknow</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IN" sz="1100" kern="100" dirty="0">
                          <a:effectLst/>
                        </a:rPr>
                        <a:t>2013</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060129552"/>
                  </a:ext>
                </a:extLst>
              </a:tr>
            </a:tbl>
          </a:graphicData>
        </a:graphic>
      </p:graphicFrame>
      <p:sp>
        <p:nvSpPr>
          <p:cNvPr id="3" name="Subtitle 7">
            <a:extLst>
              <a:ext uri="{FF2B5EF4-FFF2-40B4-BE49-F238E27FC236}">
                <a16:creationId xmlns:a16="http://schemas.microsoft.com/office/drawing/2014/main" id="{CB02DBFD-1697-0080-C4C8-EC0254C7CC95}"/>
              </a:ext>
            </a:extLst>
          </p:cNvPr>
          <p:cNvSpPr txBox="1">
            <a:spLocks/>
          </p:cNvSpPr>
          <p:nvPr/>
        </p:nvSpPr>
        <p:spPr>
          <a:xfrm>
            <a:off x="1524000" y="3962398"/>
            <a:ext cx="6068786" cy="1752601"/>
          </a:xfrm>
          <a:prstGeom prst="rect">
            <a:avLst/>
          </a:prstGeom>
        </p:spPr>
        <p:txBody>
          <a:bodyPr vert="horz" lIns="91440" tIns="45720" rIns="91440" bIns="45720" rtlCol="0">
            <a:normAutofit fontScale="70000" lnSpcReduction="20000"/>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a:t>Experience : 4 years teaching experience</a:t>
            </a:r>
          </a:p>
          <a:p>
            <a:r>
              <a:rPr lang="en-US"/>
              <a:t>Research paper: Published Three international and Two national</a:t>
            </a:r>
          </a:p>
          <a:p>
            <a:r>
              <a:rPr lang="en-US"/>
              <a:t>Areas of interest: Java, SE, DS, Machine Learning</a:t>
            </a:r>
            <a:endParaRPr lang="en-IN"/>
          </a:p>
          <a:p>
            <a:endParaRPr lang="en-IN"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E3356E-E24B-7926-B89D-ECB0E185D6FE}"/>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3C6FE0B-CEC3-3D72-C4DF-6D669290B006}"/>
              </a:ext>
            </a:extLst>
          </p:cNvPr>
          <p:cNvSpPr>
            <a:spLocks noGrp="1"/>
          </p:cNvSpPr>
          <p:nvPr>
            <p:ph idx="1"/>
          </p:nvPr>
        </p:nvSpPr>
        <p:spPr>
          <a:xfrm>
            <a:off x="1905000" y="1143001"/>
            <a:ext cx="8763000" cy="4525963"/>
          </a:xfrm>
        </p:spPr>
        <p:txBody>
          <a:bodyPr>
            <a:normAutofit/>
          </a:bodyPr>
          <a:lstStyle/>
          <a:p>
            <a:pPr indent="-457200" fontAlgn="auto">
              <a:buFont typeface="+mj-lt"/>
              <a:buAutoNum type="arabicPeriod"/>
              <a:defRPr/>
            </a:pPr>
            <a:r>
              <a:rPr lang="en-US" sz="2400" dirty="0">
                <a:latin typeface="Times New Roman" pitchFamily="18" charset="0"/>
                <a:cs typeface="Times New Roman" pitchFamily="18" charset="0"/>
              </a:rPr>
              <a:t>Name of Subject with code, Course and Subject Teacher</a:t>
            </a:r>
          </a:p>
          <a:p>
            <a:pPr indent="-457200" fontAlgn="auto">
              <a:buFont typeface="+mj-lt"/>
              <a:buAutoNum type="arabicPeriod"/>
              <a:defRPr/>
            </a:pPr>
            <a:r>
              <a:rPr lang="en-US" sz="2400" dirty="0">
                <a:latin typeface="Times New Roman" pitchFamily="18" charset="0"/>
                <a:cs typeface="Times New Roman" pitchFamily="18" charset="0"/>
              </a:rPr>
              <a:t>Brief Introduction of Faculty member with Photograph</a:t>
            </a:r>
          </a:p>
          <a:p>
            <a:pPr indent="-457200" fontAlgn="auto">
              <a:buFont typeface="+mj-lt"/>
              <a:buAutoNum type="arabicPeriod"/>
              <a:defRPr/>
            </a:pPr>
            <a:r>
              <a:rPr lang="en-US" sz="2400" dirty="0">
                <a:latin typeface="Times New Roman" pitchFamily="18" charset="0"/>
                <a:cs typeface="Times New Roman" pitchFamily="18" charset="0"/>
              </a:rPr>
              <a:t>Evaluation Scheme</a:t>
            </a:r>
          </a:p>
          <a:p>
            <a:pPr indent="-457200" fontAlgn="auto">
              <a:buFont typeface="+mj-lt"/>
              <a:buAutoNum type="arabicPeriod"/>
              <a:defRPr/>
            </a:pPr>
            <a:r>
              <a:rPr lang="en-US" sz="2400" dirty="0">
                <a:latin typeface="Times New Roman" pitchFamily="18" charset="0"/>
                <a:cs typeface="Times New Roman" pitchFamily="18" charset="0"/>
              </a:rPr>
              <a:t>Subject Syllabus</a:t>
            </a:r>
          </a:p>
          <a:p>
            <a:pPr indent="-457200" fontAlgn="auto">
              <a:buFont typeface="+mj-lt"/>
              <a:buAutoNum type="arabicPeriod"/>
              <a:defRPr/>
            </a:pPr>
            <a:r>
              <a:rPr lang="en-US" sz="2400" dirty="0">
                <a:latin typeface="Times New Roman" pitchFamily="18" charset="0"/>
                <a:cs typeface="Times New Roman" pitchFamily="18" charset="0"/>
              </a:rPr>
              <a:t>Branch wise Applications</a:t>
            </a:r>
          </a:p>
          <a:p>
            <a:pPr indent="-457200" fontAlgn="auto">
              <a:buFont typeface="+mj-lt"/>
              <a:buAutoNum type="arabicPeriod"/>
              <a:defRPr/>
            </a:pPr>
            <a:r>
              <a:rPr lang="en-US" sz="2400" dirty="0">
                <a:latin typeface="Times New Roman" pitchFamily="18" charset="0"/>
                <a:cs typeface="Times New Roman" pitchFamily="18" charset="0"/>
              </a:rPr>
              <a:t>Course Objective (Point wise)</a:t>
            </a:r>
          </a:p>
          <a:p>
            <a:pPr indent="-457200" fontAlgn="auto">
              <a:buFont typeface="+mj-lt"/>
              <a:buAutoNum type="arabicPeriod"/>
              <a:defRPr/>
            </a:pPr>
            <a:r>
              <a:rPr lang="en-US" sz="2400" dirty="0">
                <a:latin typeface="Times New Roman" pitchFamily="18" charset="0"/>
                <a:cs typeface="Times New Roman" pitchFamily="18" charset="0"/>
              </a:rPr>
              <a:t>Course Outcomes (COs)</a:t>
            </a:r>
          </a:p>
          <a:p>
            <a:pPr indent="-457200" fontAlgn="auto">
              <a:buFont typeface="+mj-lt"/>
              <a:buAutoNum type="arabicPeriod"/>
              <a:defRPr/>
            </a:pPr>
            <a:r>
              <a:rPr lang="en-US" sz="2400" dirty="0">
                <a:latin typeface="Times New Roman" pitchFamily="18" charset="0"/>
                <a:cs typeface="Times New Roman" pitchFamily="18" charset="0"/>
              </a:rPr>
              <a:t>Program Outcomes only heading (POs)</a:t>
            </a:r>
          </a:p>
          <a:p>
            <a:pPr indent="-457200" fontAlgn="auto">
              <a:buFont typeface="+mj-lt"/>
              <a:buAutoNum type="arabicPeriod"/>
              <a:defRPr/>
            </a:pPr>
            <a:r>
              <a:rPr lang="en-US" sz="2400" dirty="0">
                <a:latin typeface="Times New Roman" pitchFamily="18" charset="0"/>
                <a:cs typeface="Times New Roman" pitchFamily="18" charset="0"/>
              </a:rPr>
              <a:t>COs and POs Mapping</a:t>
            </a:r>
          </a:p>
          <a:p>
            <a:pPr indent="-457200" fontAlgn="auto">
              <a:buFont typeface="+mj-lt"/>
              <a:buAutoNum type="arabicPeriod"/>
              <a:defRPr/>
            </a:pPr>
            <a:r>
              <a:rPr lang="en-US" sz="2400" dirty="0">
                <a:latin typeface="Times New Roman" pitchFamily="18" charset="0"/>
                <a:cs typeface="Times New Roman" pitchFamily="18" charset="0"/>
              </a:rPr>
              <a:t>Program Specific Outcomes (PSOs)</a:t>
            </a:r>
          </a:p>
          <a:p>
            <a:endParaRPr lang="en-US" sz="2400" dirty="0"/>
          </a:p>
        </p:txBody>
      </p:sp>
      <p:sp>
        <p:nvSpPr>
          <p:cNvPr id="6" name="Date Placeholder 5">
            <a:extLst>
              <a:ext uri="{FF2B5EF4-FFF2-40B4-BE49-F238E27FC236}">
                <a16:creationId xmlns:a16="http://schemas.microsoft.com/office/drawing/2014/main" id="{4878B4D8-3D6B-1D0D-1D32-ECCC0D49A959}"/>
              </a:ext>
            </a:extLst>
          </p:cNvPr>
          <p:cNvSpPr>
            <a:spLocks noGrp="1"/>
          </p:cNvSpPr>
          <p:nvPr>
            <p:ph type="dt" sz="half" idx="10"/>
          </p:nvPr>
        </p:nvSpPr>
        <p:spPr/>
        <p:txBody>
          <a:bodyPr/>
          <a:lstStyle/>
          <a:p>
            <a:fld id="{14B705BA-44BE-4E4D-8011-0D7C387D63D6}" type="datetime1">
              <a:rPr lang="en-US" smtClean="0"/>
              <a:pPr/>
              <a:t>11/7/2024</a:t>
            </a:fld>
            <a:endParaRPr lang="en-US" dirty="0"/>
          </a:p>
        </p:txBody>
      </p:sp>
      <p:sp>
        <p:nvSpPr>
          <p:cNvPr id="7" name="Slide Number Placeholder 6">
            <a:extLst>
              <a:ext uri="{FF2B5EF4-FFF2-40B4-BE49-F238E27FC236}">
                <a16:creationId xmlns:a16="http://schemas.microsoft.com/office/drawing/2014/main" id="{4F6FB239-18ED-9E65-C0D5-770F0A85A30C}"/>
              </a:ext>
            </a:extLst>
          </p:cNvPr>
          <p:cNvSpPr>
            <a:spLocks noGrp="1"/>
          </p:cNvSpPr>
          <p:nvPr>
            <p:ph type="sldNum" sz="quarter" idx="12"/>
          </p:nvPr>
        </p:nvSpPr>
        <p:spPr/>
        <p:txBody>
          <a:bodyPr/>
          <a:lstStyle/>
          <a:p>
            <a:fld id="{B6F15528-21DE-4FAA-801E-634DDDAF4B2B}" type="slidenum">
              <a:rPr lang="en-US" smtClean="0"/>
              <a:pPr/>
              <a:t>3</a:t>
            </a:fld>
            <a:endParaRPr lang="en-US"/>
          </a:p>
        </p:txBody>
      </p:sp>
      <p:sp>
        <p:nvSpPr>
          <p:cNvPr id="8" name="Title 1">
            <a:extLst>
              <a:ext uri="{FF2B5EF4-FFF2-40B4-BE49-F238E27FC236}">
                <a16:creationId xmlns:a16="http://schemas.microsoft.com/office/drawing/2014/main" id="{62D43216-7628-5290-4F9E-C8368CC82AFA}"/>
              </a:ext>
            </a:extLst>
          </p:cNvPr>
          <p:cNvSpPr txBox="1">
            <a:spLocks/>
          </p:cNvSpPr>
          <p:nvPr/>
        </p:nvSpPr>
        <p:spPr>
          <a:xfrm>
            <a:off x="2895600" y="2"/>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a:spcBef>
                <a:spcPct val="0"/>
              </a:spcBef>
              <a:buNone/>
              <a:defRPr sz="2800"/>
            </a:lvl1pPr>
          </a:lstStyle>
          <a:p>
            <a:r>
              <a:rPr lang="en-US" sz="2800" b="1" dirty="0">
                <a:latin typeface="Times New Roman" pitchFamily="18" charset="0"/>
                <a:cs typeface="Times New Roman" pitchFamily="18" charset="0"/>
              </a:rPr>
              <a:t>Table of Contents</a:t>
            </a:r>
            <a:endParaRPr lang="en-US" dirty="0"/>
          </a:p>
        </p:txBody>
      </p:sp>
      <p:sp>
        <p:nvSpPr>
          <p:cNvPr id="10" name="Footer Placeholder 9">
            <a:extLst>
              <a:ext uri="{FF2B5EF4-FFF2-40B4-BE49-F238E27FC236}">
                <a16:creationId xmlns:a16="http://schemas.microsoft.com/office/drawing/2014/main" id="{0E6B3A7F-064C-891A-4C07-7F5F3975C1D6}"/>
              </a:ext>
            </a:extLst>
          </p:cNvPr>
          <p:cNvSpPr>
            <a:spLocks noGrp="1"/>
          </p:cNvSpPr>
          <p:nvPr>
            <p:ph type="ftr" sz="quarter" idx="11"/>
          </p:nvPr>
        </p:nvSpPr>
        <p:spPr>
          <a:xfrm>
            <a:off x="4038600" y="6356351"/>
            <a:ext cx="5029200" cy="365125"/>
          </a:xfrm>
        </p:spPr>
        <p:txBody>
          <a:bodyPr/>
          <a:lstStyle/>
          <a:p>
            <a:r>
              <a:rPr lang="en-US" dirty="0"/>
              <a:t>Vaishali Mishra            ACSE0505 Web Technology                Unit 5</a:t>
            </a:r>
          </a:p>
        </p:txBody>
      </p:sp>
      <p:pic>
        <p:nvPicPr>
          <p:cNvPr id="2" name="Picture 1" descr="A black and red logo&#10;&#10;Description automatically generated">
            <a:extLst>
              <a:ext uri="{FF2B5EF4-FFF2-40B4-BE49-F238E27FC236}">
                <a16:creationId xmlns:a16="http://schemas.microsoft.com/office/drawing/2014/main" id="{A1ED44F1-3356-F8BA-0992-779ECC6161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Tree>
    <p:extLst>
      <p:ext uri="{BB962C8B-B14F-4D97-AF65-F5344CB8AC3E}">
        <p14:creationId xmlns:p14="http://schemas.microsoft.com/office/powerpoint/2010/main" val="28409014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057400" y="1143001"/>
            <a:ext cx="8229600" cy="4525963"/>
          </a:xfrm>
        </p:spPr>
        <p:txBody>
          <a:bodyPr>
            <a:normAutofit/>
          </a:bodyPr>
          <a:lstStyle/>
          <a:p>
            <a:pPr indent="-457200" fontAlgn="auto">
              <a:buFont typeface="Arial" panose="020B0604020202020204" pitchFamily="34" charset="0"/>
              <a:buAutoNum type="arabicPeriod" startAt="11"/>
              <a:defRPr/>
            </a:pPr>
            <a:r>
              <a:rPr lang="en-US" sz="1800" dirty="0">
                <a:latin typeface="Times New Roman" pitchFamily="18" charset="0"/>
                <a:cs typeface="Times New Roman" pitchFamily="18" charset="0"/>
              </a:rPr>
              <a:t>COs and PSOs Mapping</a:t>
            </a:r>
          </a:p>
          <a:p>
            <a:pPr indent="-457200" fontAlgn="auto">
              <a:buFont typeface="Arial" panose="020B0604020202020204" pitchFamily="34" charset="0"/>
              <a:buAutoNum type="arabicPeriod" startAt="11"/>
              <a:defRPr/>
            </a:pPr>
            <a:r>
              <a:rPr lang="en-US" sz="1800" dirty="0">
                <a:latin typeface="Times New Roman" pitchFamily="18" charset="0"/>
                <a:cs typeface="Times New Roman" pitchFamily="18" charset="0"/>
              </a:rPr>
              <a:t>Program Educational Objectives (PEOs)</a:t>
            </a:r>
          </a:p>
          <a:p>
            <a:pPr indent="-457200" fontAlgn="auto">
              <a:buFont typeface="Arial" panose="020B0604020202020204" pitchFamily="34" charset="0"/>
              <a:buAutoNum type="arabicPeriod" startAt="11"/>
              <a:defRPr/>
            </a:pPr>
            <a:r>
              <a:rPr lang="en-US" sz="1800" dirty="0">
                <a:latin typeface="Times New Roman" pitchFamily="18" charset="0"/>
                <a:cs typeface="Times New Roman" pitchFamily="18" charset="0"/>
              </a:rPr>
              <a:t>Result Analysis (Department Result, Subject Result and Individual Faculty Result)</a:t>
            </a:r>
          </a:p>
          <a:p>
            <a:pPr indent="-457200" fontAlgn="auto">
              <a:buFont typeface="Arial" panose="020B0604020202020204" pitchFamily="34" charset="0"/>
              <a:buAutoNum type="arabicPeriod" startAt="11"/>
              <a:defRPr/>
            </a:pPr>
            <a:r>
              <a:rPr lang="en-US" sz="1800" dirty="0">
                <a:latin typeface="Times New Roman" pitchFamily="18" charset="0"/>
                <a:cs typeface="Times New Roman" pitchFamily="18" charset="0"/>
              </a:rPr>
              <a:t>End Semester Question Paper Templates (Offline Pattern/Online Pattern)</a:t>
            </a:r>
          </a:p>
          <a:p>
            <a:pPr indent="-457200" fontAlgn="auto">
              <a:buFont typeface="Arial" panose="020B0604020202020204" pitchFamily="34" charset="0"/>
              <a:buAutoNum type="arabicPeriod" startAt="11"/>
              <a:defRPr/>
            </a:pPr>
            <a:r>
              <a:rPr lang="en-US" sz="1800" dirty="0">
                <a:latin typeface="Times New Roman" pitchFamily="18" charset="0"/>
                <a:cs typeface="Times New Roman" pitchFamily="18" charset="0"/>
              </a:rPr>
              <a:t>Prerequisite/Recap</a:t>
            </a:r>
          </a:p>
          <a:p>
            <a:pPr indent="-457200" fontAlgn="auto">
              <a:buFont typeface="Arial" panose="020B0604020202020204" pitchFamily="34" charset="0"/>
              <a:buAutoNum type="arabicPeriod" startAt="11"/>
              <a:defRPr/>
            </a:pPr>
            <a:r>
              <a:rPr lang="en-US" sz="1800" dirty="0">
                <a:latin typeface="Times New Roman" pitchFamily="18" charset="0"/>
                <a:cs typeface="Times New Roman" pitchFamily="18" charset="0"/>
              </a:rPr>
              <a:t>Brief Introduction about the Subject with videos</a:t>
            </a:r>
          </a:p>
          <a:p>
            <a:pPr indent="-457200" fontAlgn="auto">
              <a:buFont typeface="Arial" panose="020B0604020202020204" pitchFamily="34" charset="0"/>
              <a:buAutoNum type="arabicPeriod" startAt="11"/>
              <a:defRPr/>
            </a:pPr>
            <a:r>
              <a:rPr lang="en-US" sz="1800" dirty="0">
                <a:latin typeface="Times New Roman" pitchFamily="18" charset="0"/>
                <a:cs typeface="Times New Roman" pitchFamily="18" charset="0"/>
              </a:rPr>
              <a:t>Unit Content</a:t>
            </a:r>
          </a:p>
          <a:p>
            <a:pPr indent="-457200" fontAlgn="auto">
              <a:buFont typeface="Arial" panose="020B0604020202020204" pitchFamily="34" charset="0"/>
              <a:buAutoNum type="arabicPeriod" startAt="11"/>
              <a:defRPr/>
            </a:pPr>
            <a:r>
              <a:rPr lang="en-US" sz="1800" dirty="0">
                <a:latin typeface="Times New Roman" pitchFamily="18" charset="0"/>
                <a:cs typeface="Times New Roman" pitchFamily="18" charset="0"/>
              </a:rPr>
              <a:t>Unit Objective</a:t>
            </a:r>
          </a:p>
          <a:p>
            <a:pPr indent="-457200" fontAlgn="auto">
              <a:buFont typeface="Arial" panose="020B0604020202020204" pitchFamily="34" charset="0"/>
              <a:buAutoNum type="arabicPeriod" startAt="11"/>
              <a:defRPr/>
            </a:pPr>
            <a:r>
              <a:rPr lang="en-US" sz="1800" dirty="0">
                <a:latin typeface="Times New Roman" pitchFamily="18" charset="0"/>
                <a:cs typeface="Times New Roman" pitchFamily="18" charset="0"/>
              </a:rPr>
              <a:t>Topic Objective/Topic Outcome</a:t>
            </a:r>
          </a:p>
          <a:p>
            <a:pPr indent="-457200" fontAlgn="auto">
              <a:buFont typeface="Arial" panose="020B0604020202020204" pitchFamily="34" charset="0"/>
              <a:buAutoNum type="arabicPeriod" startAt="11"/>
              <a:defRPr/>
            </a:pPr>
            <a:r>
              <a:rPr lang="en-US" sz="1800" dirty="0">
                <a:latin typeface="Times New Roman" pitchFamily="18" charset="0"/>
                <a:cs typeface="Times New Roman" pitchFamily="18" charset="0"/>
              </a:rPr>
              <a:t>Lecture related to topic</a:t>
            </a:r>
          </a:p>
          <a:p>
            <a:pPr indent="-457200" fontAlgn="auto">
              <a:buFont typeface="Arial" panose="020B0604020202020204" pitchFamily="34" charset="0"/>
              <a:buAutoNum type="arabicPeriod" startAt="11"/>
              <a:defRPr/>
            </a:pPr>
            <a:r>
              <a:rPr lang="en-US" sz="1800" dirty="0">
                <a:latin typeface="Times New Roman" pitchFamily="18" charset="0"/>
                <a:cs typeface="Times New Roman" pitchFamily="18" charset="0"/>
              </a:rPr>
              <a:t>Daily Quiz</a:t>
            </a:r>
          </a:p>
          <a:p>
            <a:pPr indent="-457200" fontAlgn="auto">
              <a:buFont typeface="Arial" panose="020B0604020202020204" pitchFamily="34" charset="0"/>
              <a:buAutoNum type="arabicPeriod" startAt="11"/>
              <a:defRPr/>
            </a:pPr>
            <a:r>
              <a:rPr lang="en-US" sz="1800" dirty="0">
                <a:latin typeface="Times New Roman" pitchFamily="18" charset="0"/>
                <a:cs typeface="Times New Roman" pitchFamily="18" charset="0"/>
              </a:rPr>
              <a:t>Weekly Assignment</a:t>
            </a:r>
          </a:p>
          <a:p>
            <a:pPr marL="0" indent="0">
              <a:buNone/>
            </a:pPr>
            <a:endParaRPr lang="en-US" sz="1800" dirty="0"/>
          </a:p>
        </p:txBody>
      </p:sp>
      <p:sp>
        <p:nvSpPr>
          <p:cNvPr id="4" name="Date Placeholder 3"/>
          <p:cNvSpPr>
            <a:spLocks noGrp="1"/>
          </p:cNvSpPr>
          <p:nvPr>
            <p:ph type="dt" sz="half" idx="10"/>
          </p:nvPr>
        </p:nvSpPr>
        <p:spPr/>
        <p:txBody>
          <a:bodyPr/>
          <a:lstStyle/>
          <a:p>
            <a:fld id="{E73A3019-CFE4-49DD-B6FD-2AFB2DD2DBB6}" type="datetime1">
              <a:rPr lang="en-US" smtClean="0"/>
              <a:t>11/7/2024</a:t>
            </a:fld>
            <a:endParaRPr lang="en-US"/>
          </a:p>
        </p:txBody>
      </p:sp>
      <p:sp>
        <p:nvSpPr>
          <p:cNvPr id="5" name="Footer Placeholder 4"/>
          <p:cNvSpPr>
            <a:spLocks noGrp="1"/>
          </p:cNvSpPr>
          <p:nvPr>
            <p:ph type="ftr" sz="quarter" idx="11"/>
          </p:nvPr>
        </p:nvSpPr>
        <p:spPr>
          <a:xfrm>
            <a:off x="4343400" y="6248401"/>
            <a:ext cx="4724400" cy="365125"/>
          </a:xfrm>
        </p:spPr>
        <p:txBody>
          <a:bodyPr/>
          <a:lstStyle/>
          <a:p>
            <a:r>
              <a:rPr lang="en-US" dirty="0"/>
              <a:t>Vaishali Mishra            ACSE0505 Web Technology                Unit 5</a:t>
            </a:r>
          </a:p>
        </p:txBody>
      </p:sp>
      <p:sp>
        <p:nvSpPr>
          <p:cNvPr id="6" name="Slide Number Placeholder 5"/>
          <p:cNvSpPr>
            <a:spLocks noGrp="1"/>
          </p:cNvSpPr>
          <p:nvPr>
            <p:ph type="sldNum" sz="quarter" idx="12"/>
          </p:nvPr>
        </p:nvSpPr>
        <p:spPr/>
        <p:txBody>
          <a:bodyPr/>
          <a:lstStyle/>
          <a:p>
            <a:fld id="{B6F15528-21DE-4FAA-801E-634DDDAF4B2B}" type="slidenum">
              <a:rPr lang="en-US" smtClean="0"/>
              <a:pPr/>
              <a:t>4</a:t>
            </a:fld>
            <a:endParaRPr lang="en-US"/>
          </a:p>
        </p:txBody>
      </p:sp>
      <p:sp>
        <p:nvSpPr>
          <p:cNvPr id="7" name="Title 1"/>
          <p:cNvSpPr txBox="1">
            <a:spLocks/>
          </p:cNvSpPr>
          <p:nvPr/>
        </p:nvSpPr>
        <p:spPr>
          <a:xfrm>
            <a:off x="2895600" y="2"/>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endParaRPr kumimoji="0" lang="en-US" sz="2800" b="0" i="0" u="none" strike="noStrike" kern="1200" cap="none" spc="0" normalizeH="0" baseline="0" noProof="0" dirty="0">
              <a:ln>
                <a:noFill/>
              </a:ln>
              <a:solidFill>
                <a:schemeClr val="dk1"/>
              </a:solidFill>
              <a:effectLst/>
              <a:uLnTx/>
              <a:uFillTx/>
              <a:latin typeface="+mn-lt"/>
              <a:ea typeface="+mn-ea"/>
              <a:cs typeface="+mn-cs"/>
            </a:endParaRPr>
          </a:p>
          <a:p>
            <a:r>
              <a:rPr kumimoji="0" lang="en-US" sz="2800" b="0" i="0" u="none" strike="noStrike" kern="1200" cap="none" spc="0" normalizeH="0" baseline="0" noProof="0" dirty="0">
                <a:ln>
                  <a:noFill/>
                </a:ln>
                <a:solidFill>
                  <a:schemeClr val="dk1"/>
                </a:solidFill>
                <a:effectLst/>
                <a:uLnTx/>
                <a:uFillTx/>
                <a:latin typeface="+mn-lt"/>
                <a:ea typeface="+mn-ea"/>
                <a:cs typeface="+mn-cs"/>
              </a:rPr>
              <a:t>Contents</a:t>
            </a:r>
          </a:p>
          <a:p>
            <a:endParaRPr lang="en-US" dirty="0"/>
          </a:p>
        </p:txBody>
      </p:sp>
      <p:pic>
        <p:nvPicPr>
          <p:cNvPr id="2" name="Picture 1" descr="A black and red logo&#10;&#10;Description automatically generated">
            <a:extLst>
              <a:ext uri="{FF2B5EF4-FFF2-40B4-BE49-F238E27FC236}">
                <a16:creationId xmlns:a16="http://schemas.microsoft.com/office/drawing/2014/main" id="{8BDB0671-FC93-5C9E-75A2-ED46EE3FB8B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Tree>
    <p:extLst>
      <p:ext uri="{BB962C8B-B14F-4D97-AF65-F5344CB8AC3E}">
        <p14:creationId xmlns:p14="http://schemas.microsoft.com/office/powerpoint/2010/main" val="2647741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594ABE-7934-427E-D477-C8CE45D70E50}"/>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DF5F207-9668-2C8D-ED91-9140970F18B1}"/>
              </a:ext>
            </a:extLst>
          </p:cNvPr>
          <p:cNvSpPr>
            <a:spLocks noGrp="1"/>
          </p:cNvSpPr>
          <p:nvPr>
            <p:ph idx="1"/>
          </p:nvPr>
        </p:nvSpPr>
        <p:spPr>
          <a:xfrm>
            <a:off x="2057400" y="1143001"/>
            <a:ext cx="8229600" cy="4525963"/>
          </a:xfrm>
        </p:spPr>
        <p:txBody>
          <a:bodyPr>
            <a:normAutofit/>
          </a:bodyPr>
          <a:lstStyle/>
          <a:p>
            <a:pPr indent="-457200">
              <a:buFont typeface="Arial" panose="020B0604020202020204" pitchFamily="34" charset="0"/>
              <a:buAutoNum type="arabicPlain" startAt="23"/>
            </a:pPr>
            <a:r>
              <a:rPr lang="en-US" altLang="en-US" sz="1800" dirty="0">
                <a:latin typeface="Times New Roman" panose="02020603050405020304" pitchFamily="18" charset="0"/>
                <a:cs typeface="Times New Roman" panose="02020603050405020304" pitchFamily="18" charset="0"/>
              </a:rPr>
              <a:t>Topic Links</a:t>
            </a:r>
          </a:p>
          <a:p>
            <a:pPr indent="-457200">
              <a:buFont typeface="Arial" panose="020B0604020202020204" pitchFamily="34" charset="0"/>
              <a:buAutoNum type="arabicPlain" startAt="23"/>
            </a:pPr>
            <a:r>
              <a:rPr lang="en-US" altLang="en-US" sz="1800" dirty="0">
                <a:latin typeface="Times New Roman" panose="02020603050405020304" pitchFamily="18" charset="0"/>
                <a:cs typeface="Times New Roman" panose="02020603050405020304" pitchFamily="18" charset="0"/>
              </a:rPr>
              <a:t>MCQ (End of Unit)</a:t>
            </a:r>
          </a:p>
          <a:p>
            <a:pPr indent="-457200">
              <a:buFont typeface="Arial" panose="020B0604020202020204" pitchFamily="34" charset="0"/>
              <a:buAutoNum type="arabicPlain" startAt="23"/>
            </a:pPr>
            <a:r>
              <a:rPr lang="en-US" altLang="en-US" sz="1800" dirty="0">
                <a:latin typeface="Times New Roman" panose="02020603050405020304" pitchFamily="18" charset="0"/>
                <a:cs typeface="Times New Roman" panose="02020603050405020304" pitchFamily="18" charset="0"/>
              </a:rPr>
              <a:t>Glossary Questions</a:t>
            </a:r>
          </a:p>
          <a:p>
            <a:pPr indent="-457200">
              <a:buFont typeface="Arial" panose="020B0604020202020204" pitchFamily="34" charset="0"/>
              <a:buAutoNum type="arabicPlain" startAt="23"/>
            </a:pPr>
            <a:r>
              <a:rPr lang="en-US" altLang="en-US" sz="1800" dirty="0">
                <a:latin typeface="Times New Roman" panose="02020603050405020304" pitchFamily="18" charset="0"/>
                <a:cs typeface="Times New Roman" panose="02020603050405020304" pitchFamily="18" charset="0"/>
              </a:rPr>
              <a:t>Old Question Papers (Sessional + University)</a:t>
            </a:r>
          </a:p>
          <a:p>
            <a:pPr indent="-457200">
              <a:buFont typeface="Arial" panose="020B0604020202020204" pitchFamily="34" charset="0"/>
              <a:buAutoNum type="arabicPlain" startAt="23"/>
            </a:pPr>
            <a:r>
              <a:rPr lang="en-US" altLang="en-US" sz="1800" dirty="0">
                <a:latin typeface="Times New Roman" panose="02020603050405020304" pitchFamily="18" charset="0"/>
                <a:cs typeface="Times New Roman" panose="02020603050405020304" pitchFamily="18" charset="0"/>
              </a:rPr>
              <a:t>Expected Questions</a:t>
            </a:r>
          </a:p>
          <a:p>
            <a:pPr indent="-457200">
              <a:buFont typeface="Arial" panose="020B0604020202020204" pitchFamily="34" charset="0"/>
              <a:buAutoNum type="arabicPlain" startAt="23"/>
            </a:pPr>
            <a:r>
              <a:rPr lang="en-US" altLang="en-US" sz="1800" dirty="0">
                <a:latin typeface="Times New Roman" panose="02020603050405020304" pitchFamily="18" charset="0"/>
                <a:cs typeface="Times New Roman" panose="02020603050405020304" pitchFamily="18" charset="0"/>
              </a:rPr>
              <a:t>Recap of Unit</a:t>
            </a:r>
          </a:p>
          <a:p>
            <a:pPr marL="0" indent="0">
              <a:buNone/>
            </a:pPr>
            <a:endParaRPr lang="en-US" sz="1800" dirty="0"/>
          </a:p>
        </p:txBody>
      </p:sp>
      <p:sp>
        <p:nvSpPr>
          <p:cNvPr id="4" name="Date Placeholder 3">
            <a:extLst>
              <a:ext uri="{FF2B5EF4-FFF2-40B4-BE49-F238E27FC236}">
                <a16:creationId xmlns:a16="http://schemas.microsoft.com/office/drawing/2014/main" id="{CE532499-0984-9654-5E12-D4092B96914A}"/>
              </a:ext>
            </a:extLst>
          </p:cNvPr>
          <p:cNvSpPr>
            <a:spLocks noGrp="1"/>
          </p:cNvSpPr>
          <p:nvPr>
            <p:ph type="dt" sz="half" idx="10"/>
          </p:nvPr>
        </p:nvSpPr>
        <p:spPr/>
        <p:txBody>
          <a:bodyPr/>
          <a:lstStyle/>
          <a:p>
            <a:fld id="{E73A3019-CFE4-49DD-B6FD-2AFB2DD2DBB6}" type="datetime1">
              <a:rPr lang="en-US" smtClean="0"/>
              <a:t>11/7/2024</a:t>
            </a:fld>
            <a:endParaRPr lang="en-US"/>
          </a:p>
        </p:txBody>
      </p:sp>
      <p:sp>
        <p:nvSpPr>
          <p:cNvPr id="5" name="Footer Placeholder 4">
            <a:extLst>
              <a:ext uri="{FF2B5EF4-FFF2-40B4-BE49-F238E27FC236}">
                <a16:creationId xmlns:a16="http://schemas.microsoft.com/office/drawing/2014/main" id="{D9E1A7A5-9413-BDFA-D178-72757AE40BFB}"/>
              </a:ext>
            </a:extLst>
          </p:cNvPr>
          <p:cNvSpPr>
            <a:spLocks noGrp="1"/>
          </p:cNvSpPr>
          <p:nvPr>
            <p:ph type="ftr" sz="quarter" idx="11"/>
          </p:nvPr>
        </p:nvSpPr>
        <p:spPr>
          <a:xfrm>
            <a:off x="4343400" y="6248401"/>
            <a:ext cx="4724400" cy="365125"/>
          </a:xfrm>
        </p:spPr>
        <p:txBody>
          <a:bodyPr/>
          <a:lstStyle/>
          <a:p>
            <a:r>
              <a:rPr lang="en-US" dirty="0"/>
              <a:t>Vaishali Mishra            ACSE0505 Web Technology                Unit 5</a:t>
            </a:r>
          </a:p>
        </p:txBody>
      </p:sp>
      <p:sp>
        <p:nvSpPr>
          <p:cNvPr id="6" name="Slide Number Placeholder 5">
            <a:extLst>
              <a:ext uri="{FF2B5EF4-FFF2-40B4-BE49-F238E27FC236}">
                <a16:creationId xmlns:a16="http://schemas.microsoft.com/office/drawing/2014/main" id="{E786A833-8BC1-C191-8E01-DD2660902B77}"/>
              </a:ext>
            </a:extLst>
          </p:cNvPr>
          <p:cNvSpPr>
            <a:spLocks noGrp="1"/>
          </p:cNvSpPr>
          <p:nvPr>
            <p:ph type="sldNum" sz="quarter" idx="12"/>
          </p:nvPr>
        </p:nvSpPr>
        <p:spPr/>
        <p:txBody>
          <a:bodyPr/>
          <a:lstStyle/>
          <a:p>
            <a:fld id="{B6F15528-21DE-4FAA-801E-634DDDAF4B2B}" type="slidenum">
              <a:rPr lang="en-US" smtClean="0"/>
              <a:pPr/>
              <a:t>5</a:t>
            </a:fld>
            <a:endParaRPr lang="en-US"/>
          </a:p>
        </p:txBody>
      </p:sp>
      <p:sp>
        <p:nvSpPr>
          <p:cNvPr id="7" name="Title 1">
            <a:extLst>
              <a:ext uri="{FF2B5EF4-FFF2-40B4-BE49-F238E27FC236}">
                <a16:creationId xmlns:a16="http://schemas.microsoft.com/office/drawing/2014/main" id="{9983C85C-4C1D-7688-3A37-81BDD59B0973}"/>
              </a:ext>
            </a:extLst>
          </p:cNvPr>
          <p:cNvSpPr txBox="1">
            <a:spLocks/>
          </p:cNvSpPr>
          <p:nvPr/>
        </p:nvSpPr>
        <p:spPr>
          <a:xfrm>
            <a:off x="2895600" y="2"/>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endParaRPr kumimoji="0" lang="en-US" sz="2800" b="0" i="0" u="none" strike="noStrike" kern="1200" cap="none" spc="0" normalizeH="0" baseline="0" noProof="0" dirty="0">
              <a:ln>
                <a:noFill/>
              </a:ln>
              <a:solidFill>
                <a:schemeClr val="dk1"/>
              </a:solidFill>
              <a:effectLst/>
              <a:uLnTx/>
              <a:uFillTx/>
              <a:latin typeface="+mn-lt"/>
              <a:ea typeface="+mn-ea"/>
              <a:cs typeface="+mn-cs"/>
            </a:endParaRPr>
          </a:p>
          <a:p>
            <a:pPr>
              <a:defRPr/>
            </a:pPr>
            <a:r>
              <a:rPr lang="en-US" dirty="0"/>
              <a:t>Conti…</a:t>
            </a:r>
            <a:endParaRPr lang="en-IN" dirty="0"/>
          </a:p>
          <a:p>
            <a:endParaRPr lang="en-US" dirty="0"/>
          </a:p>
        </p:txBody>
      </p:sp>
      <p:pic>
        <p:nvPicPr>
          <p:cNvPr id="2" name="Picture 1" descr="A black and red logo&#10;&#10;Description automatically generated">
            <a:extLst>
              <a:ext uri="{FF2B5EF4-FFF2-40B4-BE49-F238E27FC236}">
                <a16:creationId xmlns:a16="http://schemas.microsoft.com/office/drawing/2014/main" id="{B20B956A-E1D7-6115-D69C-B99FEF2B0BD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Tree>
    <p:extLst>
      <p:ext uri="{BB962C8B-B14F-4D97-AF65-F5344CB8AC3E}">
        <p14:creationId xmlns:p14="http://schemas.microsoft.com/office/powerpoint/2010/main" val="32715725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E73A3019-CFE4-49DD-B6FD-2AFB2DD2DBB6}" type="datetime1">
              <a:rPr lang="en-US" smtClean="0"/>
              <a:t>11/7/2024</a:t>
            </a:fld>
            <a:endParaRPr lang="en-US"/>
          </a:p>
        </p:txBody>
      </p:sp>
      <p:sp>
        <p:nvSpPr>
          <p:cNvPr id="5" name="Footer Placeholder 4"/>
          <p:cNvSpPr>
            <a:spLocks noGrp="1"/>
          </p:cNvSpPr>
          <p:nvPr>
            <p:ph type="ftr" sz="quarter" idx="11"/>
          </p:nvPr>
        </p:nvSpPr>
        <p:spPr>
          <a:xfrm>
            <a:off x="4343400" y="6248401"/>
            <a:ext cx="4724400" cy="365125"/>
          </a:xfrm>
        </p:spPr>
        <p:txBody>
          <a:bodyPr/>
          <a:lstStyle/>
          <a:p>
            <a:r>
              <a:rPr lang="en-US" dirty="0"/>
              <a:t>Vaishali Mishra            ACSE0505 Web Technology                Unit 5</a:t>
            </a:r>
          </a:p>
        </p:txBody>
      </p:sp>
      <p:sp>
        <p:nvSpPr>
          <p:cNvPr id="6" name="Slide Number Placeholder 5"/>
          <p:cNvSpPr>
            <a:spLocks noGrp="1"/>
          </p:cNvSpPr>
          <p:nvPr>
            <p:ph type="sldNum" sz="quarter" idx="12"/>
          </p:nvPr>
        </p:nvSpPr>
        <p:spPr/>
        <p:txBody>
          <a:bodyPr/>
          <a:lstStyle/>
          <a:p>
            <a:fld id="{B6F15528-21DE-4FAA-801E-634DDDAF4B2B}" type="slidenum">
              <a:rPr lang="en-US" smtClean="0"/>
              <a:pPr/>
              <a:t>6</a:t>
            </a:fld>
            <a:endParaRPr lang="en-US"/>
          </a:p>
        </p:txBody>
      </p:sp>
      <p:sp>
        <p:nvSpPr>
          <p:cNvPr id="7" name="Title 1"/>
          <p:cNvSpPr txBox="1">
            <a:spLocks/>
          </p:cNvSpPr>
          <p:nvPr/>
        </p:nvSpPr>
        <p:spPr>
          <a:xfrm>
            <a:off x="2895600" y="2"/>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endParaRPr lang="en-US" sz="2800" dirty="0">
              <a:latin typeface="Times New Roman" pitchFamily="18" charset="0"/>
              <a:cs typeface="Times New Roman" pitchFamily="18" charset="0"/>
              <a:sym typeface="Arial" charset="0"/>
            </a:endParaRPr>
          </a:p>
          <a:p>
            <a:r>
              <a:rPr lang="en-US" sz="2800" dirty="0">
                <a:latin typeface="Times New Roman" pitchFamily="18" charset="0"/>
                <a:cs typeface="Times New Roman" pitchFamily="18" charset="0"/>
                <a:sym typeface="Arial" charset="0"/>
              </a:rPr>
              <a:t>Evaluation Scheme</a:t>
            </a:r>
            <a:endParaRPr kumimoji="0" lang="en-US" sz="2800" b="0" i="0" u="none" strike="noStrike" kern="1200" cap="none" spc="0" normalizeH="0" baseline="0" noProof="0" dirty="0">
              <a:ln>
                <a:noFill/>
              </a:ln>
              <a:solidFill>
                <a:schemeClr val="dk1"/>
              </a:solidFill>
              <a:effectLst/>
              <a:uLnTx/>
              <a:uFillTx/>
            </a:endParaRPr>
          </a:p>
          <a:p>
            <a:endParaRPr lang="en-US" dirty="0"/>
          </a:p>
        </p:txBody>
      </p:sp>
      <p:pic>
        <p:nvPicPr>
          <p:cNvPr id="2" name="Picture 1" descr="A black and red logo&#10;&#10;Description automatically generated">
            <a:extLst>
              <a:ext uri="{FF2B5EF4-FFF2-40B4-BE49-F238E27FC236}">
                <a16:creationId xmlns:a16="http://schemas.microsoft.com/office/drawing/2014/main" id="{8BDB0671-FC93-5C9E-75A2-ED46EE3FB8B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pic>
        <p:nvPicPr>
          <p:cNvPr id="10" name="Picture 4">
            <a:extLst>
              <a:ext uri="{FF2B5EF4-FFF2-40B4-BE49-F238E27FC236}">
                <a16:creationId xmlns:a16="http://schemas.microsoft.com/office/drawing/2014/main" id="{013A81FF-343C-76F7-8E76-05CEA6C0988C}"/>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1066801" y="1219200"/>
            <a:ext cx="9906000" cy="47347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8703075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E73A3019-CFE4-49DD-B6FD-2AFB2DD2DBB6}" type="datetime1">
              <a:rPr lang="en-US" smtClean="0"/>
              <a:t>11/7/2024</a:t>
            </a:fld>
            <a:endParaRPr lang="en-US"/>
          </a:p>
        </p:txBody>
      </p:sp>
      <p:sp>
        <p:nvSpPr>
          <p:cNvPr id="5" name="Footer Placeholder 4"/>
          <p:cNvSpPr>
            <a:spLocks noGrp="1"/>
          </p:cNvSpPr>
          <p:nvPr>
            <p:ph type="ftr" sz="quarter" idx="11"/>
          </p:nvPr>
        </p:nvSpPr>
        <p:spPr>
          <a:xfrm>
            <a:off x="4343400" y="6248401"/>
            <a:ext cx="4724400" cy="365125"/>
          </a:xfrm>
        </p:spPr>
        <p:txBody>
          <a:bodyPr/>
          <a:lstStyle/>
          <a:p>
            <a:r>
              <a:rPr lang="en-US" dirty="0"/>
              <a:t>Vaishali Mishra            ACSE0505 Web Technology                Unit 5</a:t>
            </a:r>
          </a:p>
        </p:txBody>
      </p:sp>
      <p:sp>
        <p:nvSpPr>
          <p:cNvPr id="6" name="Slide Number Placeholder 5"/>
          <p:cNvSpPr>
            <a:spLocks noGrp="1"/>
          </p:cNvSpPr>
          <p:nvPr>
            <p:ph type="sldNum" sz="quarter" idx="12"/>
          </p:nvPr>
        </p:nvSpPr>
        <p:spPr/>
        <p:txBody>
          <a:bodyPr/>
          <a:lstStyle/>
          <a:p>
            <a:fld id="{B6F15528-21DE-4FAA-801E-634DDDAF4B2B}" type="slidenum">
              <a:rPr lang="en-US" smtClean="0"/>
              <a:pPr/>
              <a:t>7</a:t>
            </a:fld>
            <a:endParaRPr lang="en-US"/>
          </a:p>
        </p:txBody>
      </p:sp>
      <p:sp>
        <p:nvSpPr>
          <p:cNvPr id="7" name="Title 1"/>
          <p:cNvSpPr txBox="1">
            <a:spLocks/>
          </p:cNvSpPr>
          <p:nvPr/>
        </p:nvSpPr>
        <p:spPr>
          <a:xfrm>
            <a:off x="2895600" y="2"/>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endParaRPr kumimoji="0" lang="en-US" sz="2800" b="0" i="0" u="none" strike="noStrike" kern="1200" cap="none" spc="0" normalizeH="0" baseline="0" noProof="0" dirty="0">
              <a:ln>
                <a:noFill/>
              </a:ln>
              <a:solidFill>
                <a:schemeClr val="dk1"/>
              </a:solidFill>
              <a:effectLst/>
              <a:uLnTx/>
              <a:uFillTx/>
              <a:latin typeface="+mn-lt"/>
              <a:ea typeface="+mn-ea"/>
              <a:cs typeface="+mn-cs"/>
            </a:endParaRPr>
          </a:p>
          <a:p>
            <a:r>
              <a:rPr kumimoji="0" lang="en-US" sz="2800" b="0" i="0" u="none" strike="noStrike" kern="1200" cap="none" spc="0" normalizeH="0" baseline="0" noProof="0" dirty="0">
                <a:ln>
                  <a:noFill/>
                </a:ln>
                <a:solidFill>
                  <a:schemeClr val="dk1"/>
                </a:solidFill>
                <a:effectLst/>
                <a:uLnTx/>
                <a:uFillTx/>
                <a:latin typeface="+mn-lt"/>
                <a:ea typeface="+mn-ea"/>
                <a:cs typeface="+mn-cs"/>
              </a:rPr>
              <a:t>Syllabus</a:t>
            </a:r>
          </a:p>
          <a:p>
            <a:endParaRPr lang="en-US" dirty="0"/>
          </a:p>
        </p:txBody>
      </p:sp>
      <p:pic>
        <p:nvPicPr>
          <p:cNvPr id="2" name="Picture 1" descr="A black and red logo&#10;&#10;Description automatically generated">
            <a:extLst>
              <a:ext uri="{FF2B5EF4-FFF2-40B4-BE49-F238E27FC236}">
                <a16:creationId xmlns:a16="http://schemas.microsoft.com/office/drawing/2014/main" id="{8BDB0671-FC93-5C9E-75A2-ED46EE3FB8B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graphicFrame>
        <p:nvGraphicFramePr>
          <p:cNvPr id="8" name="Content Placeholder 8">
            <a:extLst>
              <a:ext uri="{FF2B5EF4-FFF2-40B4-BE49-F238E27FC236}">
                <a16:creationId xmlns:a16="http://schemas.microsoft.com/office/drawing/2014/main" id="{46025E86-E61F-E778-CD6D-A64608640A51}"/>
              </a:ext>
            </a:extLst>
          </p:cNvPr>
          <p:cNvGraphicFramePr>
            <a:graphicFrameLocks noGrp="1"/>
          </p:cNvGraphicFramePr>
          <p:nvPr>
            <p:ph idx="1"/>
            <p:extLst>
              <p:ext uri="{D42A27DB-BD31-4B8C-83A1-F6EECF244321}">
                <p14:modId xmlns:p14="http://schemas.microsoft.com/office/powerpoint/2010/main" val="3031795903"/>
              </p:ext>
            </p:extLst>
          </p:nvPr>
        </p:nvGraphicFramePr>
        <p:xfrm>
          <a:off x="609600" y="1055218"/>
          <a:ext cx="10363200" cy="5039666"/>
        </p:xfrm>
        <a:graphic>
          <a:graphicData uri="http://schemas.openxmlformats.org/drawingml/2006/table">
            <a:tbl>
              <a:tblPr firstRow="1" firstCol="1" bandRow="1">
                <a:tableStyleId>{5C22544A-7EE6-4342-B048-85BDC9FD1C3A}</a:tableStyleId>
              </a:tblPr>
              <a:tblGrid>
                <a:gridCol w="783771">
                  <a:extLst>
                    <a:ext uri="{9D8B030D-6E8A-4147-A177-3AD203B41FA5}">
                      <a16:colId xmlns:a16="http://schemas.microsoft.com/office/drawing/2014/main" val="3653803457"/>
                    </a:ext>
                  </a:extLst>
                </a:gridCol>
                <a:gridCol w="9579429">
                  <a:extLst>
                    <a:ext uri="{9D8B030D-6E8A-4147-A177-3AD203B41FA5}">
                      <a16:colId xmlns:a16="http://schemas.microsoft.com/office/drawing/2014/main" val="1504710162"/>
                    </a:ext>
                  </a:extLst>
                </a:gridCol>
              </a:tblGrid>
              <a:tr h="670013">
                <a:tc>
                  <a:txBody>
                    <a:bodyPr/>
                    <a:lstStyle/>
                    <a:p>
                      <a:pPr marL="0" marR="0" algn="just">
                        <a:lnSpc>
                          <a:spcPct val="115000"/>
                        </a:lnSpc>
                        <a:spcBef>
                          <a:spcPts val="0"/>
                        </a:spcBef>
                        <a:spcAft>
                          <a:spcPts val="0"/>
                        </a:spcAft>
                      </a:pPr>
                      <a:r>
                        <a:rPr lang="en-US" sz="2000" dirty="0">
                          <a:effectLst/>
                        </a:rPr>
                        <a:t>Unit</a:t>
                      </a:r>
                      <a:endParaRPr lang="en-US" sz="2000"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just">
                        <a:lnSpc>
                          <a:spcPct val="115000"/>
                        </a:lnSpc>
                        <a:spcBef>
                          <a:spcPts val="0"/>
                        </a:spcBef>
                        <a:spcAft>
                          <a:spcPts val="0"/>
                        </a:spcAft>
                      </a:pPr>
                      <a:r>
                        <a:rPr lang="en-US" sz="2000" dirty="0">
                          <a:effectLst/>
                        </a:rPr>
                        <a:t>Topic</a:t>
                      </a:r>
                      <a:endParaRPr lang="en-US" sz="2000"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extLst>
                  <a:ext uri="{0D108BD9-81ED-4DB2-BD59-A6C34878D82A}">
                    <a16:rowId xmlns:a16="http://schemas.microsoft.com/office/drawing/2014/main" val="296037876"/>
                  </a:ext>
                </a:extLst>
              </a:tr>
              <a:tr h="2039172">
                <a:tc>
                  <a:txBody>
                    <a:bodyPr/>
                    <a:lstStyle/>
                    <a:p>
                      <a:pPr marL="0" marR="0" algn="just">
                        <a:lnSpc>
                          <a:spcPct val="115000"/>
                        </a:lnSpc>
                        <a:spcBef>
                          <a:spcPts val="0"/>
                        </a:spcBef>
                        <a:spcAft>
                          <a:spcPts val="0"/>
                        </a:spcAft>
                      </a:pPr>
                      <a:r>
                        <a:rPr lang="en-US" sz="2000">
                          <a:effectLst/>
                        </a:rPr>
                        <a:t>I </a:t>
                      </a:r>
                      <a:endParaRPr lang="en-US" sz="20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algn="just"/>
                      <a:r>
                        <a:rPr lang="en-US" sz="2000" b="0" kern="1200" dirty="0">
                          <a:solidFill>
                            <a:schemeClr val="dk1"/>
                          </a:solidFill>
                          <a:effectLst/>
                          <a:latin typeface="+mn-lt"/>
                          <a:ea typeface="+mn-ea"/>
                          <a:cs typeface="+mn-cs"/>
                        </a:rPr>
                        <a:t>Introduction: Introduction to Web Technology, History of Web and Internet, Connecting to Internet, Introduction to Internet services and tools, Client-Server Computing, Protocols Governing Web, Basic principles involved in developing a web site, Planning process, Types of Websites, Web Standards and W3C recommendations, </a:t>
                      </a:r>
                      <a:r>
                        <a:rPr lang="en-IN" sz="2000" b="0" kern="1200" dirty="0">
                          <a:solidFill>
                            <a:schemeClr val="dk1"/>
                          </a:solidFill>
                          <a:effectLst/>
                          <a:latin typeface="+mn-lt"/>
                          <a:ea typeface="+mn-ea"/>
                          <a:cs typeface="+mn-cs"/>
                        </a:rPr>
                        <a:t>Web Hosting basics, introduction to web testing, functional testing, usability and visual testing, Performance and load testing.</a:t>
                      </a:r>
                      <a:endParaRPr lang="en-US" sz="2000" b="0"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extLst>
                  <a:ext uri="{0D108BD9-81ED-4DB2-BD59-A6C34878D82A}">
                    <a16:rowId xmlns:a16="http://schemas.microsoft.com/office/drawing/2014/main" val="2369317437"/>
                  </a:ext>
                </a:extLst>
              </a:tr>
              <a:tr h="2330481">
                <a:tc>
                  <a:txBody>
                    <a:bodyPr/>
                    <a:lstStyle/>
                    <a:p>
                      <a:pPr marL="0" marR="0" algn="just">
                        <a:lnSpc>
                          <a:spcPct val="115000"/>
                        </a:lnSpc>
                        <a:spcBef>
                          <a:spcPts val="0"/>
                        </a:spcBef>
                        <a:spcAft>
                          <a:spcPts val="0"/>
                        </a:spcAft>
                      </a:pPr>
                      <a:r>
                        <a:rPr lang="en-US" sz="2000">
                          <a:effectLst/>
                        </a:rPr>
                        <a:t>II </a:t>
                      </a:r>
                    </a:p>
                    <a:p>
                      <a:pPr marL="0" marR="0" algn="just">
                        <a:lnSpc>
                          <a:spcPct val="115000"/>
                        </a:lnSpc>
                        <a:spcBef>
                          <a:spcPts val="0"/>
                        </a:spcBef>
                        <a:spcAft>
                          <a:spcPts val="0"/>
                        </a:spcAft>
                      </a:pPr>
                      <a:r>
                        <a:rPr lang="en-US" sz="2000">
                          <a:effectLst/>
                        </a:rPr>
                        <a:t> </a:t>
                      </a:r>
                      <a:endParaRPr lang="en-US" sz="20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algn="just"/>
                      <a:r>
                        <a:rPr lang="en-IN" sz="2000" b="0" kern="1200" dirty="0">
                          <a:solidFill>
                            <a:schemeClr val="dk1"/>
                          </a:solidFill>
                          <a:effectLst/>
                          <a:latin typeface="+mn-lt"/>
                          <a:ea typeface="+mn-ea"/>
                          <a:cs typeface="+mn-cs"/>
                        </a:rPr>
                        <a:t>HTML: What is HTML, DOM- Introduction to Document Object Model, Basic structure of an HTML document, Mark up Tags, Heading-Paragraphs , Line Breaks, Understand the structure of HTML tables. Lists, Working with Hyperlinks, Image Handling, Understanding Frames and their needs, HTML forms for User inputs. New form Elements- date, number, range, email, search and data list, Understanding audio, video and article tags. XML: Introduction, Tree, Syntax, Elements, Attributes, Namespaces, Display, HTTP request, Parser, DOM, </a:t>
                      </a:r>
                      <a:r>
                        <a:rPr lang="en-IN" sz="2000" b="0" kern="1200" dirty="0" err="1">
                          <a:solidFill>
                            <a:schemeClr val="dk1"/>
                          </a:solidFill>
                          <a:effectLst/>
                          <a:latin typeface="+mn-lt"/>
                          <a:ea typeface="+mn-ea"/>
                          <a:cs typeface="+mn-cs"/>
                        </a:rPr>
                        <a:t>XPath</a:t>
                      </a:r>
                      <a:r>
                        <a:rPr lang="en-IN" sz="2000" b="0" kern="1200" dirty="0">
                          <a:solidFill>
                            <a:schemeClr val="dk1"/>
                          </a:solidFill>
                          <a:effectLst/>
                          <a:latin typeface="+mn-lt"/>
                          <a:ea typeface="+mn-ea"/>
                          <a:cs typeface="+mn-cs"/>
                        </a:rPr>
                        <a:t>, XSLT, </a:t>
                      </a:r>
                      <a:r>
                        <a:rPr lang="en-IN" sz="2000" b="0" kern="1200" dirty="0" err="1">
                          <a:solidFill>
                            <a:schemeClr val="dk1"/>
                          </a:solidFill>
                          <a:effectLst/>
                          <a:latin typeface="+mn-lt"/>
                          <a:ea typeface="+mn-ea"/>
                          <a:cs typeface="+mn-cs"/>
                        </a:rPr>
                        <a:t>XQuerry</a:t>
                      </a:r>
                      <a:r>
                        <a:rPr lang="en-IN" sz="2000" b="0" kern="1200" dirty="0">
                          <a:solidFill>
                            <a:schemeClr val="dk1"/>
                          </a:solidFill>
                          <a:effectLst/>
                          <a:latin typeface="+mn-lt"/>
                          <a:ea typeface="+mn-ea"/>
                          <a:cs typeface="+mn-cs"/>
                        </a:rPr>
                        <a:t>, </a:t>
                      </a:r>
                      <a:r>
                        <a:rPr lang="en-IN" sz="2000" b="0" kern="1200" dirty="0" err="1">
                          <a:solidFill>
                            <a:schemeClr val="dk1"/>
                          </a:solidFill>
                          <a:effectLst/>
                          <a:latin typeface="+mn-lt"/>
                          <a:ea typeface="+mn-ea"/>
                          <a:cs typeface="+mn-cs"/>
                        </a:rPr>
                        <a:t>XLink</a:t>
                      </a:r>
                      <a:r>
                        <a:rPr lang="en-IN" sz="2000" b="0" kern="1200" dirty="0">
                          <a:solidFill>
                            <a:schemeClr val="dk1"/>
                          </a:solidFill>
                          <a:effectLst/>
                          <a:latin typeface="+mn-lt"/>
                          <a:ea typeface="+mn-ea"/>
                          <a:cs typeface="+mn-cs"/>
                        </a:rPr>
                        <a:t>, Validator, DTD, Schema, Server</a:t>
                      </a:r>
                      <a:endParaRPr lang="en-US" sz="2000" b="0"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extLst>
                  <a:ext uri="{0D108BD9-81ED-4DB2-BD59-A6C34878D82A}">
                    <a16:rowId xmlns:a16="http://schemas.microsoft.com/office/drawing/2014/main" val="3120622754"/>
                  </a:ext>
                </a:extLst>
              </a:tr>
            </a:tbl>
          </a:graphicData>
        </a:graphic>
      </p:graphicFrame>
    </p:spTree>
    <p:extLst>
      <p:ext uri="{BB962C8B-B14F-4D97-AF65-F5344CB8AC3E}">
        <p14:creationId xmlns:p14="http://schemas.microsoft.com/office/powerpoint/2010/main" val="36887444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E73A3019-CFE4-49DD-B6FD-2AFB2DD2DBB6}" type="datetime1">
              <a:rPr lang="en-US" smtClean="0"/>
              <a:t>11/7/2024</a:t>
            </a:fld>
            <a:endParaRPr lang="en-US"/>
          </a:p>
        </p:txBody>
      </p:sp>
      <p:sp>
        <p:nvSpPr>
          <p:cNvPr id="5" name="Footer Placeholder 4"/>
          <p:cNvSpPr>
            <a:spLocks noGrp="1"/>
          </p:cNvSpPr>
          <p:nvPr>
            <p:ph type="ftr" sz="quarter" idx="11"/>
          </p:nvPr>
        </p:nvSpPr>
        <p:spPr>
          <a:xfrm>
            <a:off x="4343400" y="6248401"/>
            <a:ext cx="4724400" cy="365125"/>
          </a:xfrm>
        </p:spPr>
        <p:txBody>
          <a:bodyPr/>
          <a:lstStyle/>
          <a:p>
            <a:r>
              <a:rPr lang="en-US" dirty="0"/>
              <a:t>Vaishali Mishra            ACSE0505 Web Technology                Unit 5</a:t>
            </a:r>
          </a:p>
        </p:txBody>
      </p:sp>
      <p:sp>
        <p:nvSpPr>
          <p:cNvPr id="6" name="Slide Number Placeholder 5"/>
          <p:cNvSpPr>
            <a:spLocks noGrp="1"/>
          </p:cNvSpPr>
          <p:nvPr>
            <p:ph type="sldNum" sz="quarter" idx="12"/>
          </p:nvPr>
        </p:nvSpPr>
        <p:spPr/>
        <p:txBody>
          <a:bodyPr/>
          <a:lstStyle/>
          <a:p>
            <a:fld id="{B6F15528-21DE-4FAA-801E-634DDDAF4B2B}" type="slidenum">
              <a:rPr lang="en-US" smtClean="0"/>
              <a:pPr/>
              <a:t>8</a:t>
            </a:fld>
            <a:endParaRPr lang="en-US"/>
          </a:p>
        </p:txBody>
      </p:sp>
      <p:sp>
        <p:nvSpPr>
          <p:cNvPr id="7" name="Title 1"/>
          <p:cNvSpPr txBox="1">
            <a:spLocks/>
          </p:cNvSpPr>
          <p:nvPr/>
        </p:nvSpPr>
        <p:spPr>
          <a:xfrm>
            <a:off x="2895600" y="2"/>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endParaRPr kumimoji="0" lang="en-US" sz="2800" b="0" i="0" u="none" strike="noStrike" kern="1200" cap="none" spc="0" normalizeH="0" baseline="0" noProof="0" dirty="0">
              <a:ln>
                <a:noFill/>
              </a:ln>
              <a:solidFill>
                <a:schemeClr val="dk1"/>
              </a:solidFill>
              <a:effectLst/>
              <a:uLnTx/>
              <a:uFillTx/>
              <a:latin typeface="+mn-lt"/>
              <a:ea typeface="+mn-ea"/>
              <a:cs typeface="+mn-cs"/>
            </a:endParaRPr>
          </a:p>
          <a:p>
            <a:r>
              <a:rPr kumimoji="0" lang="en-US" sz="2800" b="0" i="0" u="none" strike="noStrike" kern="1200" cap="none" spc="0" normalizeH="0" baseline="0" noProof="0" dirty="0">
                <a:ln>
                  <a:noFill/>
                </a:ln>
                <a:solidFill>
                  <a:schemeClr val="dk1"/>
                </a:solidFill>
                <a:effectLst/>
                <a:uLnTx/>
                <a:uFillTx/>
                <a:latin typeface="+mn-lt"/>
                <a:ea typeface="+mn-ea"/>
                <a:cs typeface="+mn-cs"/>
              </a:rPr>
              <a:t>Syllabus</a:t>
            </a:r>
          </a:p>
          <a:p>
            <a:endParaRPr lang="en-US" dirty="0"/>
          </a:p>
        </p:txBody>
      </p:sp>
      <p:pic>
        <p:nvPicPr>
          <p:cNvPr id="2" name="Picture 1" descr="A black and red logo&#10;&#10;Description automatically generated">
            <a:extLst>
              <a:ext uri="{FF2B5EF4-FFF2-40B4-BE49-F238E27FC236}">
                <a16:creationId xmlns:a16="http://schemas.microsoft.com/office/drawing/2014/main" id="{8BDB0671-FC93-5C9E-75A2-ED46EE3FB8B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graphicFrame>
        <p:nvGraphicFramePr>
          <p:cNvPr id="8" name="Content Placeholder 8">
            <a:extLst>
              <a:ext uri="{FF2B5EF4-FFF2-40B4-BE49-F238E27FC236}">
                <a16:creationId xmlns:a16="http://schemas.microsoft.com/office/drawing/2014/main" id="{FC2DDD03-AAB9-8ECE-B7F3-CDA5A17819A4}"/>
              </a:ext>
            </a:extLst>
          </p:cNvPr>
          <p:cNvGraphicFramePr>
            <a:graphicFrameLocks noGrp="1"/>
          </p:cNvGraphicFramePr>
          <p:nvPr>
            <p:ph idx="1"/>
            <p:extLst>
              <p:ext uri="{D42A27DB-BD31-4B8C-83A1-F6EECF244321}">
                <p14:modId xmlns:p14="http://schemas.microsoft.com/office/powerpoint/2010/main" val="3187702623"/>
              </p:ext>
            </p:extLst>
          </p:nvPr>
        </p:nvGraphicFramePr>
        <p:xfrm>
          <a:off x="304800" y="1055218"/>
          <a:ext cx="10591800" cy="5269382"/>
        </p:xfrm>
        <a:graphic>
          <a:graphicData uri="http://schemas.openxmlformats.org/drawingml/2006/table">
            <a:tbl>
              <a:tblPr firstRow="1" firstCol="1" bandRow="1">
                <a:tableStyleId>{5C22544A-7EE6-4342-B048-85BDC9FD1C3A}</a:tableStyleId>
              </a:tblPr>
              <a:tblGrid>
                <a:gridCol w="650374">
                  <a:extLst>
                    <a:ext uri="{9D8B030D-6E8A-4147-A177-3AD203B41FA5}">
                      <a16:colId xmlns:a16="http://schemas.microsoft.com/office/drawing/2014/main" val="3653803457"/>
                    </a:ext>
                  </a:extLst>
                </a:gridCol>
                <a:gridCol w="9941426">
                  <a:extLst>
                    <a:ext uri="{9D8B030D-6E8A-4147-A177-3AD203B41FA5}">
                      <a16:colId xmlns:a16="http://schemas.microsoft.com/office/drawing/2014/main" val="1504710162"/>
                    </a:ext>
                  </a:extLst>
                </a:gridCol>
              </a:tblGrid>
              <a:tr h="2479709">
                <a:tc>
                  <a:txBody>
                    <a:bodyPr/>
                    <a:lstStyle/>
                    <a:p>
                      <a:pPr marL="0" marR="0" algn="just">
                        <a:lnSpc>
                          <a:spcPct val="115000"/>
                        </a:lnSpc>
                        <a:spcBef>
                          <a:spcPts val="0"/>
                        </a:spcBef>
                        <a:spcAft>
                          <a:spcPts val="0"/>
                        </a:spcAft>
                      </a:pPr>
                      <a:r>
                        <a:rPr lang="en-US" sz="2000" b="0" dirty="0">
                          <a:effectLst/>
                        </a:rPr>
                        <a:t>III</a:t>
                      </a:r>
                      <a:endParaRPr lang="en-US" sz="2000" b="0"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algn="just"/>
                      <a:r>
                        <a:rPr lang="en-US" sz="2000" b="0" kern="1200" dirty="0">
                          <a:solidFill>
                            <a:schemeClr val="dk1"/>
                          </a:solidFill>
                          <a:effectLst/>
                          <a:latin typeface="+mn-lt"/>
                          <a:ea typeface="+mn-ea"/>
                          <a:cs typeface="+mn-cs"/>
                        </a:rPr>
                        <a:t>Concept of CSS 3: Creating Style Sheet, CSS Properties , CSS Styling(Background, Text Format, Controlling Fonts) , Working with block elements and objects , Working with Lists and Tables , CSS Id and Class, Box Model(Introduction, Border properties, Padding Properties, Margin properties) CSS Advanced(Grouping, Dimension, Display, Positioning, Floating, Align, Pseudo class, Navigation Bar, Image Sprites, Attribute sector) , CSS Color, Creating page Layout and Site. </a:t>
                      </a:r>
                      <a:r>
                        <a:rPr lang="en-IN" sz="2000" b="0" kern="1200" dirty="0">
                          <a:solidFill>
                            <a:schemeClr val="dk1"/>
                          </a:solidFill>
                          <a:effectLst/>
                          <a:latin typeface="+mn-lt"/>
                          <a:ea typeface="+mn-ea"/>
                          <a:cs typeface="+mn-cs"/>
                        </a:rPr>
                        <a:t>Bootstrap: Introduction, Bootstrap grid system, Bootstrap Components.</a:t>
                      </a:r>
                      <a:endParaRPr lang="en-US" sz="2000" b="0"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extLst>
                  <a:ext uri="{0D108BD9-81ED-4DB2-BD59-A6C34878D82A}">
                    <a16:rowId xmlns:a16="http://schemas.microsoft.com/office/drawing/2014/main" val="2870703379"/>
                  </a:ext>
                </a:extLst>
              </a:tr>
              <a:tr h="2789673">
                <a:tc>
                  <a:txBody>
                    <a:bodyPr/>
                    <a:lstStyle/>
                    <a:p>
                      <a:pPr marL="0" marR="0" algn="just">
                        <a:lnSpc>
                          <a:spcPct val="115000"/>
                        </a:lnSpc>
                        <a:spcBef>
                          <a:spcPts val="0"/>
                        </a:spcBef>
                        <a:spcAft>
                          <a:spcPts val="0"/>
                        </a:spcAft>
                      </a:pPr>
                      <a:r>
                        <a:rPr lang="en-US" sz="2000" b="0">
                          <a:effectLst/>
                        </a:rPr>
                        <a:t>IV </a:t>
                      </a:r>
                    </a:p>
                    <a:p>
                      <a:pPr marL="0" marR="0" algn="just">
                        <a:lnSpc>
                          <a:spcPct val="115000"/>
                        </a:lnSpc>
                        <a:spcBef>
                          <a:spcPts val="0"/>
                        </a:spcBef>
                        <a:spcAft>
                          <a:spcPts val="0"/>
                        </a:spcAft>
                      </a:pPr>
                      <a:r>
                        <a:rPr lang="en-US" sz="2000" b="0">
                          <a:effectLst/>
                        </a:rPr>
                        <a:t> </a:t>
                      </a:r>
                      <a:endParaRPr lang="en-US" sz="2000" b="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algn="just"/>
                      <a:r>
                        <a:rPr lang="en-US" sz="2000" b="0" kern="1200" dirty="0">
                          <a:solidFill>
                            <a:schemeClr val="dk1"/>
                          </a:solidFill>
                          <a:effectLst/>
                          <a:latin typeface="+mn-lt"/>
                          <a:ea typeface="+mn-ea"/>
                          <a:cs typeface="+mn-cs"/>
                        </a:rPr>
                        <a:t>JavaScript Essentials: Introduction to Java Script , </a:t>
                      </a:r>
                      <a:r>
                        <a:rPr lang="en-US" sz="2000" b="0" kern="1200" dirty="0" err="1">
                          <a:solidFill>
                            <a:schemeClr val="dk1"/>
                          </a:solidFill>
                          <a:effectLst/>
                          <a:latin typeface="+mn-lt"/>
                          <a:ea typeface="+mn-ea"/>
                          <a:cs typeface="+mn-cs"/>
                        </a:rPr>
                        <a:t>Javascript</a:t>
                      </a:r>
                      <a:r>
                        <a:rPr lang="en-US" sz="2000" b="0" kern="1200" dirty="0">
                          <a:solidFill>
                            <a:schemeClr val="dk1"/>
                          </a:solidFill>
                          <a:effectLst/>
                          <a:latin typeface="+mn-lt"/>
                          <a:ea typeface="+mn-ea"/>
                          <a:cs typeface="+mn-cs"/>
                        </a:rPr>
                        <a:t> Types , </a:t>
                      </a:r>
                      <a:r>
                        <a:rPr lang="en-US" sz="2000" b="0" kern="1200" dirty="0" err="1">
                          <a:solidFill>
                            <a:schemeClr val="dk1"/>
                          </a:solidFill>
                          <a:effectLst/>
                          <a:latin typeface="+mn-lt"/>
                          <a:ea typeface="+mn-ea"/>
                          <a:cs typeface="+mn-cs"/>
                        </a:rPr>
                        <a:t>Var</a:t>
                      </a:r>
                      <a:r>
                        <a:rPr lang="en-US" sz="2000" b="0" kern="1200" dirty="0">
                          <a:solidFill>
                            <a:schemeClr val="dk1"/>
                          </a:solidFill>
                          <a:effectLst/>
                          <a:latin typeface="+mn-lt"/>
                          <a:ea typeface="+mn-ea"/>
                          <a:cs typeface="+mn-cs"/>
                        </a:rPr>
                        <a:t>, Let and </a:t>
                      </a:r>
                      <a:r>
                        <a:rPr lang="en-US" sz="2000" b="0" kern="1200" dirty="0" err="1">
                          <a:solidFill>
                            <a:schemeClr val="dk1"/>
                          </a:solidFill>
                          <a:effectLst/>
                          <a:latin typeface="+mn-lt"/>
                          <a:ea typeface="+mn-ea"/>
                          <a:cs typeface="+mn-cs"/>
                        </a:rPr>
                        <a:t>Const</a:t>
                      </a:r>
                      <a:r>
                        <a:rPr lang="en-US" sz="2000" b="0" kern="1200" dirty="0">
                          <a:solidFill>
                            <a:schemeClr val="dk1"/>
                          </a:solidFill>
                          <a:effectLst/>
                          <a:latin typeface="+mn-lt"/>
                          <a:ea typeface="+mn-ea"/>
                          <a:cs typeface="+mn-cs"/>
                        </a:rPr>
                        <a:t> Keywords, Operators in JS , Conditions Statements , Java Script Loops, JS Popup Boxes , JS Events , JS Arrays, Working with Arrays, JS Objects ,JS Functions , Using Java Script in Real time , Validation of Forms, Arrow functions and default arguments, Template Strings, Strings methods, Callback functions, Object de-structuring, Spread and Rest Operator, Typescript fundamentals, Typescript OOPs- Classes, Interfaces, Constructor etc. Decorator and Spread Operator, </a:t>
                      </a:r>
                      <a:r>
                        <a:rPr lang="en-IN" sz="2000" b="0" kern="1200" dirty="0">
                          <a:solidFill>
                            <a:schemeClr val="dk1"/>
                          </a:solidFill>
                          <a:effectLst/>
                          <a:latin typeface="+mn-lt"/>
                          <a:ea typeface="+mn-ea"/>
                          <a:cs typeface="+mn-cs"/>
                        </a:rPr>
                        <a:t>Difference == &amp; ===, Asynchronous Programming in ES6, Promise Constructor, Promise with Chain, Promise Race.</a:t>
                      </a:r>
                      <a:endParaRPr lang="en-US" sz="2000" b="0"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extLst>
                  <a:ext uri="{0D108BD9-81ED-4DB2-BD59-A6C34878D82A}">
                    <a16:rowId xmlns:a16="http://schemas.microsoft.com/office/drawing/2014/main" val="2573241202"/>
                  </a:ext>
                </a:extLst>
              </a:tr>
            </a:tbl>
          </a:graphicData>
        </a:graphic>
      </p:graphicFrame>
    </p:spTree>
    <p:extLst>
      <p:ext uri="{BB962C8B-B14F-4D97-AF65-F5344CB8AC3E}">
        <p14:creationId xmlns:p14="http://schemas.microsoft.com/office/powerpoint/2010/main" val="19409470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E73A3019-CFE4-49DD-B6FD-2AFB2DD2DBB6}" type="datetime1">
              <a:rPr lang="en-US" smtClean="0"/>
              <a:t>11/7/2024</a:t>
            </a:fld>
            <a:endParaRPr lang="en-US"/>
          </a:p>
        </p:txBody>
      </p:sp>
      <p:sp>
        <p:nvSpPr>
          <p:cNvPr id="5" name="Footer Placeholder 4"/>
          <p:cNvSpPr>
            <a:spLocks noGrp="1"/>
          </p:cNvSpPr>
          <p:nvPr>
            <p:ph type="ftr" sz="quarter" idx="11"/>
          </p:nvPr>
        </p:nvSpPr>
        <p:spPr>
          <a:xfrm>
            <a:off x="4343400" y="6248401"/>
            <a:ext cx="4724400" cy="365125"/>
          </a:xfrm>
        </p:spPr>
        <p:txBody>
          <a:bodyPr/>
          <a:lstStyle/>
          <a:p>
            <a:r>
              <a:rPr lang="en-US" dirty="0"/>
              <a:t>Vaishali Mishra            ACSE0505 Web Technology                Unit 5</a:t>
            </a:r>
          </a:p>
        </p:txBody>
      </p:sp>
      <p:sp>
        <p:nvSpPr>
          <p:cNvPr id="6" name="Slide Number Placeholder 5"/>
          <p:cNvSpPr>
            <a:spLocks noGrp="1"/>
          </p:cNvSpPr>
          <p:nvPr>
            <p:ph type="sldNum" sz="quarter" idx="12"/>
          </p:nvPr>
        </p:nvSpPr>
        <p:spPr/>
        <p:txBody>
          <a:bodyPr/>
          <a:lstStyle/>
          <a:p>
            <a:fld id="{B6F15528-21DE-4FAA-801E-634DDDAF4B2B}" type="slidenum">
              <a:rPr lang="en-US" smtClean="0"/>
              <a:pPr/>
              <a:t>9</a:t>
            </a:fld>
            <a:endParaRPr lang="en-US"/>
          </a:p>
        </p:txBody>
      </p:sp>
      <p:sp>
        <p:nvSpPr>
          <p:cNvPr id="7" name="Title 1"/>
          <p:cNvSpPr txBox="1">
            <a:spLocks/>
          </p:cNvSpPr>
          <p:nvPr/>
        </p:nvSpPr>
        <p:spPr>
          <a:xfrm>
            <a:off x="2895600" y="2"/>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endParaRPr kumimoji="0" lang="en-US" sz="2800" b="0" i="0" u="none" strike="noStrike" kern="1200" cap="none" spc="0" normalizeH="0" baseline="0" noProof="0" dirty="0">
              <a:ln>
                <a:noFill/>
              </a:ln>
              <a:solidFill>
                <a:schemeClr val="dk1"/>
              </a:solidFill>
              <a:effectLst/>
              <a:uLnTx/>
              <a:uFillTx/>
              <a:latin typeface="+mn-lt"/>
              <a:ea typeface="+mn-ea"/>
              <a:cs typeface="+mn-cs"/>
            </a:endParaRPr>
          </a:p>
          <a:p>
            <a:r>
              <a:rPr kumimoji="0" lang="en-US" sz="2800" b="0" i="0" u="none" strike="noStrike" kern="1200" cap="none" spc="0" normalizeH="0" baseline="0" noProof="0" dirty="0">
                <a:ln>
                  <a:noFill/>
                </a:ln>
                <a:solidFill>
                  <a:schemeClr val="dk1"/>
                </a:solidFill>
                <a:effectLst/>
                <a:uLnTx/>
                <a:uFillTx/>
                <a:latin typeface="+mn-lt"/>
                <a:ea typeface="+mn-ea"/>
                <a:cs typeface="+mn-cs"/>
              </a:rPr>
              <a:t>Syllabus</a:t>
            </a:r>
          </a:p>
          <a:p>
            <a:endParaRPr lang="en-US" dirty="0"/>
          </a:p>
        </p:txBody>
      </p:sp>
      <p:pic>
        <p:nvPicPr>
          <p:cNvPr id="2" name="Picture 1" descr="A black and red logo&#10;&#10;Description automatically generated">
            <a:extLst>
              <a:ext uri="{FF2B5EF4-FFF2-40B4-BE49-F238E27FC236}">
                <a16:creationId xmlns:a16="http://schemas.microsoft.com/office/drawing/2014/main" id="{8BDB0671-FC93-5C9E-75A2-ED46EE3FB8B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graphicFrame>
        <p:nvGraphicFramePr>
          <p:cNvPr id="8" name="Content Placeholder 8">
            <a:extLst>
              <a:ext uri="{FF2B5EF4-FFF2-40B4-BE49-F238E27FC236}">
                <a16:creationId xmlns:a16="http://schemas.microsoft.com/office/drawing/2014/main" id="{5ECDA70F-A625-EA57-4E05-339C7BF50190}"/>
              </a:ext>
            </a:extLst>
          </p:cNvPr>
          <p:cNvGraphicFramePr>
            <a:graphicFrameLocks noGrp="1"/>
          </p:cNvGraphicFramePr>
          <p:nvPr>
            <p:ph idx="1"/>
            <p:extLst>
              <p:ext uri="{D42A27DB-BD31-4B8C-83A1-F6EECF244321}">
                <p14:modId xmlns:p14="http://schemas.microsoft.com/office/powerpoint/2010/main" val="2419520259"/>
              </p:ext>
            </p:extLst>
          </p:nvPr>
        </p:nvGraphicFramePr>
        <p:xfrm>
          <a:off x="609600" y="1055218"/>
          <a:ext cx="10134600" cy="2830982"/>
        </p:xfrm>
        <a:graphic>
          <a:graphicData uri="http://schemas.openxmlformats.org/drawingml/2006/table">
            <a:tbl>
              <a:tblPr firstRow="1" firstCol="1" bandRow="1">
                <a:tableStyleId>{5C22544A-7EE6-4342-B048-85BDC9FD1C3A}</a:tableStyleId>
              </a:tblPr>
              <a:tblGrid>
                <a:gridCol w="622300">
                  <a:extLst>
                    <a:ext uri="{9D8B030D-6E8A-4147-A177-3AD203B41FA5}">
                      <a16:colId xmlns:a16="http://schemas.microsoft.com/office/drawing/2014/main" val="3653803457"/>
                    </a:ext>
                  </a:extLst>
                </a:gridCol>
                <a:gridCol w="9512300">
                  <a:extLst>
                    <a:ext uri="{9D8B030D-6E8A-4147-A177-3AD203B41FA5}">
                      <a16:colId xmlns:a16="http://schemas.microsoft.com/office/drawing/2014/main" val="1504710162"/>
                    </a:ext>
                  </a:extLst>
                </a:gridCol>
              </a:tblGrid>
              <a:tr h="2830982">
                <a:tc>
                  <a:txBody>
                    <a:bodyPr/>
                    <a:lstStyle/>
                    <a:p>
                      <a:pPr marL="0" marR="0" algn="just">
                        <a:lnSpc>
                          <a:spcPct val="115000"/>
                        </a:lnSpc>
                        <a:spcBef>
                          <a:spcPts val="0"/>
                        </a:spcBef>
                        <a:spcAft>
                          <a:spcPts val="0"/>
                        </a:spcAft>
                      </a:pPr>
                      <a:r>
                        <a:rPr lang="en-US" sz="2000" b="0" dirty="0">
                          <a:effectLst/>
                        </a:rPr>
                        <a:t>V </a:t>
                      </a:r>
                    </a:p>
                    <a:p>
                      <a:pPr marL="0" marR="0" algn="just">
                        <a:lnSpc>
                          <a:spcPct val="115000"/>
                        </a:lnSpc>
                        <a:spcBef>
                          <a:spcPts val="0"/>
                        </a:spcBef>
                        <a:spcAft>
                          <a:spcPts val="0"/>
                        </a:spcAft>
                      </a:pPr>
                      <a:r>
                        <a:rPr lang="en-US" sz="2000" b="0" dirty="0">
                          <a:effectLst/>
                        </a:rPr>
                        <a:t> </a:t>
                      </a:r>
                      <a:endParaRPr lang="en-US" sz="2000" b="0"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algn="just"/>
                      <a:r>
                        <a:rPr lang="en-US" sz="2000" b="0" kern="1200" dirty="0">
                          <a:solidFill>
                            <a:schemeClr val="dk1"/>
                          </a:solidFill>
                          <a:effectLst/>
                          <a:latin typeface="+mn-lt"/>
                          <a:ea typeface="+mn-ea"/>
                          <a:cs typeface="+mn-cs"/>
                        </a:rPr>
                        <a:t>Introduction to PHP, Basic Syntax, Variables &amp; Constants,  Data Type, Operator &amp; Expressions, Control flow and Decision making statements, Functions, Strings, Arrays</a:t>
                      </a:r>
                      <a:r>
                        <a:rPr lang="en-US" sz="2000" b="0" kern="1200" baseline="0" dirty="0">
                          <a:solidFill>
                            <a:schemeClr val="dk1"/>
                          </a:solidFill>
                          <a:effectLst/>
                          <a:latin typeface="+mn-lt"/>
                          <a:ea typeface="+mn-ea"/>
                          <a:cs typeface="+mn-cs"/>
                        </a:rPr>
                        <a:t> </a:t>
                      </a:r>
                      <a:r>
                        <a:rPr lang="en-US" sz="2000" b="0" kern="1200" dirty="0">
                          <a:solidFill>
                            <a:schemeClr val="dk1"/>
                          </a:solidFill>
                          <a:effectLst/>
                          <a:latin typeface="+mn-lt"/>
                          <a:ea typeface="+mn-ea"/>
                          <a:cs typeface="+mn-cs"/>
                        </a:rPr>
                        <a:t>Working with files and directories: Understanding file&amp; directory, Opening and closing, a file, Coping, renaming and deleting a file, working with directories, Creating and deleting folder, File Uploading &amp; Downloading. </a:t>
                      </a:r>
                      <a:r>
                        <a:rPr lang="en-IN" sz="2000" b="0" kern="1200" dirty="0">
                          <a:solidFill>
                            <a:schemeClr val="dk1"/>
                          </a:solidFill>
                          <a:effectLst/>
                          <a:latin typeface="+mn-lt"/>
                          <a:ea typeface="+mn-ea"/>
                          <a:cs typeface="+mn-cs"/>
                        </a:rPr>
                        <a:t>Session &amp; Cookies: Introduction to Session Control, Session Functionality What is a Cookie, Setting Cookies with PHP. Using Cookies with Sessions, Deleting Cookies, Registering Session variables, Destroying the variables and Session.</a:t>
                      </a:r>
                      <a:endParaRPr lang="en-US" sz="2000" b="0"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extLst>
                  <a:ext uri="{0D108BD9-81ED-4DB2-BD59-A6C34878D82A}">
                    <a16:rowId xmlns:a16="http://schemas.microsoft.com/office/drawing/2014/main" val="3912995172"/>
                  </a:ext>
                </a:extLst>
              </a:tr>
            </a:tbl>
          </a:graphicData>
        </a:graphic>
      </p:graphicFrame>
    </p:spTree>
    <p:extLst>
      <p:ext uri="{BB962C8B-B14F-4D97-AF65-F5344CB8AC3E}">
        <p14:creationId xmlns:p14="http://schemas.microsoft.com/office/powerpoint/2010/main" val="21691486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057400" y="1143001"/>
            <a:ext cx="8229600" cy="4525963"/>
          </a:xfrm>
        </p:spPr>
        <p:txBody>
          <a:bodyPr>
            <a:normAutofit/>
          </a:bodyPr>
          <a:lstStyle/>
          <a:p>
            <a:pPr algn="just">
              <a:buFont typeface="Arial" panose="020B0604020202020204" pitchFamily="34" charset="0"/>
              <a:buNone/>
            </a:pPr>
            <a:r>
              <a:rPr lang="en-US" altLang="en-US" sz="1800" b="1" dirty="0">
                <a:latin typeface="Times New Roman" panose="02020603050405020304" pitchFamily="18" charset="0"/>
                <a:cs typeface="Times New Roman" panose="02020603050405020304" pitchFamily="18" charset="0"/>
              </a:rPr>
              <a:t>Sample Applications</a:t>
            </a:r>
          </a:p>
          <a:p>
            <a:pPr algn="just">
              <a:buFont typeface="Arial" panose="020B0604020202020204" pitchFamily="34" charset="0"/>
              <a:buNone/>
            </a:pPr>
            <a:endParaRPr lang="en-US" altLang="en-US" sz="1800" b="1" dirty="0">
              <a:latin typeface="Times New Roman" panose="02020603050405020304" pitchFamily="18" charset="0"/>
              <a:cs typeface="Times New Roman" panose="02020603050405020304" pitchFamily="18" charset="0"/>
            </a:endParaRPr>
          </a:p>
          <a:p>
            <a:pPr algn="just"/>
            <a:r>
              <a:rPr lang="en-US" altLang="en-US" sz="1800" dirty="0">
                <a:latin typeface="Times New Roman" panose="02020603050405020304" pitchFamily="18" charset="0"/>
                <a:cs typeface="Times New Roman" panose="02020603050405020304" pitchFamily="18" charset="0"/>
              </a:rPr>
              <a:t>Desktop GUI Applications</a:t>
            </a:r>
          </a:p>
          <a:p>
            <a:pPr algn="just"/>
            <a:r>
              <a:rPr lang="en-US" altLang="en-US" sz="1800" dirty="0">
                <a:latin typeface="Times New Roman" panose="02020603050405020304" pitchFamily="18" charset="0"/>
                <a:cs typeface="Times New Roman" panose="02020603050405020304" pitchFamily="18" charset="0"/>
              </a:rPr>
              <a:t>Mobile Applications</a:t>
            </a:r>
          </a:p>
          <a:p>
            <a:pPr algn="just"/>
            <a:r>
              <a:rPr lang="en-US" altLang="en-US" sz="1800" dirty="0">
                <a:latin typeface="Times New Roman" panose="02020603050405020304" pitchFamily="18" charset="0"/>
                <a:cs typeface="Times New Roman" panose="02020603050405020304" pitchFamily="18" charset="0"/>
              </a:rPr>
              <a:t>Enterprise Applications</a:t>
            </a:r>
          </a:p>
          <a:p>
            <a:pPr algn="just"/>
            <a:r>
              <a:rPr lang="en-US" altLang="en-US" sz="1800" dirty="0">
                <a:latin typeface="Times New Roman" panose="02020603050405020304" pitchFamily="18" charset="0"/>
                <a:cs typeface="Times New Roman" panose="02020603050405020304" pitchFamily="18" charset="0"/>
              </a:rPr>
              <a:t>Scientific Applications</a:t>
            </a:r>
          </a:p>
          <a:p>
            <a:pPr algn="just"/>
            <a:r>
              <a:rPr lang="en-US" altLang="en-US" sz="1800" dirty="0">
                <a:latin typeface="Times New Roman" panose="02020603050405020304" pitchFamily="18" charset="0"/>
                <a:cs typeface="Times New Roman" panose="02020603050405020304" pitchFamily="18" charset="0"/>
              </a:rPr>
              <a:t>Web Based Applications</a:t>
            </a:r>
          </a:p>
          <a:p>
            <a:pPr algn="just"/>
            <a:r>
              <a:rPr lang="en-US" altLang="en-US" sz="1800" dirty="0">
                <a:latin typeface="Times New Roman" panose="02020603050405020304" pitchFamily="18" charset="0"/>
                <a:cs typeface="Times New Roman" panose="02020603050405020304" pitchFamily="18" charset="0"/>
              </a:rPr>
              <a:t>Cloud Based Applications</a:t>
            </a:r>
          </a:p>
          <a:p>
            <a:pPr algn="just"/>
            <a:r>
              <a:rPr lang="en-US" altLang="en-US" sz="1800" dirty="0">
                <a:latin typeface="Times New Roman" panose="02020603050405020304" pitchFamily="18" charset="0"/>
                <a:cs typeface="Times New Roman" panose="02020603050405020304" pitchFamily="18" charset="0"/>
              </a:rPr>
              <a:t>Web Servers and Application Servers</a:t>
            </a:r>
          </a:p>
          <a:p>
            <a:pPr algn="just"/>
            <a:r>
              <a:rPr lang="en-US" altLang="en-US" sz="1800" dirty="0">
                <a:latin typeface="Times New Roman" panose="02020603050405020304" pitchFamily="18" charset="0"/>
                <a:cs typeface="Times New Roman" panose="02020603050405020304" pitchFamily="18" charset="0"/>
              </a:rPr>
              <a:t>Software Tools</a:t>
            </a:r>
          </a:p>
          <a:p>
            <a:pPr marL="0" indent="0">
              <a:buNone/>
            </a:pPr>
            <a:endParaRPr lang="en-US" sz="1800" dirty="0"/>
          </a:p>
        </p:txBody>
      </p:sp>
      <p:sp>
        <p:nvSpPr>
          <p:cNvPr id="4" name="Date Placeholder 3"/>
          <p:cNvSpPr>
            <a:spLocks noGrp="1"/>
          </p:cNvSpPr>
          <p:nvPr>
            <p:ph type="dt" sz="half" idx="10"/>
          </p:nvPr>
        </p:nvSpPr>
        <p:spPr/>
        <p:txBody>
          <a:bodyPr/>
          <a:lstStyle/>
          <a:p>
            <a:fld id="{E73A3019-CFE4-49DD-B6FD-2AFB2DD2DBB6}" type="datetime1">
              <a:rPr lang="en-US" smtClean="0"/>
              <a:t>11/7/2024</a:t>
            </a:fld>
            <a:endParaRPr lang="en-US"/>
          </a:p>
        </p:txBody>
      </p:sp>
      <p:sp>
        <p:nvSpPr>
          <p:cNvPr id="5" name="Footer Placeholder 4"/>
          <p:cNvSpPr>
            <a:spLocks noGrp="1"/>
          </p:cNvSpPr>
          <p:nvPr>
            <p:ph type="ftr" sz="quarter" idx="11"/>
          </p:nvPr>
        </p:nvSpPr>
        <p:spPr>
          <a:xfrm>
            <a:off x="4343400" y="6248401"/>
            <a:ext cx="4724400" cy="365125"/>
          </a:xfrm>
        </p:spPr>
        <p:txBody>
          <a:bodyPr/>
          <a:lstStyle/>
          <a:p>
            <a:r>
              <a:rPr lang="en-US" dirty="0"/>
              <a:t>Vaishali Mishra            ACSE0505 Web Technology                Unit 5</a:t>
            </a:r>
          </a:p>
        </p:txBody>
      </p:sp>
      <p:sp>
        <p:nvSpPr>
          <p:cNvPr id="6" name="Slide Number Placeholder 5"/>
          <p:cNvSpPr>
            <a:spLocks noGrp="1"/>
          </p:cNvSpPr>
          <p:nvPr>
            <p:ph type="sldNum" sz="quarter" idx="12"/>
          </p:nvPr>
        </p:nvSpPr>
        <p:spPr/>
        <p:txBody>
          <a:bodyPr/>
          <a:lstStyle/>
          <a:p>
            <a:fld id="{B6F15528-21DE-4FAA-801E-634DDDAF4B2B}" type="slidenum">
              <a:rPr lang="en-US" smtClean="0"/>
              <a:pPr/>
              <a:t>10</a:t>
            </a:fld>
            <a:endParaRPr lang="en-US"/>
          </a:p>
        </p:txBody>
      </p:sp>
      <p:sp>
        <p:nvSpPr>
          <p:cNvPr id="7" name="Title 1"/>
          <p:cNvSpPr txBox="1">
            <a:spLocks/>
          </p:cNvSpPr>
          <p:nvPr/>
        </p:nvSpPr>
        <p:spPr>
          <a:xfrm>
            <a:off x="2895600" y="2"/>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endParaRPr lang="en-US" sz="2800" dirty="0">
              <a:sym typeface="Arial" charset="0"/>
            </a:endParaRPr>
          </a:p>
          <a:p>
            <a:r>
              <a:rPr lang="en-US" sz="2800" dirty="0">
                <a:sym typeface="Arial" charset="0"/>
              </a:rPr>
              <a:t>Branch wise Applications</a:t>
            </a:r>
          </a:p>
          <a:p>
            <a:endParaRPr lang="en-US" dirty="0"/>
          </a:p>
        </p:txBody>
      </p:sp>
      <p:pic>
        <p:nvPicPr>
          <p:cNvPr id="2" name="Picture 1" descr="A black and red logo&#10;&#10;Description automatically generated">
            <a:extLst>
              <a:ext uri="{FF2B5EF4-FFF2-40B4-BE49-F238E27FC236}">
                <a16:creationId xmlns:a16="http://schemas.microsoft.com/office/drawing/2014/main" id="{8BDB0671-FC93-5C9E-75A2-ED46EE3FB8B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Tree>
    <p:extLst>
      <p:ext uri="{BB962C8B-B14F-4D97-AF65-F5344CB8AC3E}">
        <p14:creationId xmlns:p14="http://schemas.microsoft.com/office/powerpoint/2010/main" val="7221241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057400" y="1143001"/>
            <a:ext cx="8229600" cy="4525963"/>
          </a:xfrm>
        </p:spPr>
        <p:txBody>
          <a:bodyPr>
            <a:normAutofit/>
          </a:bodyPr>
          <a:lstStyle/>
          <a:p>
            <a:pPr marL="0" indent="1588" algn="just" eaLnBrk="1" hangingPunct="1">
              <a:lnSpc>
                <a:spcPct val="115000"/>
              </a:lnSpc>
              <a:spcBef>
                <a:spcPts val="1000"/>
              </a:spcBef>
            </a:pPr>
            <a:r>
              <a:rPr lang="en-IN" altLang="en-US" sz="1800" dirty="0">
                <a:latin typeface="Times New Roman" panose="02020603050405020304" pitchFamily="18" charset="0"/>
                <a:cs typeface="Times New Roman" panose="02020603050405020304" pitchFamily="18" charset="0"/>
              </a:rPr>
              <a:t>This course covers different aspect of web technology such as HTML, CSS, and issues of web technology, client and server side issue. </a:t>
            </a:r>
          </a:p>
          <a:p>
            <a:pPr marL="0" indent="1588" algn="just" eaLnBrk="1" hangingPunct="1">
              <a:lnSpc>
                <a:spcPct val="115000"/>
              </a:lnSpc>
              <a:spcBef>
                <a:spcPts val="1000"/>
              </a:spcBef>
            </a:pPr>
            <a:r>
              <a:rPr lang="en-IN" altLang="en-US" sz="1800" dirty="0">
                <a:latin typeface="Times New Roman" panose="02020603050405020304" pitchFamily="18" charset="0"/>
                <a:cs typeface="Times New Roman" panose="02020603050405020304" pitchFamily="18" charset="0"/>
              </a:rPr>
              <a:t>The general objectives of this course are to</a:t>
            </a:r>
            <a:r>
              <a:rPr lang="en-IN" altLang="en-US" sz="1800" b="1" dirty="0">
                <a:latin typeface="Times New Roman" panose="02020603050405020304" pitchFamily="18" charset="0"/>
                <a:cs typeface="Times New Roman" panose="02020603050405020304" pitchFamily="18" charset="0"/>
              </a:rPr>
              <a:t> provide fundamental concepts of Internet; Web Technology and Web Programming</a:t>
            </a:r>
            <a:r>
              <a:rPr lang="en-IN" altLang="en-US" sz="1800" dirty="0">
                <a:latin typeface="Times New Roman" panose="02020603050405020304" pitchFamily="18" charset="0"/>
                <a:cs typeface="Times New Roman" panose="02020603050405020304" pitchFamily="18" charset="0"/>
              </a:rPr>
              <a:t>.</a:t>
            </a:r>
          </a:p>
          <a:p>
            <a:pPr marL="0" indent="1588" algn="just" eaLnBrk="1" hangingPunct="1">
              <a:lnSpc>
                <a:spcPct val="115000"/>
              </a:lnSpc>
              <a:spcBef>
                <a:spcPts val="1000"/>
              </a:spcBef>
            </a:pPr>
            <a:r>
              <a:rPr lang="en-IN" altLang="en-US" sz="1800" dirty="0">
                <a:latin typeface="Times New Roman" panose="02020603050405020304" pitchFamily="18" charset="0"/>
                <a:cs typeface="Times New Roman" panose="02020603050405020304" pitchFamily="18" charset="0"/>
              </a:rPr>
              <a:t>Students will be able to build a proper responsive website.</a:t>
            </a:r>
            <a:endParaRPr lang="en-US" altLang="en-US" sz="1800" dirty="0">
              <a:solidFill>
                <a:srgbClr val="000000"/>
              </a:solidFill>
              <a:latin typeface="Times New Roman" panose="02020603050405020304" pitchFamily="18" charset="0"/>
              <a:ea typeface="Tahoma" panose="020B0604030504040204" pitchFamily="34" charset="0"/>
              <a:cs typeface="Times New Roman" panose="02020603050405020304" pitchFamily="18" charset="0"/>
              <a:sym typeface="Calibri" panose="020F0502020204030204" pitchFamily="34" charset="0"/>
            </a:endParaRPr>
          </a:p>
          <a:p>
            <a:pPr marL="0" indent="0">
              <a:buNone/>
            </a:pPr>
            <a:endParaRPr lang="en-US" sz="1800" dirty="0"/>
          </a:p>
        </p:txBody>
      </p:sp>
      <p:sp>
        <p:nvSpPr>
          <p:cNvPr id="4" name="Date Placeholder 3"/>
          <p:cNvSpPr>
            <a:spLocks noGrp="1"/>
          </p:cNvSpPr>
          <p:nvPr>
            <p:ph type="dt" sz="half" idx="10"/>
          </p:nvPr>
        </p:nvSpPr>
        <p:spPr/>
        <p:txBody>
          <a:bodyPr/>
          <a:lstStyle/>
          <a:p>
            <a:fld id="{E73A3019-CFE4-49DD-B6FD-2AFB2DD2DBB6}" type="datetime1">
              <a:rPr lang="en-US" smtClean="0"/>
              <a:t>11/7/2024</a:t>
            </a:fld>
            <a:endParaRPr lang="en-US"/>
          </a:p>
        </p:txBody>
      </p:sp>
      <p:sp>
        <p:nvSpPr>
          <p:cNvPr id="5" name="Footer Placeholder 4"/>
          <p:cNvSpPr>
            <a:spLocks noGrp="1"/>
          </p:cNvSpPr>
          <p:nvPr>
            <p:ph type="ftr" sz="quarter" idx="11"/>
          </p:nvPr>
        </p:nvSpPr>
        <p:spPr>
          <a:xfrm>
            <a:off x="4343400" y="6248401"/>
            <a:ext cx="4724400" cy="365125"/>
          </a:xfrm>
        </p:spPr>
        <p:txBody>
          <a:bodyPr/>
          <a:lstStyle/>
          <a:p>
            <a:r>
              <a:rPr lang="en-US" dirty="0"/>
              <a:t>Vaishali Mishra            ACSE0505 Web Technology                Unit 5</a:t>
            </a:r>
          </a:p>
        </p:txBody>
      </p:sp>
      <p:sp>
        <p:nvSpPr>
          <p:cNvPr id="6" name="Slide Number Placeholder 5"/>
          <p:cNvSpPr>
            <a:spLocks noGrp="1"/>
          </p:cNvSpPr>
          <p:nvPr>
            <p:ph type="sldNum" sz="quarter" idx="12"/>
          </p:nvPr>
        </p:nvSpPr>
        <p:spPr/>
        <p:txBody>
          <a:bodyPr/>
          <a:lstStyle/>
          <a:p>
            <a:fld id="{B6F15528-21DE-4FAA-801E-634DDDAF4B2B}" type="slidenum">
              <a:rPr lang="en-US" smtClean="0"/>
              <a:pPr/>
              <a:t>11</a:t>
            </a:fld>
            <a:endParaRPr lang="en-US"/>
          </a:p>
        </p:txBody>
      </p:sp>
      <p:sp>
        <p:nvSpPr>
          <p:cNvPr id="7" name="Title 1"/>
          <p:cNvSpPr txBox="1">
            <a:spLocks/>
          </p:cNvSpPr>
          <p:nvPr/>
        </p:nvSpPr>
        <p:spPr>
          <a:xfrm>
            <a:off x="2895600" y="2"/>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800" b="0" i="0" u="none" strike="noStrike" kern="1200" cap="none" spc="0" normalizeH="0" baseline="0" noProof="0">
                <a:ln>
                  <a:noFill/>
                </a:ln>
                <a:solidFill>
                  <a:schemeClr val="dk1"/>
                </a:solidFill>
                <a:effectLst/>
                <a:uLnTx/>
                <a:uFillTx/>
                <a:ea typeface="+mn-ea"/>
                <a:cs typeface="+mn-cs"/>
              </a:rPr>
              <a:t>Course</a:t>
            </a:r>
            <a:r>
              <a:rPr kumimoji="0" lang="en-US" sz="2800" b="0" i="0" u="none" strike="noStrike" kern="1200" cap="none" spc="0" normalizeH="0" noProof="0">
                <a:ln>
                  <a:noFill/>
                </a:ln>
                <a:solidFill>
                  <a:schemeClr val="dk1"/>
                </a:solidFill>
                <a:effectLst/>
                <a:uLnTx/>
                <a:uFillTx/>
                <a:ea typeface="+mn-ea"/>
                <a:cs typeface="+mn-cs"/>
              </a:rPr>
              <a:t> Objective</a:t>
            </a:r>
            <a:endParaRPr kumimoji="0" lang="en-US" sz="2800" b="0" i="0" u="none" strike="noStrike" kern="1200" cap="none" spc="0" normalizeH="0" baseline="0" noProof="0" dirty="0">
              <a:ln>
                <a:noFill/>
              </a:ln>
              <a:solidFill>
                <a:schemeClr val="dk1"/>
              </a:solidFill>
              <a:effectLst/>
              <a:uLnTx/>
              <a:uFillTx/>
              <a:ea typeface="+mn-ea"/>
              <a:cs typeface="+mn-cs"/>
            </a:endParaRPr>
          </a:p>
        </p:txBody>
      </p:sp>
      <p:pic>
        <p:nvPicPr>
          <p:cNvPr id="2" name="Picture 1" descr="A black and red logo&#10;&#10;Description automatically generated">
            <a:extLst>
              <a:ext uri="{FF2B5EF4-FFF2-40B4-BE49-F238E27FC236}">
                <a16:creationId xmlns:a16="http://schemas.microsoft.com/office/drawing/2014/main" id="{8BDB0671-FC93-5C9E-75A2-ED46EE3FB8B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Tree>
    <p:extLst>
      <p:ext uri="{BB962C8B-B14F-4D97-AF65-F5344CB8AC3E}">
        <p14:creationId xmlns:p14="http://schemas.microsoft.com/office/powerpoint/2010/main" val="6759730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E73A3019-CFE4-49DD-B6FD-2AFB2DD2DBB6}" type="datetime1">
              <a:rPr lang="en-US" smtClean="0"/>
              <a:t>11/7/2024</a:t>
            </a:fld>
            <a:endParaRPr lang="en-US"/>
          </a:p>
        </p:txBody>
      </p:sp>
      <p:sp>
        <p:nvSpPr>
          <p:cNvPr id="5" name="Footer Placeholder 4"/>
          <p:cNvSpPr>
            <a:spLocks noGrp="1"/>
          </p:cNvSpPr>
          <p:nvPr>
            <p:ph type="ftr" sz="quarter" idx="11"/>
          </p:nvPr>
        </p:nvSpPr>
        <p:spPr>
          <a:xfrm>
            <a:off x="4343400" y="6248401"/>
            <a:ext cx="4724400" cy="365125"/>
          </a:xfrm>
        </p:spPr>
        <p:txBody>
          <a:bodyPr/>
          <a:lstStyle/>
          <a:p>
            <a:r>
              <a:rPr lang="en-US" dirty="0"/>
              <a:t>Vaishali Mishra            ACSE0505 Web Technology                Unit 5</a:t>
            </a:r>
          </a:p>
        </p:txBody>
      </p:sp>
      <p:sp>
        <p:nvSpPr>
          <p:cNvPr id="6" name="Slide Number Placeholder 5"/>
          <p:cNvSpPr>
            <a:spLocks noGrp="1"/>
          </p:cNvSpPr>
          <p:nvPr>
            <p:ph type="sldNum" sz="quarter" idx="12"/>
          </p:nvPr>
        </p:nvSpPr>
        <p:spPr/>
        <p:txBody>
          <a:bodyPr/>
          <a:lstStyle/>
          <a:p>
            <a:fld id="{B6F15528-21DE-4FAA-801E-634DDDAF4B2B}" type="slidenum">
              <a:rPr lang="en-US" smtClean="0"/>
              <a:pPr/>
              <a:t>12</a:t>
            </a:fld>
            <a:endParaRPr lang="en-US"/>
          </a:p>
        </p:txBody>
      </p:sp>
      <p:sp>
        <p:nvSpPr>
          <p:cNvPr id="7" name="Title 1"/>
          <p:cNvSpPr txBox="1">
            <a:spLocks/>
          </p:cNvSpPr>
          <p:nvPr/>
        </p:nvSpPr>
        <p:spPr>
          <a:xfrm>
            <a:off x="2895600" y="2"/>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endParaRPr kumimoji="0" lang="en-US" sz="2800" b="0" i="0" u="none" strike="noStrike" kern="1200" cap="none" spc="0" normalizeH="0" baseline="0" noProof="0" dirty="0">
              <a:ln>
                <a:noFill/>
              </a:ln>
              <a:solidFill>
                <a:schemeClr val="dk1"/>
              </a:solidFill>
              <a:effectLst/>
              <a:uLnTx/>
              <a:uFillTx/>
              <a:latin typeface="+mn-lt"/>
              <a:ea typeface="+mn-ea"/>
              <a:cs typeface="+mn-cs"/>
            </a:endParaRPr>
          </a:p>
          <a:p>
            <a:r>
              <a:rPr kumimoji="0" lang="en-US" sz="2800" b="0" i="0" u="none" strike="noStrike" kern="1200" cap="none" spc="0" normalizeH="0" baseline="0" noProof="0" dirty="0">
                <a:ln>
                  <a:noFill/>
                </a:ln>
                <a:solidFill>
                  <a:schemeClr val="dk1"/>
                </a:solidFill>
                <a:effectLst/>
                <a:uLnTx/>
                <a:uFillTx/>
                <a:latin typeface="+mn-lt"/>
                <a:ea typeface="+mn-ea"/>
                <a:cs typeface="+mn-cs"/>
              </a:rPr>
              <a:t>Course</a:t>
            </a:r>
            <a:r>
              <a:rPr kumimoji="0" lang="en-US" sz="2800" b="0" i="0" u="none" strike="noStrike" kern="1200" cap="none" spc="0" normalizeH="0" noProof="0" dirty="0">
                <a:ln>
                  <a:noFill/>
                </a:ln>
                <a:solidFill>
                  <a:schemeClr val="dk1"/>
                </a:solidFill>
                <a:effectLst/>
                <a:uLnTx/>
                <a:uFillTx/>
                <a:latin typeface="+mn-lt"/>
                <a:ea typeface="+mn-ea"/>
                <a:cs typeface="+mn-cs"/>
              </a:rPr>
              <a:t> Outcome</a:t>
            </a:r>
            <a:endParaRPr kumimoji="0" lang="en-US" sz="2800" b="0" i="0" u="none" strike="noStrike" kern="1200" cap="none" spc="0" normalizeH="0" baseline="0" noProof="0" dirty="0">
              <a:ln>
                <a:noFill/>
              </a:ln>
              <a:solidFill>
                <a:schemeClr val="dk1"/>
              </a:solidFill>
              <a:effectLst/>
              <a:uLnTx/>
              <a:uFillTx/>
              <a:latin typeface="+mn-lt"/>
              <a:ea typeface="+mn-ea"/>
              <a:cs typeface="+mn-cs"/>
            </a:endParaRPr>
          </a:p>
          <a:p>
            <a:endParaRPr lang="en-US" dirty="0"/>
          </a:p>
        </p:txBody>
      </p:sp>
      <p:pic>
        <p:nvPicPr>
          <p:cNvPr id="2" name="Picture 1" descr="A black and red logo&#10;&#10;Description automatically generated">
            <a:extLst>
              <a:ext uri="{FF2B5EF4-FFF2-40B4-BE49-F238E27FC236}">
                <a16:creationId xmlns:a16="http://schemas.microsoft.com/office/drawing/2014/main" id="{8BDB0671-FC93-5C9E-75A2-ED46EE3FB8B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9" name="TextBox 8">
            <a:extLst>
              <a:ext uri="{FF2B5EF4-FFF2-40B4-BE49-F238E27FC236}">
                <a16:creationId xmlns:a16="http://schemas.microsoft.com/office/drawing/2014/main" id="{00EEC787-568C-0341-6BDA-9EA694CFE208}"/>
              </a:ext>
            </a:extLst>
          </p:cNvPr>
          <p:cNvSpPr txBox="1"/>
          <p:nvPr/>
        </p:nvSpPr>
        <p:spPr>
          <a:xfrm>
            <a:off x="609600" y="918521"/>
            <a:ext cx="5486400" cy="400110"/>
          </a:xfrm>
          <a:prstGeom prst="rect">
            <a:avLst/>
          </a:prstGeom>
          <a:noFill/>
        </p:spPr>
        <p:txBody>
          <a:bodyPr wrap="square" rtlCol="0">
            <a:spAutoFit/>
          </a:bodyPr>
          <a:lstStyle/>
          <a:p>
            <a:r>
              <a:rPr lang="en-US" sz="2000" dirty="0"/>
              <a:t>At the end of the course, the student will be able</a:t>
            </a:r>
          </a:p>
        </p:txBody>
      </p:sp>
      <p:pic>
        <p:nvPicPr>
          <p:cNvPr id="11" name="Picture 1">
            <a:extLst>
              <a:ext uri="{FF2B5EF4-FFF2-40B4-BE49-F238E27FC236}">
                <a16:creationId xmlns:a16="http://schemas.microsoft.com/office/drawing/2014/main" id="{4190C19F-D117-899A-9C31-A43280CF59A3}"/>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990600" y="1905001"/>
            <a:ext cx="9677399" cy="37105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5354270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057400" y="1143001"/>
            <a:ext cx="8229600" cy="4525963"/>
          </a:xfrm>
        </p:spPr>
        <p:txBody>
          <a:bodyPr>
            <a:normAutofit fontScale="85000" lnSpcReduction="10000"/>
          </a:bodyPr>
          <a:lstStyle/>
          <a:p>
            <a:pPr marL="12700">
              <a:lnSpc>
                <a:spcPct val="150000"/>
              </a:lnSpc>
              <a:buClr>
                <a:srgbClr val="0AD0D9"/>
              </a:buClr>
              <a:buSzPct val="95000"/>
              <a:tabLst>
                <a:tab pos="285750" algn="l"/>
              </a:tabLst>
            </a:pPr>
            <a:r>
              <a:rPr lang="en-US" sz="1800" dirty="0">
                <a:latin typeface="Times New Roman" pitchFamily="18" charset="0"/>
                <a:cs typeface="Times New Roman" pitchFamily="18" charset="0"/>
              </a:rPr>
              <a:t>1. Engineering knowledge</a:t>
            </a:r>
          </a:p>
          <a:p>
            <a:pPr marL="12700">
              <a:lnSpc>
                <a:spcPct val="150000"/>
              </a:lnSpc>
              <a:buClr>
                <a:srgbClr val="0AD0D9"/>
              </a:buClr>
              <a:buSzPct val="95000"/>
              <a:tabLst>
                <a:tab pos="285750" algn="l"/>
              </a:tabLst>
            </a:pPr>
            <a:r>
              <a:rPr lang="en-US" sz="1800" dirty="0">
                <a:latin typeface="Times New Roman" pitchFamily="18" charset="0"/>
                <a:cs typeface="Times New Roman" pitchFamily="18" charset="0"/>
              </a:rPr>
              <a:t>2. Problem analysis</a:t>
            </a:r>
          </a:p>
          <a:p>
            <a:pPr marL="12700">
              <a:lnSpc>
                <a:spcPct val="150000"/>
              </a:lnSpc>
              <a:buClr>
                <a:srgbClr val="0AD0D9"/>
              </a:buClr>
              <a:buSzPct val="95000"/>
              <a:tabLst>
                <a:tab pos="285750" algn="l"/>
              </a:tabLst>
            </a:pPr>
            <a:r>
              <a:rPr lang="en-US" sz="1800" dirty="0">
                <a:latin typeface="Times New Roman" pitchFamily="18" charset="0"/>
                <a:cs typeface="Times New Roman" pitchFamily="18" charset="0"/>
              </a:rPr>
              <a:t>3. Design/development of solutions</a:t>
            </a:r>
          </a:p>
          <a:p>
            <a:pPr marL="12700">
              <a:lnSpc>
                <a:spcPct val="150000"/>
              </a:lnSpc>
              <a:buClr>
                <a:srgbClr val="0AD0D9"/>
              </a:buClr>
              <a:buSzPct val="95000"/>
              <a:tabLst>
                <a:tab pos="285750" algn="l"/>
              </a:tabLst>
            </a:pPr>
            <a:r>
              <a:rPr lang="en-US" sz="1800" dirty="0">
                <a:latin typeface="Times New Roman" pitchFamily="18" charset="0"/>
                <a:cs typeface="Times New Roman" pitchFamily="18" charset="0"/>
              </a:rPr>
              <a:t>4. Conduct investigations of complex problems</a:t>
            </a:r>
          </a:p>
          <a:p>
            <a:pPr marL="12700">
              <a:lnSpc>
                <a:spcPct val="150000"/>
              </a:lnSpc>
              <a:buClr>
                <a:srgbClr val="0AD0D9"/>
              </a:buClr>
              <a:buSzPct val="95000"/>
              <a:tabLst>
                <a:tab pos="285750" algn="l"/>
              </a:tabLst>
            </a:pPr>
            <a:r>
              <a:rPr lang="en-US" sz="1800" dirty="0">
                <a:latin typeface="Times New Roman" pitchFamily="18" charset="0"/>
                <a:cs typeface="Times New Roman" pitchFamily="18" charset="0"/>
              </a:rPr>
              <a:t>5. Modern tool usage</a:t>
            </a:r>
          </a:p>
          <a:p>
            <a:pPr marL="12700">
              <a:lnSpc>
                <a:spcPct val="150000"/>
              </a:lnSpc>
              <a:buClr>
                <a:srgbClr val="0AD0D9"/>
              </a:buClr>
              <a:buSzPct val="95000"/>
              <a:tabLst>
                <a:tab pos="285750" algn="l"/>
              </a:tabLst>
            </a:pPr>
            <a:r>
              <a:rPr lang="en-US" sz="1800" dirty="0">
                <a:latin typeface="Times New Roman" pitchFamily="18" charset="0"/>
                <a:cs typeface="Times New Roman" pitchFamily="18" charset="0"/>
              </a:rPr>
              <a:t>6. The engineer and society</a:t>
            </a:r>
          </a:p>
          <a:p>
            <a:pPr marL="12700">
              <a:lnSpc>
                <a:spcPct val="150000"/>
              </a:lnSpc>
              <a:buClr>
                <a:srgbClr val="0AD0D9"/>
              </a:buClr>
              <a:buSzPct val="95000"/>
              <a:tabLst>
                <a:tab pos="285750" algn="l"/>
              </a:tabLst>
            </a:pPr>
            <a:r>
              <a:rPr lang="en-US" sz="1800" dirty="0">
                <a:latin typeface="Times New Roman" pitchFamily="18" charset="0"/>
                <a:cs typeface="Times New Roman" pitchFamily="18" charset="0"/>
              </a:rPr>
              <a:t>7. Environment and sustainability </a:t>
            </a:r>
          </a:p>
          <a:p>
            <a:pPr marL="12700">
              <a:lnSpc>
                <a:spcPct val="150000"/>
              </a:lnSpc>
              <a:buClr>
                <a:srgbClr val="0AD0D9"/>
              </a:buClr>
              <a:buSzPct val="95000"/>
              <a:tabLst>
                <a:tab pos="285750" algn="l"/>
              </a:tabLst>
            </a:pPr>
            <a:r>
              <a:rPr lang="en-US" sz="1800" dirty="0">
                <a:latin typeface="Times New Roman" pitchFamily="18" charset="0"/>
                <a:cs typeface="Times New Roman" pitchFamily="18" charset="0"/>
              </a:rPr>
              <a:t>8. Ethics</a:t>
            </a:r>
          </a:p>
          <a:p>
            <a:pPr marL="12700">
              <a:lnSpc>
                <a:spcPct val="150000"/>
              </a:lnSpc>
              <a:buClr>
                <a:srgbClr val="0AD0D9"/>
              </a:buClr>
              <a:buSzPct val="95000"/>
              <a:tabLst>
                <a:tab pos="285750" algn="l"/>
              </a:tabLst>
            </a:pPr>
            <a:r>
              <a:rPr lang="en-US" sz="1800" dirty="0">
                <a:latin typeface="Times New Roman" pitchFamily="18" charset="0"/>
                <a:cs typeface="Times New Roman" pitchFamily="18" charset="0"/>
              </a:rPr>
              <a:t>9. Individual and team work </a:t>
            </a:r>
          </a:p>
          <a:p>
            <a:pPr marL="12700">
              <a:lnSpc>
                <a:spcPct val="150000"/>
              </a:lnSpc>
              <a:buClr>
                <a:srgbClr val="0AD0D9"/>
              </a:buClr>
              <a:buSzPct val="95000"/>
              <a:tabLst>
                <a:tab pos="285750" algn="l"/>
              </a:tabLst>
            </a:pPr>
            <a:r>
              <a:rPr lang="en-US" sz="1800" dirty="0">
                <a:latin typeface="Times New Roman" pitchFamily="18" charset="0"/>
                <a:cs typeface="Times New Roman" pitchFamily="18" charset="0"/>
              </a:rPr>
              <a:t>10. Communication</a:t>
            </a:r>
          </a:p>
          <a:p>
            <a:pPr marL="12700">
              <a:lnSpc>
                <a:spcPct val="150000"/>
              </a:lnSpc>
              <a:buClr>
                <a:srgbClr val="0AD0D9"/>
              </a:buClr>
              <a:buSzPct val="95000"/>
              <a:tabLst>
                <a:tab pos="285750" algn="l"/>
              </a:tabLst>
            </a:pPr>
            <a:r>
              <a:rPr lang="en-US" sz="1800" dirty="0">
                <a:latin typeface="Times New Roman" pitchFamily="18" charset="0"/>
                <a:cs typeface="Times New Roman" pitchFamily="18" charset="0"/>
              </a:rPr>
              <a:t>11. Project management and finance </a:t>
            </a:r>
          </a:p>
          <a:p>
            <a:pPr marL="12700">
              <a:lnSpc>
                <a:spcPct val="150000"/>
              </a:lnSpc>
              <a:buClr>
                <a:srgbClr val="0AD0D9"/>
              </a:buClr>
              <a:buSzPct val="95000"/>
              <a:tabLst>
                <a:tab pos="285750" algn="l"/>
              </a:tabLst>
            </a:pPr>
            <a:r>
              <a:rPr lang="en-US" sz="1800" dirty="0">
                <a:latin typeface="Times New Roman" pitchFamily="18" charset="0"/>
                <a:cs typeface="Times New Roman" pitchFamily="18" charset="0"/>
              </a:rPr>
              <a:t>12. Life-long learning</a:t>
            </a:r>
          </a:p>
          <a:p>
            <a:pPr marL="0" indent="0">
              <a:buNone/>
            </a:pPr>
            <a:endParaRPr lang="en-US" sz="1800" dirty="0"/>
          </a:p>
        </p:txBody>
      </p:sp>
      <p:sp>
        <p:nvSpPr>
          <p:cNvPr id="4" name="Date Placeholder 3"/>
          <p:cNvSpPr>
            <a:spLocks noGrp="1"/>
          </p:cNvSpPr>
          <p:nvPr>
            <p:ph type="dt" sz="half" idx="10"/>
          </p:nvPr>
        </p:nvSpPr>
        <p:spPr/>
        <p:txBody>
          <a:bodyPr/>
          <a:lstStyle/>
          <a:p>
            <a:fld id="{E73A3019-CFE4-49DD-B6FD-2AFB2DD2DBB6}" type="datetime1">
              <a:rPr lang="en-US" smtClean="0"/>
              <a:t>11/7/2024</a:t>
            </a:fld>
            <a:endParaRPr lang="en-US"/>
          </a:p>
        </p:txBody>
      </p:sp>
      <p:sp>
        <p:nvSpPr>
          <p:cNvPr id="5" name="Footer Placeholder 4"/>
          <p:cNvSpPr>
            <a:spLocks noGrp="1"/>
          </p:cNvSpPr>
          <p:nvPr>
            <p:ph type="ftr" sz="quarter" idx="11"/>
          </p:nvPr>
        </p:nvSpPr>
        <p:spPr>
          <a:xfrm>
            <a:off x="4343400" y="6248401"/>
            <a:ext cx="4724400" cy="365125"/>
          </a:xfrm>
        </p:spPr>
        <p:txBody>
          <a:bodyPr/>
          <a:lstStyle/>
          <a:p>
            <a:r>
              <a:rPr lang="en-US" dirty="0"/>
              <a:t>Vaishali Mishra            ACSE0505 Web Technology                Unit 5</a:t>
            </a:r>
          </a:p>
        </p:txBody>
      </p:sp>
      <p:sp>
        <p:nvSpPr>
          <p:cNvPr id="6" name="Slide Number Placeholder 5"/>
          <p:cNvSpPr>
            <a:spLocks noGrp="1"/>
          </p:cNvSpPr>
          <p:nvPr>
            <p:ph type="sldNum" sz="quarter" idx="12"/>
          </p:nvPr>
        </p:nvSpPr>
        <p:spPr/>
        <p:txBody>
          <a:bodyPr/>
          <a:lstStyle/>
          <a:p>
            <a:fld id="{B6F15528-21DE-4FAA-801E-634DDDAF4B2B}" type="slidenum">
              <a:rPr lang="en-US" smtClean="0"/>
              <a:pPr/>
              <a:t>13</a:t>
            </a:fld>
            <a:endParaRPr lang="en-US"/>
          </a:p>
        </p:txBody>
      </p:sp>
      <p:sp>
        <p:nvSpPr>
          <p:cNvPr id="7" name="Title 1"/>
          <p:cNvSpPr txBox="1">
            <a:spLocks/>
          </p:cNvSpPr>
          <p:nvPr/>
        </p:nvSpPr>
        <p:spPr>
          <a:xfrm>
            <a:off x="2895600" y="2"/>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pPr algn="ctr" eaLnBrk="1" fontAlgn="auto" hangingPunct="1">
              <a:spcAft>
                <a:spcPts val="0"/>
              </a:spcAft>
              <a:defRPr/>
            </a:pPr>
            <a:r>
              <a:rPr lang="en-US" sz="2800"/>
              <a:t>Program Outcome</a:t>
            </a:r>
            <a:endParaRPr lang="en-US" sz="2800" dirty="0"/>
          </a:p>
        </p:txBody>
      </p:sp>
      <p:pic>
        <p:nvPicPr>
          <p:cNvPr id="2" name="Picture 1" descr="A black and red logo&#10;&#10;Description automatically generated">
            <a:extLst>
              <a:ext uri="{FF2B5EF4-FFF2-40B4-BE49-F238E27FC236}">
                <a16:creationId xmlns:a16="http://schemas.microsoft.com/office/drawing/2014/main" id="{8BDB0671-FC93-5C9E-75A2-ED46EE3FB8B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Tree>
    <p:extLst>
      <p:ext uri="{BB962C8B-B14F-4D97-AF65-F5344CB8AC3E}">
        <p14:creationId xmlns:p14="http://schemas.microsoft.com/office/powerpoint/2010/main" val="138866315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E73A3019-CFE4-49DD-B6FD-2AFB2DD2DBB6}" type="datetime1">
              <a:rPr lang="en-US" smtClean="0"/>
              <a:t>11/7/2024</a:t>
            </a:fld>
            <a:endParaRPr lang="en-US"/>
          </a:p>
        </p:txBody>
      </p:sp>
      <p:sp>
        <p:nvSpPr>
          <p:cNvPr id="5" name="Footer Placeholder 4"/>
          <p:cNvSpPr>
            <a:spLocks noGrp="1"/>
          </p:cNvSpPr>
          <p:nvPr>
            <p:ph type="ftr" sz="quarter" idx="11"/>
          </p:nvPr>
        </p:nvSpPr>
        <p:spPr>
          <a:xfrm>
            <a:off x="4343400" y="6248401"/>
            <a:ext cx="4724400" cy="365125"/>
          </a:xfrm>
        </p:spPr>
        <p:txBody>
          <a:bodyPr/>
          <a:lstStyle/>
          <a:p>
            <a:r>
              <a:rPr lang="en-US" dirty="0"/>
              <a:t>Vaishali Mishra            ACSE0505 Web Technology                Unit 5</a:t>
            </a:r>
          </a:p>
        </p:txBody>
      </p:sp>
      <p:sp>
        <p:nvSpPr>
          <p:cNvPr id="6" name="Slide Number Placeholder 5"/>
          <p:cNvSpPr>
            <a:spLocks noGrp="1"/>
          </p:cNvSpPr>
          <p:nvPr>
            <p:ph type="sldNum" sz="quarter" idx="12"/>
          </p:nvPr>
        </p:nvSpPr>
        <p:spPr/>
        <p:txBody>
          <a:bodyPr/>
          <a:lstStyle/>
          <a:p>
            <a:fld id="{B6F15528-21DE-4FAA-801E-634DDDAF4B2B}" type="slidenum">
              <a:rPr lang="en-US" smtClean="0"/>
              <a:pPr/>
              <a:t>14</a:t>
            </a:fld>
            <a:endParaRPr lang="en-US"/>
          </a:p>
        </p:txBody>
      </p:sp>
      <p:sp>
        <p:nvSpPr>
          <p:cNvPr id="7" name="Title 1"/>
          <p:cNvSpPr txBox="1">
            <a:spLocks/>
          </p:cNvSpPr>
          <p:nvPr/>
        </p:nvSpPr>
        <p:spPr>
          <a:xfrm>
            <a:off x="2895600" y="2"/>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endParaRPr kumimoji="0" lang="en-US" sz="2800" b="0" i="0" u="none" strike="noStrike" kern="1200" cap="none" spc="0" normalizeH="0" baseline="0" noProof="0" dirty="0">
              <a:ln>
                <a:noFill/>
              </a:ln>
              <a:solidFill>
                <a:schemeClr val="dk1"/>
              </a:solidFill>
              <a:effectLst/>
              <a:uLnTx/>
              <a:uFillTx/>
              <a:latin typeface="+mn-lt"/>
              <a:ea typeface="+mn-ea"/>
              <a:cs typeface="+mn-cs"/>
            </a:endParaRPr>
          </a:p>
          <a:p>
            <a:r>
              <a:rPr kumimoji="0" lang="en-US" sz="2800" b="0" i="0" u="none" strike="noStrike" kern="1200" cap="none" spc="0" normalizeH="0" baseline="0" noProof="0" dirty="0">
                <a:ln>
                  <a:noFill/>
                </a:ln>
                <a:solidFill>
                  <a:schemeClr val="dk1"/>
                </a:solidFill>
                <a:effectLst/>
                <a:uLnTx/>
                <a:uFillTx/>
                <a:latin typeface="+mn-lt"/>
                <a:ea typeface="+mn-ea"/>
                <a:cs typeface="+mn-cs"/>
              </a:rPr>
              <a:t>CO-PO Mapping</a:t>
            </a:r>
          </a:p>
          <a:p>
            <a:endParaRPr lang="en-US" dirty="0"/>
          </a:p>
        </p:txBody>
      </p:sp>
      <p:pic>
        <p:nvPicPr>
          <p:cNvPr id="2" name="Picture 1" descr="A black and red logo&#10;&#10;Description automatically generated">
            <a:extLst>
              <a:ext uri="{FF2B5EF4-FFF2-40B4-BE49-F238E27FC236}">
                <a16:creationId xmlns:a16="http://schemas.microsoft.com/office/drawing/2014/main" id="{8BDB0671-FC93-5C9E-75A2-ED46EE3FB8B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9" name="Rectangle 8">
            <a:extLst>
              <a:ext uri="{FF2B5EF4-FFF2-40B4-BE49-F238E27FC236}">
                <a16:creationId xmlns:a16="http://schemas.microsoft.com/office/drawing/2014/main" id="{03CB0923-9FEE-A39E-EDC0-C27D6FDC5292}"/>
              </a:ext>
            </a:extLst>
          </p:cNvPr>
          <p:cNvSpPr/>
          <p:nvPr/>
        </p:nvSpPr>
        <p:spPr>
          <a:xfrm>
            <a:off x="304800" y="915669"/>
            <a:ext cx="9525000" cy="1015663"/>
          </a:xfrm>
          <a:prstGeom prst="rect">
            <a:avLst/>
          </a:prstGeom>
        </p:spPr>
        <p:txBody>
          <a:bodyPr wrap="square">
            <a:spAutoFit/>
          </a:bodyPr>
          <a:lstStyle/>
          <a:p>
            <a:pPr algn="just"/>
            <a:endParaRPr lang="en-US" sz="2000" dirty="0"/>
          </a:p>
          <a:p>
            <a:pPr algn="just"/>
            <a:endParaRPr lang="en-US" sz="2000" dirty="0"/>
          </a:p>
          <a:p>
            <a:pPr algn="just"/>
            <a:r>
              <a:rPr lang="en-US" sz="2000" dirty="0"/>
              <a:t>    The highlighted text shows the mapping of course outcome with PO mapping of this unit</a:t>
            </a:r>
          </a:p>
        </p:txBody>
      </p:sp>
      <p:pic>
        <p:nvPicPr>
          <p:cNvPr id="11" name="Picture 1">
            <a:extLst>
              <a:ext uri="{FF2B5EF4-FFF2-40B4-BE49-F238E27FC236}">
                <a16:creationId xmlns:a16="http://schemas.microsoft.com/office/drawing/2014/main" id="{9B33A9EA-38B2-297D-6057-436C65E02D6D}"/>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838200" y="2161200"/>
            <a:ext cx="9525000" cy="34013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56789503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77364E-F674-0E9D-74D3-9A245C48208B}"/>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79DA67A1-A126-44AA-4D8D-EDAA3520FCEB}"/>
              </a:ext>
            </a:extLst>
          </p:cNvPr>
          <p:cNvSpPr>
            <a:spLocks noGrp="1"/>
          </p:cNvSpPr>
          <p:nvPr>
            <p:ph type="dt" sz="half" idx="10"/>
          </p:nvPr>
        </p:nvSpPr>
        <p:spPr/>
        <p:txBody>
          <a:bodyPr/>
          <a:lstStyle/>
          <a:p>
            <a:fld id="{E73A3019-CFE4-49DD-B6FD-2AFB2DD2DBB6}" type="datetime1">
              <a:rPr lang="en-US" smtClean="0"/>
              <a:t>11/7/2024</a:t>
            </a:fld>
            <a:endParaRPr lang="en-US"/>
          </a:p>
        </p:txBody>
      </p:sp>
      <p:sp>
        <p:nvSpPr>
          <p:cNvPr id="5" name="Footer Placeholder 4">
            <a:extLst>
              <a:ext uri="{FF2B5EF4-FFF2-40B4-BE49-F238E27FC236}">
                <a16:creationId xmlns:a16="http://schemas.microsoft.com/office/drawing/2014/main" id="{314C0264-0A89-B08F-BBA2-B5F37330CB0F}"/>
              </a:ext>
            </a:extLst>
          </p:cNvPr>
          <p:cNvSpPr>
            <a:spLocks noGrp="1"/>
          </p:cNvSpPr>
          <p:nvPr>
            <p:ph type="ftr" sz="quarter" idx="11"/>
          </p:nvPr>
        </p:nvSpPr>
        <p:spPr>
          <a:xfrm>
            <a:off x="4343400" y="6248401"/>
            <a:ext cx="4724400" cy="365125"/>
          </a:xfrm>
        </p:spPr>
        <p:txBody>
          <a:bodyPr/>
          <a:lstStyle/>
          <a:p>
            <a:r>
              <a:rPr lang="en-US" dirty="0"/>
              <a:t>Vaishali Mishra            ACSE0505 Web Technology                Unit 5</a:t>
            </a:r>
          </a:p>
        </p:txBody>
      </p:sp>
      <p:sp>
        <p:nvSpPr>
          <p:cNvPr id="6" name="Slide Number Placeholder 5">
            <a:extLst>
              <a:ext uri="{FF2B5EF4-FFF2-40B4-BE49-F238E27FC236}">
                <a16:creationId xmlns:a16="http://schemas.microsoft.com/office/drawing/2014/main" id="{BD457A05-568A-F630-073A-F143950A6640}"/>
              </a:ext>
            </a:extLst>
          </p:cNvPr>
          <p:cNvSpPr>
            <a:spLocks noGrp="1"/>
          </p:cNvSpPr>
          <p:nvPr>
            <p:ph type="sldNum" sz="quarter" idx="12"/>
          </p:nvPr>
        </p:nvSpPr>
        <p:spPr/>
        <p:txBody>
          <a:bodyPr/>
          <a:lstStyle/>
          <a:p>
            <a:fld id="{B6F15528-21DE-4FAA-801E-634DDDAF4B2B}" type="slidenum">
              <a:rPr lang="en-US" smtClean="0"/>
              <a:pPr/>
              <a:t>15</a:t>
            </a:fld>
            <a:endParaRPr lang="en-US"/>
          </a:p>
        </p:txBody>
      </p:sp>
      <p:sp>
        <p:nvSpPr>
          <p:cNvPr id="7" name="Title 1">
            <a:extLst>
              <a:ext uri="{FF2B5EF4-FFF2-40B4-BE49-F238E27FC236}">
                <a16:creationId xmlns:a16="http://schemas.microsoft.com/office/drawing/2014/main" id="{B1228BC1-F7FB-8A38-6333-068C20C8CAE6}"/>
              </a:ext>
            </a:extLst>
          </p:cNvPr>
          <p:cNvSpPr txBox="1">
            <a:spLocks/>
          </p:cNvSpPr>
          <p:nvPr/>
        </p:nvSpPr>
        <p:spPr>
          <a:xfrm>
            <a:off x="2895600" y="2"/>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r>
              <a:rPr lang="en-US" sz="3200" dirty="0"/>
              <a:t>Result Analysis(2023-24)</a:t>
            </a:r>
          </a:p>
        </p:txBody>
      </p:sp>
      <p:pic>
        <p:nvPicPr>
          <p:cNvPr id="2" name="Picture 1" descr="A black and red logo&#10;&#10;Description automatically generated">
            <a:extLst>
              <a:ext uri="{FF2B5EF4-FFF2-40B4-BE49-F238E27FC236}">
                <a16:creationId xmlns:a16="http://schemas.microsoft.com/office/drawing/2014/main" id="{F161CA6B-5DD5-2956-41D0-E14E18A6DDA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pic>
        <p:nvPicPr>
          <p:cNvPr id="12" name="Picture 2">
            <a:extLst>
              <a:ext uri="{FF2B5EF4-FFF2-40B4-BE49-F238E27FC236}">
                <a16:creationId xmlns:a16="http://schemas.microsoft.com/office/drawing/2014/main" id="{1384BC18-C14C-0328-437F-5829FC2EBDF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57263" y="1865313"/>
            <a:ext cx="9710737" cy="2173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89818617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057400" y="1143001"/>
            <a:ext cx="8229600" cy="4525963"/>
          </a:xfrm>
        </p:spPr>
        <p:txBody>
          <a:bodyPr>
            <a:normAutofit lnSpcReduction="10000"/>
          </a:bodyPr>
          <a:lstStyle/>
          <a:p>
            <a:r>
              <a:rPr lang="en-US" altLang="en-US" sz="2400" b="1" dirty="0">
                <a:latin typeface="Times New Roman" panose="02020603050405020304" pitchFamily="18" charset="0"/>
                <a:cs typeface="Times New Roman" panose="02020603050405020304" pitchFamily="18" charset="0"/>
              </a:rPr>
              <a:t>PSO1</a:t>
            </a:r>
            <a:r>
              <a:rPr lang="en-US" altLang="en-US" sz="2400" dirty="0">
                <a:latin typeface="Times New Roman" panose="02020603050405020304" pitchFamily="18" charset="0"/>
                <a:cs typeface="Times New Roman" panose="02020603050405020304" pitchFamily="18" charset="0"/>
              </a:rPr>
              <a:t>: Identify, analyze real world problems and design their ethical solutions using artificial intelligence, robotics, virtual/augmented reality, data analytics, block chain technology, and cloud computing.</a:t>
            </a:r>
            <a:endParaRPr lang="en-IN" altLang="en-US" sz="24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
            </a:pPr>
            <a:r>
              <a:rPr lang="en-US" altLang="en-US" sz="2400" b="1" dirty="0">
                <a:latin typeface="Times New Roman" panose="02020603050405020304" pitchFamily="18" charset="0"/>
                <a:cs typeface="Times New Roman" panose="02020603050405020304" pitchFamily="18" charset="0"/>
              </a:rPr>
              <a:t>PSO2:</a:t>
            </a:r>
            <a:r>
              <a:rPr lang="en-US" altLang="en-US" sz="2400" dirty="0">
                <a:latin typeface="Times New Roman" panose="02020603050405020304" pitchFamily="18" charset="0"/>
                <a:cs typeface="Times New Roman" panose="02020603050405020304" pitchFamily="18" charset="0"/>
              </a:rPr>
              <a:t>Design and develop the hardware sensor devices and related interfacing software systems for solving complex engineering problems.</a:t>
            </a:r>
            <a:endParaRPr lang="en-IN" altLang="en-US" sz="24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
            </a:pPr>
            <a:r>
              <a:rPr lang="en-US" altLang="en-US" sz="2400" b="1" dirty="0">
                <a:latin typeface="Times New Roman" panose="02020603050405020304" pitchFamily="18" charset="0"/>
                <a:cs typeface="Times New Roman" panose="02020603050405020304" pitchFamily="18" charset="0"/>
              </a:rPr>
              <a:t>PSO3:</a:t>
            </a:r>
            <a:r>
              <a:rPr lang="en-US" altLang="en-US" sz="2400" dirty="0">
                <a:latin typeface="Times New Roman" panose="02020603050405020304" pitchFamily="18" charset="0"/>
                <a:cs typeface="Times New Roman" panose="02020603050405020304" pitchFamily="18" charset="0"/>
              </a:rPr>
              <a:t>Understand inter-disciplinary computing techniques and to apply them in the design of advanced computing.</a:t>
            </a:r>
            <a:endParaRPr lang="en-IN" altLang="en-US" sz="24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
            </a:pPr>
            <a:r>
              <a:rPr lang="en-US" altLang="en-US" sz="2400" b="1" dirty="0">
                <a:latin typeface="Times New Roman" panose="02020603050405020304" pitchFamily="18" charset="0"/>
                <a:cs typeface="Times New Roman" panose="02020603050405020304" pitchFamily="18" charset="0"/>
              </a:rPr>
              <a:t>PSO4:</a:t>
            </a:r>
            <a:r>
              <a:rPr lang="en-US" altLang="en-US" sz="2400" dirty="0">
                <a:latin typeface="Times New Roman" panose="02020603050405020304" pitchFamily="18" charset="0"/>
                <a:cs typeface="Times New Roman" panose="02020603050405020304" pitchFamily="18" charset="0"/>
              </a:rPr>
              <a:t> Conduct investigation of complex problems with the help of technical, managerial, leadership qualities, and modern engineering tools provided by industry-sponsored laboratories.</a:t>
            </a:r>
            <a:endParaRPr lang="en-IN" altLang="en-US" sz="2400" dirty="0">
              <a:latin typeface="Times New Roman" panose="02020603050405020304" pitchFamily="18" charset="0"/>
              <a:cs typeface="Times New Roman" panose="02020603050405020304" pitchFamily="18" charset="0"/>
            </a:endParaRPr>
          </a:p>
          <a:p>
            <a:pPr marL="0" indent="0">
              <a:buNone/>
            </a:pPr>
            <a:endParaRPr lang="en-US" sz="1800" dirty="0"/>
          </a:p>
        </p:txBody>
      </p:sp>
      <p:sp>
        <p:nvSpPr>
          <p:cNvPr id="4" name="Date Placeholder 3"/>
          <p:cNvSpPr>
            <a:spLocks noGrp="1"/>
          </p:cNvSpPr>
          <p:nvPr>
            <p:ph type="dt" sz="half" idx="10"/>
          </p:nvPr>
        </p:nvSpPr>
        <p:spPr/>
        <p:txBody>
          <a:bodyPr/>
          <a:lstStyle/>
          <a:p>
            <a:fld id="{E73A3019-CFE4-49DD-B6FD-2AFB2DD2DBB6}" type="datetime1">
              <a:rPr lang="en-US" smtClean="0"/>
              <a:t>11/7/2024</a:t>
            </a:fld>
            <a:endParaRPr lang="en-US"/>
          </a:p>
        </p:txBody>
      </p:sp>
      <p:sp>
        <p:nvSpPr>
          <p:cNvPr id="5" name="Footer Placeholder 4"/>
          <p:cNvSpPr>
            <a:spLocks noGrp="1"/>
          </p:cNvSpPr>
          <p:nvPr>
            <p:ph type="ftr" sz="quarter" idx="11"/>
          </p:nvPr>
        </p:nvSpPr>
        <p:spPr>
          <a:xfrm>
            <a:off x="4343400" y="6248401"/>
            <a:ext cx="4724400" cy="365125"/>
          </a:xfrm>
        </p:spPr>
        <p:txBody>
          <a:bodyPr/>
          <a:lstStyle/>
          <a:p>
            <a:r>
              <a:rPr lang="en-US" dirty="0"/>
              <a:t>Vaishali Mishra            ACSE0505 Web Technology                Unit 5</a:t>
            </a:r>
          </a:p>
        </p:txBody>
      </p:sp>
      <p:sp>
        <p:nvSpPr>
          <p:cNvPr id="6" name="Slide Number Placeholder 5"/>
          <p:cNvSpPr>
            <a:spLocks noGrp="1"/>
          </p:cNvSpPr>
          <p:nvPr>
            <p:ph type="sldNum" sz="quarter" idx="12"/>
          </p:nvPr>
        </p:nvSpPr>
        <p:spPr/>
        <p:txBody>
          <a:bodyPr/>
          <a:lstStyle/>
          <a:p>
            <a:fld id="{B6F15528-21DE-4FAA-801E-634DDDAF4B2B}" type="slidenum">
              <a:rPr lang="en-US" smtClean="0"/>
              <a:pPr/>
              <a:t>16</a:t>
            </a:fld>
            <a:endParaRPr lang="en-US"/>
          </a:p>
        </p:txBody>
      </p:sp>
      <p:sp>
        <p:nvSpPr>
          <p:cNvPr id="7" name="Title 1"/>
          <p:cNvSpPr txBox="1">
            <a:spLocks/>
          </p:cNvSpPr>
          <p:nvPr/>
        </p:nvSpPr>
        <p:spPr>
          <a:xfrm>
            <a:off x="2895600" y="2"/>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endParaRPr lang="en-US" sz="2800" dirty="0">
              <a:latin typeface="Calibri" panose="020F0502020204030204" pitchFamily="34" charset="0"/>
              <a:ea typeface="Calibri" panose="020F0502020204030204" pitchFamily="34" charset="0"/>
              <a:cs typeface="Mangal" panose="02040503050203030202" pitchFamily="18" charset="0"/>
            </a:endParaRPr>
          </a:p>
          <a:p>
            <a:r>
              <a:rPr lang="en-US" sz="2800" dirty="0">
                <a:latin typeface="Calibri" panose="020F0502020204030204" pitchFamily="34" charset="0"/>
                <a:ea typeface="Calibri" panose="020F0502020204030204" pitchFamily="34" charset="0"/>
                <a:cs typeface="Mangal" panose="02040503050203030202" pitchFamily="18" charset="0"/>
              </a:rPr>
              <a:t>Program Specific Outcomes</a:t>
            </a:r>
            <a:endParaRPr lang="en-US" sz="2800" dirty="0"/>
          </a:p>
          <a:p>
            <a:endParaRPr lang="en-US" dirty="0"/>
          </a:p>
        </p:txBody>
      </p:sp>
      <p:pic>
        <p:nvPicPr>
          <p:cNvPr id="2" name="Picture 1" descr="A black and red logo&#10;&#10;Description automatically generated">
            <a:extLst>
              <a:ext uri="{FF2B5EF4-FFF2-40B4-BE49-F238E27FC236}">
                <a16:creationId xmlns:a16="http://schemas.microsoft.com/office/drawing/2014/main" id="{8BDB0671-FC93-5C9E-75A2-ED46EE3FB8B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Tree>
    <p:extLst>
      <p:ext uri="{BB962C8B-B14F-4D97-AF65-F5344CB8AC3E}">
        <p14:creationId xmlns:p14="http://schemas.microsoft.com/office/powerpoint/2010/main" val="137762527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E73A3019-CFE4-49DD-B6FD-2AFB2DD2DBB6}" type="datetime1">
              <a:rPr lang="en-US" smtClean="0"/>
              <a:t>11/7/2024</a:t>
            </a:fld>
            <a:endParaRPr lang="en-US"/>
          </a:p>
        </p:txBody>
      </p:sp>
      <p:sp>
        <p:nvSpPr>
          <p:cNvPr id="5" name="Footer Placeholder 4"/>
          <p:cNvSpPr>
            <a:spLocks noGrp="1"/>
          </p:cNvSpPr>
          <p:nvPr>
            <p:ph type="ftr" sz="quarter" idx="11"/>
          </p:nvPr>
        </p:nvSpPr>
        <p:spPr>
          <a:xfrm>
            <a:off x="4343400" y="6248401"/>
            <a:ext cx="4724400" cy="365125"/>
          </a:xfrm>
        </p:spPr>
        <p:txBody>
          <a:bodyPr/>
          <a:lstStyle/>
          <a:p>
            <a:r>
              <a:rPr lang="en-US" dirty="0"/>
              <a:t>Vaishali Mishra            ACSE0505 Web Technology                Unit 5</a:t>
            </a:r>
          </a:p>
        </p:txBody>
      </p:sp>
      <p:sp>
        <p:nvSpPr>
          <p:cNvPr id="6" name="Slide Number Placeholder 5"/>
          <p:cNvSpPr>
            <a:spLocks noGrp="1"/>
          </p:cNvSpPr>
          <p:nvPr>
            <p:ph type="sldNum" sz="quarter" idx="12"/>
          </p:nvPr>
        </p:nvSpPr>
        <p:spPr/>
        <p:txBody>
          <a:bodyPr/>
          <a:lstStyle/>
          <a:p>
            <a:fld id="{B6F15528-21DE-4FAA-801E-634DDDAF4B2B}" type="slidenum">
              <a:rPr lang="en-US" smtClean="0"/>
              <a:pPr/>
              <a:t>17</a:t>
            </a:fld>
            <a:endParaRPr lang="en-US"/>
          </a:p>
        </p:txBody>
      </p:sp>
      <p:sp>
        <p:nvSpPr>
          <p:cNvPr id="7" name="Title 1"/>
          <p:cNvSpPr txBox="1">
            <a:spLocks/>
          </p:cNvSpPr>
          <p:nvPr/>
        </p:nvSpPr>
        <p:spPr>
          <a:xfrm>
            <a:off x="2895600" y="2"/>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endParaRPr kumimoji="0" lang="en-US" sz="2800" b="0" i="0" u="none" strike="noStrike" kern="1200" cap="none" spc="0" normalizeH="0" baseline="0" noProof="0" dirty="0">
              <a:ln>
                <a:noFill/>
              </a:ln>
              <a:solidFill>
                <a:schemeClr val="dk1"/>
              </a:solidFill>
              <a:effectLst/>
              <a:uLnTx/>
              <a:uFillTx/>
              <a:latin typeface="+mn-lt"/>
              <a:ea typeface="+mn-ea"/>
              <a:cs typeface="+mn-cs"/>
            </a:endParaRPr>
          </a:p>
          <a:p>
            <a:r>
              <a:rPr kumimoji="0" lang="en-US" sz="2800" b="0" i="0" u="none" strike="noStrike" kern="1200" cap="none" spc="0" normalizeH="0" baseline="0" noProof="0" dirty="0">
                <a:ln>
                  <a:noFill/>
                </a:ln>
                <a:solidFill>
                  <a:schemeClr val="dk1"/>
                </a:solidFill>
                <a:effectLst/>
                <a:uLnTx/>
                <a:uFillTx/>
                <a:latin typeface="+mn-lt"/>
                <a:ea typeface="+mn-ea"/>
                <a:cs typeface="+mn-cs"/>
              </a:rPr>
              <a:t>CO-PSO Mapping</a:t>
            </a:r>
          </a:p>
          <a:p>
            <a:endParaRPr lang="en-US" dirty="0"/>
          </a:p>
        </p:txBody>
      </p:sp>
      <p:pic>
        <p:nvPicPr>
          <p:cNvPr id="2" name="Picture 1" descr="A black and red logo&#10;&#10;Description automatically generated">
            <a:extLst>
              <a:ext uri="{FF2B5EF4-FFF2-40B4-BE49-F238E27FC236}">
                <a16:creationId xmlns:a16="http://schemas.microsoft.com/office/drawing/2014/main" id="{8BDB0671-FC93-5C9E-75A2-ED46EE3FB8B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11" name="Rectangle 10">
            <a:extLst>
              <a:ext uri="{FF2B5EF4-FFF2-40B4-BE49-F238E27FC236}">
                <a16:creationId xmlns:a16="http://schemas.microsoft.com/office/drawing/2014/main" id="{AC078C4E-1108-068D-D959-3869E74A316E}"/>
              </a:ext>
            </a:extLst>
          </p:cNvPr>
          <p:cNvSpPr/>
          <p:nvPr/>
        </p:nvSpPr>
        <p:spPr>
          <a:xfrm>
            <a:off x="457199" y="1117636"/>
            <a:ext cx="10667999" cy="400110"/>
          </a:xfrm>
          <a:prstGeom prst="rect">
            <a:avLst/>
          </a:prstGeom>
        </p:spPr>
        <p:txBody>
          <a:bodyPr wrap="square">
            <a:spAutoFit/>
          </a:bodyPr>
          <a:lstStyle/>
          <a:p>
            <a:pPr algn="just"/>
            <a:r>
              <a:rPr lang="en-US" sz="2000" dirty="0"/>
              <a:t>      The highlighted text shows the mapping of course outcome with PSO mapping of this unit</a:t>
            </a:r>
          </a:p>
        </p:txBody>
      </p:sp>
      <p:graphicFrame>
        <p:nvGraphicFramePr>
          <p:cNvPr id="13" name="Google Shape;157;p18">
            <a:extLst>
              <a:ext uri="{FF2B5EF4-FFF2-40B4-BE49-F238E27FC236}">
                <a16:creationId xmlns:a16="http://schemas.microsoft.com/office/drawing/2014/main" id="{F8AAEF51-78DD-0C75-7341-72B1C26DBA25}"/>
              </a:ext>
            </a:extLst>
          </p:cNvPr>
          <p:cNvGraphicFramePr/>
          <p:nvPr>
            <p:extLst>
              <p:ext uri="{D42A27DB-BD31-4B8C-83A1-F6EECF244321}">
                <p14:modId xmlns:p14="http://schemas.microsoft.com/office/powerpoint/2010/main" val="4017298685"/>
              </p:ext>
            </p:extLst>
          </p:nvPr>
        </p:nvGraphicFramePr>
        <p:xfrm>
          <a:off x="787400" y="1547813"/>
          <a:ext cx="9347200" cy="4167188"/>
        </p:xfrm>
        <a:graphic>
          <a:graphicData uri="http://schemas.openxmlformats.org/drawingml/2006/table">
            <a:tbl>
              <a:tblPr>
                <a:noFill/>
              </a:tblPr>
              <a:tblGrid>
                <a:gridCol w="2922002">
                  <a:extLst>
                    <a:ext uri="{9D8B030D-6E8A-4147-A177-3AD203B41FA5}">
                      <a16:colId xmlns:a16="http://schemas.microsoft.com/office/drawing/2014/main" val="20000"/>
                    </a:ext>
                  </a:extLst>
                </a:gridCol>
                <a:gridCol w="1582066">
                  <a:extLst>
                    <a:ext uri="{9D8B030D-6E8A-4147-A177-3AD203B41FA5}">
                      <a16:colId xmlns:a16="http://schemas.microsoft.com/office/drawing/2014/main" val="20001"/>
                    </a:ext>
                  </a:extLst>
                </a:gridCol>
                <a:gridCol w="1743522">
                  <a:extLst>
                    <a:ext uri="{9D8B030D-6E8A-4147-A177-3AD203B41FA5}">
                      <a16:colId xmlns:a16="http://schemas.microsoft.com/office/drawing/2014/main" val="20002"/>
                    </a:ext>
                  </a:extLst>
                </a:gridCol>
                <a:gridCol w="1452940">
                  <a:extLst>
                    <a:ext uri="{9D8B030D-6E8A-4147-A177-3AD203B41FA5}">
                      <a16:colId xmlns:a16="http://schemas.microsoft.com/office/drawing/2014/main" val="20003"/>
                    </a:ext>
                  </a:extLst>
                </a:gridCol>
                <a:gridCol w="1646670">
                  <a:extLst>
                    <a:ext uri="{9D8B030D-6E8A-4147-A177-3AD203B41FA5}">
                      <a16:colId xmlns:a16="http://schemas.microsoft.com/office/drawing/2014/main" val="20004"/>
                    </a:ext>
                  </a:extLst>
                </a:gridCol>
              </a:tblGrid>
              <a:tr h="499362">
                <a:tc rowSpan="2">
                  <a:txBody>
                    <a:bodyPr/>
                    <a:lstStyle/>
                    <a:p>
                      <a:pPr marL="0" lvl="0" indent="0" algn="ctr" rtl="0">
                        <a:lnSpc>
                          <a:spcPct val="115000"/>
                        </a:lnSpc>
                        <a:spcBef>
                          <a:spcPts val="0"/>
                        </a:spcBef>
                        <a:spcAft>
                          <a:spcPts val="0"/>
                        </a:spcAft>
                        <a:buNone/>
                      </a:pPr>
                      <a:r>
                        <a:rPr lang="en-US" sz="1800" b="1" dirty="0">
                          <a:latin typeface="Times New Roman" panose="02020603050405020304" pitchFamily="18" charset="0"/>
                          <a:ea typeface="Times New Roman" panose="02020603050405020304"/>
                          <a:cs typeface="Times New Roman" panose="02020603050405020304" pitchFamily="18" charset="0"/>
                          <a:sym typeface="Times New Roman" panose="02020603050405020304"/>
                        </a:rPr>
                        <a:t>Course Outcomes</a:t>
                      </a:r>
                      <a:endParaRPr sz="1800" b="1" dirty="0">
                        <a:latin typeface="Times New Roman" panose="02020603050405020304" pitchFamily="18" charset="0"/>
                        <a:ea typeface="Times New Roman" panose="02020603050405020304"/>
                        <a:cs typeface="Times New Roman" panose="02020603050405020304" pitchFamily="18" charset="0"/>
                        <a:sym typeface="Times New Roman" panose="02020603050405020304"/>
                      </a:endParaRPr>
                    </a:p>
                  </a:txBody>
                  <a:tcPr marL="68575" marR="68575" marT="91947" marB="91947">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gridSpan="4">
                  <a:txBody>
                    <a:bodyPr/>
                    <a:lstStyle/>
                    <a:p>
                      <a:pPr marL="0" lvl="0" indent="0" algn="ctr" rtl="0">
                        <a:lnSpc>
                          <a:spcPct val="115000"/>
                        </a:lnSpc>
                        <a:spcBef>
                          <a:spcPts val="0"/>
                        </a:spcBef>
                        <a:spcAft>
                          <a:spcPts val="0"/>
                        </a:spcAft>
                        <a:buNone/>
                      </a:pPr>
                      <a:r>
                        <a:rPr lang="en-US" sz="1800" b="1" dirty="0">
                          <a:latin typeface="Times New Roman" panose="02020603050405020304" pitchFamily="18" charset="0"/>
                          <a:ea typeface="Times New Roman" panose="02020603050405020304"/>
                          <a:cs typeface="Times New Roman" panose="02020603050405020304" pitchFamily="18" charset="0"/>
                          <a:sym typeface="Times New Roman" panose="02020603050405020304"/>
                        </a:rPr>
                        <a:t>Program Specific Outcomes</a:t>
                      </a:r>
                      <a:endParaRPr sz="1800" b="1">
                        <a:latin typeface="Times New Roman" panose="02020603050405020304" pitchFamily="18" charset="0"/>
                        <a:ea typeface="Times New Roman" panose="02020603050405020304"/>
                        <a:cs typeface="Times New Roman" panose="02020603050405020304" pitchFamily="18" charset="0"/>
                        <a:sym typeface="Times New Roman" panose="02020603050405020304"/>
                      </a:endParaRPr>
                    </a:p>
                  </a:txBody>
                  <a:tcPr marL="68575" marR="68575" marT="91947" marB="91947">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499362">
                <a:tc vMerge="1">
                  <a:txBody>
                    <a:bodyPr/>
                    <a:lstStyle/>
                    <a:p>
                      <a:endParaRPr lang="en-US"/>
                    </a:p>
                  </a:txBody>
                  <a:tcPr/>
                </a:tc>
                <a:tc>
                  <a:txBody>
                    <a:bodyPr/>
                    <a:lstStyle/>
                    <a:p>
                      <a:pPr marL="0" lvl="0" indent="0" algn="ctr" rtl="0">
                        <a:lnSpc>
                          <a:spcPct val="115000"/>
                        </a:lnSpc>
                        <a:spcBef>
                          <a:spcPts val="0"/>
                        </a:spcBef>
                        <a:spcAft>
                          <a:spcPts val="0"/>
                        </a:spcAft>
                        <a:buNone/>
                      </a:pPr>
                      <a:r>
                        <a:rPr lang="en-US" sz="1800" b="1">
                          <a:latin typeface="Times New Roman" panose="02020603050405020304" pitchFamily="18" charset="0"/>
                          <a:ea typeface="Times New Roman" panose="02020603050405020304"/>
                          <a:cs typeface="Times New Roman" panose="02020603050405020304" pitchFamily="18" charset="0"/>
                          <a:sym typeface="Times New Roman" panose="02020603050405020304"/>
                        </a:rPr>
                        <a:t>PSO1</a:t>
                      </a:r>
                      <a:endParaRPr sz="1800" b="1">
                        <a:latin typeface="Times New Roman" panose="02020603050405020304" pitchFamily="18" charset="0"/>
                        <a:ea typeface="Times New Roman" panose="02020603050405020304"/>
                        <a:cs typeface="Times New Roman" panose="02020603050405020304" pitchFamily="18" charset="0"/>
                        <a:sym typeface="Times New Roman" panose="02020603050405020304"/>
                      </a:endParaRPr>
                    </a:p>
                  </a:txBody>
                  <a:tcPr marL="68575" marR="68575" marT="91947" marB="91947">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US" sz="1800" b="1">
                          <a:latin typeface="Times New Roman" panose="02020603050405020304" pitchFamily="18" charset="0"/>
                          <a:ea typeface="Times New Roman" panose="02020603050405020304"/>
                          <a:cs typeface="Times New Roman" panose="02020603050405020304" pitchFamily="18" charset="0"/>
                          <a:sym typeface="Times New Roman" panose="02020603050405020304"/>
                        </a:rPr>
                        <a:t>PSO2</a:t>
                      </a:r>
                      <a:endParaRPr sz="1800" b="1">
                        <a:latin typeface="Times New Roman" panose="02020603050405020304" pitchFamily="18" charset="0"/>
                        <a:ea typeface="Times New Roman" panose="02020603050405020304"/>
                        <a:cs typeface="Times New Roman" panose="02020603050405020304" pitchFamily="18" charset="0"/>
                        <a:sym typeface="Times New Roman" panose="02020603050405020304"/>
                      </a:endParaRPr>
                    </a:p>
                  </a:txBody>
                  <a:tcPr marL="68575" marR="68575" marT="91947" marB="91947">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US" sz="1800" b="1">
                          <a:latin typeface="Times New Roman" panose="02020603050405020304" pitchFamily="18" charset="0"/>
                          <a:ea typeface="Times New Roman" panose="02020603050405020304"/>
                          <a:cs typeface="Times New Roman" panose="02020603050405020304" pitchFamily="18" charset="0"/>
                          <a:sym typeface="Times New Roman" panose="02020603050405020304"/>
                        </a:rPr>
                        <a:t>PSO3</a:t>
                      </a:r>
                      <a:endParaRPr sz="1800" b="1">
                        <a:latin typeface="Times New Roman" panose="02020603050405020304" pitchFamily="18" charset="0"/>
                        <a:ea typeface="Times New Roman" panose="02020603050405020304"/>
                        <a:cs typeface="Times New Roman" panose="02020603050405020304" pitchFamily="18" charset="0"/>
                        <a:sym typeface="Times New Roman" panose="02020603050405020304"/>
                      </a:endParaRPr>
                    </a:p>
                  </a:txBody>
                  <a:tcPr marL="68575" marR="68575" marT="91947" marB="91947">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US" sz="1800" b="1" dirty="0">
                          <a:latin typeface="Times New Roman" panose="02020603050405020304" pitchFamily="18" charset="0"/>
                          <a:ea typeface="Times New Roman" panose="02020603050405020304"/>
                          <a:cs typeface="Times New Roman" panose="02020603050405020304" pitchFamily="18" charset="0"/>
                          <a:sym typeface="Times New Roman" panose="02020603050405020304"/>
                        </a:rPr>
                        <a:t>PSO4</a:t>
                      </a:r>
                      <a:endParaRPr sz="1800" b="1" dirty="0">
                        <a:latin typeface="Times New Roman" panose="02020603050405020304" pitchFamily="18" charset="0"/>
                        <a:ea typeface="Times New Roman" panose="02020603050405020304"/>
                        <a:cs typeface="Times New Roman" panose="02020603050405020304" pitchFamily="18" charset="0"/>
                        <a:sym typeface="Times New Roman" panose="02020603050405020304"/>
                      </a:endParaRPr>
                    </a:p>
                  </a:txBody>
                  <a:tcPr marL="68575" marR="68575" marT="91947" marB="91947">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542435">
                <a:tc>
                  <a:txBody>
                    <a:bodyPr/>
                    <a:lstStyle/>
                    <a:p>
                      <a:pPr marL="0" lvl="0" indent="0" algn="ctr" rtl="0">
                        <a:lnSpc>
                          <a:spcPct val="115000"/>
                        </a:lnSpc>
                        <a:spcBef>
                          <a:spcPts val="0"/>
                        </a:spcBef>
                        <a:spcAft>
                          <a:spcPts val="0"/>
                        </a:spcAft>
                        <a:buNone/>
                      </a:pPr>
                      <a:r>
                        <a:rPr lang="en-US" sz="1800" b="1" dirty="0">
                          <a:latin typeface="Times New Roman" panose="02020603050405020304" pitchFamily="18" charset="0"/>
                          <a:cs typeface="Times New Roman" panose="02020603050405020304" pitchFamily="18" charset="0"/>
                        </a:rPr>
                        <a:t>CO1</a:t>
                      </a:r>
                      <a:endParaRPr sz="1800" b="1" dirty="0">
                        <a:latin typeface="Times New Roman" panose="02020603050405020304" pitchFamily="18" charset="0"/>
                        <a:cs typeface="Times New Roman" panose="02020603050405020304" pitchFamily="18" charset="0"/>
                      </a:endParaRPr>
                    </a:p>
                  </a:txBody>
                  <a:tcPr marL="68575" marR="68575" marT="91947" marB="91947">
                    <a:lnL w="12700" cap="flat" cmpd="sng">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chemeClr val="accent5">
                        <a:lumMod val="40000"/>
                        <a:lumOff val="60000"/>
                      </a:schemeClr>
                    </a:solidFill>
                  </a:tcPr>
                </a:tc>
                <a:tc>
                  <a:txBody>
                    <a:bodyPr/>
                    <a:lstStyle/>
                    <a:p>
                      <a:pPr marL="0" marR="0" algn="ctr">
                        <a:lnSpc>
                          <a:spcPct val="115000"/>
                        </a:lnSpc>
                        <a:spcBef>
                          <a:spcPts val="0"/>
                        </a:spcBef>
                        <a:spcAft>
                          <a:spcPts val="0"/>
                        </a:spcAft>
                      </a:pPr>
                      <a:r>
                        <a:rPr lang="en-US" sz="1800" b="1" dirty="0">
                          <a:latin typeface="Times New Roman" panose="02020603050405020304" pitchFamily="18" charset="0"/>
                          <a:ea typeface="Calibri" panose="020F0502020204030204"/>
                          <a:cs typeface="Times New Roman" panose="02020603050405020304" pitchFamily="18" charset="0"/>
                        </a:rPr>
                        <a:t>3</a:t>
                      </a:r>
                    </a:p>
                  </a:txBody>
                  <a:tcPr marL="68580" marR="6858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chemeClr val="accent5">
                        <a:lumMod val="40000"/>
                        <a:lumOff val="60000"/>
                      </a:schemeClr>
                    </a:solidFill>
                  </a:tcPr>
                </a:tc>
                <a:tc>
                  <a:txBody>
                    <a:bodyPr/>
                    <a:lstStyle/>
                    <a:p>
                      <a:pPr marL="0" marR="0" algn="ctr">
                        <a:lnSpc>
                          <a:spcPct val="115000"/>
                        </a:lnSpc>
                        <a:spcBef>
                          <a:spcPts val="0"/>
                        </a:spcBef>
                        <a:spcAft>
                          <a:spcPts val="0"/>
                        </a:spcAft>
                      </a:pPr>
                      <a:r>
                        <a:rPr lang="en-US" sz="1800" b="1" dirty="0">
                          <a:latin typeface="Times New Roman" panose="02020603050405020304" pitchFamily="18" charset="0"/>
                          <a:ea typeface="Calibri" panose="020F0502020204030204"/>
                          <a:cs typeface="Times New Roman" panose="02020603050405020304" pitchFamily="18" charset="0"/>
                        </a:rPr>
                        <a:t>1</a:t>
                      </a:r>
                    </a:p>
                  </a:txBody>
                  <a:tcPr marL="68580" marR="6858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chemeClr val="accent5">
                        <a:lumMod val="40000"/>
                        <a:lumOff val="60000"/>
                      </a:schemeClr>
                    </a:solidFill>
                  </a:tcPr>
                </a:tc>
                <a:tc>
                  <a:txBody>
                    <a:bodyPr/>
                    <a:lstStyle/>
                    <a:p>
                      <a:pPr marL="0" marR="0" algn="ctr">
                        <a:lnSpc>
                          <a:spcPct val="115000"/>
                        </a:lnSpc>
                        <a:spcBef>
                          <a:spcPts val="0"/>
                        </a:spcBef>
                        <a:spcAft>
                          <a:spcPts val="0"/>
                        </a:spcAft>
                      </a:pPr>
                      <a:r>
                        <a:rPr lang="en-US" sz="1800" b="1" dirty="0">
                          <a:latin typeface="Times New Roman" panose="02020603050405020304" pitchFamily="18" charset="0"/>
                          <a:ea typeface="Calibri" panose="020F0502020204030204"/>
                          <a:cs typeface="Times New Roman" panose="02020603050405020304" pitchFamily="18" charset="0"/>
                        </a:rPr>
                        <a:t>1</a:t>
                      </a:r>
                    </a:p>
                  </a:txBody>
                  <a:tcPr marL="68580" marR="6858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chemeClr val="accent5">
                        <a:lumMod val="40000"/>
                        <a:lumOff val="60000"/>
                      </a:schemeClr>
                    </a:solidFill>
                  </a:tcPr>
                </a:tc>
                <a:tc>
                  <a:txBody>
                    <a:bodyPr/>
                    <a:lstStyle/>
                    <a:p>
                      <a:pPr marL="0" marR="0" algn="ctr">
                        <a:lnSpc>
                          <a:spcPct val="115000"/>
                        </a:lnSpc>
                        <a:spcBef>
                          <a:spcPts val="0"/>
                        </a:spcBef>
                        <a:spcAft>
                          <a:spcPts val="1000"/>
                        </a:spcAft>
                      </a:pPr>
                      <a:r>
                        <a:rPr lang="en-US" sz="1800" b="1" dirty="0">
                          <a:latin typeface="Times New Roman" panose="02020603050405020304" pitchFamily="18" charset="0"/>
                          <a:ea typeface="Calibri" panose="020F0502020204030204"/>
                          <a:cs typeface="Times New Roman" panose="02020603050405020304" pitchFamily="18" charset="0"/>
                        </a:rPr>
                        <a:t>1</a:t>
                      </a:r>
                    </a:p>
                  </a:txBody>
                  <a:tcPr marL="68580" marR="6858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chemeClr val="accent5">
                        <a:lumMod val="40000"/>
                        <a:lumOff val="60000"/>
                      </a:schemeClr>
                    </a:solidFill>
                  </a:tcPr>
                </a:tc>
                <a:extLst>
                  <a:ext uri="{0D108BD9-81ED-4DB2-BD59-A6C34878D82A}">
                    <a16:rowId xmlns:a16="http://schemas.microsoft.com/office/drawing/2014/main" val="10002"/>
                  </a:ext>
                </a:extLst>
              </a:tr>
              <a:tr h="542435">
                <a:tc>
                  <a:txBody>
                    <a:bodyPr/>
                    <a:lstStyle/>
                    <a:p>
                      <a:pPr marL="0" lvl="0" indent="0" algn="ctr" rtl="0">
                        <a:lnSpc>
                          <a:spcPct val="115000"/>
                        </a:lnSpc>
                        <a:spcBef>
                          <a:spcPts val="0"/>
                        </a:spcBef>
                        <a:spcAft>
                          <a:spcPts val="0"/>
                        </a:spcAft>
                        <a:buNone/>
                      </a:pPr>
                      <a:r>
                        <a:rPr lang="en-US" sz="1800" b="1" dirty="0">
                          <a:latin typeface="Times New Roman" panose="02020603050405020304" pitchFamily="18" charset="0"/>
                          <a:cs typeface="Times New Roman" panose="02020603050405020304" pitchFamily="18" charset="0"/>
                        </a:rPr>
                        <a:t>CO2</a:t>
                      </a:r>
                    </a:p>
                  </a:txBody>
                  <a:tcPr marL="68575" marR="68575" marT="91947" marB="91947">
                    <a:lnL w="12700" cap="flat" cmpd="sng">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algn="ctr">
                        <a:lnSpc>
                          <a:spcPct val="115000"/>
                        </a:lnSpc>
                        <a:spcBef>
                          <a:spcPts val="0"/>
                        </a:spcBef>
                        <a:spcAft>
                          <a:spcPts val="0"/>
                        </a:spcAft>
                      </a:pPr>
                      <a:r>
                        <a:rPr lang="en-US" sz="1800" b="1" dirty="0">
                          <a:latin typeface="Times New Roman" panose="02020603050405020304" pitchFamily="18" charset="0"/>
                          <a:ea typeface="Calibri" panose="020F0502020204030204"/>
                          <a:cs typeface="Times New Roman" panose="02020603050405020304" pitchFamily="18" charset="0"/>
                        </a:rPr>
                        <a:t>1</a:t>
                      </a:r>
                    </a:p>
                  </a:txBody>
                  <a:tcPr marL="68580" marR="6858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algn="ctr">
                        <a:lnSpc>
                          <a:spcPct val="115000"/>
                        </a:lnSpc>
                        <a:spcBef>
                          <a:spcPts val="0"/>
                        </a:spcBef>
                        <a:spcAft>
                          <a:spcPts val="0"/>
                        </a:spcAft>
                      </a:pPr>
                      <a:r>
                        <a:rPr lang="en-US" sz="1800" b="1" dirty="0">
                          <a:latin typeface="Times New Roman" panose="02020603050405020304" pitchFamily="18" charset="0"/>
                          <a:ea typeface="Calibri" panose="020F0502020204030204"/>
                          <a:cs typeface="Times New Roman" panose="02020603050405020304" pitchFamily="18" charset="0"/>
                        </a:rPr>
                        <a:t>2</a:t>
                      </a:r>
                    </a:p>
                  </a:txBody>
                  <a:tcPr marL="68580" marR="6858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algn="ctr">
                        <a:lnSpc>
                          <a:spcPct val="115000"/>
                        </a:lnSpc>
                        <a:spcBef>
                          <a:spcPts val="0"/>
                        </a:spcBef>
                        <a:spcAft>
                          <a:spcPts val="0"/>
                        </a:spcAft>
                      </a:pPr>
                      <a:r>
                        <a:rPr lang="en-US" sz="1800" b="1" dirty="0">
                          <a:latin typeface="Times New Roman" panose="02020603050405020304" pitchFamily="18" charset="0"/>
                          <a:ea typeface="Calibri" panose="020F0502020204030204"/>
                          <a:cs typeface="Times New Roman" panose="02020603050405020304" pitchFamily="18" charset="0"/>
                        </a:rPr>
                        <a:t>3</a:t>
                      </a:r>
                    </a:p>
                  </a:txBody>
                  <a:tcPr marL="68580" marR="6858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algn="ctr">
                        <a:lnSpc>
                          <a:spcPct val="115000"/>
                        </a:lnSpc>
                        <a:spcBef>
                          <a:spcPts val="0"/>
                        </a:spcBef>
                        <a:spcAft>
                          <a:spcPts val="1000"/>
                        </a:spcAft>
                      </a:pPr>
                      <a:r>
                        <a:rPr lang="en-US" sz="1800" b="1" dirty="0">
                          <a:latin typeface="Times New Roman" panose="02020603050405020304" pitchFamily="18" charset="0"/>
                          <a:ea typeface="Calibri" panose="020F0502020204030204"/>
                          <a:cs typeface="Times New Roman" panose="02020603050405020304" pitchFamily="18" charset="0"/>
                        </a:rPr>
                        <a:t>1</a:t>
                      </a:r>
                    </a:p>
                  </a:txBody>
                  <a:tcPr marL="68580" marR="6858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r h="542435">
                <a:tc>
                  <a:txBody>
                    <a:bodyPr/>
                    <a:lstStyle/>
                    <a:p>
                      <a:pPr marL="0" lvl="0" indent="0" algn="ctr" rtl="0">
                        <a:lnSpc>
                          <a:spcPct val="115000"/>
                        </a:lnSpc>
                        <a:spcBef>
                          <a:spcPts val="0"/>
                        </a:spcBef>
                        <a:spcAft>
                          <a:spcPts val="0"/>
                        </a:spcAft>
                        <a:buNone/>
                      </a:pPr>
                      <a:r>
                        <a:rPr lang="en-US" sz="1800" b="1" dirty="0">
                          <a:latin typeface="Times New Roman" panose="02020603050405020304" pitchFamily="18" charset="0"/>
                          <a:cs typeface="Times New Roman" panose="02020603050405020304" pitchFamily="18" charset="0"/>
                        </a:rPr>
                        <a:t>CO3</a:t>
                      </a:r>
                    </a:p>
                  </a:txBody>
                  <a:tcPr marL="68575" marR="68575" marT="91947" marB="91947">
                    <a:lnL w="12700" cap="flat" cmpd="sng">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algn="ctr">
                        <a:lnSpc>
                          <a:spcPct val="115000"/>
                        </a:lnSpc>
                        <a:spcBef>
                          <a:spcPts val="0"/>
                        </a:spcBef>
                        <a:spcAft>
                          <a:spcPts val="0"/>
                        </a:spcAft>
                      </a:pPr>
                      <a:r>
                        <a:rPr lang="en-US" sz="1800" b="1" dirty="0">
                          <a:latin typeface="Times New Roman" panose="02020603050405020304" pitchFamily="18" charset="0"/>
                          <a:ea typeface="Calibri" panose="020F0502020204030204"/>
                          <a:cs typeface="Times New Roman" panose="02020603050405020304" pitchFamily="18" charset="0"/>
                        </a:rPr>
                        <a:t>2</a:t>
                      </a:r>
                    </a:p>
                  </a:txBody>
                  <a:tcPr marL="68580" marR="6858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algn="ctr">
                        <a:lnSpc>
                          <a:spcPct val="115000"/>
                        </a:lnSpc>
                        <a:spcBef>
                          <a:spcPts val="0"/>
                        </a:spcBef>
                        <a:spcAft>
                          <a:spcPts val="0"/>
                        </a:spcAft>
                      </a:pPr>
                      <a:r>
                        <a:rPr lang="en-US" sz="1800" b="1" dirty="0">
                          <a:latin typeface="Times New Roman" panose="02020603050405020304" pitchFamily="18" charset="0"/>
                          <a:ea typeface="Times New Roman" panose="02020603050405020304"/>
                          <a:cs typeface="Times New Roman" panose="02020603050405020304" pitchFamily="18" charset="0"/>
                        </a:rPr>
                        <a:t>3</a:t>
                      </a:r>
                      <a:endParaRPr lang="en-US" sz="1800" b="1" dirty="0">
                        <a:latin typeface="Times New Roman" panose="02020603050405020304" pitchFamily="18" charset="0"/>
                        <a:ea typeface="Calibri" panose="020F0502020204030204"/>
                        <a:cs typeface="Times New Roman" panose="02020603050405020304" pitchFamily="18" charset="0"/>
                      </a:endParaRPr>
                    </a:p>
                  </a:txBody>
                  <a:tcPr marL="68580" marR="6858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algn="ctr">
                        <a:lnSpc>
                          <a:spcPct val="115000"/>
                        </a:lnSpc>
                        <a:spcBef>
                          <a:spcPts val="0"/>
                        </a:spcBef>
                        <a:spcAft>
                          <a:spcPts val="0"/>
                        </a:spcAft>
                      </a:pPr>
                      <a:r>
                        <a:rPr lang="en-US" sz="1800" b="1" dirty="0">
                          <a:latin typeface="Times New Roman" panose="02020603050405020304" pitchFamily="18" charset="0"/>
                          <a:ea typeface="Calibri" panose="020F0502020204030204"/>
                          <a:cs typeface="Times New Roman" panose="02020603050405020304" pitchFamily="18" charset="0"/>
                        </a:rPr>
                        <a:t>2</a:t>
                      </a:r>
                    </a:p>
                  </a:txBody>
                  <a:tcPr marL="68580" marR="6858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algn="ctr">
                        <a:lnSpc>
                          <a:spcPct val="115000"/>
                        </a:lnSpc>
                        <a:spcBef>
                          <a:spcPts val="0"/>
                        </a:spcBef>
                        <a:spcAft>
                          <a:spcPts val="1000"/>
                        </a:spcAft>
                      </a:pPr>
                      <a:r>
                        <a:rPr lang="en-US" sz="1800" b="1" dirty="0">
                          <a:latin typeface="Times New Roman" panose="02020603050405020304" pitchFamily="18" charset="0"/>
                          <a:ea typeface="Calibri" panose="020F0502020204030204"/>
                          <a:cs typeface="Times New Roman" panose="02020603050405020304" pitchFamily="18" charset="0"/>
                        </a:rPr>
                        <a:t>1</a:t>
                      </a:r>
                    </a:p>
                  </a:txBody>
                  <a:tcPr marL="68580" marR="6858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4"/>
                  </a:ext>
                </a:extLst>
              </a:tr>
              <a:tr h="542435">
                <a:tc>
                  <a:txBody>
                    <a:bodyPr/>
                    <a:lstStyle/>
                    <a:p>
                      <a:pPr marL="0" lvl="0" indent="0" algn="ctr" rtl="0">
                        <a:lnSpc>
                          <a:spcPct val="115000"/>
                        </a:lnSpc>
                        <a:spcBef>
                          <a:spcPts val="0"/>
                        </a:spcBef>
                        <a:spcAft>
                          <a:spcPts val="0"/>
                        </a:spcAft>
                        <a:buNone/>
                      </a:pPr>
                      <a:r>
                        <a:rPr lang="en-US" sz="1800" b="1" dirty="0">
                          <a:latin typeface="Times New Roman" panose="02020603050405020304" pitchFamily="18" charset="0"/>
                          <a:cs typeface="Times New Roman" panose="02020603050405020304" pitchFamily="18" charset="0"/>
                        </a:rPr>
                        <a:t>CO4</a:t>
                      </a:r>
                    </a:p>
                  </a:txBody>
                  <a:tcPr marL="68575" marR="68575" marT="91947" marB="91947">
                    <a:lnL w="12700" cap="flat" cmpd="sng">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algn="ctr">
                        <a:lnSpc>
                          <a:spcPct val="115000"/>
                        </a:lnSpc>
                        <a:spcBef>
                          <a:spcPts val="0"/>
                        </a:spcBef>
                        <a:spcAft>
                          <a:spcPts val="0"/>
                        </a:spcAft>
                      </a:pPr>
                      <a:r>
                        <a:rPr lang="en-US" sz="1800" b="1" dirty="0">
                          <a:latin typeface="Times New Roman" panose="02020603050405020304" pitchFamily="18" charset="0"/>
                          <a:ea typeface="Calibri" panose="020F0502020204030204"/>
                          <a:cs typeface="Times New Roman" panose="02020603050405020304" pitchFamily="18" charset="0"/>
                        </a:rPr>
                        <a:t>3</a:t>
                      </a:r>
                    </a:p>
                  </a:txBody>
                  <a:tcPr marL="68580" marR="6858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algn="ctr">
                        <a:lnSpc>
                          <a:spcPct val="115000"/>
                        </a:lnSpc>
                        <a:spcBef>
                          <a:spcPts val="0"/>
                        </a:spcBef>
                        <a:spcAft>
                          <a:spcPts val="0"/>
                        </a:spcAft>
                      </a:pPr>
                      <a:r>
                        <a:rPr lang="en-US" sz="1800" b="1" dirty="0">
                          <a:latin typeface="Times New Roman" panose="02020603050405020304" pitchFamily="18" charset="0"/>
                          <a:ea typeface="Times New Roman" panose="02020603050405020304"/>
                          <a:cs typeface="Times New Roman" panose="02020603050405020304" pitchFamily="18" charset="0"/>
                        </a:rPr>
                        <a:t>2</a:t>
                      </a:r>
                      <a:endParaRPr lang="en-US" sz="1800" b="1" dirty="0">
                        <a:latin typeface="Times New Roman" panose="02020603050405020304" pitchFamily="18" charset="0"/>
                        <a:ea typeface="Calibri" panose="020F0502020204030204"/>
                        <a:cs typeface="Times New Roman" panose="02020603050405020304" pitchFamily="18" charset="0"/>
                      </a:endParaRPr>
                    </a:p>
                  </a:txBody>
                  <a:tcPr marL="68580" marR="6858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algn="ctr">
                        <a:lnSpc>
                          <a:spcPct val="115000"/>
                        </a:lnSpc>
                        <a:spcBef>
                          <a:spcPts val="0"/>
                        </a:spcBef>
                        <a:spcAft>
                          <a:spcPts val="0"/>
                        </a:spcAft>
                      </a:pPr>
                      <a:r>
                        <a:rPr lang="en-US" sz="1800" b="1" dirty="0">
                          <a:latin typeface="Times New Roman" panose="02020603050405020304" pitchFamily="18" charset="0"/>
                          <a:ea typeface="Calibri" panose="020F0502020204030204"/>
                          <a:cs typeface="Times New Roman" panose="02020603050405020304" pitchFamily="18" charset="0"/>
                        </a:rPr>
                        <a:t>3</a:t>
                      </a:r>
                    </a:p>
                  </a:txBody>
                  <a:tcPr marL="68580" marR="6858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algn="ctr">
                        <a:lnSpc>
                          <a:spcPct val="115000"/>
                        </a:lnSpc>
                        <a:spcBef>
                          <a:spcPts val="0"/>
                        </a:spcBef>
                        <a:spcAft>
                          <a:spcPts val="1000"/>
                        </a:spcAft>
                      </a:pPr>
                      <a:r>
                        <a:rPr lang="en-US" sz="1800" b="1" dirty="0">
                          <a:latin typeface="Times New Roman" panose="02020603050405020304" pitchFamily="18" charset="0"/>
                          <a:ea typeface="Calibri" panose="020F0502020204030204"/>
                          <a:cs typeface="Times New Roman" panose="02020603050405020304" pitchFamily="18" charset="0"/>
                        </a:rPr>
                        <a:t>2</a:t>
                      </a:r>
                    </a:p>
                  </a:txBody>
                  <a:tcPr marL="68580" marR="6858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5"/>
                  </a:ext>
                </a:extLst>
              </a:tr>
              <a:tr h="499362">
                <a:tc>
                  <a:txBody>
                    <a:bodyPr/>
                    <a:lstStyle/>
                    <a:p>
                      <a:pPr marL="0" lvl="0" indent="0" algn="ctr" rtl="0">
                        <a:lnSpc>
                          <a:spcPct val="115000"/>
                        </a:lnSpc>
                        <a:spcBef>
                          <a:spcPts val="0"/>
                        </a:spcBef>
                        <a:spcAft>
                          <a:spcPts val="0"/>
                        </a:spcAft>
                        <a:buNone/>
                      </a:pPr>
                      <a:r>
                        <a:rPr lang="en-US" sz="1800" b="1" dirty="0">
                          <a:latin typeface="Times New Roman" panose="02020603050405020304" pitchFamily="18" charset="0"/>
                          <a:cs typeface="Times New Roman" panose="02020603050405020304" pitchFamily="18" charset="0"/>
                        </a:rPr>
                        <a:t>CO5</a:t>
                      </a:r>
                    </a:p>
                  </a:txBody>
                  <a:tcPr marL="68575" marR="68575" marT="91947" marB="91947">
                    <a:lnL w="12700" cap="flat" cmpd="sng">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algn="ctr">
                        <a:lnSpc>
                          <a:spcPct val="115000"/>
                        </a:lnSpc>
                        <a:spcBef>
                          <a:spcPts val="0"/>
                        </a:spcBef>
                        <a:spcAft>
                          <a:spcPts val="0"/>
                        </a:spcAft>
                      </a:pPr>
                      <a:r>
                        <a:rPr lang="en-US" sz="1800" b="1" dirty="0">
                          <a:latin typeface="Times New Roman" panose="02020603050405020304" pitchFamily="18" charset="0"/>
                          <a:ea typeface="Calibri" panose="020F0502020204030204"/>
                          <a:cs typeface="Times New Roman" panose="02020603050405020304" pitchFamily="18" charset="0"/>
                        </a:rPr>
                        <a:t>2</a:t>
                      </a:r>
                    </a:p>
                  </a:txBody>
                  <a:tcPr marL="68580" marR="6858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algn="ctr">
                        <a:lnSpc>
                          <a:spcPct val="115000"/>
                        </a:lnSpc>
                        <a:spcBef>
                          <a:spcPts val="0"/>
                        </a:spcBef>
                        <a:spcAft>
                          <a:spcPts val="0"/>
                        </a:spcAft>
                      </a:pPr>
                      <a:r>
                        <a:rPr lang="en-US" sz="1800" b="1" dirty="0">
                          <a:latin typeface="Times New Roman" panose="02020603050405020304" pitchFamily="18" charset="0"/>
                          <a:ea typeface="Calibri" panose="020F0502020204030204"/>
                          <a:cs typeface="Times New Roman" panose="02020603050405020304" pitchFamily="18" charset="0"/>
                        </a:rPr>
                        <a:t>1</a:t>
                      </a:r>
                    </a:p>
                  </a:txBody>
                  <a:tcPr marL="68580" marR="6858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algn="ctr">
                        <a:lnSpc>
                          <a:spcPct val="115000"/>
                        </a:lnSpc>
                        <a:spcBef>
                          <a:spcPts val="0"/>
                        </a:spcBef>
                        <a:spcAft>
                          <a:spcPts val="0"/>
                        </a:spcAft>
                      </a:pPr>
                      <a:r>
                        <a:rPr lang="en-US" sz="1800" b="1" dirty="0">
                          <a:latin typeface="Times New Roman" panose="02020603050405020304" pitchFamily="18" charset="0"/>
                          <a:ea typeface="Calibri" panose="020F0502020204030204"/>
                          <a:cs typeface="Times New Roman" panose="02020603050405020304" pitchFamily="18" charset="0"/>
                        </a:rPr>
                        <a:t>2</a:t>
                      </a:r>
                    </a:p>
                  </a:txBody>
                  <a:tcPr marL="68580" marR="6858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algn="ctr">
                        <a:lnSpc>
                          <a:spcPct val="115000"/>
                        </a:lnSpc>
                        <a:spcBef>
                          <a:spcPts val="0"/>
                        </a:spcBef>
                        <a:spcAft>
                          <a:spcPts val="1000"/>
                        </a:spcAft>
                      </a:pPr>
                      <a:r>
                        <a:rPr lang="en-US" sz="1800" b="1" dirty="0">
                          <a:latin typeface="Times New Roman" panose="02020603050405020304" pitchFamily="18" charset="0"/>
                          <a:ea typeface="Calibri" panose="020F0502020204030204"/>
                          <a:cs typeface="Times New Roman" panose="02020603050405020304" pitchFamily="18" charset="0"/>
                        </a:rPr>
                        <a:t>3</a:t>
                      </a:r>
                    </a:p>
                  </a:txBody>
                  <a:tcPr marL="68580" marR="6858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6"/>
                  </a:ext>
                </a:extLst>
              </a:tr>
              <a:tr h="499362">
                <a:tc>
                  <a:txBody>
                    <a:bodyPr/>
                    <a:lstStyle/>
                    <a:p>
                      <a:pPr marL="0" marR="0" lvl="0" indent="0" algn="ctr" rtl="0">
                        <a:lnSpc>
                          <a:spcPct val="115000"/>
                        </a:lnSpc>
                        <a:spcBef>
                          <a:spcPts val="0"/>
                        </a:spcBef>
                        <a:spcAft>
                          <a:spcPts val="0"/>
                        </a:spcAft>
                        <a:buClr>
                          <a:srgbClr val="000000"/>
                        </a:buClr>
                        <a:buFont typeface="Arial" panose="020B0604020202020204"/>
                        <a:buNone/>
                      </a:pPr>
                      <a:r>
                        <a:rPr lang="en-US" sz="1800" b="1" i="0" u="none" strike="noStrike" cap="none" dirty="0">
                          <a:solidFill>
                            <a:srgbClr val="000000"/>
                          </a:solidFill>
                          <a:latin typeface="Times New Roman" panose="02020603050405020304" pitchFamily="18" charset="0"/>
                          <a:cs typeface="Times New Roman" panose="02020603050405020304" pitchFamily="18" charset="0"/>
                          <a:sym typeface="Arial" panose="020B0604020202020204"/>
                        </a:rPr>
                        <a:t>AVG</a:t>
                      </a:r>
                      <a:endParaRPr sz="1800" b="1" i="0" u="none" strike="noStrike" cap="none" dirty="0">
                        <a:solidFill>
                          <a:srgbClr val="000000"/>
                        </a:solidFill>
                        <a:latin typeface="Times New Roman" panose="02020603050405020304" pitchFamily="18" charset="0"/>
                        <a:cs typeface="Times New Roman" panose="02020603050405020304" pitchFamily="18" charset="0"/>
                        <a:sym typeface="Arial" panose="020B0604020202020204"/>
                      </a:endParaRPr>
                    </a:p>
                  </a:txBody>
                  <a:tcPr marL="68575" marR="68575" marT="91947" marB="91947">
                    <a:lnL w="12700" cap="flat" cmpd="sng">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algn="ctr" rtl="0">
                        <a:lnSpc>
                          <a:spcPct val="115000"/>
                        </a:lnSpc>
                        <a:spcBef>
                          <a:spcPts val="0"/>
                        </a:spcBef>
                        <a:spcAft>
                          <a:spcPts val="0"/>
                        </a:spcAft>
                        <a:buClr>
                          <a:srgbClr val="000000"/>
                        </a:buClr>
                        <a:buFont typeface="Arial" panose="020B0604020202020204"/>
                      </a:pPr>
                      <a:r>
                        <a:rPr lang="en-US" sz="1800" b="1" i="0" u="none" strike="noStrike" cap="none" dirty="0">
                          <a:solidFill>
                            <a:srgbClr val="000000"/>
                          </a:solidFill>
                          <a:latin typeface="Times New Roman" panose="02020603050405020304" pitchFamily="18" charset="0"/>
                          <a:ea typeface="Calibri" panose="020F0502020204030204"/>
                          <a:cs typeface="Times New Roman" panose="02020603050405020304" pitchFamily="18" charset="0"/>
                          <a:sym typeface="Arial" panose="020B0604020202020204"/>
                        </a:rPr>
                        <a:t>2</a:t>
                      </a:r>
                      <a:r>
                        <a:rPr lang="en-IN" sz="1800" b="1" i="0" u="none" strike="noStrike" cap="none" dirty="0">
                          <a:solidFill>
                            <a:srgbClr val="000000"/>
                          </a:solidFill>
                          <a:latin typeface="Times New Roman" panose="02020603050405020304" pitchFamily="18" charset="0"/>
                          <a:ea typeface="Calibri" panose="020F0502020204030204"/>
                          <a:cs typeface="Times New Roman" panose="02020603050405020304" pitchFamily="18" charset="0"/>
                          <a:sym typeface="Arial" panose="020B0604020202020204"/>
                        </a:rPr>
                        <a:t>.2</a:t>
                      </a:r>
                      <a:endParaRPr lang="en-US" sz="1800" b="1" i="0" u="none" strike="noStrike" cap="none" dirty="0">
                        <a:solidFill>
                          <a:srgbClr val="000000"/>
                        </a:solidFill>
                        <a:latin typeface="Times New Roman" panose="02020603050405020304" pitchFamily="18" charset="0"/>
                        <a:ea typeface="Calibri" panose="020F0502020204030204"/>
                        <a:cs typeface="Times New Roman" panose="02020603050405020304" pitchFamily="18" charset="0"/>
                        <a:sym typeface="Arial" panose="020B0604020202020204"/>
                      </a:endParaRPr>
                    </a:p>
                  </a:txBody>
                  <a:tcPr marL="68580" marR="6858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algn="ctr" rtl="0">
                        <a:lnSpc>
                          <a:spcPct val="115000"/>
                        </a:lnSpc>
                        <a:spcBef>
                          <a:spcPts val="0"/>
                        </a:spcBef>
                        <a:spcAft>
                          <a:spcPts val="0"/>
                        </a:spcAft>
                        <a:buClr>
                          <a:srgbClr val="000000"/>
                        </a:buClr>
                        <a:buFont typeface="Arial" panose="020B0604020202020204"/>
                      </a:pPr>
                      <a:r>
                        <a:rPr lang="en-US" sz="1800" b="1" i="0" u="none" strike="noStrike" cap="none" dirty="0">
                          <a:solidFill>
                            <a:srgbClr val="000000"/>
                          </a:solidFill>
                          <a:latin typeface="Times New Roman" panose="02020603050405020304" pitchFamily="18" charset="0"/>
                          <a:ea typeface="Calibri" panose="020F0502020204030204"/>
                          <a:cs typeface="Times New Roman" panose="02020603050405020304" pitchFamily="18" charset="0"/>
                          <a:sym typeface="Arial" panose="020B0604020202020204"/>
                        </a:rPr>
                        <a:t>1</a:t>
                      </a:r>
                      <a:r>
                        <a:rPr lang="en-IN" sz="1800" b="1" i="0" u="none" strike="noStrike" cap="none" dirty="0">
                          <a:solidFill>
                            <a:srgbClr val="000000"/>
                          </a:solidFill>
                          <a:latin typeface="Times New Roman" panose="02020603050405020304" pitchFamily="18" charset="0"/>
                          <a:ea typeface="Calibri" panose="020F0502020204030204"/>
                          <a:cs typeface="Times New Roman" panose="02020603050405020304" pitchFamily="18" charset="0"/>
                          <a:sym typeface="Arial" panose="020B0604020202020204"/>
                        </a:rPr>
                        <a:t>.8</a:t>
                      </a:r>
                      <a:endParaRPr lang="en-US" sz="1800" b="1" i="0" u="none" strike="noStrike" cap="none" dirty="0">
                        <a:solidFill>
                          <a:srgbClr val="000000"/>
                        </a:solidFill>
                        <a:latin typeface="Times New Roman" panose="02020603050405020304" pitchFamily="18" charset="0"/>
                        <a:ea typeface="Calibri" panose="020F0502020204030204"/>
                        <a:cs typeface="Times New Roman" panose="02020603050405020304" pitchFamily="18" charset="0"/>
                        <a:sym typeface="Arial" panose="020B0604020202020204"/>
                      </a:endParaRPr>
                    </a:p>
                  </a:txBody>
                  <a:tcPr marL="68580" marR="6858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algn="ctr" rtl="0">
                        <a:lnSpc>
                          <a:spcPct val="115000"/>
                        </a:lnSpc>
                        <a:spcBef>
                          <a:spcPts val="0"/>
                        </a:spcBef>
                        <a:spcAft>
                          <a:spcPts val="0"/>
                        </a:spcAft>
                        <a:buClr>
                          <a:srgbClr val="000000"/>
                        </a:buClr>
                        <a:buFont typeface="Arial" panose="020B0604020202020204"/>
                      </a:pPr>
                      <a:r>
                        <a:rPr lang="en-US" sz="1800" b="1" i="0" u="none" strike="noStrike" cap="none" dirty="0">
                          <a:solidFill>
                            <a:srgbClr val="000000"/>
                          </a:solidFill>
                          <a:latin typeface="Times New Roman" panose="02020603050405020304" pitchFamily="18" charset="0"/>
                          <a:ea typeface="Calibri" panose="020F0502020204030204"/>
                          <a:cs typeface="Times New Roman" panose="02020603050405020304" pitchFamily="18" charset="0"/>
                          <a:sym typeface="Arial" panose="020B0604020202020204"/>
                        </a:rPr>
                        <a:t>2</a:t>
                      </a:r>
                      <a:r>
                        <a:rPr lang="en-IN" sz="1800" b="1" i="0" u="none" strike="noStrike" cap="none" dirty="0">
                          <a:solidFill>
                            <a:srgbClr val="000000"/>
                          </a:solidFill>
                          <a:latin typeface="Times New Roman" panose="02020603050405020304" pitchFamily="18" charset="0"/>
                          <a:ea typeface="Calibri" panose="020F0502020204030204"/>
                          <a:cs typeface="Times New Roman" panose="02020603050405020304" pitchFamily="18" charset="0"/>
                          <a:sym typeface="Arial" panose="020B0604020202020204"/>
                        </a:rPr>
                        <a:t>.2</a:t>
                      </a:r>
                      <a:endParaRPr lang="en-US" sz="1800" b="1" i="0" u="none" strike="noStrike" cap="none" dirty="0">
                        <a:solidFill>
                          <a:srgbClr val="000000"/>
                        </a:solidFill>
                        <a:latin typeface="Times New Roman" panose="02020603050405020304" pitchFamily="18" charset="0"/>
                        <a:ea typeface="Calibri" panose="020F0502020204030204"/>
                        <a:cs typeface="Times New Roman" panose="02020603050405020304" pitchFamily="18" charset="0"/>
                        <a:sym typeface="Arial" panose="020B0604020202020204"/>
                      </a:endParaRPr>
                    </a:p>
                  </a:txBody>
                  <a:tcPr marL="68580" marR="6858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algn="ctr" rtl="0">
                        <a:lnSpc>
                          <a:spcPct val="115000"/>
                        </a:lnSpc>
                        <a:spcBef>
                          <a:spcPts val="0"/>
                        </a:spcBef>
                        <a:spcAft>
                          <a:spcPts val="0"/>
                        </a:spcAft>
                        <a:buClr>
                          <a:srgbClr val="000000"/>
                        </a:buClr>
                        <a:buFont typeface="Arial" panose="020B0604020202020204"/>
                      </a:pPr>
                      <a:r>
                        <a:rPr lang="en-US" sz="1800" b="1" i="0" u="none" strike="noStrike" cap="none" dirty="0">
                          <a:solidFill>
                            <a:srgbClr val="000000"/>
                          </a:solidFill>
                          <a:latin typeface="Times New Roman" panose="02020603050405020304" pitchFamily="18" charset="0"/>
                          <a:ea typeface="Calibri" panose="020F0502020204030204"/>
                          <a:cs typeface="Times New Roman" panose="02020603050405020304" pitchFamily="18" charset="0"/>
                          <a:sym typeface="Arial" panose="020B0604020202020204"/>
                        </a:rPr>
                        <a:t>1.6</a:t>
                      </a:r>
                    </a:p>
                  </a:txBody>
                  <a:tcPr marL="68580" marR="6858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20668666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E73A3019-CFE4-49DD-B6FD-2AFB2DD2DBB6}" type="datetime1">
              <a:rPr lang="en-US" smtClean="0"/>
              <a:t>11/7/2024</a:t>
            </a:fld>
            <a:endParaRPr lang="en-US"/>
          </a:p>
        </p:txBody>
      </p:sp>
      <p:sp>
        <p:nvSpPr>
          <p:cNvPr id="5" name="Footer Placeholder 4"/>
          <p:cNvSpPr>
            <a:spLocks noGrp="1"/>
          </p:cNvSpPr>
          <p:nvPr>
            <p:ph type="ftr" sz="quarter" idx="11"/>
          </p:nvPr>
        </p:nvSpPr>
        <p:spPr>
          <a:xfrm>
            <a:off x="4343400" y="6248401"/>
            <a:ext cx="4724400" cy="365125"/>
          </a:xfrm>
        </p:spPr>
        <p:txBody>
          <a:bodyPr/>
          <a:lstStyle/>
          <a:p>
            <a:r>
              <a:rPr lang="en-US" dirty="0"/>
              <a:t>Vaishali Mishra            ACSE0505 Web Technology                Unit 5</a:t>
            </a:r>
          </a:p>
        </p:txBody>
      </p:sp>
      <p:sp>
        <p:nvSpPr>
          <p:cNvPr id="6" name="Slide Number Placeholder 5"/>
          <p:cNvSpPr>
            <a:spLocks noGrp="1"/>
          </p:cNvSpPr>
          <p:nvPr>
            <p:ph type="sldNum" sz="quarter" idx="12"/>
          </p:nvPr>
        </p:nvSpPr>
        <p:spPr/>
        <p:txBody>
          <a:bodyPr/>
          <a:lstStyle/>
          <a:p>
            <a:fld id="{B6F15528-21DE-4FAA-801E-634DDDAF4B2B}" type="slidenum">
              <a:rPr lang="en-US" smtClean="0"/>
              <a:pPr/>
              <a:t>18</a:t>
            </a:fld>
            <a:endParaRPr lang="en-US"/>
          </a:p>
        </p:txBody>
      </p:sp>
      <p:sp>
        <p:nvSpPr>
          <p:cNvPr id="7" name="Title 1"/>
          <p:cNvSpPr txBox="1">
            <a:spLocks/>
          </p:cNvSpPr>
          <p:nvPr/>
        </p:nvSpPr>
        <p:spPr>
          <a:xfrm>
            <a:off x="2895600" y="2"/>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endParaRPr lang="en-US" sz="2800" dirty="0"/>
          </a:p>
          <a:p>
            <a:r>
              <a:rPr lang="en-US" sz="2800" dirty="0"/>
              <a:t>Program Educational Objectives </a:t>
            </a:r>
          </a:p>
          <a:p>
            <a:endParaRPr lang="en-US" dirty="0"/>
          </a:p>
        </p:txBody>
      </p:sp>
      <p:pic>
        <p:nvPicPr>
          <p:cNvPr id="2" name="Picture 1" descr="A black and red logo&#10;&#10;Description automatically generated">
            <a:extLst>
              <a:ext uri="{FF2B5EF4-FFF2-40B4-BE49-F238E27FC236}">
                <a16:creationId xmlns:a16="http://schemas.microsoft.com/office/drawing/2014/main" id="{8BDB0671-FC93-5C9E-75A2-ED46EE3FB8B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9" name="TextBox 8">
            <a:extLst>
              <a:ext uri="{FF2B5EF4-FFF2-40B4-BE49-F238E27FC236}">
                <a16:creationId xmlns:a16="http://schemas.microsoft.com/office/drawing/2014/main" id="{DEED8678-3568-DE55-31EE-2F39E3E2F2B6}"/>
              </a:ext>
            </a:extLst>
          </p:cNvPr>
          <p:cNvSpPr txBox="1"/>
          <p:nvPr/>
        </p:nvSpPr>
        <p:spPr>
          <a:xfrm>
            <a:off x="914400" y="1406161"/>
            <a:ext cx="9601200" cy="4575612"/>
          </a:xfrm>
          <a:prstGeom prst="rect">
            <a:avLst/>
          </a:prstGeom>
          <a:noFill/>
        </p:spPr>
        <p:txBody>
          <a:bodyPr wrap="square">
            <a:spAutoFit/>
          </a:bodyPr>
          <a:lstStyle/>
          <a:p>
            <a:pPr algn="just">
              <a:spcBef>
                <a:spcPts val="365"/>
              </a:spcBef>
              <a:buClr>
                <a:srgbClr val="000000"/>
              </a:buClr>
              <a:defRPr/>
            </a:pPr>
            <a:r>
              <a:rPr lang="en-US" altLang="en-US" sz="2400" b="1" dirty="0">
                <a:latin typeface="Times New Roman" panose="02020603050405020304" pitchFamily="18" charset="0"/>
                <a:cs typeface="Times New Roman" panose="02020603050405020304" pitchFamily="18" charset="0"/>
              </a:rPr>
              <a:t>PEO1: </a:t>
            </a:r>
            <a:r>
              <a:rPr lang="en-US" sz="2400" dirty="0">
                <a:latin typeface="Times New Roman" panose="02020603050405020304" pitchFamily="18" charset="0"/>
                <a:cs typeface="Times New Roman" panose="02020603050405020304" pitchFamily="18" charset="0"/>
              </a:rPr>
              <a:t>To have an excellent scientific and engineering breadth so as to comprehend, analyze, design and provide sustainable solutions for real-life problems using state-of-the-art technologies. </a:t>
            </a:r>
          </a:p>
          <a:p>
            <a:pPr>
              <a:defRPr/>
            </a:pPr>
            <a:r>
              <a:rPr lang="en-US" altLang="en-US" sz="2400" b="1" dirty="0">
                <a:latin typeface="Times New Roman" panose="02020603050405020304" pitchFamily="18" charset="0"/>
                <a:cs typeface="Times New Roman" panose="02020603050405020304" pitchFamily="18" charset="0"/>
              </a:rPr>
              <a:t>PEO2:</a:t>
            </a:r>
            <a:r>
              <a:rPr lang="en-US" sz="2400" dirty="0">
                <a:latin typeface="Times New Roman" panose="02020603050405020304" pitchFamily="18" charset="0"/>
                <a:cs typeface="Times New Roman" panose="02020603050405020304" pitchFamily="18" charset="0"/>
              </a:rPr>
              <a:t>To have a successful career in industries, to pursue higher studies or to support entrepreneurial endeavors and to face global challenges. </a:t>
            </a:r>
            <a:endParaRPr lang="en-IN" altLang="en-US" sz="2400" dirty="0">
              <a:latin typeface="Times New Roman" panose="02020603050405020304" pitchFamily="18" charset="0"/>
              <a:cs typeface="Times New Roman" panose="02020603050405020304" pitchFamily="18" charset="0"/>
            </a:endParaRPr>
          </a:p>
          <a:p>
            <a:pPr>
              <a:defRPr/>
            </a:pPr>
            <a:r>
              <a:rPr lang="en-US" altLang="en-US" sz="2400" b="1" dirty="0">
                <a:latin typeface="Times New Roman" panose="02020603050405020304" pitchFamily="18" charset="0"/>
                <a:cs typeface="Times New Roman" panose="02020603050405020304" pitchFamily="18" charset="0"/>
              </a:rPr>
              <a:t>PEO3:</a:t>
            </a:r>
            <a:r>
              <a:rPr lang="en-US" sz="2400" dirty="0">
                <a:latin typeface="Times New Roman" panose="02020603050405020304" pitchFamily="18" charset="0"/>
                <a:cs typeface="Times New Roman" panose="02020603050405020304" pitchFamily="18" charset="0"/>
              </a:rPr>
              <a:t>To have an effective communication skill, professional attitude, ethical values and a desire to learn specific knowledge in emerging trends, technologies for research, innovation and product development and contribution to society. </a:t>
            </a:r>
            <a:endParaRPr lang="en-IN" sz="2400" dirty="0">
              <a:latin typeface="Times New Roman" panose="02020603050405020304" pitchFamily="18" charset="0"/>
              <a:cs typeface="Times New Roman" panose="02020603050405020304" pitchFamily="18" charset="0"/>
            </a:endParaRPr>
          </a:p>
          <a:p>
            <a:pPr algn="just">
              <a:spcBef>
                <a:spcPts val="365"/>
              </a:spcBef>
              <a:buClr>
                <a:srgbClr val="000000"/>
              </a:buClr>
              <a:defRPr/>
            </a:pPr>
            <a:r>
              <a:rPr lang="en-US" altLang="en-US" sz="2400" b="1" dirty="0">
                <a:latin typeface="Times New Roman" panose="02020603050405020304" pitchFamily="18" charset="0"/>
                <a:cs typeface="Times New Roman" panose="02020603050405020304" pitchFamily="18" charset="0"/>
              </a:rPr>
              <a:t>PEO4:</a:t>
            </a:r>
            <a:r>
              <a:rPr lang="en-US" altLang="en-US" sz="2400"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To have life-long learning for up-skilling and re-skilling for a successful professional career as an engineer, scientist, entrepreneur, or bureaucrat for the betterment of society.</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827487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E73A3019-CFE4-49DD-B6FD-2AFB2DD2DBB6}" type="datetime1">
              <a:rPr lang="en-US" smtClean="0"/>
              <a:t>11/7/2024</a:t>
            </a:fld>
            <a:endParaRPr lang="en-US"/>
          </a:p>
        </p:txBody>
      </p:sp>
      <p:sp>
        <p:nvSpPr>
          <p:cNvPr id="5" name="Footer Placeholder 4"/>
          <p:cNvSpPr>
            <a:spLocks noGrp="1"/>
          </p:cNvSpPr>
          <p:nvPr>
            <p:ph type="ftr" sz="quarter" idx="11"/>
          </p:nvPr>
        </p:nvSpPr>
        <p:spPr>
          <a:xfrm>
            <a:off x="4343400" y="6248401"/>
            <a:ext cx="4724400" cy="365125"/>
          </a:xfrm>
        </p:spPr>
        <p:txBody>
          <a:bodyPr/>
          <a:lstStyle/>
          <a:p>
            <a:r>
              <a:rPr lang="en-US" dirty="0"/>
              <a:t>Vaishali Mishra            ACSE0505 Web Technology                Unit 5</a:t>
            </a:r>
          </a:p>
        </p:txBody>
      </p:sp>
      <p:sp>
        <p:nvSpPr>
          <p:cNvPr id="6" name="Slide Number Placeholder 5"/>
          <p:cNvSpPr>
            <a:spLocks noGrp="1"/>
          </p:cNvSpPr>
          <p:nvPr>
            <p:ph type="sldNum" sz="quarter" idx="12"/>
          </p:nvPr>
        </p:nvSpPr>
        <p:spPr/>
        <p:txBody>
          <a:bodyPr/>
          <a:lstStyle/>
          <a:p>
            <a:fld id="{B6F15528-21DE-4FAA-801E-634DDDAF4B2B}" type="slidenum">
              <a:rPr lang="en-US" smtClean="0"/>
              <a:pPr/>
              <a:t>19</a:t>
            </a:fld>
            <a:endParaRPr lang="en-US"/>
          </a:p>
        </p:txBody>
      </p:sp>
      <p:sp>
        <p:nvSpPr>
          <p:cNvPr id="7" name="Title 1"/>
          <p:cNvSpPr txBox="1">
            <a:spLocks/>
          </p:cNvSpPr>
          <p:nvPr/>
        </p:nvSpPr>
        <p:spPr>
          <a:xfrm>
            <a:off x="2895600" y="2"/>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endParaRPr lang="en-IN" sz="2800" dirty="0">
              <a:cs typeface="Times New Roman" pitchFamily="18" charset="0"/>
              <a:sym typeface="Arial" charset="0"/>
            </a:endParaRPr>
          </a:p>
          <a:p>
            <a:r>
              <a:rPr lang="en-IN" sz="2800" dirty="0">
                <a:cs typeface="Times New Roman" pitchFamily="18" charset="0"/>
                <a:sym typeface="Arial" charset="0"/>
              </a:rPr>
              <a:t>End Semester Question Paper Template </a:t>
            </a:r>
            <a:endParaRPr lang="en-US" sz="2800" dirty="0">
              <a:cs typeface="Times New Roman" pitchFamily="18" charset="0"/>
              <a:sym typeface="Arial" charset="0"/>
            </a:endParaRPr>
          </a:p>
          <a:p>
            <a:endParaRPr lang="en-US" dirty="0"/>
          </a:p>
        </p:txBody>
      </p:sp>
      <p:pic>
        <p:nvPicPr>
          <p:cNvPr id="2" name="Picture 1" descr="A black and red logo&#10;&#10;Description automatically generated">
            <a:extLst>
              <a:ext uri="{FF2B5EF4-FFF2-40B4-BE49-F238E27FC236}">
                <a16:creationId xmlns:a16="http://schemas.microsoft.com/office/drawing/2014/main" id="{8BDB0671-FC93-5C9E-75A2-ED46EE3FB8B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8" name="Content Placeholder 1">
            <a:extLst>
              <a:ext uri="{FF2B5EF4-FFF2-40B4-BE49-F238E27FC236}">
                <a16:creationId xmlns:a16="http://schemas.microsoft.com/office/drawing/2014/main" id="{3CAD8591-FF47-C266-8289-68779A4D20BF}"/>
              </a:ext>
            </a:extLst>
          </p:cNvPr>
          <p:cNvSpPr>
            <a:spLocks noGrp="1"/>
          </p:cNvSpPr>
          <p:nvPr>
            <p:ph idx="1"/>
          </p:nvPr>
        </p:nvSpPr>
        <p:spPr>
          <a:xfrm>
            <a:off x="457200" y="1225550"/>
            <a:ext cx="10668000" cy="4754563"/>
          </a:xfrm>
        </p:spPr>
        <p:txBody>
          <a:bodyPr/>
          <a:lstStyle/>
          <a:p>
            <a:pPr marL="0" indent="0" algn="ctr">
              <a:buFont typeface="Arial" panose="020B0604020202020204" pitchFamily="34" charset="0"/>
              <a:buNone/>
              <a:defRPr/>
            </a:pPr>
            <a:r>
              <a:rPr lang="en-IN" sz="2000" dirty="0">
                <a:sym typeface="Arial" charset="0"/>
              </a:rPr>
              <a:t>B TECH </a:t>
            </a:r>
          </a:p>
          <a:p>
            <a:pPr marL="0" indent="0" algn="ctr">
              <a:buFont typeface="Arial" panose="020B0604020202020204" pitchFamily="34" charset="0"/>
              <a:buNone/>
              <a:defRPr/>
            </a:pPr>
            <a:r>
              <a:rPr lang="en-IN" sz="2000" dirty="0">
                <a:sym typeface="Arial" charset="0"/>
              </a:rPr>
              <a:t>(SEM-V) THEORY EXAMINATION 20__-20__</a:t>
            </a:r>
          </a:p>
          <a:p>
            <a:pPr marL="0" indent="0" algn="ctr">
              <a:buFont typeface="Arial" panose="020B0604020202020204" pitchFamily="34" charset="0"/>
              <a:buNone/>
              <a:defRPr/>
            </a:pPr>
            <a:endParaRPr lang="en-IN" sz="2000" dirty="0">
              <a:sym typeface="Arial" charset="0"/>
            </a:endParaRPr>
          </a:p>
          <a:p>
            <a:pPr marL="0" indent="0">
              <a:buFont typeface="Arial" panose="020B0604020202020204" pitchFamily="34" charset="0"/>
              <a:buNone/>
              <a:defRPr/>
            </a:pPr>
            <a:r>
              <a:rPr lang="en-IN" sz="2000" b="1" dirty="0">
                <a:sym typeface="Arial" charset="0"/>
              </a:rPr>
              <a:t>Time: 3 Hours                                                                                    Total Marks: 100 </a:t>
            </a:r>
          </a:p>
          <a:p>
            <a:pPr marL="0" indent="0" algn="just">
              <a:buFont typeface="Arial" panose="020B0604020202020204" pitchFamily="34" charset="0"/>
              <a:buNone/>
              <a:defRPr/>
            </a:pPr>
            <a:r>
              <a:rPr lang="en-IN" sz="2000" b="1" i="1" dirty="0">
                <a:sym typeface="Arial" charset="0"/>
              </a:rPr>
              <a:t>Note: 1. Attempt all Sections. If require any missing data; then choose suitably.</a:t>
            </a:r>
          </a:p>
          <a:p>
            <a:pPr marL="0" indent="0" algn="ctr">
              <a:buFont typeface="Arial" panose="020B0604020202020204" pitchFamily="34" charset="0"/>
              <a:buNone/>
              <a:defRPr/>
            </a:pPr>
            <a:r>
              <a:rPr lang="en-IN" sz="2000" b="1" dirty="0">
                <a:sym typeface="Arial" charset="0"/>
              </a:rPr>
              <a:t>SECTION A </a:t>
            </a:r>
          </a:p>
          <a:p>
            <a:pPr indent="-457200">
              <a:buFont typeface="Arial" panose="020B0604020202020204" pitchFamily="34" charset="0"/>
              <a:buAutoNum type="arabicPeriod"/>
              <a:defRPr/>
            </a:pPr>
            <a:r>
              <a:rPr lang="en-IN" sz="2000" b="1" dirty="0">
                <a:sym typeface="Arial" charset="0"/>
              </a:rPr>
              <a:t>Attempt all questions in brief.                                                                                       1 x 10 = 10</a:t>
            </a:r>
          </a:p>
          <a:p>
            <a:pPr marL="0" indent="0">
              <a:buFont typeface="Arial" panose="020B0604020202020204" pitchFamily="34" charset="0"/>
              <a:buNone/>
              <a:defRPr/>
            </a:pPr>
            <a:endParaRPr lang="en-IN" sz="2000" b="1" i="1" dirty="0">
              <a:sym typeface="Arial" charset="0"/>
            </a:endParaRPr>
          </a:p>
        </p:txBody>
      </p:sp>
      <p:graphicFrame>
        <p:nvGraphicFramePr>
          <p:cNvPr id="9" name="Table 8">
            <a:extLst>
              <a:ext uri="{FF2B5EF4-FFF2-40B4-BE49-F238E27FC236}">
                <a16:creationId xmlns:a16="http://schemas.microsoft.com/office/drawing/2014/main" id="{178439B1-8FF5-4ADE-07B2-FA76BBD1181E}"/>
              </a:ext>
            </a:extLst>
          </p:cNvPr>
          <p:cNvGraphicFramePr>
            <a:graphicFrameLocks noGrp="1"/>
          </p:cNvGraphicFramePr>
          <p:nvPr>
            <p:extLst>
              <p:ext uri="{D42A27DB-BD31-4B8C-83A1-F6EECF244321}">
                <p14:modId xmlns:p14="http://schemas.microsoft.com/office/powerpoint/2010/main" val="3177003834"/>
              </p:ext>
            </p:extLst>
          </p:nvPr>
        </p:nvGraphicFramePr>
        <p:xfrm>
          <a:off x="838200" y="3876992"/>
          <a:ext cx="9525000" cy="2077126"/>
        </p:xfrm>
        <a:graphic>
          <a:graphicData uri="http://schemas.openxmlformats.org/drawingml/2006/table">
            <a:tbl>
              <a:tblPr firstRow="1" bandRow="1">
                <a:tableStyleId>{5C22544A-7EE6-4342-B048-85BDC9FD1C3A}</a:tableStyleId>
              </a:tblPr>
              <a:tblGrid>
                <a:gridCol w="1099037">
                  <a:extLst>
                    <a:ext uri="{9D8B030D-6E8A-4147-A177-3AD203B41FA5}">
                      <a16:colId xmlns:a16="http://schemas.microsoft.com/office/drawing/2014/main" val="3792131743"/>
                    </a:ext>
                  </a:extLst>
                </a:gridCol>
                <a:gridCol w="6411059">
                  <a:extLst>
                    <a:ext uri="{9D8B030D-6E8A-4147-A177-3AD203B41FA5}">
                      <a16:colId xmlns:a16="http://schemas.microsoft.com/office/drawing/2014/main" val="8046489"/>
                    </a:ext>
                  </a:extLst>
                </a:gridCol>
                <a:gridCol w="1007452">
                  <a:extLst>
                    <a:ext uri="{9D8B030D-6E8A-4147-A177-3AD203B41FA5}">
                      <a16:colId xmlns:a16="http://schemas.microsoft.com/office/drawing/2014/main" val="992028086"/>
                    </a:ext>
                  </a:extLst>
                </a:gridCol>
                <a:gridCol w="1007452">
                  <a:extLst>
                    <a:ext uri="{9D8B030D-6E8A-4147-A177-3AD203B41FA5}">
                      <a16:colId xmlns:a16="http://schemas.microsoft.com/office/drawing/2014/main" val="1622905948"/>
                    </a:ext>
                  </a:extLst>
                </a:gridCol>
              </a:tblGrid>
              <a:tr h="614086">
                <a:tc>
                  <a:txBody>
                    <a:bodyPr/>
                    <a:lstStyle/>
                    <a:p>
                      <a:r>
                        <a:rPr lang="en-IN" dirty="0" err="1">
                          <a:solidFill>
                            <a:schemeClr val="tx1"/>
                          </a:solidFill>
                        </a:rPr>
                        <a:t>Q.No</a:t>
                      </a:r>
                      <a:r>
                        <a:rPr lang="en-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dirty="0">
                          <a:solidFill>
                            <a:schemeClr val="tx1"/>
                          </a:solidFill>
                        </a:rPr>
                        <a:t>Question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dirty="0">
                          <a:solidFill>
                            <a:schemeClr val="tx1"/>
                          </a:solidFill>
                        </a:rPr>
                        <a:t>Marks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dirty="0">
                          <a:solidFill>
                            <a:schemeClr val="tx1"/>
                          </a:solidFill>
                        </a:rPr>
                        <a:t>CO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10330446"/>
                  </a:ext>
                </a:extLst>
              </a:tr>
              <a:tr h="350907">
                <a:tc>
                  <a:txBody>
                    <a:bodyPr/>
                    <a:lstStyle/>
                    <a:p>
                      <a:r>
                        <a:rPr lang="en-IN"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dirty="0"/>
                        <a:t>1</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065056219"/>
                  </a:ext>
                </a:extLst>
              </a:tr>
              <a:tr h="350907">
                <a:tc>
                  <a:txBody>
                    <a:bodyPr/>
                    <a:lstStyle/>
                    <a:p>
                      <a:r>
                        <a:rPr lang="en-IN"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dirty="0"/>
                        <a:t>1</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75262670"/>
                  </a:ext>
                </a:extLst>
              </a:tr>
              <a:tr h="350907">
                <a:tc>
                  <a:txBody>
                    <a:bodyPr/>
                    <a:lstStyle/>
                    <a:p>
                      <a:r>
                        <a:rPr lang="en-IN"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721079801"/>
                  </a:ext>
                </a:extLst>
              </a:tr>
              <a:tr h="350907">
                <a:tc>
                  <a:txBody>
                    <a:bodyPr/>
                    <a:lstStyle/>
                    <a:p>
                      <a:r>
                        <a:rPr lang="en-IN" dirty="0"/>
                        <a:t>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dirty="0"/>
                        <a:t>1</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309284713"/>
                  </a:ext>
                </a:extLst>
              </a:tr>
            </a:tbl>
          </a:graphicData>
        </a:graphic>
      </p:graphicFrame>
    </p:spTree>
    <p:extLst>
      <p:ext uri="{BB962C8B-B14F-4D97-AF65-F5344CB8AC3E}">
        <p14:creationId xmlns:p14="http://schemas.microsoft.com/office/powerpoint/2010/main" val="181355468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E73A3019-CFE4-49DD-B6FD-2AFB2DD2DBB6}" type="datetime1">
              <a:rPr lang="en-US" smtClean="0"/>
              <a:t>11/7/2024</a:t>
            </a:fld>
            <a:endParaRPr lang="en-US"/>
          </a:p>
        </p:txBody>
      </p:sp>
      <p:sp>
        <p:nvSpPr>
          <p:cNvPr id="5" name="Footer Placeholder 4"/>
          <p:cNvSpPr>
            <a:spLocks noGrp="1"/>
          </p:cNvSpPr>
          <p:nvPr>
            <p:ph type="ftr" sz="quarter" idx="11"/>
          </p:nvPr>
        </p:nvSpPr>
        <p:spPr>
          <a:xfrm>
            <a:off x="4343400" y="6248401"/>
            <a:ext cx="4724400" cy="365125"/>
          </a:xfrm>
        </p:spPr>
        <p:txBody>
          <a:bodyPr/>
          <a:lstStyle/>
          <a:p>
            <a:r>
              <a:rPr lang="en-US" dirty="0"/>
              <a:t>Vaishali Mishra            ACSE0505 Web Technology                Unit 5</a:t>
            </a:r>
          </a:p>
        </p:txBody>
      </p:sp>
      <p:sp>
        <p:nvSpPr>
          <p:cNvPr id="6" name="Slide Number Placeholder 5"/>
          <p:cNvSpPr>
            <a:spLocks noGrp="1"/>
          </p:cNvSpPr>
          <p:nvPr>
            <p:ph type="sldNum" sz="quarter" idx="12"/>
          </p:nvPr>
        </p:nvSpPr>
        <p:spPr/>
        <p:txBody>
          <a:bodyPr/>
          <a:lstStyle/>
          <a:p>
            <a:fld id="{B6F15528-21DE-4FAA-801E-634DDDAF4B2B}" type="slidenum">
              <a:rPr lang="en-US" smtClean="0"/>
              <a:pPr/>
              <a:t>20</a:t>
            </a:fld>
            <a:endParaRPr lang="en-US"/>
          </a:p>
        </p:txBody>
      </p:sp>
      <p:sp>
        <p:nvSpPr>
          <p:cNvPr id="7" name="Title 1"/>
          <p:cNvSpPr txBox="1">
            <a:spLocks/>
          </p:cNvSpPr>
          <p:nvPr/>
        </p:nvSpPr>
        <p:spPr>
          <a:xfrm>
            <a:off x="2895600" y="2"/>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endParaRPr lang="en-US" dirty="0"/>
          </a:p>
        </p:txBody>
      </p:sp>
      <p:pic>
        <p:nvPicPr>
          <p:cNvPr id="2" name="Picture 1" descr="A black and red logo&#10;&#10;Description automatically generated">
            <a:extLst>
              <a:ext uri="{FF2B5EF4-FFF2-40B4-BE49-F238E27FC236}">
                <a16:creationId xmlns:a16="http://schemas.microsoft.com/office/drawing/2014/main" id="{8BDB0671-FC93-5C9E-75A2-ED46EE3FB8B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8" name="Content Placeholder 1">
            <a:extLst>
              <a:ext uri="{FF2B5EF4-FFF2-40B4-BE49-F238E27FC236}">
                <a16:creationId xmlns:a16="http://schemas.microsoft.com/office/drawing/2014/main" id="{7BD513BE-D7DE-7EA6-E3D3-3A9B070DC698}"/>
              </a:ext>
            </a:extLst>
          </p:cNvPr>
          <p:cNvSpPr txBox="1">
            <a:spLocks noGrp="1"/>
          </p:cNvSpPr>
          <p:nvPr>
            <p:ph idx="1"/>
          </p:nvPr>
        </p:nvSpPr>
        <p:spPr>
          <a:xfrm>
            <a:off x="762000" y="1143000"/>
            <a:ext cx="10820400" cy="4525963"/>
          </a:xfrm>
        </p:spPr>
        <p:txBody>
          <a:bodyPr/>
          <a:lstStyle/>
          <a:p>
            <a:pPr marL="0" indent="0">
              <a:spcBef>
                <a:spcPts val="363"/>
              </a:spcBef>
              <a:spcAft>
                <a:spcPct val="0"/>
              </a:spcAft>
              <a:buClr>
                <a:srgbClr val="000000"/>
              </a:buClr>
              <a:buFont typeface="Arial" panose="020B0604020202020204" pitchFamily="34" charset="0"/>
              <a:buNone/>
            </a:pPr>
            <a:r>
              <a:rPr lang="en-IN" sz="2000" b="1" dirty="0">
                <a:latin typeface="Arial" panose="020B0604020202020204" pitchFamily="34" charset="0"/>
                <a:cs typeface="Arial" panose="020B0604020202020204" pitchFamily="34" charset="0"/>
              </a:rPr>
              <a:t>2. Attempt of the following:                                                                                5 x 2 = 20</a:t>
            </a: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lgn="ctr">
              <a:spcBef>
                <a:spcPts val="363"/>
              </a:spcBef>
              <a:spcAft>
                <a:spcPct val="0"/>
              </a:spcAft>
              <a:buClr>
                <a:srgbClr val="000000"/>
              </a:buClr>
              <a:buFont typeface="Arial" panose="020B0604020202020204" pitchFamily="34" charset="0"/>
              <a:buNone/>
            </a:pPr>
            <a:r>
              <a:rPr lang="en-IN" sz="2000" b="1" dirty="0">
                <a:latin typeface="Arial" panose="020B0604020202020204" pitchFamily="34" charset="0"/>
                <a:cs typeface="Arial" panose="020B0604020202020204" pitchFamily="34" charset="0"/>
              </a:rPr>
              <a:t> SECTION B</a:t>
            </a:r>
          </a:p>
          <a:p>
            <a:pPr marL="0" indent="0">
              <a:spcBef>
                <a:spcPts val="363"/>
              </a:spcBef>
              <a:spcAft>
                <a:spcPct val="0"/>
              </a:spcAft>
              <a:buClr>
                <a:srgbClr val="000000"/>
              </a:buClr>
              <a:buFont typeface="Arial" panose="020B0604020202020204" pitchFamily="34" charset="0"/>
              <a:buNone/>
            </a:pPr>
            <a:r>
              <a:rPr lang="en-IN" sz="2000" b="1" dirty="0">
                <a:latin typeface="Arial" panose="020B0604020202020204" pitchFamily="34" charset="0"/>
                <a:cs typeface="Arial" panose="020B0604020202020204" pitchFamily="34" charset="0"/>
              </a:rPr>
              <a:t>3. Attempt any five part of the following:                                                               5 x 6 = 30    </a:t>
            </a:r>
            <a:endParaRPr lang="en-IN" sz="2000" b="1" i="1" dirty="0">
              <a:latin typeface="Arial" panose="020B0604020202020204" pitchFamily="34" charset="0"/>
              <a:cs typeface="Arial" panose="020B0604020202020204" pitchFamily="34" charset="0"/>
            </a:endParaRPr>
          </a:p>
        </p:txBody>
      </p:sp>
      <p:graphicFrame>
        <p:nvGraphicFramePr>
          <p:cNvPr id="10" name="Table 9">
            <a:extLst>
              <a:ext uri="{FF2B5EF4-FFF2-40B4-BE49-F238E27FC236}">
                <a16:creationId xmlns:a16="http://schemas.microsoft.com/office/drawing/2014/main" id="{D7F49ADE-FD13-A4A8-C8C3-1B992C4292E5}"/>
              </a:ext>
            </a:extLst>
          </p:cNvPr>
          <p:cNvGraphicFramePr>
            <a:graphicFrameLocks noGrp="1"/>
          </p:cNvGraphicFramePr>
          <p:nvPr>
            <p:extLst>
              <p:ext uri="{D42A27DB-BD31-4B8C-83A1-F6EECF244321}">
                <p14:modId xmlns:p14="http://schemas.microsoft.com/office/powerpoint/2010/main" val="230713529"/>
              </p:ext>
            </p:extLst>
          </p:nvPr>
        </p:nvGraphicFramePr>
        <p:xfrm>
          <a:off x="439003" y="1600200"/>
          <a:ext cx="10457597" cy="1828800"/>
        </p:xfrm>
        <a:graphic>
          <a:graphicData uri="http://schemas.openxmlformats.org/drawingml/2006/table">
            <a:tbl>
              <a:tblPr firstRow="1" bandRow="1">
                <a:tableStyleId>{5C22544A-7EE6-4342-B048-85BDC9FD1C3A}</a:tableStyleId>
              </a:tblPr>
              <a:tblGrid>
                <a:gridCol w="1206646">
                  <a:extLst>
                    <a:ext uri="{9D8B030D-6E8A-4147-A177-3AD203B41FA5}">
                      <a16:colId xmlns:a16="http://schemas.microsoft.com/office/drawing/2014/main" val="20000"/>
                    </a:ext>
                  </a:extLst>
                </a:gridCol>
                <a:gridCol w="7038767">
                  <a:extLst>
                    <a:ext uri="{9D8B030D-6E8A-4147-A177-3AD203B41FA5}">
                      <a16:colId xmlns:a16="http://schemas.microsoft.com/office/drawing/2014/main" val="20001"/>
                    </a:ext>
                  </a:extLst>
                </a:gridCol>
                <a:gridCol w="1106092">
                  <a:extLst>
                    <a:ext uri="{9D8B030D-6E8A-4147-A177-3AD203B41FA5}">
                      <a16:colId xmlns:a16="http://schemas.microsoft.com/office/drawing/2014/main" val="20002"/>
                    </a:ext>
                  </a:extLst>
                </a:gridCol>
                <a:gridCol w="1106092">
                  <a:extLst>
                    <a:ext uri="{9D8B030D-6E8A-4147-A177-3AD203B41FA5}">
                      <a16:colId xmlns:a16="http://schemas.microsoft.com/office/drawing/2014/main" val="20003"/>
                    </a:ext>
                  </a:extLst>
                </a:gridCol>
              </a:tblGrid>
              <a:tr h="273794">
                <a:tc>
                  <a:txBody>
                    <a:bodyPr/>
                    <a:lstStyle/>
                    <a:p>
                      <a:r>
                        <a:rPr lang="en-IN" dirty="0" err="1">
                          <a:solidFill>
                            <a:schemeClr val="tx1"/>
                          </a:solidFill>
                        </a:rPr>
                        <a:t>Q.No</a:t>
                      </a:r>
                      <a:r>
                        <a:rPr lang="en-IN" dirty="0">
                          <a:solidFill>
                            <a:schemeClr val="tx1"/>
                          </a:solidFill>
                        </a:rPr>
                        <a:t>.</a:t>
                      </a:r>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dirty="0">
                          <a:solidFill>
                            <a:schemeClr val="tx1"/>
                          </a:solidFill>
                        </a:rPr>
                        <a:t>Question </a:t>
                      </a:r>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dirty="0">
                          <a:solidFill>
                            <a:schemeClr val="tx1"/>
                          </a:solidFill>
                        </a:rPr>
                        <a:t>Marks </a:t>
                      </a:r>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dirty="0">
                          <a:solidFill>
                            <a:schemeClr val="tx1"/>
                          </a:solidFill>
                        </a:rPr>
                        <a:t>CO</a:t>
                      </a:r>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273794">
                <a:tc>
                  <a:txBody>
                    <a:bodyPr/>
                    <a:lstStyle/>
                    <a:p>
                      <a:r>
                        <a:rPr lang="en-IN" dirty="0"/>
                        <a:t>1</a:t>
                      </a:r>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dirty="0"/>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dirty="0"/>
                        <a:t>2</a:t>
                      </a:r>
                      <a:endParaRPr lang="en-IN" dirty="0"/>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dirty="0"/>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273794">
                <a:tc>
                  <a:txBody>
                    <a:bodyPr/>
                    <a:lstStyle/>
                    <a:p>
                      <a:r>
                        <a:rPr lang="en-IN" dirty="0"/>
                        <a:t>2</a:t>
                      </a:r>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dirty="0"/>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dirty="0"/>
                        <a:t>2</a:t>
                      </a:r>
                      <a:endParaRPr lang="en-IN" dirty="0"/>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273794">
                <a:tc>
                  <a:txBody>
                    <a:bodyPr/>
                    <a:lstStyle/>
                    <a:p>
                      <a:r>
                        <a:rPr lang="en-IN" dirty="0"/>
                        <a:t>.</a:t>
                      </a:r>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dirty="0"/>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dirty="0"/>
                        <a:t>.</a:t>
                      </a:r>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273794">
                <a:tc>
                  <a:txBody>
                    <a:bodyPr/>
                    <a:lstStyle/>
                    <a:p>
                      <a:r>
                        <a:rPr lang="en-IN" dirty="0"/>
                        <a:t>5</a:t>
                      </a:r>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dirty="0"/>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dirty="0"/>
                        <a:t>2</a:t>
                      </a:r>
                      <a:endParaRPr lang="en-IN" dirty="0"/>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dirty="0"/>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bl>
          </a:graphicData>
        </a:graphic>
      </p:graphicFrame>
      <p:graphicFrame>
        <p:nvGraphicFramePr>
          <p:cNvPr id="11" name="Table 10">
            <a:extLst>
              <a:ext uri="{FF2B5EF4-FFF2-40B4-BE49-F238E27FC236}">
                <a16:creationId xmlns:a16="http://schemas.microsoft.com/office/drawing/2014/main" id="{AC1C1BCF-3E12-952F-8F0D-EF46EDB29B12}"/>
              </a:ext>
            </a:extLst>
          </p:cNvPr>
          <p:cNvGraphicFramePr>
            <a:graphicFrameLocks noGrp="1"/>
          </p:cNvGraphicFramePr>
          <p:nvPr>
            <p:extLst>
              <p:ext uri="{D42A27DB-BD31-4B8C-83A1-F6EECF244321}">
                <p14:modId xmlns:p14="http://schemas.microsoft.com/office/powerpoint/2010/main" val="209673867"/>
              </p:ext>
            </p:extLst>
          </p:nvPr>
        </p:nvGraphicFramePr>
        <p:xfrm>
          <a:off x="457200" y="4116388"/>
          <a:ext cx="10439400" cy="1828801"/>
        </p:xfrm>
        <a:graphic>
          <a:graphicData uri="http://schemas.openxmlformats.org/drawingml/2006/table">
            <a:tbl>
              <a:tblPr firstRow="1" bandRow="1">
                <a:tableStyleId>{5C22544A-7EE6-4342-B048-85BDC9FD1C3A}</a:tableStyleId>
              </a:tblPr>
              <a:tblGrid>
                <a:gridCol w="1204546">
                  <a:extLst>
                    <a:ext uri="{9D8B030D-6E8A-4147-A177-3AD203B41FA5}">
                      <a16:colId xmlns:a16="http://schemas.microsoft.com/office/drawing/2014/main" val="20000"/>
                    </a:ext>
                  </a:extLst>
                </a:gridCol>
                <a:gridCol w="7026520">
                  <a:extLst>
                    <a:ext uri="{9D8B030D-6E8A-4147-A177-3AD203B41FA5}">
                      <a16:colId xmlns:a16="http://schemas.microsoft.com/office/drawing/2014/main" val="20001"/>
                    </a:ext>
                  </a:extLst>
                </a:gridCol>
                <a:gridCol w="1104167">
                  <a:extLst>
                    <a:ext uri="{9D8B030D-6E8A-4147-A177-3AD203B41FA5}">
                      <a16:colId xmlns:a16="http://schemas.microsoft.com/office/drawing/2014/main" val="20002"/>
                    </a:ext>
                  </a:extLst>
                </a:gridCol>
                <a:gridCol w="1104167">
                  <a:extLst>
                    <a:ext uri="{9D8B030D-6E8A-4147-A177-3AD203B41FA5}">
                      <a16:colId xmlns:a16="http://schemas.microsoft.com/office/drawing/2014/main" val="20003"/>
                    </a:ext>
                  </a:extLst>
                </a:gridCol>
              </a:tblGrid>
              <a:tr h="673810">
                <a:tc>
                  <a:txBody>
                    <a:bodyPr/>
                    <a:lstStyle/>
                    <a:p>
                      <a:r>
                        <a:rPr lang="en-IN" sz="1800" dirty="0" err="1">
                          <a:solidFill>
                            <a:schemeClr val="tx1"/>
                          </a:solidFill>
                        </a:rPr>
                        <a:t>Q.No</a:t>
                      </a:r>
                      <a:r>
                        <a:rPr lang="en-IN" sz="1800" dirty="0">
                          <a:solidFill>
                            <a:schemeClr val="tx1"/>
                          </a:solidFill>
                        </a:rPr>
                        <a:t>.</a:t>
                      </a:r>
                    </a:p>
                  </a:txBody>
                  <a:tcPr marL="91439" marR="91439" marT="45684" marB="456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800" dirty="0">
                          <a:solidFill>
                            <a:schemeClr val="tx1"/>
                          </a:solidFill>
                        </a:rPr>
                        <a:t>Question </a:t>
                      </a:r>
                    </a:p>
                  </a:txBody>
                  <a:tcPr marL="91439" marR="91439" marT="45684" marB="456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dirty="0">
                          <a:solidFill>
                            <a:schemeClr val="tx1"/>
                          </a:solidFill>
                        </a:rPr>
                        <a:t>Marks </a:t>
                      </a:r>
                    </a:p>
                  </a:txBody>
                  <a:tcPr marL="91439" marR="91439" marT="45684" marB="456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800" dirty="0">
                          <a:solidFill>
                            <a:schemeClr val="tx1"/>
                          </a:solidFill>
                        </a:rPr>
                        <a:t>CO</a:t>
                      </a:r>
                    </a:p>
                  </a:txBody>
                  <a:tcPr marL="91439" marR="91439" marT="45684" marB="456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384997">
                <a:tc>
                  <a:txBody>
                    <a:bodyPr/>
                    <a:lstStyle/>
                    <a:p>
                      <a:r>
                        <a:rPr lang="en-IN" sz="1800" dirty="0"/>
                        <a:t>1</a:t>
                      </a:r>
                    </a:p>
                  </a:txBody>
                  <a:tcPr marL="91439" marR="91439" marT="45684" marB="456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39" marR="91439" marT="45684" marB="456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800" dirty="0"/>
                        <a:t>6</a:t>
                      </a:r>
                      <a:endParaRPr lang="en-IN" sz="1800" dirty="0"/>
                    </a:p>
                  </a:txBody>
                  <a:tcPr marL="91439" marR="91439" marT="45684" marB="456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39" marR="91439" marT="45684" marB="456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84997">
                <a:tc>
                  <a:txBody>
                    <a:bodyPr/>
                    <a:lstStyle/>
                    <a:p>
                      <a:r>
                        <a:rPr lang="en-US" sz="1800" dirty="0"/>
                        <a:t>.</a:t>
                      </a:r>
                      <a:endParaRPr lang="en-IN" sz="1800" dirty="0"/>
                    </a:p>
                  </a:txBody>
                  <a:tcPr marL="91439" marR="91439" marT="45684" marB="456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39" marR="91439" marT="45684" marB="456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800" dirty="0"/>
                        <a:t>6</a:t>
                      </a:r>
                      <a:endParaRPr lang="en-IN" sz="1800" dirty="0"/>
                    </a:p>
                  </a:txBody>
                  <a:tcPr marL="91439" marR="91439" marT="45684" marB="456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39" marR="91439" marT="45684" marB="456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384997">
                <a:tc>
                  <a:txBody>
                    <a:bodyPr/>
                    <a:lstStyle/>
                    <a:p>
                      <a:r>
                        <a:rPr lang="en-US" sz="1800" dirty="0"/>
                        <a:t>7</a:t>
                      </a:r>
                      <a:endParaRPr lang="en-IN" sz="1800" dirty="0"/>
                    </a:p>
                  </a:txBody>
                  <a:tcPr marL="91439" marR="91439" marT="45684" marB="456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39" marR="91439" marT="45684" marB="456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800" dirty="0"/>
                        <a:t>6</a:t>
                      </a:r>
                      <a:endParaRPr lang="en-IN" sz="1800" dirty="0"/>
                    </a:p>
                  </a:txBody>
                  <a:tcPr marL="91439" marR="91439" marT="45684" marB="456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39" marR="91439" marT="45684" marB="456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311909875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E73A3019-CFE4-49DD-B6FD-2AFB2DD2DBB6}" type="datetime1">
              <a:rPr lang="en-US" smtClean="0"/>
              <a:t>11/7/2024</a:t>
            </a:fld>
            <a:endParaRPr lang="en-US"/>
          </a:p>
        </p:txBody>
      </p:sp>
      <p:sp>
        <p:nvSpPr>
          <p:cNvPr id="5" name="Footer Placeholder 4"/>
          <p:cNvSpPr>
            <a:spLocks noGrp="1"/>
          </p:cNvSpPr>
          <p:nvPr>
            <p:ph type="ftr" sz="quarter" idx="11"/>
          </p:nvPr>
        </p:nvSpPr>
        <p:spPr>
          <a:xfrm>
            <a:off x="4343400" y="6248401"/>
            <a:ext cx="4724400" cy="365125"/>
          </a:xfrm>
        </p:spPr>
        <p:txBody>
          <a:bodyPr/>
          <a:lstStyle/>
          <a:p>
            <a:r>
              <a:rPr lang="en-US" dirty="0"/>
              <a:t>Vaishali Mishra            ACSE0505 Web Technology                Unit 5</a:t>
            </a:r>
          </a:p>
        </p:txBody>
      </p:sp>
      <p:sp>
        <p:nvSpPr>
          <p:cNvPr id="6" name="Slide Number Placeholder 5"/>
          <p:cNvSpPr>
            <a:spLocks noGrp="1"/>
          </p:cNvSpPr>
          <p:nvPr>
            <p:ph type="sldNum" sz="quarter" idx="12"/>
          </p:nvPr>
        </p:nvSpPr>
        <p:spPr/>
        <p:txBody>
          <a:bodyPr/>
          <a:lstStyle/>
          <a:p>
            <a:fld id="{B6F15528-21DE-4FAA-801E-634DDDAF4B2B}" type="slidenum">
              <a:rPr lang="en-US" smtClean="0"/>
              <a:pPr/>
              <a:t>21</a:t>
            </a:fld>
            <a:endParaRPr lang="en-US"/>
          </a:p>
        </p:txBody>
      </p:sp>
      <p:sp>
        <p:nvSpPr>
          <p:cNvPr id="7" name="Title 1"/>
          <p:cNvSpPr txBox="1">
            <a:spLocks/>
          </p:cNvSpPr>
          <p:nvPr/>
        </p:nvSpPr>
        <p:spPr>
          <a:xfrm>
            <a:off x="2895600" y="2"/>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pPr algn="ctr">
              <a:defRPr/>
            </a:pPr>
            <a:r>
              <a:rPr lang="en-IN" sz="2800">
                <a:cs typeface="Times New Roman" pitchFamily="18" charset="0"/>
                <a:sym typeface="Arial" charset="0"/>
              </a:rPr>
              <a:t>End Semester Question Paper Template </a:t>
            </a:r>
            <a:r>
              <a:rPr lang="en-IN" sz="2800">
                <a:latin typeface="Times New Roman" pitchFamily="18" charset="0"/>
                <a:cs typeface="Times New Roman" pitchFamily="18" charset="0"/>
                <a:sym typeface="Arial" charset="0"/>
              </a:rPr>
              <a:t> </a:t>
            </a:r>
            <a:endParaRPr lang="en-US" sz="2800" dirty="0">
              <a:latin typeface="Times New Roman" pitchFamily="18" charset="0"/>
              <a:cs typeface="Times New Roman" pitchFamily="18" charset="0"/>
              <a:sym typeface="Arial" charset="0"/>
            </a:endParaRPr>
          </a:p>
        </p:txBody>
      </p:sp>
      <p:pic>
        <p:nvPicPr>
          <p:cNvPr id="2" name="Picture 1" descr="A black and red logo&#10;&#10;Description automatically generated">
            <a:extLst>
              <a:ext uri="{FF2B5EF4-FFF2-40B4-BE49-F238E27FC236}">
                <a16:creationId xmlns:a16="http://schemas.microsoft.com/office/drawing/2014/main" id="{8BDB0671-FC93-5C9E-75A2-ED46EE3FB8B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8" name="Content Placeholder 1">
            <a:extLst>
              <a:ext uri="{FF2B5EF4-FFF2-40B4-BE49-F238E27FC236}">
                <a16:creationId xmlns:a16="http://schemas.microsoft.com/office/drawing/2014/main" id="{1FF5ADF0-474C-251F-0E40-267B658E504A}"/>
              </a:ext>
            </a:extLst>
          </p:cNvPr>
          <p:cNvSpPr txBox="1">
            <a:spLocks noGrp="1"/>
          </p:cNvSpPr>
          <p:nvPr>
            <p:ph idx="1"/>
          </p:nvPr>
        </p:nvSpPr>
        <p:spPr>
          <a:xfrm>
            <a:off x="609600" y="1219200"/>
            <a:ext cx="10515600" cy="4449763"/>
          </a:xfrm>
        </p:spPr>
        <p:txBody>
          <a:bodyPr/>
          <a:lstStyle/>
          <a:p>
            <a:pPr marL="0" indent="0">
              <a:spcBef>
                <a:spcPts val="363"/>
              </a:spcBef>
              <a:spcAft>
                <a:spcPct val="0"/>
              </a:spcAft>
              <a:buClr>
                <a:srgbClr val="000000"/>
              </a:buClr>
              <a:buFont typeface="Arial" panose="020B0604020202020204" pitchFamily="34" charset="0"/>
              <a:buNone/>
            </a:pPr>
            <a:r>
              <a:rPr lang="en-IN" sz="2000" b="1" dirty="0">
                <a:latin typeface="Arial" panose="020B0604020202020204" pitchFamily="34" charset="0"/>
                <a:cs typeface="Arial" panose="020B0604020202020204" pitchFamily="34" charset="0"/>
              </a:rPr>
              <a:t>2. Attempt of the following:                                                                              5 x 2 = 20</a:t>
            </a: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lgn="ctr">
              <a:spcBef>
                <a:spcPts val="363"/>
              </a:spcBef>
              <a:spcAft>
                <a:spcPct val="0"/>
              </a:spcAft>
              <a:buClr>
                <a:srgbClr val="000000"/>
              </a:buClr>
              <a:buFont typeface="Arial" panose="020B0604020202020204" pitchFamily="34" charset="0"/>
              <a:buNone/>
            </a:pPr>
            <a:r>
              <a:rPr lang="en-IN" sz="2000" b="1" dirty="0">
                <a:latin typeface="Arial" panose="020B0604020202020204" pitchFamily="34" charset="0"/>
                <a:cs typeface="Arial" panose="020B0604020202020204" pitchFamily="34" charset="0"/>
              </a:rPr>
              <a:t> SECTION B</a:t>
            </a:r>
          </a:p>
          <a:p>
            <a:pPr marL="0" indent="0">
              <a:spcBef>
                <a:spcPts val="363"/>
              </a:spcBef>
              <a:spcAft>
                <a:spcPct val="0"/>
              </a:spcAft>
              <a:buClr>
                <a:srgbClr val="000000"/>
              </a:buClr>
              <a:buFont typeface="Arial" panose="020B0604020202020204" pitchFamily="34" charset="0"/>
              <a:buNone/>
            </a:pPr>
            <a:r>
              <a:rPr lang="en-IN" sz="2000" b="1" dirty="0">
                <a:latin typeface="Arial" panose="020B0604020202020204" pitchFamily="34" charset="0"/>
                <a:cs typeface="Arial" panose="020B0604020202020204" pitchFamily="34" charset="0"/>
              </a:rPr>
              <a:t>3. Attempt any five part of the following:                                                     5 x 6 = 30    </a:t>
            </a:r>
            <a:endParaRPr lang="en-IN" sz="2000" b="1" i="1" dirty="0">
              <a:latin typeface="Arial" panose="020B0604020202020204" pitchFamily="34" charset="0"/>
              <a:cs typeface="Arial" panose="020B0604020202020204" pitchFamily="34" charset="0"/>
            </a:endParaRPr>
          </a:p>
        </p:txBody>
      </p:sp>
      <p:graphicFrame>
        <p:nvGraphicFramePr>
          <p:cNvPr id="9" name="Table 8">
            <a:extLst>
              <a:ext uri="{FF2B5EF4-FFF2-40B4-BE49-F238E27FC236}">
                <a16:creationId xmlns:a16="http://schemas.microsoft.com/office/drawing/2014/main" id="{EE6E185E-1802-378D-2ADF-6F8986BA32AB}"/>
              </a:ext>
            </a:extLst>
          </p:cNvPr>
          <p:cNvGraphicFramePr>
            <a:graphicFrameLocks noGrp="1"/>
          </p:cNvGraphicFramePr>
          <p:nvPr>
            <p:extLst>
              <p:ext uri="{D42A27DB-BD31-4B8C-83A1-F6EECF244321}">
                <p14:modId xmlns:p14="http://schemas.microsoft.com/office/powerpoint/2010/main" val="2164228033"/>
              </p:ext>
            </p:extLst>
          </p:nvPr>
        </p:nvGraphicFramePr>
        <p:xfrm>
          <a:off x="439003" y="1600200"/>
          <a:ext cx="10076597" cy="1828800"/>
        </p:xfrm>
        <a:graphic>
          <a:graphicData uri="http://schemas.openxmlformats.org/drawingml/2006/table">
            <a:tbl>
              <a:tblPr firstRow="1" bandRow="1">
                <a:tableStyleId>{5C22544A-7EE6-4342-B048-85BDC9FD1C3A}</a:tableStyleId>
              </a:tblPr>
              <a:tblGrid>
                <a:gridCol w="1162685">
                  <a:extLst>
                    <a:ext uri="{9D8B030D-6E8A-4147-A177-3AD203B41FA5}">
                      <a16:colId xmlns:a16="http://schemas.microsoft.com/office/drawing/2014/main" val="20000"/>
                    </a:ext>
                  </a:extLst>
                </a:gridCol>
                <a:gridCol w="6782324">
                  <a:extLst>
                    <a:ext uri="{9D8B030D-6E8A-4147-A177-3AD203B41FA5}">
                      <a16:colId xmlns:a16="http://schemas.microsoft.com/office/drawing/2014/main" val="20001"/>
                    </a:ext>
                  </a:extLst>
                </a:gridCol>
                <a:gridCol w="1065794">
                  <a:extLst>
                    <a:ext uri="{9D8B030D-6E8A-4147-A177-3AD203B41FA5}">
                      <a16:colId xmlns:a16="http://schemas.microsoft.com/office/drawing/2014/main" val="20002"/>
                    </a:ext>
                  </a:extLst>
                </a:gridCol>
                <a:gridCol w="1065794">
                  <a:extLst>
                    <a:ext uri="{9D8B030D-6E8A-4147-A177-3AD203B41FA5}">
                      <a16:colId xmlns:a16="http://schemas.microsoft.com/office/drawing/2014/main" val="20003"/>
                    </a:ext>
                  </a:extLst>
                </a:gridCol>
              </a:tblGrid>
              <a:tr h="273794">
                <a:tc>
                  <a:txBody>
                    <a:bodyPr/>
                    <a:lstStyle/>
                    <a:p>
                      <a:r>
                        <a:rPr lang="en-IN" dirty="0" err="1">
                          <a:solidFill>
                            <a:schemeClr val="tx1"/>
                          </a:solidFill>
                        </a:rPr>
                        <a:t>Q.No</a:t>
                      </a:r>
                      <a:r>
                        <a:rPr lang="en-IN" dirty="0">
                          <a:solidFill>
                            <a:schemeClr val="tx1"/>
                          </a:solidFill>
                        </a:rPr>
                        <a:t>.</a:t>
                      </a:r>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dirty="0">
                          <a:solidFill>
                            <a:schemeClr val="tx1"/>
                          </a:solidFill>
                        </a:rPr>
                        <a:t>Question </a:t>
                      </a:r>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dirty="0">
                          <a:solidFill>
                            <a:schemeClr val="tx1"/>
                          </a:solidFill>
                        </a:rPr>
                        <a:t>Marks </a:t>
                      </a:r>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dirty="0">
                          <a:solidFill>
                            <a:schemeClr val="tx1"/>
                          </a:solidFill>
                        </a:rPr>
                        <a:t>CO</a:t>
                      </a:r>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273794">
                <a:tc>
                  <a:txBody>
                    <a:bodyPr/>
                    <a:lstStyle/>
                    <a:p>
                      <a:r>
                        <a:rPr lang="en-IN" dirty="0"/>
                        <a:t>1</a:t>
                      </a:r>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dirty="0"/>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dirty="0"/>
                        <a:t>2</a:t>
                      </a:r>
                      <a:endParaRPr lang="en-IN" dirty="0"/>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dirty="0"/>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273794">
                <a:tc>
                  <a:txBody>
                    <a:bodyPr/>
                    <a:lstStyle/>
                    <a:p>
                      <a:r>
                        <a:rPr lang="en-IN" dirty="0"/>
                        <a:t>2</a:t>
                      </a:r>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dirty="0"/>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dirty="0"/>
                        <a:t>2</a:t>
                      </a:r>
                      <a:endParaRPr lang="en-IN" dirty="0"/>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dirty="0"/>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273794">
                <a:tc>
                  <a:txBody>
                    <a:bodyPr/>
                    <a:lstStyle/>
                    <a:p>
                      <a:r>
                        <a:rPr lang="en-IN" dirty="0"/>
                        <a:t>.</a:t>
                      </a:r>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dirty="0"/>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dirty="0"/>
                        <a:t>.</a:t>
                      </a:r>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273794">
                <a:tc>
                  <a:txBody>
                    <a:bodyPr/>
                    <a:lstStyle/>
                    <a:p>
                      <a:r>
                        <a:rPr lang="en-IN" dirty="0"/>
                        <a:t>5</a:t>
                      </a:r>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dirty="0"/>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dirty="0"/>
                        <a:t>2</a:t>
                      </a:r>
                      <a:endParaRPr lang="en-IN" dirty="0"/>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dirty="0"/>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bl>
          </a:graphicData>
        </a:graphic>
      </p:graphicFrame>
      <p:graphicFrame>
        <p:nvGraphicFramePr>
          <p:cNvPr id="10" name="Table 9">
            <a:extLst>
              <a:ext uri="{FF2B5EF4-FFF2-40B4-BE49-F238E27FC236}">
                <a16:creationId xmlns:a16="http://schemas.microsoft.com/office/drawing/2014/main" id="{4FD1FD5F-4985-3224-E6C1-C8E55E00DB68}"/>
              </a:ext>
            </a:extLst>
          </p:cNvPr>
          <p:cNvGraphicFramePr>
            <a:graphicFrameLocks noGrp="1"/>
          </p:cNvGraphicFramePr>
          <p:nvPr>
            <p:extLst>
              <p:ext uri="{D42A27DB-BD31-4B8C-83A1-F6EECF244321}">
                <p14:modId xmlns:p14="http://schemas.microsoft.com/office/powerpoint/2010/main" val="3151367903"/>
              </p:ext>
            </p:extLst>
          </p:nvPr>
        </p:nvGraphicFramePr>
        <p:xfrm>
          <a:off x="457200" y="4598898"/>
          <a:ext cx="10058401" cy="1757452"/>
        </p:xfrm>
        <a:graphic>
          <a:graphicData uri="http://schemas.openxmlformats.org/drawingml/2006/table">
            <a:tbl>
              <a:tblPr firstRow="1" bandRow="1">
                <a:tableStyleId>{5C22544A-7EE6-4342-B048-85BDC9FD1C3A}</a:tableStyleId>
              </a:tblPr>
              <a:tblGrid>
                <a:gridCol w="1160585">
                  <a:extLst>
                    <a:ext uri="{9D8B030D-6E8A-4147-A177-3AD203B41FA5}">
                      <a16:colId xmlns:a16="http://schemas.microsoft.com/office/drawing/2014/main" val="20000"/>
                    </a:ext>
                  </a:extLst>
                </a:gridCol>
                <a:gridCol w="6770078">
                  <a:extLst>
                    <a:ext uri="{9D8B030D-6E8A-4147-A177-3AD203B41FA5}">
                      <a16:colId xmlns:a16="http://schemas.microsoft.com/office/drawing/2014/main" val="20001"/>
                    </a:ext>
                  </a:extLst>
                </a:gridCol>
                <a:gridCol w="1063869">
                  <a:extLst>
                    <a:ext uri="{9D8B030D-6E8A-4147-A177-3AD203B41FA5}">
                      <a16:colId xmlns:a16="http://schemas.microsoft.com/office/drawing/2014/main" val="20002"/>
                    </a:ext>
                  </a:extLst>
                </a:gridCol>
                <a:gridCol w="1063869">
                  <a:extLst>
                    <a:ext uri="{9D8B030D-6E8A-4147-A177-3AD203B41FA5}">
                      <a16:colId xmlns:a16="http://schemas.microsoft.com/office/drawing/2014/main" val="20003"/>
                    </a:ext>
                  </a:extLst>
                </a:gridCol>
              </a:tblGrid>
              <a:tr h="647521">
                <a:tc>
                  <a:txBody>
                    <a:bodyPr/>
                    <a:lstStyle/>
                    <a:p>
                      <a:r>
                        <a:rPr lang="en-IN" sz="1800" dirty="0" err="1">
                          <a:solidFill>
                            <a:schemeClr val="tx1"/>
                          </a:solidFill>
                        </a:rPr>
                        <a:t>Q.No</a:t>
                      </a:r>
                      <a:r>
                        <a:rPr lang="en-IN" sz="1800" dirty="0">
                          <a:solidFill>
                            <a:schemeClr val="tx1"/>
                          </a:solidFill>
                        </a:rPr>
                        <a:t>.</a:t>
                      </a:r>
                    </a:p>
                  </a:txBody>
                  <a:tcPr marL="91439" marR="91439" marT="45684" marB="456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800" dirty="0">
                          <a:solidFill>
                            <a:schemeClr val="tx1"/>
                          </a:solidFill>
                        </a:rPr>
                        <a:t>Question </a:t>
                      </a:r>
                    </a:p>
                  </a:txBody>
                  <a:tcPr marL="91439" marR="91439" marT="45684" marB="456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dirty="0">
                          <a:solidFill>
                            <a:schemeClr val="tx1"/>
                          </a:solidFill>
                        </a:rPr>
                        <a:t>Marks </a:t>
                      </a:r>
                    </a:p>
                  </a:txBody>
                  <a:tcPr marL="91439" marR="91439" marT="45684" marB="456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800" dirty="0">
                          <a:solidFill>
                            <a:schemeClr val="tx1"/>
                          </a:solidFill>
                        </a:rPr>
                        <a:t>CO</a:t>
                      </a:r>
                    </a:p>
                  </a:txBody>
                  <a:tcPr marL="91439" marR="91439" marT="45684" marB="456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369977">
                <a:tc>
                  <a:txBody>
                    <a:bodyPr/>
                    <a:lstStyle/>
                    <a:p>
                      <a:r>
                        <a:rPr lang="en-IN" sz="1800" dirty="0"/>
                        <a:t>1</a:t>
                      </a:r>
                    </a:p>
                  </a:txBody>
                  <a:tcPr marL="91439" marR="91439" marT="45684" marB="456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39" marR="91439" marT="45684" marB="456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800" dirty="0"/>
                        <a:t>6</a:t>
                      </a:r>
                      <a:endParaRPr lang="en-IN" sz="1800" dirty="0"/>
                    </a:p>
                  </a:txBody>
                  <a:tcPr marL="91439" marR="91439" marT="45684" marB="456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39" marR="91439" marT="45684" marB="456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69977">
                <a:tc>
                  <a:txBody>
                    <a:bodyPr/>
                    <a:lstStyle/>
                    <a:p>
                      <a:r>
                        <a:rPr lang="en-US" sz="1800" dirty="0"/>
                        <a:t>.</a:t>
                      </a:r>
                      <a:endParaRPr lang="en-IN" sz="1800" dirty="0"/>
                    </a:p>
                  </a:txBody>
                  <a:tcPr marL="91439" marR="91439" marT="45684" marB="456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39" marR="91439" marT="45684" marB="456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800" dirty="0"/>
                        <a:t>6</a:t>
                      </a:r>
                      <a:endParaRPr lang="en-IN" sz="1800" dirty="0"/>
                    </a:p>
                  </a:txBody>
                  <a:tcPr marL="91439" marR="91439" marT="45684" marB="456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39" marR="91439" marT="45684" marB="456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369977">
                <a:tc>
                  <a:txBody>
                    <a:bodyPr/>
                    <a:lstStyle/>
                    <a:p>
                      <a:r>
                        <a:rPr lang="en-US" sz="1800" dirty="0"/>
                        <a:t>7</a:t>
                      </a:r>
                      <a:endParaRPr lang="en-IN" sz="1800" dirty="0"/>
                    </a:p>
                  </a:txBody>
                  <a:tcPr marL="91439" marR="91439" marT="45684" marB="456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39" marR="91439" marT="45684" marB="456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800" dirty="0"/>
                        <a:t>6</a:t>
                      </a:r>
                      <a:endParaRPr lang="en-IN" sz="1800" dirty="0"/>
                    </a:p>
                  </a:txBody>
                  <a:tcPr marL="91439" marR="91439" marT="45684" marB="456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39" marR="91439" marT="45684" marB="456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337213215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E73A3019-CFE4-49DD-B6FD-2AFB2DD2DBB6}" type="datetime1">
              <a:rPr lang="en-US" smtClean="0"/>
              <a:t>11/7/2024</a:t>
            </a:fld>
            <a:endParaRPr lang="en-US"/>
          </a:p>
        </p:txBody>
      </p:sp>
      <p:sp>
        <p:nvSpPr>
          <p:cNvPr id="5" name="Footer Placeholder 4"/>
          <p:cNvSpPr>
            <a:spLocks noGrp="1"/>
          </p:cNvSpPr>
          <p:nvPr>
            <p:ph type="ftr" sz="quarter" idx="11"/>
          </p:nvPr>
        </p:nvSpPr>
        <p:spPr>
          <a:xfrm>
            <a:off x="4343400" y="6248401"/>
            <a:ext cx="4724400" cy="365125"/>
          </a:xfrm>
        </p:spPr>
        <p:txBody>
          <a:bodyPr/>
          <a:lstStyle/>
          <a:p>
            <a:r>
              <a:rPr lang="en-US" dirty="0"/>
              <a:t>Vaishali Mishra            ACSE0505 Web Technology                Unit 5</a:t>
            </a:r>
          </a:p>
        </p:txBody>
      </p:sp>
      <p:sp>
        <p:nvSpPr>
          <p:cNvPr id="6" name="Slide Number Placeholder 5"/>
          <p:cNvSpPr>
            <a:spLocks noGrp="1"/>
          </p:cNvSpPr>
          <p:nvPr>
            <p:ph type="sldNum" sz="quarter" idx="12"/>
          </p:nvPr>
        </p:nvSpPr>
        <p:spPr/>
        <p:txBody>
          <a:bodyPr/>
          <a:lstStyle/>
          <a:p>
            <a:fld id="{B6F15528-21DE-4FAA-801E-634DDDAF4B2B}" type="slidenum">
              <a:rPr lang="en-US" smtClean="0"/>
              <a:pPr/>
              <a:t>22</a:t>
            </a:fld>
            <a:endParaRPr lang="en-US"/>
          </a:p>
        </p:txBody>
      </p:sp>
      <p:sp>
        <p:nvSpPr>
          <p:cNvPr id="7" name="Title 1"/>
          <p:cNvSpPr txBox="1">
            <a:spLocks/>
          </p:cNvSpPr>
          <p:nvPr/>
        </p:nvSpPr>
        <p:spPr>
          <a:xfrm>
            <a:off x="2895600" y="2"/>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pPr>
              <a:defRPr/>
            </a:pPr>
            <a:endParaRPr kumimoji="0" lang="en-US" sz="2800" b="0" i="0" u="none" strike="noStrike" kern="1200" cap="none" spc="0" normalizeH="0" baseline="0" noProof="0" dirty="0">
              <a:ln>
                <a:noFill/>
              </a:ln>
              <a:solidFill>
                <a:schemeClr val="dk1"/>
              </a:solidFill>
              <a:effectLst/>
              <a:uLnTx/>
              <a:uFillTx/>
              <a:latin typeface="+mn-lt"/>
              <a:ea typeface="+mn-ea"/>
              <a:cs typeface="+mn-cs"/>
            </a:endParaRPr>
          </a:p>
          <a:p>
            <a:pPr>
              <a:defRPr/>
            </a:pPr>
            <a:r>
              <a:rPr kumimoji="0" lang="en-US" sz="2800" b="0" i="0" u="none" strike="noStrike" kern="1200" cap="none" spc="0" normalizeH="0" baseline="0" noProof="0" dirty="0">
                <a:ln>
                  <a:noFill/>
                </a:ln>
                <a:solidFill>
                  <a:schemeClr val="dk1"/>
                </a:solidFill>
                <a:effectLst/>
                <a:uLnTx/>
                <a:uFillTx/>
                <a:latin typeface="+mn-lt"/>
                <a:ea typeface="+mn-ea"/>
                <a:cs typeface="+mn-cs"/>
              </a:rPr>
              <a:t>Prerequisite</a:t>
            </a:r>
          </a:p>
          <a:p>
            <a:pPr algn="ctr">
              <a:defRPr/>
            </a:pPr>
            <a:endParaRPr lang="en-US" sz="2800" dirty="0">
              <a:latin typeface="Times New Roman" pitchFamily="18" charset="0"/>
              <a:cs typeface="Times New Roman" pitchFamily="18" charset="0"/>
              <a:sym typeface="Arial" charset="0"/>
            </a:endParaRPr>
          </a:p>
        </p:txBody>
      </p:sp>
      <p:pic>
        <p:nvPicPr>
          <p:cNvPr id="2" name="Picture 1" descr="A black and red logo&#10;&#10;Description automatically generated">
            <a:extLst>
              <a:ext uri="{FF2B5EF4-FFF2-40B4-BE49-F238E27FC236}">
                <a16:creationId xmlns:a16="http://schemas.microsoft.com/office/drawing/2014/main" id="{8BDB0671-FC93-5C9E-75A2-ED46EE3FB8B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8" name="Content Placeholder 1">
            <a:extLst>
              <a:ext uri="{FF2B5EF4-FFF2-40B4-BE49-F238E27FC236}">
                <a16:creationId xmlns:a16="http://schemas.microsoft.com/office/drawing/2014/main" id="{1FF5ADF0-474C-251F-0E40-267B658E504A}"/>
              </a:ext>
            </a:extLst>
          </p:cNvPr>
          <p:cNvSpPr txBox="1">
            <a:spLocks noGrp="1"/>
          </p:cNvSpPr>
          <p:nvPr>
            <p:ph idx="1"/>
          </p:nvPr>
        </p:nvSpPr>
        <p:spPr>
          <a:xfrm>
            <a:off x="609600" y="1219200"/>
            <a:ext cx="10515600" cy="4449763"/>
          </a:xfrm>
        </p:spPr>
        <p:txBody>
          <a:bodyPr/>
          <a:lstStyle/>
          <a:p>
            <a:r>
              <a:rPr lang="en-US" sz="2200" dirty="0">
                <a:latin typeface="+mj-lt"/>
              </a:rPr>
              <a:t>The student should have knowledge of</a:t>
            </a:r>
          </a:p>
          <a:p>
            <a:pPr lvl="1"/>
            <a:r>
              <a:rPr lang="en-US" sz="2200" dirty="0">
                <a:latin typeface="+mj-lt"/>
              </a:rPr>
              <a:t>Web</a:t>
            </a:r>
          </a:p>
          <a:p>
            <a:pPr lvl="1"/>
            <a:r>
              <a:rPr lang="en-US" sz="2200" dirty="0">
                <a:latin typeface="+mj-lt"/>
              </a:rPr>
              <a:t>Browser and application </a:t>
            </a:r>
          </a:p>
          <a:p>
            <a:pPr lvl="1"/>
            <a:r>
              <a:rPr lang="en-US" sz="2200" dirty="0">
                <a:latin typeface="+mj-lt"/>
              </a:rPr>
              <a:t>Hardware and data sharing</a:t>
            </a:r>
          </a:p>
          <a:p>
            <a:r>
              <a:rPr lang="en-US" sz="2200" dirty="0"/>
              <a:t>The basic knowledge of C</a:t>
            </a: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lgn="ctr">
              <a:spcBef>
                <a:spcPts val="363"/>
              </a:spcBef>
              <a:spcAft>
                <a:spcPct val="0"/>
              </a:spcAft>
              <a:buClr>
                <a:srgbClr val="000000"/>
              </a:buClr>
              <a:buFont typeface="Arial" panose="020B0604020202020204" pitchFamily="34" charset="0"/>
              <a:buNone/>
            </a:pPr>
            <a:r>
              <a:rPr lang="en-IN" sz="2000" b="1" dirty="0">
                <a:latin typeface="Arial" panose="020B0604020202020204" pitchFamily="34" charset="0"/>
                <a:cs typeface="Arial" panose="020B0604020202020204" pitchFamily="34" charset="0"/>
              </a:rPr>
              <a:t> </a:t>
            </a:r>
          </a:p>
        </p:txBody>
      </p:sp>
    </p:spTree>
    <p:extLst>
      <p:ext uri="{BB962C8B-B14F-4D97-AF65-F5344CB8AC3E}">
        <p14:creationId xmlns:p14="http://schemas.microsoft.com/office/powerpoint/2010/main" val="947434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E73A3019-CFE4-49DD-B6FD-2AFB2DD2DBB6}" type="datetime1">
              <a:rPr lang="en-US" smtClean="0"/>
              <a:t>11/7/2024</a:t>
            </a:fld>
            <a:endParaRPr lang="en-US"/>
          </a:p>
        </p:txBody>
      </p:sp>
      <p:sp>
        <p:nvSpPr>
          <p:cNvPr id="5" name="Footer Placeholder 4"/>
          <p:cNvSpPr>
            <a:spLocks noGrp="1"/>
          </p:cNvSpPr>
          <p:nvPr>
            <p:ph type="ftr" sz="quarter" idx="11"/>
          </p:nvPr>
        </p:nvSpPr>
        <p:spPr>
          <a:xfrm>
            <a:off x="4343400" y="6248401"/>
            <a:ext cx="4724400" cy="365125"/>
          </a:xfrm>
        </p:spPr>
        <p:txBody>
          <a:bodyPr/>
          <a:lstStyle/>
          <a:p>
            <a:r>
              <a:rPr lang="en-US" dirty="0"/>
              <a:t>Vaishali Mishra            ACSE0505 Web Technology                Unit 5</a:t>
            </a:r>
          </a:p>
        </p:txBody>
      </p:sp>
      <p:sp>
        <p:nvSpPr>
          <p:cNvPr id="6" name="Slide Number Placeholder 5"/>
          <p:cNvSpPr>
            <a:spLocks noGrp="1"/>
          </p:cNvSpPr>
          <p:nvPr>
            <p:ph type="sldNum" sz="quarter" idx="12"/>
          </p:nvPr>
        </p:nvSpPr>
        <p:spPr/>
        <p:txBody>
          <a:bodyPr/>
          <a:lstStyle/>
          <a:p>
            <a:fld id="{B6F15528-21DE-4FAA-801E-634DDDAF4B2B}" type="slidenum">
              <a:rPr lang="en-US" smtClean="0"/>
              <a:pPr/>
              <a:t>23</a:t>
            </a:fld>
            <a:endParaRPr lang="en-US"/>
          </a:p>
        </p:txBody>
      </p:sp>
      <p:sp>
        <p:nvSpPr>
          <p:cNvPr id="7" name="Title 1"/>
          <p:cNvSpPr txBox="1">
            <a:spLocks/>
          </p:cNvSpPr>
          <p:nvPr/>
        </p:nvSpPr>
        <p:spPr>
          <a:xfrm>
            <a:off x="2895600" y="2"/>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pPr>
              <a:defRPr/>
            </a:pPr>
            <a:endParaRPr lang="en-US" sz="2800" dirty="0"/>
          </a:p>
          <a:p>
            <a:pPr>
              <a:defRPr/>
            </a:pPr>
            <a:r>
              <a:rPr lang="en-US" sz="2800" dirty="0"/>
              <a:t>Brief Introduction to Subject </a:t>
            </a:r>
          </a:p>
          <a:p>
            <a:pPr algn="ctr">
              <a:defRPr/>
            </a:pPr>
            <a:endParaRPr lang="en-US" sz="2800" dirty="0">
              <a:latin typeface="Times New Roman" pitchFamily="18" charset="0"/>
              <a:cs typeface="Times New Roman" pitchFamily="18" charset="0"/>
              <a:sym typeface="Arial" charset="0"/>
            </a:endParaRPr>
          </a:p>
        </p:txBody>
      </p:sp>
      <p:pic>
        <p:nvPicPr>
          <p:cNvPr id="2" name="Picture 1" descr="A black and red logo&#10;&#10;Description automatically generated">
            <a:extLst>
              <a:ext uri="{FF2B5EF4-FFF2-40B4-BE49-F238E27FC236}">
                <a16:creationId xmlns:a16="http://schemas.microsoft.com/office/drawing/2014/main" id="{8BDB0671-FC93-5C9E-75A2-ED46EE3FB8B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8" name="Content Placeholder 1">
            <a:extLst>
              <a:ext uri="{FF2B5EF4-FFF2-40B4-BE49-F238E27FC236}">
                <a16:creationId xmlns:a16="http://schemas.microsoft.com/office/drawing/2014/main" id="{1FF5ADF0-474C-251F-0E40-267B658E504A}"/>
              </a:ext>
            </a:extLst>
          </p:cNvPr>
          <p:cNvSpPr txBox="1">
            <a:spLocks noGrp="1"/>
          </p:cNvSpPr>
          <p:nvPr>
            <p:ph idx="1"/>
          </p:nvPr>
        </p:nvSpPr>
        <p:spPr>
          <a:xfrm>
            <a:off x="609600" y="1219200"/>
            <a:ext cx="10515600" cy="4449763"/>
          </a:xfrm>
        </p:spPr>
        <p:txBody>
          <a:bodyPr>
            <a:normAutofit lnSpcReduction="10000"/>
          </a:bodyPr>
          <a:lstStyle/>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algn="just">
              <a:spcBef>
                <a:spcPts val="363"/>
              </a:spcBef>
              <a:spcAft>
                <a:spcPct val="0"/>
              </a:spcAft>
              <a:buClr>
                <a:srgbClr val="000000"/>
              </a:buClr>
            </a:pPr>
            <a:r>
              <a:rPr lang="en-US" sz="2000" dirty="0"/>
              <a:t>Web Technology refers to the various tools and techniques that are utilized in the process of communication between different types of devices over the internet. </a:t>
            </a:r>
          </a:p>
          <a:p>
            <a:pPr algn="just">
              <a:spcBef>
                <a:spcPts val="363"/>
              </a:spcBef>
              <a:spcAft>
                <a:spcPct val="0"/>
              </a:spcAft>
              <a:buClr>
                <a:srgbClr val="000000"/>
              </a:buClr>
            </a:pPr>
            <a:r>
              <a:rPr lang="en-US" sz="2000" dirty="0"/>
              <a:t>A web browser is used to access web pages. Web browsers can be defined as programs that display text, data, pictures, animation, and video on the Internet. </a:t>
            </a:r>
          </a:p>
          <a:p>
            <a:pPr algn="just">
              <a:spcBef>
                <a:spcPts val="363"/>
              </a:spcBef>
              <a:spcAft>
                <a:spcPct val="0"/>
              </a:spcAft>
              <a:buClr>
                <a:srgbClr val="000000"/>
              </a:buClr>
            </a:pPr>
            <a:r>
              <a:rPr lang="en-US" sz="2000" dirty="0"/>
              <a:t>Hyperlinked resources on the World Wide Web can be accessed using software interfaces provided by Web browsers.</a:t>
            </a:r>
          </a:p>
          <a:p>
            <a:pPr algn="just">
              <a:spcBef>
                <a:spcPts val="363"/>
              </a:spcBef>
              <a:spcAft>
                <a:spcPct val="0"/>
              </a:spcAft>
              <a:buClr>
                <a:srgbClr val="000000"/>
              </a:buClr>
            </a:pPr>
            <a:r>
              <a:rPr lang="en-US" altLang="en-US" sz="2000" b="1" u="sng" dirty="0">
                <a:solidFill>
                  <a:srgbClr val="0000FF"/>
                </a:solidFill>
                <a:latin typeface="Arial" panose="020B0604020202020204" pitchFamily="34" charset="0"/>
                <a:cs typeface="Arial" panose="020B0604020202020204" pitchFamily="34" charset="0"/>
              </a:rPr>
              <a:t>https://www.youtube.com/results?search_query=Web+Technonogies</a:t>
            </a: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lgn="ctr">
              <a:spcBef>
                <a:spcPts val="363"/>
              </a:spcBef>
              <a:spcAft>
                <a:spcPct val="0"/>
              </a:spcAft>
              <a:buClr>
                <a:srgbClr val="000000"/>
              </a:buClr>
              <a:buFont typeface="Arial" panose="020B0604020202020204" pitchFamily="34" charset="0"/>
              <a:buNone/>
            </a:pPr>
            <a:r>
              <a:rPr lang="en-IN" sz="2000" b="1" dirty="0">
                <a:latin typeface="Arial" panose="020B0604020202020204" pitchFamily="34" charset="0"/>
                <a:cs typeface="Arial" panose="020B0604020202020204" pitchFamily="34" charset="0"/>
              </a:rPr>
              <a:t> </a:t>
            </a:r>
          </a:p>
        </p:txBody>
      </p:sp>
    </p:spTree>
    <p:extLst>
      <p:ext uri="{BB962C8B-B14F-4D97-AF65-F5344CB8AC3E}">
        <p14:creationId xmlns:p14="http://schemas.microsoft.com/office/powerpoint/2010/main" val="299016152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E73A3019-CFE4-49DD-B6FD-2AFB2DD2DBB6}" type="datetime1">
              <a:rPr lang="en-US" smtClean="0"/>
              <a:t>11/7/2024</a:t>
            </a:fld>
            <a:endParaRPr lang="en-US"/>
          </a:p>
        </p:txBody>
      </p:sp>
      <p:sp>
        <p:nvSpPr>
          <p:cNvPr id="5" name="Footer Placeholder 4"/>
          <p:cNvSpPr>
            <a:spLocks noGrp="1"/>
          </p:cNvSpPr>
          <p:nvPr>
            <p:ph type="ftr" sz="quarter" idx="11"/>
          </p:nvPr>
        </p:nvSpPr>
        <p:spPr>
          <a:xfrm>
            <a:off x="4343400" y="6248401"/>
            <a:ext cx="4724400" cy="365125"/>
          </a:xfrm>
        </p:spPr>
        <p:txBody>
          <a:bodyPr/>
          <a:lstStyle/>
          <a:p>
            <a:r>
              <a:rPr lang="en-US" dirty="0"/>
              <a:t>Vaishali Mishra            ACSE0505 Web Technology                Unit 5</a:t>
            </a:r>
          </a:p>
        </p:txBody>
      </p:sp>
      <p:sp>
        <p:nvSpPr>
          <p:cNvPr id="6" name="Slide Number Placeholder 5"/>
          <p:cNvSpPr>
            <a:spLocks noGrp="1"/>
          </p:cNvSpPr>
          <p:nvPr>
            <p:ph type="sldNum" sz="quarter" idx="12"/>
          </p:nvPr>
        </p:nvSpPr>
        <p:spPr/>
        <p:txBody>
          <a:bodyPr/>
          <a:lstStyle/>
          <a:p>
            <a:fld id="{B6F15528-21DE-4FAA-801E-634DDDAF4B2B}" type="slidenum">
              <a:rPr lang="en-US" smtClean="0"/>
              <a:pPr/>
              <a:t>24</a:t>
            </a:fld>
            <a:endParaRPr lang="en-US"/>
          </a:p>
        </p:txBody>
      </p:sp>
      <p:sp>
        <p:nvSpPr>
          <p:cNvPr id="7" name="Title 1"/>
          <p:cNvSpPr txBox="1">
            <a:spLocks/>
          </p:cNvSpPr>
          <p:nvPr/>
        </p:nvSpPr>
        <p:spPr>
          <a:xfrm>
            <a:off x="2895600" y="2"/>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pPr>
              <a:defRPr/>
            </a:pPr>
            <a:endParaRPr lang="en-US" sz="2800" dirty="0"/>
          </a:p>
          <a:p>
            <a:pPr>
              <a:defRPr/>
            </a:pPr>
            <a:r>
              <a:rPr lang="en-US" sz="2800" dirty="0"/>
              <a:t>Topic Mapping with Course Outcome</a:t>
            </a:r>
          </a:p>
          <a:p>
            <a:pPr algn="ctr">
              <a:defRPr/>
            </a:pPr>
            <a:endParaRPr lang="en-US" sz="2800" dirty="0">
              <a:latin typeface="Times New Roman" pitchFamily="18" charset="0"/>
              <a:cs typeface="Times New Roman" pitchFamily="18" charset="0"/>
              <a:sym typeface="Arial" charset="0"/>
            </a:endParaRPr>
          </a:p>
        </p:txBody>
      </p:sp>
      <p:pic>
        <p:nvPicPr>
          <p:cNvPr id="2" name="Picture 1" descr="A black and red logo&#10;&#10;Description automatically generated">
            <a:extLst>
              <a:ext uri="{FF2B5EF4-FFF2-40B4-BE49-F238E27FC236}">
                <a16:creationId xmlns:a16="http://schemas.microsoft.com/office/drawing/2014/main" id="{8BDB0671-FC93-5C9E-75A2-ED46EE3FB8B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8" name="Content Placeholder 1">
            <a:extLst>
              <a:ext uri="{FF2B5EF4-FFF2-40B4-BE49-F238E27FC236}">
                <a16:creationId xmlns:a16="http://schemas.microsoft.com/office/drawing/2014/main" id="{1FF5ADF0-474C-251F-0E40-267B658E504A}"/>
              </a:ext>
            </a:extLst>
          </p:cNvPr>
          <p:cNvSpPr txBox="1">
            <a:spLocks noGrp="1"/>
          </p:cNvSpPr>
          <p:nvPr>
            <p:ph idx="1"/>
          </p:nvPr>
        </p:nvSpPr>
        <p:spPr>
          <a:xfrm>
            <a:off x="609600" y="1219200"/>
            <a:ext cx="10515600" cy="4449763"/>
          </a:xfrm>
        </p:spPr>
        <p:txBody>
          <a:bodyPr/>
          <a:lstStyle/>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lgn="ctr">
              <a:spcBef>
                <a:spcPts val="363"/>
              </a:spcBef>
              <a:spcAft>
                <a:spcPct val="0"/>
              </a:spcAft>
              <a:buClr>
                <a:srgbClr val="000000"/>
              </a:buClr>
              <a:buFont typeface="Arial" panose="020B0604020202020204" pitchFamily="34" charset="0"/>
              <a:buNone/>
            </a:pPr>
            <a:r>
              <a:rPr lang="en-IN" sz="2000" b="1" dirty="0">
                <a:latin typeface="Arial" panose="020B0604020202020204" pitchFamily="34" charset="0"/>
                <a:cs typeface="Arial" panose="020B0604020202020204" pitchFamily="34" charset="0"/>
              </a:rPr>
              <a:t> </a:t>
            </a:r>
          </a:p>
        </p:txBody>
      </p:sp>
      <p:graphicFrame>
        <p:nvGraphicFramePr>
          <p:cNvPr id="3" name="Table 2">
            <a:extLst>
              <a:ext uri="{FF2B5EF4-FFF2-40B4-BE49-F238E27FC236}">
                <a16:creationId xmlns:a16="http://schemas.microsoft.com/office/drawing/2014/main" id="{FC7B0456-DB34-F7A1-99B7-3CC8414EF43E}"/>
              </a:ext>
            </a:extLst>
          </p:cNvPr>
          <p:cNvGraphicFramePr>
            <a:graphicFrameLocks noGrp="1"/>
          </p:cNvGraphicFramePr>
          <p:nvPr>
            <p:extLst>
              <p:ext uri="{D42A27DB-BD31-4B8C-83A1-F6EECF244321}">
                <p14:modId xmlns:p14="http://schemas.microsoft.com/office/powerpoint/2010/main" val="2209154154"/>
              </p:ext>
            </p:extLst>
          </p:nvPr>
        </p:nvGraphicFramePr>
        <p:xfrm>
          <a:off x="1066800" y="914400"/>
          <a:ext cx="9829800" cy="4763228"/>
        </p:xfrm>
        <a:graphic>
          <a:graphicData uri="http://schemas.openxmlformats.org/drawingml/2006/table">
            <a:tbl>
              <a:tblPr/>
              <a:tblGrid>
                <a:gridCol w="7399793">
                  <a:extLst>
                    <a:ext uri="{9D8B030D-6E8A-4147-A177-3AD203B41FA5}">
                      <a16:colId xmlns:a16="http://schemas.microsoft.com/office/drawing/2014/main" val="20000"/>
                    </a:ext>
                  </a:extLst>
                </a:gridCol>
                <a:gridCol w="2430007">
                  <a:extLst>
                    <a:ext uri="{9D8B030D-6E8A-4147-A177-3AD203B41FA5}">
                      <a16:colId xmlns:a16="http://schemas.microsoft.com/office/drawing/2014/main" val="20001"/>
                    </a:ext>
                  </a:extLst>
                </a:gridCol>
              </a:tblGrid>
              <a:tr h="291570">
                <a:tc>
                  <a:txBody>
                    <a:bodyPr/>
                    <a:lstStyle/>
                    <a:p>
                      <a:pPr marL="0" marR="0" algn="ctr">
                        <a:lnSpc>
                          <a:spcPct val="115000"/>
                        </a:lnSpc>
                        <a:spcBef>
                          <a:spcPts val="0"/>
                        </a:spcBef>
                        <a:spcAft>
                          <a:spcPts val="0"/>
                        </a:spcAft>
                      </a:pPr>
                      <a:r>
                        <a:rPr lang="en-US" sz="2000" dirty="0">
                          <a:latin typeface="+mn-lt"/>
                          <a:ea typeface="Calibri"/>
                          <a:cs typeface="Mangal"/>
                        </a:rPr>
                        <a:t>Topics</a:t>
                      </a:r>
                    </a:p>
                  </a:txBody>
                  <a:tcPr marL="66562" marR="6656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000" dirty="0">
                          <a:latin typeface="+mn-lt"/>
                          <a:ea typeface="Calibri"/>
                          <a:cs typeface="Mangal"/>
                        </a:rPr>
                        <a:t>Course</a:t>
                      </a:r>
                      <a:r>
                        <a:rPr lang="en-US" sz="2000" baseline="0" dirty="0">
                          <a:latin typeface="+mn-lt"/>
                          <a:ea typeface="Calibri"/>
                          <a:cs typeface="Mangal"/>
                        </a:rPr>
                        <a:t> outcome</a:t>
                      </a:r>
                      <a:endParaRPr lang="en-US" sz="2000" dirty="0">
                        <a:latin typeface="+mn-lt"/>
                        <a:ea typeface="Calibri"/>
                        <a:cs typeface="Mangal"/>
                      </a:endParaRPr>
                    </a:p>
                  </a:txBody>
                  <a:tcPr marL="66562" marR="6656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4433282">
                <a:tc>
                  <a:txBody>
                    <a:bodyPr/>
                    <a:lstStyle/>
                    <a:p>
                      <a:pPr algn="just"/>
                      <a:r>
                        <a:rPr lang="en-US" sz="2000" kern="1200" dirty="0">
                          <a:solidFill>
                            <a:schemeClr val="tx1"/>
                          </a:solidFill>
                          <a:effectLst/>
                          <a:latin typeface="+mn-lt"/>
                          <a:ea typeface="+mn-ea"/>
                          <a:cs typeface="+mn-cs"/>
                        </a:rPr>
                        <a:t>Introduction to PHP, Basic Syntax, Variables &amp; Constants,  Data Type, Operator &amp; Expressions, Control flow and Decision making statements, Functions, Strings, Arrays</a:t>
                      </a:r>
                    </a:p>
                    <a:p>
                      <a:pPr algn="just"/>
                      <a:endParaRPr lang="en-IN" sz="2000" kern="1200" dirty="0">
                        <a:solidFill>
                          <a:schemeClr val="tx1"/>
                        </a:solidFill>
                        <a:effectLst/>
                        <a:latin typeface="+mn-lt"/>
                        <a:ea typeface="+mn-ea"/>
                        <a:cs typeface="+mn-cs"/>
                      </a:endParaRPr>
                    </a:p>
                    <a:p>
                      <a:pPr algn="just"/>
                      <a:r>
                        <a:rPr lang="en-US" sz="2000" b="1" kern="1200" dirty="0">
                          <a:solidFill>
                            <a:schemeClr val="tx1"/>
                          </a:solidFill>
                          <a:effectLst/>
                          <a:latin typeface="+mn-lt"/>
                          <a:ea typeface="+mn-ea"/>
                          <a:cs typeface="+mn-cs"/>
                        </a:rPr>
                        <a:t>Working with files and directories: </a:t>
                      </a:r>
                      <a:r>
                        <a:rPr lang="en-US" sz="2000" kern="1200" dirty="0">
                          <a:solidFill>
                            <a:schemeClr val="tx1"/>
                          </a:solidFill>
                          <a:effectLst/>
                          <a:latin typeface="+mn-lt"/>
                          <a:ea typeface="+mn-ea"/>
                          <a:cs typeface="+mn-cs"/>
                        </a:rPr>
                        <a:t>Understanding file&amp; directory, Opening and closing, a file, Coping, renaming and deleting a file, working with directories, Creating and deleting folder, File Uploading &amp; Downloading.</a:t>
                      </a:r>
                    </a:p>
                    <a:p>
                      <a:pPr algn="just"/>
                      <a:endParaRPr lang="en-IN" sz="2000" kern="1200" dirty="0">
                        <a:solidFill>
                          <a:schemeClr val="tx1"/>
                        </a:solidFill>
                        <a:effectLst/>
                        <a:latin typeface="+mn-lt"/>
                        <a:ea typeface="+mn-ea"/>
                        <a:cs typeface="+mn-cs"/>
                      </a:endParaRPr>
                    </a:p>
                    <a:p>
                      <a:pPr algn="just"/>
                      <a:r>
                        <a:rPr lang="en-IN" sz="2000" b="1" kern="1200" dirty="0">
                          <a:solidFill>
                            <a:schemeClr val="tx1"/>
                          </a:solidFill>
                          <a:effectLst/>
                          <a:latin typeface="+mn-lt"/>
                          <a:ea typeface="+mn-ea"/>
                          <a:cs typeface="+mn-cs"/>
                        </a:rPr>
                        <a:t>Session &amp; Cookies: </a:t>
                      </a:r>
                      <a:r>
                        <a:rPr lang="en-IN" sz="2000" kern="1200" dirty="0">
                          <a:solidFill>
                            <a:schemeClr val="tx1"/>
                          </a:solidFill>
                          <a:effectLst/>
                          <a:latin typeface="+mn-lt"/>
                          <a:ea typeface="+mn-ea"/>
                          <a:cs typeface="+mn-cs"/>
                        </a:rPr>
                        <a:t>Introduction to Session Control, Session Functionality What is a Cookie, Setting Cookies with PHP. Using Cookies with Sessions, Deleting Cookies, Registering Session variables, Destroying the variables and Session.</a:t>
                      </a:r>
                      <a:endParaRPr lang="en-US" sz="2000" b="1" dirty="0">
                        <a:effectLst/>
                        <a:latin typeface="Calibri" panose="020F0502020204030204" pitchFamily="34" charset="0"/>
                        <a:ea typeface="Calibri" panose="020F0502020204030204" pitchFamily="34" charset="0"/>
                        <a:cs typeface="Mangal" panose="02040503050203030202" pitchFamily="18" charset="0"/>
                      </a:endParaRPr>
                    </a:p>
                  </a:txBody>
                  <a:tcPr marL="66562" marR="6656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a:lnSpc>
                          <a:spcPct val="115000"/>
                        </a:lnSpc>
                        <a:spcBef>
                          <a:spcPts val="0"/>
                        </a:spcBef>
                        <a:spcAft>
                          <a:spcPts val="0"/>
                        </a:spcAft>
                      </a:pPr>
                      <a:endParaRPr lang="en-US" sz="1800" b="1" dirty="0">
                        <a:latin typeface="+mn-lt"/>
                        <a:ea typeface="Calibri"/>
                        <a:cs typeface="Mangal"/>
                      </a:endParaRPr>
                    </a:p>
                    <a:p>
                      <a:pPr marL="0" marR="0" algn="l">
                        <a:lnSpc>
                          <a:spcPct val="115000"/>
                        </a:lnSpc>
                        <a:spcBef>
                          <a:spcPts val="0"/>
                        </a:spcBef>
                        <a:spcAft>
                          <a:spcPts val="0"/>
                        </a:spcAft>
                      </a:pPr>
                      <a:r>
                        <a:rPr lang="en-US" sz="1800" b="1" dirty="0">
                          <a:latin typeface="+mn-lt"/>
                          <a:ea typeface="Calibri"/>
                          <a:cs typeface="Mangal"/>
                        </a:rPr>
                        <a:t>             </a:t>
                      </a:r>
                      <a:r>
                        <a:rPr lang="en-US" sz="1800" b="1" baseline="0" dirty="0">
                          <a:latin typeface="+mn-lt"/>
                          <a:ea typeface="Calibri"/>
                          <a:cs typeface="Mangal"/>
                        </a:rPr>
                        <a:t> </a:t>
                      </a:r>
                    </a:p>
                    <a:p>
                      <a:pPr marL="0" marR="0" algn="l">
                        <a:lnSpc>
                          <a:spcPct val="115000"/>
                        </a:lnSpc>
                        <a:spcBef>
                          <a:spcPts val="0"/>
                        </a:spcBef>
                        <a:spcAft>
                          <a:spcPts val="0"/>
                        </a:spcAft>
                      </a:pPr>
                      <a:r>
                        <a:rPr lang="en-US" sz="1800" b="1" baseline="0" dirty="0">
                          <a:latin typeface="+mn-lt"/>
                          <a:ea typeface="Calibri"/>
                          <a:cs typeface="Mangal"/>
                        </a:rPr>
                        <a:t>CO5</a:t>
                      </a:r>
                    </a:p>
                    <a:p>
                      <a:pPr marL="0" marR="0" algn="l">
                        <a:lnSpc>
                          <a:spcPct val="115000"/>
                        </a:lnSpc>
                        <a:spcBef>
                          <a:spcPts val="0"/>
                        </a:spcBef>
                        <a:spcAft>
                          <a:spcPts val="0"/>
                        </a:spcAft>
                      </a:pPr>
                      <a:endParaRPr lang="en-US" sz="1800" b="1" baseline="0" dirty="0">
                        <a:latin typeface="+mn-lt"/>
                        <a:ea typeface="Calibri"/>
                        <a:cs typeface="Mangal"/>
                      </a:endParaRPr>
                    </a:p>
                    <a:p>
                      <a:pPr marL="0" marR="0" algn="l">
                        <a:lnSpc>
                          <a:spcPct val="115000"/>
                        </a:lnSpc>
                        <a:spcBef>
                          <a:spcPts val="0"/>
                        </a:spcBef>
                        <a:spcAft>
                          <a:spcPts val="0"/>
                        </a:spcAft>
                      </a:pPr>
                      <a:endParaRPr lang="en-US" sz="1800" b="1" baseline="0" dirty="0">
                        <a:latin typeface="+mn-lt"/>
                        <a:ea typeface="Calibri"/>
                        <a:cs typeface="Mangal"/>
                      </a:endParaRPr>
                    </a:p>
                    <a:p>
                      <a:pPr marL="0" marR="0" algn="l">
                        <a:lnSpc>
                          <a:spcPct val="115000"/>
                        </a:lnSpc>
                        <a:spcBef>
                          <a:spcPts val="0"/>
                        </a:spcBef>
                        <a:spcAft>
                          <a:spcPts val="0"/>
                        </a:spcAft>
                      </a:pPr>
                      <a:endParaRPr lang="en-US" sz="1800" b="1" baseline="0" dirty="0">
                        <a:latin typeface="+mn-lt"/>
                        <a:ea typeface="Calibri"/>
                        <a:cs typeface="Mangal"/>
                      </a:endParaRPr>
                    </a:p>
                    <a:p>
                      <a:pPr marL="0" marR="0" algn="l">
                        <a:lnSpc>
                          <a:spcPct val="115000"/>
                        </a:lnSpc>
                        <a:spcBef>
                          <a:spcPts val="0"/>
                        </a:spcBef>
                        <a:spcAft>
                          <a:spcPts val="0"/>
                        </a:spcAft>
                      </a:pPr>
                      <a:r>
                        <a:rPr lang="en-US" sz="1800" b="1" dirty="0">
                          <a:latin typeface="+mn-lt"/>
                          <a:ea typeface="Calibri"/>
                          <a:cs typeface="Mangal"/>
                        </a:rPr>
                        <a:t>CO5</a:t>
                      </a:r>
                    </a:p>
                    <a:p>
                      <a:pPr marL="0" marR="0" algn="l">
                        <a:lnSpc>
                          <a:spcPct val="115000"/>
                        </a:lnSpc>
                        <a:spcBef>
                          <a:spcPts val="0"/>
                        </a:spcBef>
                        <a:spcAft>
                          <a:spcPts val="0"/>
                        </a:spcAft>
                      </a:pPr>
                      <a:endParaRPr lang="en-US" sz="1800" b="1" dirty="0">
                        <a:latin typeface="+mn-lt"/>
                        <a:ea typeface="Calibri"/>
                        <a:cs typeface="Mangal"/>
                      </a:endParaRPr>
                    </a:p>
                    <a:p>
                      <a:pPr marL="0" marR="0" algn="l">
                        <a:lnSpc>
                          <a:spcPct val="115000"/>
                        </a:lnSpc>
                        <a:spcBef>
                          <a:spcPts val="0"/>
                        </a:spcBef>
                        <a:spcAft>
                          <a:spcPts val="0"/>
                        </a:spcAft>
                      </a:pPr>
                      <a:endParaRPr lang="en-US" sz="1800" b="1" dirty="0">
                        <a:latin typeface="+mn-lt"/>
                        <a:ea typeface="Calibri"/>
                        <a:cs typeface="Mangal"/>
                      </a:endParaRPr>
                    </a:p>
                    <a:p>
                      <a:pPr marL="0" marR="0" algn="l">
                        <a:lnSpc>
                          <a:spcPct val="115000"/>
                        </a:lnSpc>
                        <a:spcBef>
                          <a:spcPts val="0"/>
                        </a:spcBef>
                        <a:spcAft>
                          <a:spcPts val="0"/>
                        </a:spcAft>
                      </a:pPr>
                      <a:endParaRPr lang="en-US" sz="1800" b="1" dirty="0">
                        <a:latin typeface="+mn-lt"/>
                        <a:ea typeface="Calibri"/>
                        <a:cs typeface="Mangal"/>
                      </a:endParaRPr>
                    </a:p>
                    <a:p>
                      <a:pPr marL="0" marR="0" algn="l">
                        <a:lnSpc>
                          <a:spcPct val="115000"/>
                        </a:lnSpc>
                        <a:spcBef>
                          <a:spcPts val="0"/>
                        </a:spcBef>
                        <a:spcAft>
                          <a:spcPts val="0"/>
                        </a:spcAft>
                      </a:pPr>
                      <a:r>
                        <a:rPr lang="en-US" sz="1800" b="1" dirty="0">
                          <a:latin typeface="+mn-lt"/>
                          <a:ea typeface="Calibri"/>
                          <a:cs typeface="Mangal"/>
                        </a:rPr>
                        <a:t>CO5</a:t>
                      </a:r>
                    </a:p>
                  </a:txBody>
                  <a:tcPr marL="66562" marR="6656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134238363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E73A3019-CFE4-49DD-B6FD-2AFB2DD2DBB6}" type="datetime1">
              <a:rPr lang="en-US" smtClean="0"/>
              <a:t>11/7/2024</a:t>
            </a:fld>
            <a:endParaRPr lang="en-US"/>
          </a:p>
        </p:txBody>
      </p:sp>
      <p:sp>
        <p:nvSpPr>
          <p:cNvPr id="5" name="Footer Placeholder 4"/>
          <p:cNvSpPr>
            <a:spLocks noGrp="1"/>
          </p:cNvSpPr>
          <p:nvPr>
            <p:ph type="ftr" sz="quarter" idx="11"/>
          </p:nvPr>
        </p:nvSpPr>
        <p:spPr>
          <a:xfrm>
            <a:off x="4343400" y="6248401"/>
            <a:ext cx="4724400" cy="365125"/>
          </a:xfrm>
        </p:spPr>
        <p:txBody>
          <a:bodyPr/>
          <a:lstStyle/>
          <a:p>
            <a:r>
              <a:rPr lang="en-US" dirty="0"/>
              <a:t>Vaishali Mishra            ACSE0505 Web Technology                Unit 5</a:t>
            </a:r>
          </a:p>
        </p:txBody>
      </p:sp>
      <p:sp>
        <p:nvSpPr>
          <p:cNvPr id="6" name="Slide Number Placeholder 5"/>
          <p:cNvSpPr>
            <a:spLocks noGrp="1"/>
          </p:cNvSpPr>
          <p:nvPr>
            <p:ph type="sldNum" sz="quarter" idx="12"/>
          </p:nvPr>
        </p:nvSpPr>
        <p:spPr/>
        <p:txBody>
          <a:bodyPr/>
          <a:lstStyle/>
          <a:p>
            <a:fld id="{B6F15528-21DE-4FAA-801E-634DDDAF4B2B}" type="slidenum">
              <a:rPr lang="en-US" smtClean="0"/>
              <a:pPr/>
              <a:t>25</a:t>
            </a:fld>
            <a:endParaRPr lang="en-US"/>
          </a:p>
        </p:txBody>
      </p:sp>
      <p:sp>
        <p:nvSpPr>
          <p:cNvPr id="7" name="Title 1"/>
          <p:cNvSpPr txBox="1">
            <a:spLocks/>
          </p:cNvSpPr>
          <p:nvPr/>
        </p:nvSpPr>
        <p:spPr>
          <a:xfrm>
            <a:off x="2895600" y="2"/>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pPr>
              <a:defRPr/>
            </a:pPr>
            <a:endParaRPr kumimoji="0" lang="en-US" sz="2800" b="0" i="0" u="none" strike="noStrike" kern="1200" cap="none" spc="0" normalizeH="0" baseline="0" noProof="0" dirty="0">
              <a:ln>
                <a:noFill/>
              </a:ln>
              <a:solidFill>
                <a:schemeClr val="dk1"/>
              </a:solidFill>
              <a:effectLst/>
              <a:uLnTx/>
              <a:uFillTx/>
              <a:ea typeface="+mn-ea"/>
              <a:cs typeface="+mn-cs"/>
            </a:endParaRPr>
          </a:p>
          <a:p>
            <a:pPr>
              <a:defRPr/>
            </a:pPr>
            <a:r>
              <a:rPr kumimoji="0" lang="en-US" sz="2800" b="0" i="0" u="none" strike="noStrike" kern="1200" cap="none" spc="0" normalizeH="0" baseline="0" noProof="0" dirty="0">
                <a:ln>
                  <a:noFill/>
                </a:ln>
                <a:solidFill>
                  <a:schemeClr val="dk1"/>
                </a:solidFill>
                <a:effectLst/>
                <a:uLnTx/>
                <a:uFillTx/>
                <a:ea typeface="+mn-ea"/>
                <a:cs typeface="+mn-cs"/>
              </a:rPr>
              <a:t>Unit </a:t>
            </a:r>
            <a:r>
              <a:rPr kumimoji="0" lang="en-US" sz="2800" b="0" i="0" u="none" strike="noStrike" kern="1200" cap="none" spc="0" normalizeH="0" noProof="0" dirty="0">
                <a:ln>
                  <a:noFill/>
                </a:ln>
                <a:solidFill>
                  <a:schemeClr val="dk1"/>
                </a:solidFill>
                <a:effectLst/>
                <a:uLnTx/>
                <a:uFillTx/>
                <a:ea typeface="+mn-ea"/>
                <a:cs typeface="+mn-cs"/>
              </a:rPr>
              <a:t>Objective</a:t>
            </a:r>
            <a:endParaRPr kumimoji="0" lang="en-US" sz="2800" b="0" i="0" u="none" strike="noStrike" kern="1200" cap="none" spc="0" normalizeH="0" baseline="0" noProof="0" dirty="0">
              <a:ln>
                <a:noFill/>
              </a:ln>
              <a:solidFill>
                <a:schemeClr val="dk1"/>
              </a:solidFill>
              <a:effectLst/>
              <a:uLnTx/>
              <a:uFillTx/>
              <a:ea typeface="+mn-ea"/>
              <a:cs typeface="+mn-cs"/>
            </a:endParaRPr>
          </a:p>
          <a:p>
            <a:pPr algn="ctr">
              <a:defRPr/>
            </a:pPr>
            <a:endParaRPr lang="en-US" sz="2800" dirty="0">
              <a:latin typeface="Times New Roman" pitchFamily="18" charset="0"/>
              <a:cs typeface="Times New Roman" pitchFamily="18" charset="0"/>
              <a:sym typeface="Arial" charset="0"/>
            </a:endParaRPr>
          </a:p>
        </p:txBody>
      </p:sp>
      <p:pic>
        <p:nvPicPr>
          <p:cNvPr id="2" name="Picture 1" descr="A black and red logo&#10;&#10;Description automatically generated">
            <a:extLst>
              <a:ext uri="{FF2B5EF4-FFF2-40B4-BE49-F238E27FC236}">
                <a16:creationId xmlns:a16="http://schemas.microsoft.com/office/drawing/2014/main" id="{8BDB0671-FC93-5C9E-75A2-ED46EE3FB8B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8" name="Content Placeholder 1">
            <a:extLst>
              <a:ext uri="{FF2B5EF4-FFF2-40B4-BE49-F238E27FC236}">
                <a16:creationId xmlns:a16="http://schemas.microsoft.com/office/drawing/2014/main" id="{1FF5ADF0-474C-251F-0E40-267B658E504A}"/>
              </a:ext>
            </a:extLst>
          </p:cNvPr>
          <p:cNvSpPr txBox="1">
            <a:spLocks noGrp="1"/>
          </p:cNvSpPr>
          <p:nvPr>
            <p:ph idx="1"/>
          </p:nvPr>
        </p:nvSpPr>
        <p:spPr>
          <a:xfrm>
            <a:off x="609600" y="1219200"/>
            <a:ext cx="10515600" cy="4449763"/>
          </a:xfrm>
        </p:spPr>
        <p:txBody>
          <a:bodyPr/>
          <a:lstStyle/>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None/>
            </a:pPr>
            <a:r>
              <a:rPr lang="en-US" sz="2000" dirty="0">
                <a:latin typeface="+mj-lt"/>
              </a:rPr>
              <a:t>Read, understand and implement the PHP language in real world projects.</a:t>
            </a: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lgn="ctr">
              <a:spcBef>
                <a:spcPts val="363"/>
              </a:spcBef>
              <a:spcAft>
                <a:spcPct val="0"/>
              </a:spcAft>
              <a:buClr>
                <a:srgbClr val="000000"/>
              </a:buClr>
              <a:buFont typeface="Arial" panose="020B0604020202020204" pitchFamily="34" charset="0"/>
              <a:buNone/>
            </a:pPr>
            <a:r>
              <a:rPr lang="en-IN" sz="2000" b="1" dirty="0">
                <a:latin typeface="Arial" panose="020B0604020202020204" pitchFamily="34" charset="0"/>
                <a:cs typeface="Arial" panose="020B0604020202020204" pitchFamily="34" charset="0"/>
              </a:rPr>
              <a:t> </a:t>
            </a:r>
          </a:p>
        </p:txBody>
      </p:sp>
    </p:spTree>
    <p:extLst>
      <p:ext uri="{BB962C8B-B14F-4D97-AF65-F5344CB8AC3E}">
        <p14:creationId xmlns:p14="http://schemas.microsoft.com/office/powerpoint/2010/main" val="152386047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E73A3019-CFE4-49DD-B6FD-2AFB2DD2DBB6}" type="datetime1">
              <a:rPr lang="en-US" smtClean="0"/>
              <a:t>11/7/2024</a:t>
            </a:fld>
            <a:endParaRPr lang="en-US"/>
          </a:p>
        </p:txBody>
      </p:sp>
      <p:sp>
        <p:nvSpPr>
          <p:cNvPr id="5" name="Footer Placeholder 4"/>
          <p:cNvSpPr>
            <a:spLocks noGrp="1"/>
          </p:cNvSpPr>
          <p:nvPr>
            <p:ph type="ftr" sz="quarter" idx="11"/>
          </p:nvPr>
        </p:nvSpPr>
        <p:spPr>
          <a:xfrm>
            <a:off x="4343400" y="6248401"/>
            <a:ext cx="4724400" cy="365125"/>
          </a:xfrm>
        </p:spPr>
        <p:txBody>
          <a:bodyPr/>
          <a:lstStyle/>
          <a:p>
            <a:r>
              <a:rPr lang="en-US" dirty="0"/>
              <a:t>Vaishali Mishra            ACSE0505 Web Technology                Unit 5</a:t>
            </a:r>
          </a:p>
        </p:txBody>
      </p:sp>
      <p:sp>
        <p:nvSpPr>
          <p:cNvPr id="6" name="Slide Number Placeholder 5"/>
          <p:cNvSpPr>
            <a:spLocks noGrp="1"/>
          </p:cNvSpPr>
          <p:nvPr>
            <p:ph type="sldNum" sz="quarter" idx="12"/>
          </p:nvPr>
        </p:nvSpPr>
        <p:spPr/>
        <p:txBody>
          <a:bodyPr/>
          <a:lstStyle/>
          <a:p>
            <a:fld id="{B6F15528-21DE-4FAA-801E-634DDDAF4B2B}" type="slidenum">
              <a:rPr lang="en-US" smtClean="0"/>
              <a:pPr/>
              <a:t>26</a:t>
            </a:fld>
            <a:endParaRPr lang="en-US"/>
          </a:p>
        </p:txBody>
      </p:sp>
      <p:sp>
        <p:nvSpPr>
          <p:cNvPr id="7" name="Title 1"/>
          <p:cNvSpPr txBox="1">
            <a:spLocks/>
          </p:cNvSpPr>
          <p:nvPr/>
        </p:nvSpPr>
        <p:spPr>
          <a:xfrm>
            <a:off x="2895600" y="2"/>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pPr>
              <a:defRPr/>
            </a:pPr>
            <a:endParaRPr kumimoji="0" lang="en-US" sz="2800" b="0" i="0" u="none" strike="noStrike" kern="1200" cap="none" spc="0" normalizeH="0" baseline="0" noProof="0" dirty="0">
              <a:ln>
                <a:noFill/>
              </a:ln>
              <a:solidFill>
                <a:schemeClr val="dk1"/>
              </a:solidFill>
              <a:effectLst/>
              <a:uLnTx/>
              <a:uFillTx/>
              <a:latin typeface="+mn-lt"/>
              <a:ea typeface="+mn-ea"/>
              <a:cs typeface="+mn-cs"/>
            </a:endParaRPr>
          </a:p>
          <a:p>
            <a:pPr>
              <a:defRPr/>
            </a:pPr>
            <a:endParaRPr kumimoji="0" lang="en-US" sz="2800" b="0" i="0" u="none" strike="noStrike" kern="1200" cap="none" spc="0" normalizeH="0" baseline="0" noProof="0" dirty="0">
              <a:ln>
                <a:noFill/>
              </a:ln>
              <a:solidFill>
                <a:schemeClr val="dk1"/>
              </a:solidFill>
              <a:effectLst/>
              <a:uLnTx/>
              <a:uFillTx/>
              <a:latin typeface="+mn-lt"/>
              <a:ea typeface="+mn-ea"/>
              <a:cs typeface="+mn-cs"/>
            </a:endParaRPr>
          </a:p>
          <a:p>
            <a:pPr>
              <a:defRPr/>
            </a:pPr>
            <a:r>
              <a:rPr kumimoji="0" lang="en-US" sz="2800" b="0" i="0" u="none" strike="noStrike" kern="1200" cap="none" spc="0" normalizeH="0" baseline="0" noProof="0" dirty="0">
                <a:ln>
                  <a:noFill/>
                </a:ln>
                <a:solidFill>
                  <a:schemeClr val="dk1"/>
                </a:solidFill>
                <a:effectLst/>
                <a:uLnTx/>
                <a:uFillTx/>
                <a:latin typeface="+mn-lt"/>
                <a:ea typeface="+mn-ea"/>
                <a:cs typeface="+mn-cs"/>
              </a:rPr>
              <a:t>Topic and Topic objective</a:t>
            </a:r>
          </a:p>
          <a:p>
            <a:pPr>
              <a:defRPr/>
            </a:pPr>
            <a:endParaRPr kumimoji="0" lang="en-US" sz="2800" b="0" i="0" u="none" strike="noStrike" kern="1200" cap="none" spc="0" normalizeH="0" baseline="0" noProof="0" dirty="0">
              <a:ln>
                <a:noFill/>
              </a:ln>
              <a:solidFill>
                <a:schemeClr val="dk1"/>
              </a:solidFill>
              <a:effectLst/>
              <a:uLnTx/>
              <a:uFillTx/>
              <a:latin typeface="+mn-lt"/>
              <a:ea typeface="+mn-ea"/>
              <a:cs typeface="+mn-cs"/>
            </a:endParaRPr>
          </a:p>
          <a:p>
            <a:pPr algn="ctr">
              <a:defRPr/>
            </a:pPr>
            <a:endParaRPr lang="en-US" sz="2800" dirty="0">
              <a:latin typeface="Times New Roman" pitchFamily="18" charset="0"/>
              <a:cs typeface="Times New Roman" pitchFamily="18" charset="0"/>
              <a:sym typeface="Arial" charset="0"/>
            </a:endParaRPr>
          </a:p>
        </p:txBody>
      </p:sp>
      <p:pic>
        <p:nvPicPr>
          <p:cNvPr id="2" name="Picture 1" descr="A black and red logo&#10;&#10;Description automatically generated">
            <a:extLst>
              <a:ext uri="{FF2B5EF4-FFF2-40B4-BE49-F238E27FC236}">
                <a16:creationId xmlns:a16="http://schemas.microsoft.com/office/drawing/2014/main" id="{8BDB0671-FC93-5C9E-75A2-ED46EE3FB8B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8" name="Content Placeholder 1">
            <a:extLst>
              <a:ext uri="{FF2B5EF4-FFF2-40B4-BE49-F238E27FC236}">
                <a16:creationId xmlns:a16="http://schemas.microsoft.com/office/drawing/2014/main" id="{1FF5ADF0-474C-251F-0E40-267B658E504A}"/>
              </a:ext>
            </a:extLst>
          </p:cNvPr>
          <p:cNvSpPr txBox="1">
            <a:spLocks noGrp="1"/>
          </p:cNvSpPr>
          <p:nvPr>
            <p:ph idx="1"/>
          </p:nvPr>
        </p:nvSpPr>
        <p:spPr>
          <a:xfrm>
            <a:off x="609600" y="1219200"/>
            <a:ext cx="10515600" cy="4449763"/>
          </a:xfrm>
        </p:spPr>
        <p:txBody>
          <a:bodyPr/>
          <a:lstStyle/>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lgn="ctr">
              <a:spcBef>
                <a:spcPts val="363"/>
              </a:spcBef>
              <a:spcAft>
                <a:spcPct val="0"/>
              </a:spcAft>
              <a:buClr>
                <a:srgbClr val="000000"/>
              </a:buClr>
              <a:buFont typeface="Arial" panose="020B0604020202020204" pitchFamily="34" charset="0"/>
              <a:buNone/>
            </a:pPr>
            <a:r>
              <a:rPr lang="en-IN" sz="2000" b="1" dirty="0">
                <a:latin typeface="Arial" panose="020B0604020202020204" pitchFamily="34" charset="0"/>
                <a:cs typeface="Arial" panose="020B0604020202020204" pitchFamily="34" charset="0"/>
              </a:rPr>
              <a:t> </a:t>
            </a:r>
          </a:p>
        </p:txBody>
      </p:sp>
      <p:sp>
        <p:nvSpPr>
          <p:cNvPr id="9" name="Content Placeholder 2">
            <a:extLst>
              <a:ext uri="{FF2B5EF4-FFF2-40B4-BE49-F238E27FC236}">
                <a16:creationId xmlns:a16="http://schemas.microsoft.com/office/drawing/2014/main" id="{80359B5D-51E1-C79C-824F-FF2937DF363A}"/>
              </a:ext>
            </a:extLst>
          </p:cNvPr>
          <p:cNvSpPr txBox="1">
            <a:spLocks/>
          </p:cNvSpPr>
          <p:nvPr/>
        </p:nvSpPr>
        <p:spPr>
          <a:xfrm>
            <a:off x="2209800" y="1265239"/>
            <a:ext cx="7772400" cy="4221161"/>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spcBef>
                <a:spcPts val="0"/>
              </a:spcBef>
              <a:buNone/>
            </a:pPr>
            <a:r>
              <a:rPr lang="en-US" sz="2000" b="1" dirty="0"/>
              <a:t>Introduction to PHP, syntax, variables, constants </a:t>
            </a:r>
            <a:r>
              <a:rPr lang="en-IN" sz="2000" b="1" dirty="0"/>
              <a:t>: </a:t>
            </a:r>
          </a:p>
          <a:p>
            <a:pPr marL="0" indent="0">
              <a:spcBef>
                <a:spcPts val="0"/>
              </a:spcBef>
              <a:buNone/>
            </a:pPr>
            <a:r>
              <a:rPr lang="en-US" sz="2000" dirty="0"/>
              <a:t>To discuss about basics of </a:t>
            </a:r>
            <a:r>
              <a:rPr lang="en-US" sz="2000" dirty="0">
                <a:solidFill>
                  <a:prstClr val="black"/>
                </a:solidFill>
              </a:rPr>
              <a:t>PHP with its syntax, variables and constants.</a:t>
            </a:r>
            <a:endParaRPr lang="en-IN" sz="2000" dirty="0"/>
          </a:p>
          <a:p>
            <a:pPr marL="0" indent="0" algn="just">
              <a:buFont typeface="Arial" pitchFamily="34" charset="0"/>
              <a:buNone/>
            </a:pPr>
            <a:endParaRPr lang="en-US" sz="2000" dirty="0"/>
          </a:p>
          <a:p>
            <a:pPr algn="just">
              <a:buFont typeface="Arial" pitchFamily="34" charset="0"/>
              <a:buNone/>
            </a:pPr>
            <a:endParaRPr lang="en-US" sz="2200" dirty="0"/>
          </a:p>
        </p:txBody>
      </p:sp>
    </p:spTree>
    <p:extLst>
      <p:ext uri="{BB962C8B-B14F-4D97-AF65-F5344CB8AC3E}">
        <p14:creationId xmlns:p14="http://schemas.microsoft.com/office/powerpoint/2010/main" val="260155281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E73A3019-CFE4-49DD-B6FD-2AFB2DD2DBB6}" type="datetime1">
              <a:rPr lang="en-US" smtClean="0"/>
              <a:t>11/7/2024</a:t>
            </a:fld>
            <a:endParaRPr lang="en-US"/>
          </a:p>
        </p:txBody>
      </p:sp>
      <p:sp>
        <p:nvSpPr>
          <p:cNvPr id="5" name="Footer Placeholder 4"/>
          <p:cNvSpPr>
            <a:spLocks noGrp="1"/>
          </p:cNvSpPr>
          <p:nvPr>
            <p:ph type="ftr" sz="quarter" idx="11"/>
          </p:nvPr>
        </p:nvSpPr>
        <p:spPr>
          <a:xfrm>
            <a:off x="4343400" y="6248401"/>
            <a:ext cx="4724400" cy="365125"/>
          </a:xfrm>
        </p:spPr>
        <p:txBody>
          <a:bodyPr/>
          <a:lstStyle/>
          <a:p>
            <a:r>
              <a:rPr lang="en-US" dirty="0"/>
              <a:t>Vaishali Mishra            ACSE0505 Web Technology                Unit 5</a:t>
            </a:r>
          </a:p>
        </p:txBody>
      </p:sp>
      <p:sp>
        <p:nvSpPr>
          <p:cNvPr id="6" name="Slide Number Placeholder 5"/>
          <p:cNvSpPr>
            <a:spLocks noGrp="1"/>
          </p:cNvSpPr>
          <p:nvPr>
            <p:ph type="sldNum" sz="quarter" idx="12"/>
          </p:nvPr>
        </p:nvSpPr>
        <p:spPr/>
        <p:txBody>
          <a:bodyPr/>
          <a:lstStyle/>
          <a:p>
            <a:fld id="{B6F15528-21DE-4FAA-801E-634DDDAF4B2B}" type="slidenum">
              <a:rPr lang="en-US" smtClean="0"/>
              <a:pPr/>
              <a:t>27</a:t>
            </a:fld>
            <a:endParaRPr lang="en-US"/>
          </a:p>
        </p:txBody>
      </p:sp>
      <p:sp>
        <p:nvSpPr>
          <p:cNvPr id="7" name="Title 1"/>
          <p:cNvSpPr txBox="1">
            <a:spLocks/>
          </p:cNvSpPr>
          <p:nvPr/>
        </p:nvSpPr>
        <p:spPr>
          <a:xfrm>
            <a:off x="2895600" y="2"/>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pPr>
              <a:defRPr/>
            </a:pPr>
            <a:endParaRPr lang="en-US" sz="2800" dirty="0">
              <a:solidFill>
                <a:prstClr val="black"/>
              </a:solidFill>
            </a:endParaRPr>
          </a:p>
          <a:p>
            <a:pPr>
              <a:defRPr/>
            </a:pPr>
            <a:r>
              <a:rPr lang="en-US" sz="2800" dirty="0">
                <a:solidFill>
                  <a:prstClr val="black"/>
                </a:solidFill>
              </a:rPr>
              <a:t>Introduction to PHP</a:t>
            </a:r>
            <a:r>
              <a:rPr lang="en-IN" sz="2800" dirty="0">
                <a:solidFill>
                  <a:prstClr val="black"/>
                </a:solidFill>
              </a:rPr>
              <a:t> </a:t>
            </a:r>
            <a:r>
              <a:rPr lang="en-US" sz="2800" dirty="0"/>
              <a:t>(CO5)</a:t>
            </a:r>
          </a:p>
          <a:p>
            <a:pPr algn="ctr">
              <a:defRPr/>
            </a:pPr>
            <a:endParaRPr lang="en-US" sz="2800" dirty="0">
              <a:latin typeface="Times New Roman" pitchFamily="18" charset="0"/>
              <a:cs typeface="Times New Roman" pitchFamily="18" charset="0"/>
              <a:sym typeface="Arial" charset="0"/>
            </a:endParaRPr>
          </a:p>
        </p:txBody>
      </p:sp>
      <p:pic>
        <p:nvPicPr>
          <p:cNvPr id="2" name="Picture 1" descr="A black and red logo&#10;&#10;Description automatically generated">
            <a:extLst>
              <a:ext uri="{FF2B5EF4-FFF2-40B4-BE49-F238E27FC236}">
                <a16:creationId xmlns:a16="http://schemas.microsoft.com/office/drawing/2014/main" id="{8BDB0671-FC93-5C9E-75A2-ED46EE3FB8B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8" name="Content Placeholder 1">
            <a:extLst>
              <a:ext uri="{FF2B5EF4-FFF2-40B4-BE49-F238E27FC236}">
                <a16:creationId xmlns:a16="http://schemas.microsoft.com/office/drawing/2014/main" id="{1FF5ADF0-474C-251F-0E40-267B658E504A}"/>
              </a:ext>
            </a:extLst>
          </p:cNvPr>
          <p:cNvSpPr txBox="1">
            <a:spLocks noGrp="1"/>
          </p:cNvSpPr>
          <p:nvPr>
            <p:ph idx="1"/>
          </p:nvPr>
        </p:nvSpPr>
        <p:spPr>
          <a:xfrm>
            <a:off x="609600" y="1219200"/>
            <a:ext cx="10515600" cy="4449763"/>
          </a:xfrm>
        </p:spPr>
        <p:txBody>
          <a:bodyPr/>
          <a:lstStyle/>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lgn="ctr">
              <a:spcBef>
                <a:spcPts val="363"/>
              </a:spcBef>
              <a:spcAft>
                <a:spcPct val="0"/>
              </a:spcAft>
              <a:buClr>
                <a:srgbClr val="000000"/>
              </a:buClr>
              <a:buFont typeface="Arial" panose="020B0604020202020204" pitchFamily="34" charset="0"/>
              <a:buNone/>
            </a:pPr>
            <a:r>
              <a:rPr lang="en-IN" sz="2000" b="1" dirty="0">
                <a:latin typeface="Arial" panose="020B0604020202020204" pitchFamily="34" charset="0"/>
                <a:cs typeface="Arial" panose="020B0604020202020204" pitchFamily="34" charset="0"/>
              </a:rPr>
              <a:t> </a:t>
            </a:r>
          </a:p>
        </p:txBody>
      </p:sp>
      <p:sp>
        <p:nvSpPr>
          <p:cNvPr id="3" name="Subtitle 2">
            <a:extLst>
              <a:ext uri="{FF2B5EF4-FFF2-40B4-BE49-F238E27FC236}">
                <a16:creationId xmlns:a16="http://schemas.microsoft.com/office/drawing/2014/main" id="{C3696D54-4FDC-3FF3-EEF9-638C81BC8C47}"/>
              </a:ext>
            </a:extLst>
          </p:cNvPr>
          <p:cNvSpPr txBox="1">
            <a:spLocks/>
          </p:cNvSpPr>
          <p:nvPr/>
        </p:nvSpPr>
        <p:spPr>
          <a:xfrm>
            <a:off x="76200" y="1189037"/>
            <a:ext cx="11049000" cy="4983162"/>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285750" indent="-285750" algn="just"/>
            <a:r>
              <a:rPr lang="en-US" sz="2000"/>
              <a:t>The term PHP is an acronym for </a:t>
            </a:r>
            <a:r>
              <a:rPr lang="en-US" sz="2000" i="1"/>
              <a:t>PHP: Hypertext Preprocessor</a:t>
            </a:r>
            <a:r>
              <a:rPr lang="en-US" sz="2000"/>
              <a:t>. PHP is a server-side scripting language designed specifically for web development. </a:t>
            </a:r>
          </a:p>
          <a:p>
            <a:pPr marL="285750" indent="-285750" algn="just"/>
            <a:r>
              <a:rPr lang="en-US" sz="2000"/>
              <a:t>PHP is a server side scripting language that is embedded in HTML. It is used to manage dynamic content, databases, session tracking, even build entire e-commerce sites.</a:t>
            </a:r>
          </a:p>
          <a:p>
            <a:pPr marL="285750" indent="-285750" algn="just"/>
            <a:r>
              <a:rPr lang="en-US" sz="2000"/>
              <a:t>It is integrated with a number of popular databases, including MySQL, PostgreSQL, </a:t>
            </a:r>
          </a:p>
          <a:p>
            <a:pPr marL="285750" indent="-285750" algn="just"/>
            <a:r>
              <a:rPr lang="en-US" sz="2000"/>
              <a:t>Oracle, Sybase, Informix, and Microsoft SQL Server.</a:t>
            </a:r>
          </a:p>
          <a:p>
            <a:pPr marL="285750" indent="-285750" algn="just"/>
            <a:r>
              <a:rPr lang="en-US" sz="2000"/>
              <a:t>PHP supports a large number of major protocols such as POP3, IMAP, and LDAP. PHP is forgiving: PHP language tries to be as forgiving as possible.</a:t>
            </a:r>
          </a:p>
          <a:p>
            <a:pPr marL="285750" indent="-285750" algn="just"/>
            <a:r>
              <a:rPr lang="en-US" sz="2000"/>
              <a:t>PHP Syntax is C-Like.</a:t>
            </a:r>
            <a:endParaRPr lang="en-US" sz="2000" dirty="0"/>
          </a:p>
        </p:txBody>
      </p:sp>
    </p:spTree>
    <p:extLst>
      <p:ext uri="{BB962C8B-B14F-4D97-AF65-F5344CB8AC3E}">
        <p14:creationId xmlns:p14="http://schemas.microsoft.com/office/powerpoint/2010/main" val="319747110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E73A3019-CFE4-49DD-B6FD-2AFB2DD2DBB6}" type="datetime1">
              <a:rPr lang="en-US" smtClean="0"/>
              <a:t>11/7/2024</a:t>
            </a:fld>
            <a:endParaRPr lang="en-US"/>
          </a:p>
        </p:txBody>
      </p:sp>
      <p:sp>
        <p:nvSpPr>
          <p:cNvPr id="5" name="Footer Placeholder 4"/>
          <p:cNvSpPr>
            <a:spLocks noGrp="1"/>
          </p:cNvSpPr>
          <p:nvPr>
            <p:ph type="ftr" sz="quarter" idx="11"/>
          </p:nvPr>
        </p:nvSpPr>
        <p:spPr>
          <a:xfrm>
            <a:off x="4343400" y="6248401"/>
            <a:ext cx="4724400" cy="365125"/>
          </a:xfrm>
        </p:spPr>
        <p:txBody>
          <a:bodyPr/>
          <a:lstStyle/>
          <a:p>
            <a:r>
              <a:rPr lang="en-US" dirty="0"/>
              <a:t>Vaishali Mishra            ACSE0505 Web Technology                Unit 5</a:t>
            </a:r>
          </a:p>
        </p:txBody>
      </p:sp>
      <p:sp>
        <p:nvSpPr>
          <p:cNvPr id="6" name="Slide Number Placeholder 5"/>
          <p:cNvSpPr>
            <a:spLocks noGrp="1"/>
          </p:cNvSpPr>
          <p:nvPr>
            <p:ph type="sldNum" sz="quarter" idx="12"/>
          </p:nvPr>
        </p:nvSpPr>
        <p:spPr/>
        <p:txBody>
          <a:bodyPr/>
          <a:lstStyle/>
          <a:p>
            <a:fld id="{B6F15528-21DE-4FAA-801E-634DDDAF4B2B}" type="slidenum">
              <a:rPr lang="en-US" smtClean="0"/>
              <a:pPr/>
              <a:t>28</a:t>
            </a:fld>
            <a:endParaRPr lang="en-US"/>
          </a:p>
        </p:txBody>
      </p:sp>
      <p:sp>
        <p:nvSpPr>
          <p:cNvPr id="7" name="Title 1"/>
          <p:cNvSpPr txBox="1">
            <a:spLocks/>
          </p:cNvSpPr>
          <p:nvPr/>
        </p:nvSpPr>
        <p:spPr>
          <a:xfrm>
            <a:off x="2895600" y="2"/>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pPr>
              <a:defRPr/>
            </a:pPr>
            <a:endParaRPr lang="en-US" sz="2800" dirty="0">
              <a:solidFill>
                <a:prstClr val="black"/>
              </a:solidFill>
            </a:endParaRPr>
          </a:p>
          <a:p>
            <a:pPr>
              <a:defRPr/>
            </a:pPr>
            <a:r>
              <a:rPr lang="en-US" sz="2800" dirty="0">
                <a:solidFill>
                  <a:prstClr val="black"/>
                </a:solidFill>
              </a:rPr>
              <a:t>Introduction to PHP</a:t>
            </a:r>
            <a:r>
              <a:rPr lang="en-IN" sz="2800" dirty="0">
                <a:solidFill>
                  <a:prstClr val="black"/>
                </a:solidFill>
              </a:rPr>
              <a:t> </a:t>
            </a:r>
            <a:r>
              <a:rPr lang="en-US" sz="2800" dirty="0"/>
              <a:t>(CO5)</a:t>
            </a:r>
          </a:p>
          <a:p>
            <a:pPr algn="ctr">
              <a:defRPr/>
            </a:pPr>
            <a:endParaRPr lang="en-US" sz="2800" dirty="0">
              <a:latin typeface="Times New Roman" pitchFamily="18" charset="0"/>
              <a:cs typeface="Times New Roman" pitchFamily="18" charset="0"/>
              <a:sym typeface="Arial" charset="0"/>
            </a:endParaRPr>
          </a:p>
        </p:txBody>
      </p:sp>
      <p:pic>
        <p:nvPicPr>
          <p:cNvPr id="2" name="Picture 1" descr="A black and red logo&#10;&#10;Description automatically generated">
            <a:extLst>
              <a:ext uri="{FF2B5EF4-FFF2-40B4-BE49-F238E27FC236}">
                <a16:creationId xmlns:a16="http://schemas.microsoft.com/office/drawing/2014/main" id="{8BDB0671-FC93-5C9E-75A2-ED46EE3FB8B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8" name="Content Placeholder 1">
            <a:extLst>
              <a:ext uri="{FF2B5EF4-FFF2-40B4-BE49-F238E27FC236}">
                <a16:creationId xmlns:a16="http://schemas.microsoft.com/office/drawing/2014/main" id="{1FF5ADF0-474C-251F-0E40-267B658E504A}"/>
              </a:ext>
            </a:extLst>
          </p:cNvPr>
          <p:cNvSpPr txBox="1">
            <a:spLocks noGrp="1"/>
          </p:cNvSpPr>
          <p:nvPr>
            <p:ph idx="1"/>
          </p:nvPr>
        </p:nvSpPr>
        <p:spPr>
          <a:xfrm>
            <a:off x="609600" y="1219200"/>
            <a:ext cx="10515600" cy="4449763"/>
          </a:xfrm>
        </p:spPr>
        <p:txBody>
          <a:bodyPr/>
          <a:lstStyle/>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lgn="ctr">
              <a:spcBef>
                <a:spcPts val="363"/>
              </a:spcBef>
              <a:spcAft>
                <a:spcPct val="0"/>
              </a:spcAft>
              <a:buClr>
                <a:srgbClr val="000000"/>
              </a:buClr>
              <a:buFont typeface="Arial" panose="020B0604020202020204" pitchFamily="34" charset="0"/>
              <a:buNone/>
            </a:pPr>
            <a:r>
              <a:rPr lang="en-IN" sz="2000" b="1" dirty="0">
                <a:latin typeface="Arial" panose="020B0604020202020204" pitchFamily="34" charset="0"/>
                <a:cs typeface="Arial" panose="020B0604020202020204" pitchFamily="34" charset="0"/>
              </a:rPr>
              <a:t> </a:t>
            </a:r>
          </a:p>
        </p:txBody>
      </p:sp>
      <p:sp>
        <p:nvSpPr>
          <p:cNvPr id="3" name="Subtitle 2">
            <a:extLst>
              <a:ext uri="{FF2B5EF4-FFF2-40B4-BE49-F238E27FC236}">
                <a16:creationId xmlns:a16="http://schemas.microsoft.com/office/drawing/2014/main" id="{CF6913C2-6839-1E19-4121-ADE9AA5C11B9}"/>
              </a:ext>
            </a:extLst>
          </p:cNvPr>
          <p:cNvSpPr txBox="1">
            <a:spLocks/>
          </p:cNvSpPr>
          <p:nvPr/>
        </p:nvSpPr>
        <p:spPr>
          <a:xfrm>
            <a:off x="533400" y="1189037"/>
            <a:ext cx="10363200" cy="4983162"/>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just" fontAlgn="base"/>
            <a:r>
              <a:rPr lang="en-US" sz="2000"/>
              <a:t>It supports main protocols like HTTP Basic, HTTP Digest, IMAP, FTP, and others.</a:t>
            </a:r>
          </a:p>
          <a:p>
            <a:pPr algn="just" fontAlgn="base"/>
            <a:r>
              <a:rPr lang="en-US" sz="2000"/>
              <a:t>      </a:t>
            </a:r>
            <a:r>
              <a:rPr lang="en-US" sz="2000" b="1" u="sng"/>
              <a:t>Common Uses of PHP</a:t>
            </a:r>
            <a:r>
              <a:rPr lang="en-US" sz="2000"/>
              <a:t>:</a:t>
            </a:r>
          </a:p>
          <a:p>
            <a:pPr algn="just" fontAlgn="base"/>
            <a:r>
              <a:rPr lang="en-US" sz="2000"/>
              <a:t>PHP performs system functions, i.e. from files on a system it can create, open, read, write, and close them. The other uses of PHP are: </a:t>
            </a:r>
          </a:p>
          <a:p>
            <a:pPr algn="just" fontAlgn="base"/>
            <a:r>
              <a:rPr lang="en-US" sz="2000"/>
              <a:t>PHP can handle forms, i.e. gather data from files, save data to a file, thru email you can send data, return data to the user.</a:t>
            </a:r>
          </a:p>
          <a:p>
            <a:pPr algn="just" fontAlgn="base"/>
            <a:r>
              <a:rPr lang="en-US" sz="2000"/>
              <a:t>You add, delete, modify elements within your database thru PHP.</a:t>
            </a:r>
          </a:p>
          <a:p>
            <a:pPr algn="just" fontAlgn="base"/>
            <a:r>
              <a:rPr lang="en-US" sz="2000"/>
              <a:t>Access cookies variables and set cookies.</a:t>
            </a:r>
          </a:p>
          <a:p>
            <a:pPr algn="just" fontAlgn="base"/>
            <a:r>
              <a:rPr lang="en-US" sz="2000"/>
              <a:t>Using PHP, you can restrict users to access some pages of your website.</a:t>
            </a:r>
          </a:p>
          <a:p>
            <a:pPr algn="just" fontAlgn="base"/>
            <a:r>
              <a:rPr lang="en-US" sz="2000"/>
              <a:t>It can encrypt data.</a:t>
            </a:r>
          </a:p>
          <a:p>
            <a:pPr algn="just"/>
            <a:endParaRPr lang="en-US" sz="2000" dirty="0"/>
          </a:p>
        </p:txBody>
      </p:sp>
    </p:spTree>
    <p:extLst>
      <p:ext uri="{BB962C8B-B14F-4D97-AF65-F5344CB8AC3E}">
        <p14:creationId xmlns:p14="http://schemas.microsoft.com/office/powerpoint/2010/main" val="266731407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E73A3019-CFE4-49DD-B6FD-2AFB2DD2DBB6}" type="datetime1">
              <a:rPr lang="en-US" smtClean="0"/>
              <a:t>11/7/2024</a:t>
            </a:fld>
            <a:endParaRPr lang="en-US"/>
          </a:p>
        </p:txBody>
      </p:sp>
      <p:sp>
        <p:nvSpPr>
          <p:cNvPr id="5" name="Footer Placeholder 4"/>
          <p:cNvSpPr>
            <a:spLocks noGrp="1"/>
          </p:cNvSpPr>
          <p:nvPr>
            <p:ph type="ftr" sz="quarter" idx="11"/>
          </p:nvPr>
        </p:nvSpPr>
        <p:spPr>
          <a:xfrm>
            <a:off x="4343400" y="6248401"/>
            <a:ext cx="4724400" cy="365125"/>
          </a:xfrm>
        </p:spPr>
        <p:txBody>
          <a:bodyPr/>
          <a:lstStyle/>
          <a:p>
            <a:r>
              <a:rPr lang="en-US" dirty="0"/>
              <a:t>Vaishali Mishra            ACSE0505 Web Technology                Unit 5</a:t>
            </a:r>
          </a:p>
        </p:txBody>
      </p:sp>
      <p:sp>
        <p:nvSpPr>
          <p:cNvPr id="6" name="Slide Number Placeholder 5"/>
          <p:cNvSpPr>
            <a:spLocks noGrp="1"/>
          </p:cNvSpPr>
          <p:nvPr>
            <p:ph type="sldNum" sz="quarter" idx="12"/>
          </p:nvPr>
        </p:nvSpPr>
        <p:spPr/>
        <p:txBody>
          <a:bodyPr/>
          <a:lstStyle/>
          <a:p>
            <a:fld id="{B6F15528-21DE-4FAA-801E-634DDDAF4B2B}" type="slidenum">
              <a:rPr lang="en-US" smtClean="0"/>
              <a:pPr/>
              <a:t>29</a:t>
            </a:fld>
            <a:endParaRPr lang="en-US"/>
          </a:p>
        </p:txBody>
      </p:sp>
      <p:sp>
        <p:nvSpPr>
          <p:cNvPr id="7" name="Title 1"/>
          <p:cNvSpPr txBox="1">
            <a:spLocks/>
          </p:cNvSpPr>
          <p:nvPr/>
        </p:nvSpPr>
        <p:spPr>
          <a:xfrm>
            <a:off x="2895600" y="2"/>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pPr>
              <a:defRPr/>
            </a:pPr>
            <a:endParaRPr lang="en-US" sz="2800" dirty="0">
              <a:solidFill>
                <a:prstClr val="black"/>
              </a:solidFill>
            </a:endParaRPr>
          </a:p>
          <a:p>
            <a:pPr>
              <a:defRPr/>
            </a:pPr>
            <a:r>
              <a:rPr lang="en-US" sz="2800" dirty="0">
                <a:solidFill>
                  <a:prstClr val="black"/>
                </a:solidFill>
              </a:rPr>
              <a:t>Basics syntax</a:t>
            </a:r>
            <a:r>
              <a:rPr lang="en-IN" sz="2800" dirty="0">
                <a:solidFill>
                  <a:prstClr val="black"/>
                </a:solidFill>
              </a:rPr>
              <a:t> </a:t>
            </a:r>
            <a:r>
              <a:rPr lang="en-US" sz="2800" dirty="0">
                <a:solidFill>
                  <a:prstClr val="black"/>
                </a:solidFill>
              </a:rPr>
              <a:t>(CO5)</a:t>
            </a:r>
          </a:p>
          <a:p>
            <a:pPr algn="ctr">
              <a:defRPr/>
            </a:pPr>
            <a:endParaRPr lang="en-US" sz="2800" dirty="0">
              <a:latin typeface="Times New Roman" pitchFamily="18" charset="0"/>
              <a:cs typeface="Times New Roman" pitchFamily="18" charset="0"/>
              <a:sym typeface="Arial" charset="0"/>
            </a:endParaRPr>
          </a:p>
        </p:txBody>
      </p:sp>
      <p:pic>
        <p:nvPicPr>
          <p:cNvPr id="2" name="Picture 1" descr="A black and red logo&#10;&#10;Description automatically generated">
            <a:extLst>
              <a:ext uri="{FF2B5EF4-FFF2-40B4-BE49-F238E27FC236}">
                <a16:creationId xmlns:a16="http://schemas.microsoft.com/office/drawing/2014/main" id="{8BDB0671-FC93-5C9E-75A2-ED46EE3FB8B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8" name="Content Placeholder 1">
            <a:extLst>
              <a:ext uri="{FF2B5EF4-FFF2-40B4-BE49-F238E27FC236}">
                <a16:creationId xmlns:a16="http://schemas.microsoft.com/office/drawing/2014/main" id="{1FF5ADF0-474C-251F-0E40-267B658E504A}"/>
              </a:ext>
            </a:extLst>
          </p:cNvPr>
          <p:cNvSpPr txBox="1">
            <a:spLocks noGrp="1"/>
          </p:cNvSpPr>
          <p:nvPr>
            <p:ph idx="1"/>
          </p:nvPr>
        </p:nvSpPr>
        <p:spPr>
          <a:xfrm>
            <a:off x="609600" y="1219200"/>
            <a:ext cx="10515600" cy="4449763"/>
          </a:xfrm>
        </p:spPr>
        <p:txBody>
          <a:bodyPr/>
          <a:lstStyle/>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lgn="ctr">
              <a:spcBef>
                <a:spcPts val="363"/>
              </a:spcBef>
              <a:spcAft>
                <a:spcPct val="0"/>
              </a:spcAft>
              <a:buClr>
                <a:srgbClr val="000000"/>
              </a:buClr>
              <a:buFont typeface="Arial" panose="020B0604020202020204" pitchFamily="34" charset="0"/>
              <a:buNone/>
            </a:pPr>
            <a:r>
              <a:rPr lang="en-IN" sz="2000" b="1" dirty="0">
                <a:latin typeface="Arial" panose="020B0604020202020204" pitchFamily="34" charset="0"/>
                <a:cs typeface="Arial" panose="020B0604020202020204" pitchFamily="34" charset="0"/>
              </a:rPr>
              <a:t> </a:t>
            </a:r>
          </a:p>
        </p:txBody>
      </p:sp>
      <p:sp>
        <p:nvSpPr>
          <p:cNvPr id="3" name="Subtitle 2">
            <a:extLst>
              <a:ext uri="{FF2B5EF4-FFF2-40B4-BE49-F238E27FC236}">
                <a16:creationId xmlns:a16="http://schemas.microsoft.com/office/drawing/2014/main" id="{13E1905B-C619-4B29-D51D-64E76B645B41}"/>
              </a:ext>
            </a:extLst>
          </p:cNvPr>
          <p:cNvSpPr txBox="1">
            <a:spLocks/>
          </p:cNvSpPr>
          <p:nvPr/>
        </p:nvSpPr>
        <p:spPr>
          <a:xfrm>
            <a:off x="609600" y="947268"/>
            <a:ext cx="10363200" cy="5910732"/>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just"/>
            <a:r>
              <a:rPr lang="en-US" sz="2000"/>
              <a:t>A PHP script can be placed anywhere in the document.</a:t>
            </a:r>
          </a:p>
          <a:p>
            <a:pPr algn="just"/>
            <a:r>
              <a:rPr lang="en-US" sz="2000"/>
              <a:t>A PHP script starts with &lt;?php and ends with ?&gt;:</a:t>
            </a:r>
          </a:p>
          <a:p>
            <a:pPr lvl="1" algn="just"/>
            <a:r>
              <a:rPr lang="en-US" sz="2000">
                <a:solidFill>
                  <a:srgbClr val="FF0000"/>
                </a:solidFill>
              </a:rPr>
              <a:t>&lt;?php</a:t>
            </a:r>
          </a:p>
          <a:p>
            <a:pPr lvl="1" algn="just"/>
            <a:r>
              <a:rPr lang="en-US" sz="2000">
                <a:solidFill>
                  <a:srgbClr val="FF0000"/>
                </a:solidFill>
              </a:rPr>
              <a:t>// PHP code goes here</a:t>
            </a:r>
          </a:p>
          <a:p>
            <a:pPr lvl="1" algn="just"/>
            <a:r>
              <a:rPr lang="en-US" sz="2000">
                <a:solidFill>
                  <a:srgbClr val="FF0000"/>
                </a:solidFill>
              </a:rPr>
              <a:t>?&gt;</a:t>
            </a:r>
          </a:p>
          <a:p>
            <a:pPr algn="just"/>
            <a:r>
              <a:rPr lang="en-US" sz="2000"/>
              <a:t>The default file extension for PHP files is ".php". A PHP file normally contains HTML tags, and some PHP scripting code. </a:t>
            </a:r>
          </a:p>
          <a:p>
            <a:pPr algn="just"/>
            <a:r>
              <a:rPr lang="en-US" sz="2000"/>
              <a:t>Below, we have an example of a simple PHP file, with a PHP script that uses a built-in PHP function "echo" to output the text "Hello World!" on a web page: </a:t>
            </a:r>
          </a:p>
          <a:p>
            <a:pPr algn="just"/>
            <a:r>
              <a:rPr lang="en-US" sz="2000"/>
              <a:t>Example-</a:t>
            </a:r>
            <a:r>
              <a:rPr lang="en-IN" sz="1400" b="1" kern="100">
                <a:latin typeface="Calibri" panose="020F0502020204030204" pitchFamily="34" charset="0"/>
                <a:ea typeface="Calibri" panose="020F0502020204030204" pitchFamily="34" charset="0"/>
                <a:cs typeface="Times New Roman" panose="02020603050405020304" pitchFamily="18" charset="0"/>
              </a:rPr>
              <a:t>&lt;html&gt;</a:t>
            </a:r>
          </a:p>
          <a:p>
            <a:pPr algn="just"/>
            <a:r>
              <a:rPr lang="en-IN" sz="1400" b="1" kern="100">
                <a:latin typeface="Calibri" panose="020F0502020204030204" pitchFamily="34" charset="0"/>
                <a:ea typeface="Calibri" panose="020F0502020204030204" pitchFamily="34" charset="0"/>
                <a:cs typeface="Times New Roman" panose="02020603050405020304" pitchFamily="18" charset="0"/>
              </a:rPr>
              <a:t>                                &lt;head&gt;&lt;title&gt;Hello World&lt;/title&gt;</a:t>
            </a:r>
          </a:p>
          <a:p>
            <a:pPr algn="just"/>
            <a:r>
              <a:rPr lang="en-IN" sz="1400" b="1" kern="100">
                <a:latin typeface="Calibri" panose="020F0502020204030204" pitchFamily="34" charset="0"/>
                <a:ea typeface="Calibri" panose="020F0502020204030204" pitchFamily="34" charset="0"/>
                <a:cs typeface="Times New Roman" panose="02020603050405020304" pitchFamily="18" charset="0"/>
              </a:rPr>
              <a:t>                                &lt;body&gt;&lt;?php echo "Hello, World!";?&gt;&lt;/body&gt;&lt;/html</a:t>
            </a:r>
          </a:p>
          <a:p>
            <a:pPr lvl="1"/>
            <a:endParaRPr lang="en-US" sz="1800" b="1" dirty="0"/>
          </a:p>
        </p:txBody>
      </p:sp>
    </p:spTree>
    <p:extLst>
      <p:ext uri="{BB962C8B-B14F-4D97-AF65-F5344CB8AC3E}">
        <p14:creationId xmlns:p14="http://schemas.microsoft.com/office/powerpoint/2010/main" val="144571061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E73A3019-CFE4-49DD-B6FD-2AFB2DD2DBB6}" type="datetime1">
              <a:rPr lang="en-US" smtClean="0"/>
              <a:t>11/7/2024</a:t>
            </a:fld>
            <a:endParaRPr lang="en-US"/>
          </a:p>
        </p:txBody>
      </p:sp>
      <p:sp>
        <p:nvSpPr>
          <p:cNvPr id="5" name="Footer Placeholder 4"/>
          <p:cNvSpPr>
            <a:spLocks noGrp="1"/>
          </p:cNvSpPr>
          <p:nvPr>
            <p:ph type="ftr" sz="quarter" idx="11"/>
          </p:nvPr>
        </p:nvSpPr>
        <p:spPr>
          <a:xfrm>
            <a:off x="4343400" y="6248401"/>
            <a:ext cx="4724400" cy="365125"/>
          </a:xfrm>
        </p:spPr>
        <p:txBody>
          <a:bodyPr/>
          <a:lstStyle/>
          <a:p>
            <a:r>
              <a:rPr lang="en-US" dirty="0"/>
              <a:t>Vaishali Mishra            ACSE0505 Web Technology                Unit 5</a:t>
            </a:r>
          </a:p>
        </p:txBody>
      </p:sp>
      <p:sp>
        <p:nvSpPr>
          <p:cNvPr id="6" name="Slide Number Placeholder 5"/>
          <p:cNvSpPr>
            <a:spLocks noGrp="1"/>
          </p:cNvSpPr>
          <p:nvPr>
            <p:ph type="sldNum" sz="quarter" idx="12"/>
          </p:nvPr>
        </p:nvSpPr>
        <p:spPr/>
        <p:txBody>
          <a:bodyPr/>
          <a:lstStyle/>
          <a:p>
            <a:fld id="{B6F15528-21DE-4FAA-801E-634DDDAF4B2B}" type="slidenum">
              <a:rPr lang="en-US" smtClean="0"/>
              <a:pPr/>
              <a:t>30</a:t>
            </a:fld>
            <a:endParaRPr lang="en-US"/>
          </a:p>
        </p:txBody>
      </p:sp>
      <p:sp>
        <p:nvSpPr>
          <p:cNvPr id="7" name="Title 1"/>
          <p:cNvSpPr txBox="1">
            <a:spLocks/>
          </p:cNvSpPr>
          <p:nvPr/>
        </p:nvSpPr>
        <p:spPr>
          <a:xfrm>
            <a:off x="2895600" y="2"/>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pPr>
              <a:defRPr/>
            </a:pPr>
            <a:endParaRPr lang="en-US" sz="2800" dirty="0">
              <a:solidFill>
                <a:prstClr val="black"/>
              </a:solidFill>
            </a:endParaRPr>
          </a:p>
          <a:p>
            <a:pPr>
              <a:defRPr/>
            </a:pPr>
            <a:r>
              <a:rPr lang="en-US" sz="2800" dirty="0">
                <a:solidFill>
                  <a:prstClr val="black"/>
                </a:solidFill>
              </a:rPr>
              <a:t>Basics syntax</a:t>
            </a:r>
            <a:r>
              <a:rPr lang="en-IN" sz="2800" dirty="0">
                <a:solidFill>
                  <a:prstClr val="black"/>
                </a:solidFill>
              </a:rPr>
              <a:t> </a:t>
            </a:r>
            <a:r>
              <a:rPr lang="en-US" sz="2800" dirty="0">
                <a:solidFill>
                  <a:prstClr val="black"/>
                </a:solidFill>
              </a:rPr>
              <a:t>(CO5)</a:t>
            </a:r>
          </a:p>
          <a:p>
            <a:pPr algn="ctr">
              <a:defRPr/>
            </a:pPr>
            <a:endParaRPr lang="en-US" sz="2800" dirty="0">
              <a:latin typeface="Times New Roman" pitchFamily="18" charset="0"/>
              <a:cs typeface="Times New Roman" pitchFamily="18" charset="0"/>
              <a:sym typeface="Arial" charset="0"/>
            </a:endParaRPr>
          </a:p>
        </p:txBody>
      </p:sp>
      <p:pic>
        <p:nvPicPr>
          <p:cNvPr id="2" name="Picture 1" descr="A black and red logo&#10;&#10;Description automatically generated">
            <a:extLst>
              <a:ext uri="{FF2B5EF4-FFF2-40B4-BE49-F238E27FC236}">
                <a16:creationId xmlns:a16="http://schemas.microsoft.com/office/drawing/2014/main" id="{8BDB0671-FC93-5C9E-75A2-ED46EE3FB8B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8" name="Content Placeholder 1">
            <a:extLst>
              <a:ext uri="{FF2B5EF4-FFF2-40B4-BE49-F238E27FC236}">
                <a16:creationId xmlns:a16="http://schemas.microsoft.com/office/drawing/2014/main" id="{1FF5ADF0-474C-251F-0E40-267B658E504A}"/>
              </a:ext>
            </a:extLst>
          </p:cNvPr>
          <p:cNvSpPr txBox="1">
            <a:spLocks noGrp="1"/>
          </p:cNvSpPr>
          <p:nvPr>
            <p:ph idx="1"/>
          </p:nvPr>
        </p:nvSpPr>
        <p:spPr>
          <a:xfrm>
            <a:off x="609600" y="1219200"/>
            <a:ext cx="10515600" cy="4449763"/>
          </a:xfrm>
        </p:spPr>
        <p:txBody>
          <a:bodyPr/>
          <a:lstStyle/>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lgn="ctr">
              <a:spcBef>
                <a:spcPts val="363"/>
              </a:spcBef>
              <a:spcAft>
                <a:spcPct val="0"/>
              </a:spcAft>
              <a:buClr>
                <a:srgbClr val="000000"/>
              </a:buClr>
              <a:buFont typeface="Arial" panose="020B0604020202020204" pitchFamily="34" charset="0"/>
              <a:buNone/>
            </a:pPr>
            <a:r>
              <a:rPr lang="en-IN" sz="2000" b="1" dirty="0">
                <a:latin typeface="Arial" panose="020B0604020202020204" pitchFamily="34" charset="0"/>
                <a:cs typeface="Arial" panose="020B0604020202020204" pitchFamily="34" charset="0"/>
              </a:rPr>
              <a:t> </a:t>
            </a:r>
          </a:p>
        </p:txBody>
      </p:sp>
      <p:sp>
        <p:nvSpPr>
          <p:cNvPr id="3" name="Subtitle 2">
            <a:extLst>
              <a:ext uri="{FF2B5EF4-FFF2-40B4-BE49-F238E27FC236}">
                <a16:creationId xmlns:a16="http://schemas.microsoft.com/office/drawing/2014/main" id="{25FBECA0-A8D9-1ABD-A151-115C2035FD93}"/>
              </a:ext>
            </a:extLst>
          </p:cNvPr>
          <p:cNvSpPr txBox="1">
            <a:spLocks/>
          </p:cNvSpPr>
          <p:nvPr/>
        </p:nvSpPr>
        <p:spPr>
          <a:xfrm>
            <a:off x="62681" y="1189036"/>
            <a:ext cx="11062519" cy="5668963"/>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lvl="1" algn="just"/>
            <a:r>
              <a:rPr lang="en-US" sz="2000" b="1" dirty="0"/>
              <a:t>Web Server - PHP will work with virtually all Web Server software, including Microsoft's Internet Information Server (IIS) but then most often used is freely available Apache Server. </a:t>
            </a:r>
          </a:p>
          <a:p>
            <a:pPr lvl="1" algn="just"/>
            <a:r>
              <a:rPr lang="en-US" sz="2000" b="1" dirty="0"/>
              <a:t>Download Apache for free here: http://httpd.apache.org/download.cgi</a:t>
            </a:r>
          </a:p>
          <a:p>
            <a:pPr lvl="1" algn="just"/>
            <a:r>
              <a:rPr lang="en-US" sz="2000" b="1" dirty="0"/>
              <a:t>Database - PHP will work with virtually all database software, including Oracle and Sybase but most commonly used is freely available MySQL database. Download MySQL for free here: </a:t>
            </a:r>
          </a:p>
          <a:p>
            <a:pPr lvl="1" algn="just"/>
            <a:r>
              <a:rPr lang="en-US" sz="2000" b="1" dirty="0"/>
              <a:t>http://www.mysql.com/downloads/index.html</a:t>
            </a:r>
          </a:p>
          <a:p>
            <a:pPr lvl="1" algn="just"/>
            <a:r>
              <a:rPr lang="en-US" sz="2000" b="1" dirty="0"/>
              <a:t>PHP Parser - In order to process PHP script instructions, a parser must be installed to generate HTML output that can be sent to the Web Browser. This tutorial will guide you how to install PHP parser on your computer.</a:t>
            </a:r>
          </a:p>
        </p:txBody>
      </p:sp>
    </p:spTree>
    <p:extLst>
      <p:ext uri="{BB962C8B-B14F-4D97-AF65-F5344CB8AC3E}">
        <p14:creationId xmlns:p14="http://schemas.microsoft.com/office/powerpoint/2010/main" val="89928079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E73A3019-CFE4-49DD-B6FD-2AFB2DD2DBB6}" type="datetime1">
              <a:rPr lang="en-US" smtClean="0"/>
              <a:t>11/7/2024</a:t>
            </a:fld>
            <a:endParaRPr lang="en-US"/>
          </a:p>
        </p:txBody>
      </p:sp>
      <p:sp>
        <p:nvSpPr>
          <p:cNvPr id="5" name="Footer Placeholder 4"/>
          <p:cNvSpPr>
            <a:spLocks noGrp="1"/>
          </p:cNvSpPr>
          <p:nvPr>
            <p:ph type="ftr" sz="quarter" idx="11"/>
          </p:nvPr>
        </p:nvSpPr>
        <p:spPr>
          <a:xfrm>
            <a:off x="4343400" y="6248401"/>
            <a:ext cx="4724400" cy="365125"/>
          </a:xfrm>
        </p:spPr>
        <p:txBody>
          <a:bodyPr/>
          <a:lstStyle/>
          <a:p>
            <a:r>
              <a:rPr lang="en-US" dirty="0"/>
              <a:t>Vaishali Mishra            ACSE0505 Web Technology                Unit 5</a:t>
            </a:r>
          </a:p>
        </p:txBody>
      </p:sp>
      <p:sp>
        <p:nvSpPr>
          <p:cNvPr id="6" name="Slide Number Placeholder 5"/>
          <p:cNvSpPr>
            <a:spLocks noGrp="1"/>
          </p:cNvSpPr>
          <p:nvPr>
            <p:ph type="sldNum" sz="quarter" idx="12"/>
          </p:nvPr>
        </p:nvSpPr>
        <p:spPr/>
        <p:txBody>
          <a:bodyPr/>
          <a:lstStyle/>
          <a:p>
            <a:fld id="{B6F15528-21DE-4FAA-801E-634DDDAF4B2B}" type="slidenum">
              <a:rPr lang="en-US" smtClean="0"/>
              <a:pPr/>
              <a:t>31</a:t>
            </a:fld>
            <a:endParaRPr lang="en-US"/>
          </a:p>
        </p:txBody>
      </p:sp>
      <p:sp>
        <p:nvSpPr>
          <p:cNvPr id="7" name="Title 1"/>
          <p:cNvSpPr txBox="1">
            <a:spLocks/>
          </p:cNvSpPr>
          <p:nvPr/>
        </p:nvSpPr>
        <p:spPr>
          <a:xfrm>
            <a:off x="2895600" y="2"/>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pPr lvl="0" algn="ctr"/>
            <a:r>
              <a:rPr lang="en-IN" sz="2800"/>
              <a:t>Variables &amp; Constants</a:t>
            </a:r>
            <a:r>
              <a:rPr lang="en-IN" sz="2800">
                <a:solidFill>
                  <a:prstClr val="black"/>
                </a:solidFill>
              </a:rPr>
              <a:t> </a:t>
            </a:r>
            <a:r>
              <a:rPr lang="en-US" sz="2800">
                <a:solidFill>
                  <a:prstClr val="black"/>
                </a:solidFill>
              </a:rPr>
              <a:t>(CO5)</a:t>
            </a:r>
            <a:endParaRPr lang="en-US" sz="2800" dirty="0">
              <a:solidFill>
                <a:prstClr val="black"/>
              </a:solidFill>
            </a:endParaRPr>
          </a:p>
        </p:txBody>
      </p:sp>
      <p:pic>
        <p:nvPicPr>
          <p:cNvPr id="2" name="Picture 1" descr="A black and red logo&#10;&#10;Description automatically generated">
            <a:extLst>
              <a:ext uri="{FF2B5EF4-FFF2-40B4-BE49-F238E27FC236}">
                <a16:creationId xmlns:a16="http://schemas.microsoft.com/office/drawing/2014/main" id="{8BDB0671-FC93-5C9E-75A2-ED46EE3FB8B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8" name="Content Placeholder 1">
            <a:extLst>
              <a:ext uri="{FF2B5EF4-FFF2-40B4-BE49-F238E27FC236}">
                <a16:creationId xmlns:a16="http://schemas.microsoft.com/office/drawing/2014/main" id="{1FF5ADF0-474C-251F-0E40-267B658E504A}"/>
              </a:ext>
            </a:extLst>
          </p:cNvPr>
          <p:cNvSpPr txBox="1">
            <a:spLocks noGrp="1"/>
          </p:cNvSpPr>
          <p:nvPr>
            <p:ph idx="1"/>
          </p:nvPr>
        </p:nvSpPr>
        <p:spPr>
          <a:xfrm>
            <a:off x="609600" y="1219200"/>
            <a:ext cx="10515600" cy="4449763"/>
          </a:xfrm>
        </p:spPr>
        <p:txBody>
          <a:bodyPr/>
          <a:lstStyle/>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lgn="ctr">
              <a:spcBef>
                <a:spcPts val="363"/>
              </a:spcBef>
              <a:spcAft>
                <a:spcPct val="0"/>
              </a:spcAft>
              <a:buClr>
                <a:srgbClr val="000000"/>
              </a:buClr>
              <a:buFont typeface="Arial" panose="020B0604020202020204" pitchFamily="34" charset="0"/>
              <a:buNone/>
            </a:pPr>
            <a:r>
              <a:rPr lang="en-IN" sz="2000" b="1" dirty="0">
                <a:latin typeface="Arial" panose="020B0604020202020204" pitchFamily="34" charset="0"/>
                <a:cs typeface="Arial" panose="020B0604020202020204" pitchFamily="34" charset="0"/>
              </a:rPr>
              <a:t> </a:t>
            </a:r>
          </a:p>
        </p:txBody>
      </p:sp>
      <p:sp>
        <p:nvSpPr>
          <p:cNvPr id="3" name="Content Placeholder 1">
            <a:extLst>
              <a:ext uri="{FF2B5EF4-FFF2-40B4-BE49-F238E27FC236}">
                <a16:creationId xmlns:a16="http://schemas.microsoft.com/office/drawing/2014/main" id="{0C07A522-99AF-5BB9-F97C-E908C558C3A2}"/>
              </a:ext>
            </a:extLst>
          </p:cNvPr>
          <p:cNvSpPr txBox="1">
            <a:spLocks/>
          </p:cNvSpPr>
          <p:nvPr/>
        </p:nvSpPr>
        <p:spPr>
          <a:xfrm>
            <a:off x="762000" y="1371600"/>
            <a:ext cx="10515600" cy="4449763"/>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spcBef>
                <a:spcPts val="363"/>
              </a:spcBef>
              <a:spcAft>
                <a:spcPct val="0"/>
              </a:spcAft>
              <a:buClr>
                <a:srgbClr val="000000"/>
              </a:buClr>
              <a:buFont typeface="Arial" panose="020B0604020202020204" pitchFamily="34" charset="0"/>
              <a:buNone/>
            </a:pPr>
            <a:endParaRPr lang="en-IN" sz="2000" b="1">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a:latin typeface="Arial" panose="020B0604020202020204" pitchFamily="34" charset="0"/>
              <a:cs typeface="Arial" panose="020B0604020202020204" pitchFamily="34" charset="0"/>
            </a:endParaRPr>
          </a:p>
          <a:p>
            <a:pPr marL="0" indent="0" algn="ctr">
              <a:spcBef>
                <a:spcPts val="363"/>
              </a:spcBef>
              <a:spcAft>
                <a:spcPct val="0"/>
              </a:spcAft>
              <a:buClr>
                <a:srgbClr val="000000"/>
              </a:buClr>
              <a:buFont typeface="Arial" pitchFamily="34" charset="0"/>
              <a:buNone/>
            </a:pPr>
            <a:r>
              <a:rPr lang="en-IN" sz="2000" b="1">
                <a:latin typeface="Arial" panose="020B0604020202020204" pitchFamily="34" charset="0"/>
                <a:cs typeface="Arial" panose="020B0604020202020204" pitchFamily="34" charset="0"/>
              </a:rPr>
              <a:t> </a:t>
            </a:r>
            <a:endParaRPr lang="en-IN" sz="2000" b="1" dirty="0">
              <a:latin typeface="Arial" panose="020B0604020202020204" pitchFamily="34" charset="0"/>
              <a:cs typeface="Arial" panose="020B0604020202020204" pitchFamily="34" charset="0"/>
            </a:endParaRPr>
          </a:p>
        </p:txBody>
      </p:sp>
      <p:sp>
        <p:nvSpPr>
          <p:cNvPr id="9" name="Subtitle 2">
            <a:extLst>
              <a:ext uri="{FF2B5EF4-FFF2-40B4-BE49-F238E27FC236}">
                <a16:creationId xmlns:a16="http://schemas.microsoft.com/office/drawing/2014/main" id="{16B06E50-A249-1536-0C52-5FAD7E73D199}"/>
              </a:ext>
            </a:extLst>
          </p:cNvPr>
          <p:cNvSpPr txBox="1">
            <a:spLocks/>
          </p:cNvSpPr>
          <p:nvPr/>
        </p:nvSpPr>
        <p:spPr>
          <a:xfrm>
            <a:off x="152400" y="1219200"/>
            <a:ext cx="11277600" cy="5137150"/>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just"/>
            <a:r>
              <a:rPr lang="en-US" sz="2000"/>
              <a:t>In PHP, variables and constants are used to store and represent data in a program. However, they have some key differences:</a:t>
            </a:r>
          </a:p>
          <a:p>
            <a:pPr algn="just"/>
            <a:r>
              <a:rPr lang="en-US" sz="2000" b="1" u="sng"/>
              <a:t>Variables:</a:t>
            </a:r>
          </a:p>
          <a:p>
            <a:pPr algn="just"/>
            <a:r>
              <a:rPr lang="en-US" sz="2000"/>
              <a:t>Variables are used to store data that may change during the execution of a script.</a:t>
            </a:r>
          </a:p>
          <a:p>
            <a:pPr algn="just"/>
            <a:r>
              <a:rPr lang="en-US" sz="2000"/>
              <a:t>The value of a variable can be reassigned multiple times during the program's execution.</a:t>
            </a:r>
          </a:p>
          <a:p>
            <a:pPr algn="just"/>
            <a:r>
              <a:rPr lang="en-US" sz="2000"/>
              <a:t>PHP variables start with a dollar sign ($) followed by the variable name (e.g., $variableName).</a:t>
            </a:r>
          </a:p>
          <a:p>
            <a:pPr algn="just"/>
            <a:r>
              <a:rPr lang="en-US" sz="2000"/>
              <a:t>Variables are case-sensitive, so $variable and $Variable are considered different variables.</a:t>
            </a:r>
          </a:p>
          <a:p>
            <a:pPr algn="just"/>
            <a:r>
              <a:rPr lang="en-US" sz="2000"/>
              <a:t>You don't need to declare variables explicitly before using them; they are created dynamically when assigned a value.</a:t>
            </a:r>
            <a:endParaRPr lang="en-US" sz="2000" dirty="0"/>
          </a:p>
        </p:txBody>
      </p:sp>
    </p:spTree>
    <p:extLst>
      <p:ext uri="{BB962C8B-B14F-4D97-AF65-F5344CB8AC3E}">
        <p14:creationId xmlns:p14="http://schemas.microsoft.com/office/powerpoint/2010/main" val="227508990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E73A3019-CFE4-49DD-B6FD-2AFB2DD2DBB6}" type="datetime1">
              <a:rPr lang="en-US" smtClean="0"/>
              <a:t>11/7/2024</a:t>
            </a:fld>
            <a:endParaRPr lang="en-US"/>
          </a:p>
        </p:txBody>
      </p:sp>
      <p:sp>
        <p:nvSpPr>
          <p:cNvPr id="5" name="Footer Placeholder 4"/>
          <p:cNvSpPr>
            <a:spLocks noGrp="1"/>
          </p:cNvSpPr>
          <p:nvPr>
            <p:ph type="ftr" sz="quarter" idx="11"/>
          </p:nvPr>
        </p:nvSpPr>
        <p:spPr>
          <a:xfrm>
            <a:off x="4343400" y="6248401"/>
            <a:ext cx="4724400" cy="365125"/>
          </a:xfrm>
        </p:spPr>
        <p:txBody>
          <a:bodyPr/>
          <a:lstStyle/>
          <a:p>
            <a:r>
              <a:rPr lang="en-US" dirty="0"/>
              <a:t>Vaishali Mishra            ACSE0505 Web Technology                Unit 5</a:t>
            </a:r>
          </a:p>
        </p:txBody>
      </p:sp>
      <p:sp>
        <p:nvSpPr>
          <p:cNvPr id="6" name="Slide Number Placeholder 5"/>
          <p:cNvSpPr>
            <a:spLocks noGrp="1"/>
          </p:cNvSpPr>
          <p:nvPr>
            <p:ph type="sldNum" sz="quarter" idx="12"/>
          </p:nvPr>
        </p:nvSpPr>
        <p:spPr/>
        <p:txBody>
          <a:bodyPr/>
          <a:lstStyle/>
          <a:p>
            <a:fld id="{B6F15528-21DE-4FAA-801E-634DDDAF4B2B}" type="slidenum">
              <a:rPr lang="en-US" smtClean="0"/>
              <a:pPr/>
              <a:t>32</a:t>
            </a:fld>
            <a:endParaRPr lang="en-US"/>
          </a:p>
        </p:txBody>
      </p:sp>
      <p:sp>
        <p:nvSpPr>
          <p:cNvPr id="7" name="Title 1"/>
          <p:cNvSpPr txBox="1">
            <a:spLocks/>
          </p:cNvSpPr>
          <p:nvPr/>
        </p:nvSpPr>
        <p:spPr>
          <a:xfrm>
            <a:off x="2895600" y="2"/>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pPr>
              <a:defRPr/>
            </a:pPr>
            <a:endParaRPr lang="en-IN" sz="2800" dirty="0"/>
          </a:p>
          <a:p>
            <a:pPr>
              <a:defRPr/>
            </a:pPr>
            <a:r>
              <a:rPr lang="en-IN" sz="2800" dirty="0"/>
              <a:t>Variables &amp; Constants</a:t>
            </a:r>
            <a:r>
              <a:rPr lang="en-IN" sz="2800" dirty="0">
                <a:solidFill>
                  <a:prstClr val="black"/>
                </a:solidFill>
              </a:rPr>
              <a:t> </a:t>
            </a:r>
            <a:r>
              <a:rPr lang="en-US" sz="2800" dirty="0">
                <a:solidFill>
                  <a:prstClr val="black"/>
                </a:solidFill>
              </a:rPr>
              <a:t>(CO5)</a:t>
            </a:r>
          </a:p>
          <a:p>
            <a:pPr algn="ctr">
              <a:defRPr/>
            </a:pPr>
            <a:endParaRPr lang="en-US" sz="2800" dirty="0">
              <a:latin typeface="Times New Roman" pitchFamily="18" charset="0"/>
              <a:cs typeface="Times New Roman" pitchFamily="18" charset="0"/>
              <a:sym typeface="Arial" charset="0"/>
            </a:endParaRPr>
          </a:p>
        </p:txBody>
      </p:sp>
      <p:pic>
        <p:nvPicPr>
          <p:cNvPr id="2" name="Picture 1" descr="A black and red logo&#10;&#10;Description automatically generated">
            <a:extLst>
              <a:ext uri="{FF2B5EF4-FFF2-40B4-BE49-F238E27FC236}">
                <a16:creationId xmlns:a16="http://schemas.microsoft.com/office/drawing/2014/main" id="{8BDB0671-FC93-5C9E-75A2-ED46EE3FB8B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8" name="Content Placeholder 1">
            <a:extLst>
              <a:ext uri="{FF2B5EF4-FFF2-40B4-BE49-F238E27FC236}">
                <a16:creationId xmlns:a16="http://schemas.microsoft.com/office/drawing/2014/main" id="{1FF5ADF0-474C-251F-0E40-267B658E504A}"/>
              </a:ext>
            </a:extLst>
          </p:cNvPr>
          <p:cNvSpPr txBox="1">
            <a:spLocks noGrp="1"/>
          </p:cNvSpPr>
          <p:nvPr>
            <p:ph idx="1"/>
          </p:nvPr>
        </p:nvSpPr>
        <p:spPr>
          <a:xfrm>
            <a:off x="609600" y="1219200"/>
            <a:ext cx="10515600" cy="4449763"/>
          </a:xfrm>
        </p:spPr>
        <p:txBody>
          <a:bodyPr/>
          <a:lstStyle/>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lgn="ctr">
              <a:spcBef>
                <a:spcPts val="363"/>
              </a:spcBef>
              <a:spcAft>
                <a:spcPct val="0"/>
              </a:spcAft>
              <a:buClr>
                <a:srgbClr val="000000"/>
              </a:buClr>
              <a:buFont typeface="Arial" panose="020B0604020202020204" pitchFamily="34" charset="0"/>
              <a:buNone/>
            </a:pPr>
            <a:r>
              <a:rPr lang="en-IN" sz="2000" b="1" dirty="0">
                <a:latin typeface="Arial" panose="020B0604020202020204" pitchFamily="34" charset="0"/>
                <a:cs typeface="Arial" panose="020B0604020202020204" pitchFamily="34" charset="0"/>
              </a:rPr>
              <a:t> </a:t>
            </a:r>
          </a:p>
        </p:txBody>
      </p:sp>
      <p:sp>
        <p:nvSpPr>
          <p:cNvPr id="3" name="Subtitle 2">
            <a:extLst>
              <a:ext uri="{FF2B5EF4-FFF2-40B4-BE49-F238E27FC236}">
                <a16:creationId xmlns:a16="http://schemas.microsoft.com/office/drawing/2014/main" id="{ECF39748-319A-BE92-F9A4-1C98B80ADEF8}"/>
              </a:ext>
            </a:extLst>
          </p:cNvPr>
          <p:cNvSpPr txBox="1">
            <a:spLocks/>
          </p:cNvSpPr>
          <p:nvPr/>
        </p:nvSpPr>
        <p:spPr>
          <a:xfrm>
            <a:off x="152400" y="1055218"/>
            <a:ext cx="10515600" cy="5285256"/>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just"/>
            <a:endParaRPr lang="en-US" sz="2000" dirty="0"/>
          </a:p>
          <a:p>
            <a:pPr algn="just"/>
            <a:r>
              <a:rPr lang="en-US" sz="2000" dirty="0"/>
              <a:t>$name = "John"; // String variable</a:t>
            </a:r>
          </a:p>
          <a:p>
            <a:pPr algn="just"/>
            <a:r>
              <a:rPr lang="en-US" sz="2000" dirty="0"/>
              <a:t>$age = 30;      // Integer variable</a:t>
            </a:r>
          </a:p>
          <a:p>
            <a:pPr algn="just"/>
            <a:r>
              <a:rPr lang="en-US" sz="2000" dirty="0"/>
              <a:t>$height = 1.75; // Float variable</a:t>
            </a:r>
          </a:p>
          <a:p>
            <a:pPr algn="just"/>
            <a:r>
              <a:rPr lang="en-US" sz="2000" dirty="0"/>
              <a:t>$</a:t>
            </a:r>
            <a:r>
              <a:rPr lang="en-US" sz="2000" dirty="0" err="1"/>
              <a:t>isStudent</a:t>
            </a:r>
            <a:r>
              <a:rPr lang="en-US" sz="2000" dirty="0"/>
              <a:t> = true; // Boolean variable</a:t>
            </a:r>
          </a:p>
          <a:p>
            <a:pPr algn="just"/>
            <a:r>
              <a:rPr lang="en-US" sz="2000" dirty="0"/>
              <a:t>    </a:t>
            </a:r>
            <a:r>
              <a:rPr lang="en-US" sz="2000" b="1" u="sng" dirty="0"/>
              <a:t>Rules for declaring PHP variable:</a:t>
            </a:r>
          </a:p>
          <a:p>
            <a:pPr algn="just"/>
            <a:r>
              <a:rPr lang="en-US" sz="2000" dirty="0"/>
              <a:t>A variable must start with a dollar ($) sign, followed by the variable name.</a:t>
            </a:r>
          </a:p>
          <a:p>
            <a:pPr algn="just"/>
            <a:r>
              <a:rPr lang="en-US" sz="2000" dirty="0"/>
              <a:t>It can only contain alpha-numeric character and underscore (A-z, 0-9, _).</a:t>
            </a:r>
          </a:p>
          <a:p>
            <a:pPr algn="just"/>
            <a:r>
              <a:rPr lang="en-US" sz="2000" dirty="0"/>
              <a:t>A variable name must start with a letter or underscore (_) character.</a:t>
            </a:r>
          </a:p>
          <a:p>
            <a:pPr algn="just"/>
            <a:r>
              <a:rPr lang="en-US" sz="2000" dirty="0"/>
              <a:t>A PHP variable name cannot contain spaces.</a:t>
            </a:r>
          </a:p>
          <a:p>
            <a:pPr algn="just"/>
            <a:r>
              <a:rPr lang="en-US" sz="2000" dirty="0"/>
              <a:t>One thing to be kept in mind that the variable name cannot start with a number or special symbols.</a:t>
            </a:r>
          </a:p>
          <a:p>
            <a:pPr algn="just"/>
            <a:r>
              <a:rPr lang="en-US" sz="2000" dirty="0"/>
              <a:t>PHP variables are case-sensitive, so $name and $NAME both are treated as different variable.</a:t>
            </a:r>
          </a:p>
          <a:p>
            <a:pPr algn="just"/>
            <a:endParaRPr lang="en-US" sz="2000" dirty="0"/>
          </a:p>
        </p:txBody>
      </p:sp>
    </p:spTree>
    <p:extLst>
      <p:ext uri="{BB962C8B-B14F-4D97-AF65-F5344CB8AC3E}">
        <p14:creationId xmlns:p14="http://schemas.microsoft.com/office/powerpoint/2010/main" val="417686811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E73A3019-CFE4-49DD-B6FD-2AFB2DD2DBB6}" type="datetime1">
              <a:rPr lang="en-US" smtClean="0"/>
              <a:t>11/7/2024</a:t>
            </a:fld>
            <a:endParaRPr lang="en-US"/>
          </a:p>
        </p:txBody>
      </p:sp>
      <p:sp>
        <p:nvSpPr>
          <p:cNvPr id="5" name="Footer Placeholder 4"/>
          <p:cNvSpPr>
            <a:spLocks noGrp="1"/>
          </p:cNvSpPr>
          <p:nvPr>
            <p:ph type="ftr" sz="quarter" idx="11"/>
          </p:nvPr>
        </p:nvSpPr>
        <p:spPr>
          <a:xfrm>
            <a:off x="4343400" y="6248401"/>
            <a:ext cx="4724400" cy="365125"/>
          </a:xfrm>
        </p:spPr>
        <p:txBody>
          <a:bodyPr/>
          <a:lstStyle/>
          <a:p>
            <a:r>
              <a:rPr lang="en-US" dirty="0"/>
              <a:t>Vaishali Mishra            ACSE0505 Web Technology                Unit 5</a:t>
            </a:r>
          </a:p>
        </p:txBody>
      </p:sp>
      <p:sp>
        <p:nvSpPr>
          <p:cNvPr id="6" name="Slide Number Placeholder 5"/>
          <p:cNvSpPr>
            <a:spLocks noGrp="1"/>
          </p:cNvSpPr>
          <p:nvPr>
            <p:ph type="sldNum" sz="quarter" idx="12"/>
          </p:nvPr>
        </p:nvSpPr>
        <p:spPr/>
        <p:txBody>
          <a:bodyPr/>
          <a:lstStyle/>
          <a:p>
            <a:fld id="{B6F15528-21DE-4FAA-801E-634DDDAF4B2B}" type="slidenum">
              <a:rPr lang="en-US" smtClean="0"/>
              <a:pPr/>
              <a:t>33</a:t>
            </a:fld>
            <a:endParaRPr lang="en-US"/>
          </a:p>
        </p:txBody>
      </p:sp>
      <p:sp>
        <p:nvSpPr>
          <p:cNvPr id="7" name="Title 1"/>
          <p:cNvSpPr txBox="1">
            <a:spLocks/>
          </p:cNvSpPr>
          <p:nvPr/>
        </p:nvSpPr>
        <p:spPr>
          <a:xfrm>
            <a:off x="2895600" y="2"/>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pPr>
              <a:defRPr/>
            </a:pPr>
            <a:endParaRPr lang="en-IN" sz="2800" dirty="0"/>
          </a:p>
          <a:p>
            <a:pPr>
              <a:defRPr/>
            </a:pPr>
            <a:r>
              <a:rPr lang="en-IN" sz="2800" dirty="0"/>
              <a:t>Variables &amp; Constants</a:t>
            </a:r>
            <a:r>
              <a:rPr lang="en-IN" sz="2800" dirty="0">
                <a:solidFill>
                  <a:prstClr val="black"/>
                </a:solidFill>
              </a:rPr>
              <a:t> </a:t>
            </a:r>
            <a:r>
              <a:rPr lang="en-US" sz="2800" dirty="0">
                <a:solidFill>
                  <a:prstClr val="black"/>
                </a:solidFill>
              </a:rPr>
              <a:t>(CO5)</a:t>
            </a:r>
          </a:p>
          <a:p>
            <a:pPr algn="ctr">
              <a:defRPr/>
            </a:pPr>
            <a:endParaRPr lang="en-US" sz="2800" dirty="0">
              <a:latin typeface="Times New Roman" pitchFamily="18" charset="0"/>
              <a:cs typeface="Times New Roman" pitchFamily="18" charset="0"/>
              <a:sym typeface="Arial" charset="0"/>
            </a:endParaRPr>
          </a:p>
        </p:txBody>
      </p:sp>
      <p:pic>
        <p:nvPicPr>
          <p:cNvPr id="2" name="Picture 1" descr="A black and red logo&#10;&#10;Description automatically generated">
            <a:extLst>
              <a:ext uri="{FF2B5EF4-FFF2-40B4-BE49-F238E27FC236}">
                <a16:creationId xmlns:a16="http://schemas.microsoft.com/office/drawing/2014/main" id="{8BDB0671-FC93-5C9E-75A2-ED46EE3FB8B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8" name="Content Placeholder 1">
            <a:extLst>
              <a:ext uri="{FF2B5EF4-FFF2-40B4-BE49-F238E27FC236}">
                <a16:creationId xmlns:a16="http://schemas.microsoft.com/office/drawing/2014/main" id="{1FF5ADF0-474C-251F-0E40-267B658E504A}"/>
              </a:ext>
            </a:extLst>
          </p:cNvPr>
          <p:cNvSpPr txBox="1">
            <a:spLocks noGrp="1"/>
          </p:cNvSpPr>
          <p:nvPr>
            <p:ph idx="1"/>
          </p:nvPr>
        </p:nvSpPr>
        <p:spPr>
          <a:xfrm>
            <a:off x="609600" y="1219200"/>
            <a:ext cx="10515600" cy="4449763"/>
          </a:xfrm>
        </p:spPr>
        <p:txBody>
          <a:bodyPr/>
          <a:lstStyle/>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lgn="ctr">
              <a:spcBef>
                <a:spcPts val="363"/>
              </a:spcBef>
              <a:spcAft>
                <a:spcPct val="0"/>
              </a:spcAft>
              <a:buClr>
                <a:srgbClr val="000000"/>
              </a:buClr>
              <a:buFont typeface="Arial" panose="020B0604020202020204" pitchFamily="34" charset="0"/>
              <a:buNone/>
            </a:pPr>
            <a:r>
              <a:rPr lang="en-IN" sz="2000" b="1" dirty="0">
                <a:latin typeface="Arial" panose="020B0604020202020204" pitchFamily="34" charset="0"/>
                <a:cs typeface="Arial" panose="020B0604020202020204" pitchFamily="34" charset="0"/>
              </a:rPr>
              <a:t> </a:t>
            </a:r>
          </a:p>
        </p:txBody>
      </p:sp>
      <p:sp>
        <p:nvSpPr>
          <p:cNvPr id="3" name="Subtitle 2">
            <a:extLst>
              <a:ext uri="{FF2B5EF4-FFF2-40B4-BE49-F238E27FC236}">
                <a16:creationId xmlns:a16="http://schemas.microsoft.com/office/drawing/2014/main" id="{C77EA522-3E37-8AFE-2BD2-AC5873C0B88D}"/>
              </a:ext>
            </a:extLst>
          </p:cNvPr>
          <p:cNvSpPr txBox="1">
            <a:spLocks/>
          </p:cNvSpPr>
          <p:nvPr/>
        </p:nvSpPr>
        <p:spPr>
          <a:xfrm>
            <a:off x="609600" y="1189037"/>
            <a:ext cx="9829800" cy="5030788"/>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just"/>
            <a:r>
              <a:rPr lang="en-US" sz="2200" b="1" dirty="0"/>
              <a:t>PHP Variable: Declaring string, integer, and float</a:t>
            </a:r>
          </a:p>
          <a:p>
            <a:pPr algn="just"/>
            <a:r>
              <a:rPr lang="en-US" sz="2000" dirty="0"/>
              <a:t>Let's see the example to store string, integer, and float values in PHP variables.</a:t>
            </a:r>
          </a:p>
          <a:p>
            <a:pPr algn="just"/>
            <a:r>
              <a:rPr lang="en-US" sz="2000" dirty="0"/>
              <a:t>&lt;?</a:t>
            </a:r>
            <a:r>
              <a:rPr lang="en-US" sz="2000" dirty="0" err="1"/>
              <a:t>php</a:t>
            </a:r>
            <a:r>
              <a:rPr lang="en-US" sz="2000" dirty="0"/>
              <a:t>  </a:t>
            </a:r>
          </a:p>
          <a:p>
            <a:pPr algn="just"/>
            <a:r>
              <a:rPr lang="en-US" sz="2000" dirty="0"/>
              <a:t>$str="hello string";  </a:t>
            </a:r>
          </a:p>
          <a:p>
            <a:pPr algn="just"/>
            <a:r>
              <a:rPr lang="en-US" sz="2000" dirty="0"/>
              <a:t>$x=200;  </a:t>
            </a:r>
          </a:p>
          <a:p>
            <a:pPr algn="just"/>
            <a:r>
              <a:rPr lang="en-US" sz="2000" dirty="0"/>
              <a:t>$y=44.6;  </a:t>
            </a:r>
          </a:p>
          <a:p>
            <a:pPr algn="just"/>
            <a:r>
              <a:rPr lang="en-US" sz="2000" dirty="0"/>
              <a:t>echo "string is: $str &lt;</a:t>
            </a:r>
            <a:r>
              <a:rPr lang="en-US" sz="2000" dirty="0" err="1"/>
              <a:t>br</a:t>
            </a:r>
            <a:r>
              <a:rPr lang="en-US" sz="2000" dirty="0"/>
              <a:t>/&gt;";  </a:t>
            </a:r>
          </a:p>
          <a:p>
            <a:pPr algn="just"/>
            <a:r>
              <a:rPr lang="en-US" sz="2000" dirty="0"/>
              <a:t>echo "integer is: $x &lt;</a:t>
            </a:r>
            <a:r>
              <a:rPr lang="en-US" sz="2000" dirty="0" err="1"/>
              <a:t>br</a:t>
            </a:r>
            <a:r>
              <a:rPr lang="en-US" sz="2000" dirty="0"/>
              <a:t>/&gt;";  </a:t>
            </a:r>
          </a:p>
          <a:p>
            <a:pPr algn="just"/>
            <a:r>
              <a:rPr lang="en-US" sz="2000" dirty="0"/>
              <a:t>echo "float is: $y &lt;</a:t>
            </a:r>
            <a:r>
              <a:rPr lang="en-US" sz="2000" dirty="0" err="1"/>
              <a:t>br</a:t>
            </a:r>
            <a:r>
              <a:rPr lang="en-US" sz="2000" dirty="0"/>
              <a:t>/&gt;";  </a:t>
            </a:r>
          </a:p>
          <a:p>
            <a:pPr algn="just"/>
            <a:r>
              <a:rPr lang="en-US" sz="2000" dirty="0"/>
              <a:t>?&gt;  </a:t>
            </a:r>
          </a:p>
        </p:txBody>
      </p:sp>
    </p:spTree>
    <p:extLst>
      <p:ext uri="{BB962C8B-B14F-4D97-AF65-F5344CB8AC3E}">
        <p14:creationId xmlns:p14="http://schemas.microsoft.com/office/powerpoint/2010/main" val="88536344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E73A3019-CFE4-49DD-B6FD-2AFB2DD2DBB6}" type="datetime1">
              <a:rPr lang="en-US" smtClean="0"/>
              <a:t>11/7/2024</a:t>
            </a:fld>
            <a:endParaRPr lang="en-US"/>
          </a:p>
        </p:txBody>
      </p:sp>
      <p:sp>
        <p:nvSpPr>
          <p:cNvPr id="5" name="Footer Placeholder 4"/>
          <p:cNvSpPr>
            <a:spLocks noGrp="1"/>
          </p:cNvSpPr>
          <p:nvPr>
            <p:ph type="ftr" sz="quarter" idx="11"/>
          </p:nvPr>
        </p:nvSpPr>
        <p:spPr>
          <a:xfrm>
            <a:off x="4343400" y="6248401"/>
            <a:ext cx="4724400" cy="365125"/>
          </a:xfrm>
        </p:spPr>
        <p:txBody>
          <a:bodyPr/>
          <a:lstStyle/>
          <a:p>
            <a:r>
              <a:rPr lang="en-US" dirty="0"/>
              <a:t>Vaishali Mishra            ACSE0505 Web Technology                Unit 5</a:t>
            </a:r>
          </a:p>
        </p:txBody>
      </p:sp>
      <p:sp>
        <p:nvSpPr>
          <p:cNvPr id="6" name="Slide Number Placeholder 5"/>
          <p:cNvSpPr>
            <a:spLocks noGrp="1"/>
          </p:cNvSpPr>
          <p:nvPr>
            <p:ph type="sldNum" sz="quarter" idx="12"/>
          </p:nvPr>
        </p:nvSpPr>
        <p:spPr/>
        <p:txBody>
          <a:bodyPr/>
          <a:lstStyle/>
          <a:p>
            <a:fld id="{B6F15528-21DE-4FAA-801E-634DDDAF4B2B}" type="slidenum">
              <a:rPr lang="en-US" smtClean="0"/>
              <a:pPr/>
              <a:t>34</a:t>
            </a:fld>
            <a:endParaRPr lang="en-US"/>
          </a:p>
        </p:txBody>
      </p:sp>
      <p:sp>
        <p:nvSpPr>
          <p:cNvPr id="7" name="Title 1"/>
          <p:cNvSpPr txBox="1">
            <a:spLocks/>
          </p:cNvSpPr>
          <p:nvPr/>
        </p:nvSpPr>
        <p:spPr>
          <a:xfrm>
            <a:off x="2895600" y="2"/>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pPr lvl="0" algn="ctr"/>
            <a:r>
              <a:rPr lang="en-IN" sz="2800"/>
              <a:t>Variables &amp; Constants</a:t>
            </a:r>
            <a:r>
              <a:rPr lang="en-IN" sz="2800">
                <a:solidFill>
                  <a:prstClr val="black"/>
                </a:solidFill>
              </a:rPr>
              <a:t> </a:t>
            </a:r>
            <a:r>
              <a:rPr lang="en-US" sz="2800">
                <a:solidFill>
                  <a:prstClr val="black"/>
                </a:solidFill>
              </a:rPr>
              <a:t>(CO5)</a:t>
            </a:r>
            <a:endParaRPr lang="en-US" sz="2800" dirty="0">
              <a:solidFill>
                <a:prstClr val="black"/>
              </a:solidFill>
            </a:endParaRPr>
          </a:p>
        </p:txBody>
      </p:sp>
      <p:pic>
        <p:nvPicPr>
          <p:cNvPr id="2" name="Picture 1" descr="A black and red logo&#10;&#10;Description automatically generated">
            <a:extLst>
              <a:ext uri="{FF2B5EF4-FFF2-40B4-BE49-F238E27FC236}">
                <a16:creationId xmlns:a16="http://schemas.microsoft.com/office/drawing/2014/main" id="{8BDB0671-FC93-5C9E-75A2-ED46EE3FB8B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8" name="Content Placeholder 1">
            <a:extLst>
              <a:ext uri="{FF2B5EF4-FFF2-40B4-BE49-F238E27FC236}">
                <a16:creationId xmlns:a16="http://schemas.microsoft.com/office/drawing/2014/main" id="{1FF5ADF0-474C-251F-0E40-267B658E504A}"/>
              </a:ext>
            </a:extLst>
          </p:cNvPr>
          <p:cNvSpPr txBox="1">
            <a:spLocks noGrp="1"/>
          </p:cNvSpPr>
          <p:nvPr>
            <p:ph idx="1"/>
          </p:nvPr>
        </p:nvSpPr>
        <p:spPr>
          <a:xfrm>
            <a:off x="609600" y="1219200"/>
            <a:ext cx="10515600" cy="4449763"/>
          </a:xfrm>
        </p:spPr>
        <p:txBody>
          <a:bodyPr/>
          <a:lstStyle/>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lgn="ctr">
              <a:spcBef>
                <a:spcPts val="363"/>
              </a:spcBef>
              <a:spcAft>
                <a:spcPct val="0"/>
              </a:spcAft>
              <a:buClr>
                <a:srgbClr val="000000"/>
              </a:buClr>
              <a:buFont typeface="Arial" panose="020B0604020202020204" pitchFamily="34" charset="0"/>
              <a:buNone/>
            </a:pPr>
            <a:r>
              <a:rPr lang="en-IN" sz="2000" b="1" dirty="0">
                <a:latin typeface="Arial" panose="020B0604020202020204" pitchFamily="34" charset="0"/>
                <a:cs typeface="Arial" panose="020B0604020202020204" pitchFamily="34" charset="0"/>
              </a:rPr>
              <a:t> </a:t>
            </a:r>
          </a:p>
        </p:txBody>
      </p:sp>
      <p:sp>
        <p:nvSpPr>
          <p:cNvPr id="3" name="Subtitle 2">
            <a:extLst>
              <a:ext uri="{FF2B5EF4-FFF2-40B4-BE49-F238E27FC236}">
                <a16:creationId xmlns:a16="http://schemas.microsoft.com/office/drawing/2014/main" id="{ABBE2A1E-ECEF-7841-AE73-D1BDA2CCE7EC}"/>
              </a:ext>
            </a:extLst>
          </p:cNvPr>
          <p:cNvSpPr txBox="1">
            <a:spLocks/>
          </p:cNvSpPr>
          <p:nvPr/>
        </p:nvSpPr>
        <p:spPr>
          <a:xfrm>
            <a:off x="609600" y="1265239"/>
            <a:ext cx="9753600" cy="4954586"/>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just"/>
            <a:r>
              <a:rPr lang="en-US" sz="2000" dirty="0"/>
              <a:t>Output:</a:t>
            </a:r>
          </a:p>
          <a:p>
            <a:pPr algn="just"/>
            <a:r>
              <a:rPr lang="en-US" sz="2000" dirty="0"/>
              <a:t>string is: hello string</a:t>
            </a:r>
          </a:p>
          <a:p>
            <a:pPr algn="just"/>
            <a:r>
              <a:rPr lang="en-US" sz="2000" dirty="0"/>
              <a:t>integer is: 200</a:t>
            </a:r>
          </a:p>
          <a:p>
            <a:pPr algn="just"/>
            <a:r>
              <a:rPr lang="en-US" sz="2000" dirty="0"/>
              <a:t>float is: 44.6 </a:t>
            </a:r>
          </a:p>
        </p:txBody>
      </p:sp>
    </p:spTree>
    <p:extLst>
      <p:ext uri="{BB962C8B-B14F-4D97-AF65-F5344CB8AC3E}">
        <p14:creationId xmlns:p14="http://schemas.microsoft.com/office/powerpoint/2010/main" val="377723021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E73A3019-CFE4-49DD-B6FD-2AFB2DD2DBB6}" type="datetime1">
              <a:rPr lang="en-US" smtClean="0"/>
              <a:t>11/7/2024</a:t>
            </a:fld>
            <a:endParaRPr lang="en-US"/>
          </a:p>
        </p:txBody>
      </p:sp>
      <p:sp>
        <p:nvSpPr>
          <p:cNvPr id="5" name="Footer Placeholder 4"/>
          <p:cNvSpPr>
            <a:spLocks noGrp="1"/>
          </p:cNvSpPr>
          <p:nvPr>
            <p:ph type="ftr" sz="quarter" idx="11"/>
          </p:nvPr>
        </p:nvSpPr>
        <p:spPr>
          <a:xfrm>
            <a:off x="4343400" y="6248401"/>
            <a:ext cx="4724400" cy="365125"/>
          </a:xfrm>
        </p:spPr>
        <p:txBody>
          <a:bodyPr/>
          <a:lstStyle/>
          <a:p>
            <a:r>
              <a:rPr lang="en-US" dirty="0"/>
              <a:t>Vaishali Mishra            ACSE0505 Web Technology                Unit 5</a:t>
            </a:r>
          </a:p>
        </p:txBody>
      </p:sp>
      <p:sp>
        <p:nvSpPr>
          <p:cNvPr id="6" name="Slide Number Placeholder 5"/>
          <p:cNvSpPr>
            <a:spLocks noGrp="1"/>
          </p:cNvSpPr>
          <p:nvPr>
            <p:ph type="sldNum" sz="quarter" idx="12"/>
          </p:nvPr>
        </p:nvSpPr>
        <p:spPr/>
        <p:txBody>
          <a:bodyPr/>
          <a:lstStyle/>
          <a:p>
            <a:fld id="{B6F15528-21DE-4FAA-801E-634DDDAF4B2B}" type="slidenum">
              <a:rPr lang="en-US" smtClean="0"/>
              <a:pPr/>
              <a:t>35</a:t>
            </a:fld>
            <a:endParaRPr lang="en-US"/>
          </a:p>
        </p:txBody>
      </p:sp>
      <p:sp>
        <p:nvSpPr>
          <p:cNvPr id="7" name="Title 1"/>
          <p:cNvSpPr txBox="1">
            <a:spLocks/>
          </p:cNvSpPr>
          <p:nvPr/>
        </p:nvSpPr>
        <p:spPr>
          <a:xfrm>
            <a:off x="2895600" y="2"/>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pPr>
              <a:defRPr/>
            </a:pPr>
            <a:endParaRPr lang="en-IN" sz="2800" dirty="0"/>
          </a:p>
          <a:p>
            <a:pPr>
              <a:defRPr/>
            </a:pPr>
            <a:r>
              <a:rPr lang="en-IN" sz="2800" dirty="0"/>
              <a:t>Variables &amp; Constants</a:t>
            </a:r>
            <a:r>
              <a:rPr lang="en-IN" sz="2800" dirty="0">
                <a:solidFill>
                  <a:prstClr val="black"/>
                </a:solidFill>
              </a:rPr>
              <a:t> </a:t>
            </a:r>
            <a:r>
              <a:rPr lang="en-US" sz="2800" dirty="0">
                <a:solidFill>
                  <a:prstClr val="black"/>
                </a:solidFill>
              </a:rPr>
              <a:t>(CO5)</a:t>
            </a:r>
          </a:p>
          <a:p>
            <a:pPr algn="ctr">
              <a:defRPr/>
            </a:pPr>
            <a:endParaRPr lang="en-US" sz="2800" dirty="0">
              <a:latin typeface="Times New Roman" pitchFamily="18" charset="0"/>
              <a:cs typeface="Times New Roman" pitchFamily="18" charset="0"/>
              <a:sym typeface="Arial" charset="0"/>
            </a:endParaRPr>
          </a:p>
        </p:txBody>
      </p:sp>
      <p:pic>
        <p:nvPicPr>
          <p:cNvPr id="2" name="Picture 1" descr="A black and red logo&#10;&#10;Description automatically generated">
            <a:extLst>
              <a:ext uri="{FF2B5EF4-FFF2-40B4-BE49-F238E27FC236}">
                <a16:creationId xmlns:a16="http://schemas.microsoft.com/office/drawing/2014/main" id="{8BDB0671-FC93-5C9E-75A2-ED46EE3FB8B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8" name="Content Placeholder 1">
            <a:extLst>
              <a:ext uri="{FF2B5EF4-FFF2-40B4-BE49-F238E27FC236}">
                <a16:creationId xmlns:a16="http://schemas.microsoft.com/office/drawing/2014/main" id="{1FF5ADF0-474C-251F-0E40-267B658E504A}"/>
              </a:ext>
            </a:extLst>
          </p:cNvPr>
          <p:cNvSpPr txBox="1">
            <a:spLocks noGrp="1"/>
          </p:cNvSpPr>
          <p:nvPr>
            <p:ph idx="1"/>
          </p:nvPr>
        </p:nvSpPr>
        <p:spPr>
          <a:xfrm>
            <a:off x="609600" y="1219200"/>
            <a:ext cx="10515600" cy="4449763"/>
          </a:xfrm>
        </p:spPr>
        <p:txBody>
          <a:bodyPr/>
          <a:lstStyle/>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lgn="ctr">
              <a:spcBef>
                <a:spcPts val="363"/>
              </a:spcBef>
              <a:spcAft>
                <a:spcPct val="0"/>
              </a:spcAft>
              <a:buClr>
                <a:srgbClr val="000000"/>
              </a:buClr>
              <a:buFont typeface="Arial" panose="020B0604020202020204" pitchFamily="34" charset="0"/>
              <a:buNone/>
            </a:pPr>
            <a:r>
              <a:rPr lang="en-IN" sz="2000" b="1" dirty="0">
                <a:latin typeface="Arial" panose="020B0604020202020204" pitchFamily="34" charset="0"/>
                <a:cs typeface="Arial" panose="020B0604020202020204" pitchFamily="34" charset="0"/>
              </a:rPr>
              <a:t> </a:t>
            </a:r>
          </a:p>
        </p:txBody>
      </p:sp>
      <p:sp>
        <p:nvSpPr>
          <p:cNvPr id="3" name="Subtitle 2">
            <a:extLst>
              <a:ext uri="{FF2B5EF4-FFF2-40B4-BE49-F238E27FC236}">
                <a16:creationId xmlns:a16="http://schemas.microsoft.com/office/drawing/2014/main" id="{7BDFCA29-D8DE-D38B-0224-D6B3CEB23CCD}"/>
              </a:ext>
            </a:extLst>
          </p:cNvPr>
          <p:cNvSpPr txBox="1">
            <a:spLocks/>
          </p:cNvSpPr>
          <p:nvPr/>
        </p:nvSpPr>
        <p:spPr>
          <a:xfrm>
            <a:off x="76200" y="1265239"/>
            <a:ext cx="10591800" cy="4954586"/>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just"/>
            <a:r>
              <a:rPr lang="en-US" sz="2200" b="1"/>
              <a:t>PHP constants    </a:t>
            </a:r>
            <a:r>
              <a:rPr lang="en-US" sz="2000"/>
              <a:t>are name or identifier that can't be changed during the execution of the script except for magic constants, which are not really constants. </a:t>
            </a:r>
          </a:p>
          <a:p>
            <a:pPr algn="just"/>
            <a:r>
              <a:rPr lang="en-US" sz="2000"/>
              <a:t>PHP constants can be defined by 2 ways:</a:t>
            </a:r>
          </a:p>
          <a:p>
            <a:pPr algn="just"/>
            <a:r>
              <a:rPr lang="en-US" sz="2000"/>
              <a:t>Using define() function</a:t>
            </a:r>
          </a:p>
          <a:p>
            <a:pPr algn="just"/>
            <a:r>
              <a:rPr lang="en-US" sz="2000"/>
              <a:t>Using const keyword</a:t>
            </a:r>
          </a:p>
          <a:p>
            <a:pPr algn="just"/>
            <a:r>
              <a:rPr lang="en-US" sz="2000"/>
              <a:t>Constants are similar to the variable except once they defined, they can never be undefined or changed. </a:t>
            </a:r>
          </a:p>
          <a:p>
            <a:pPr algn="just"/>
            <a:endParaRPr lang="en-US" sz="2000" dirty="0"/>
          </a:p>
        </p:txBody>
      </p:sp>
    </p:spTree>
    <p:extLst>
      <p:ext uri="{BB962C8B-B14F-4D97-AF65-F5344CB8AC3E}">
        <p14:creationId xmlns:p14="http://schemas.microsoft.com/office/powerpoint/2010/main" val="156609031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E73A3019-CFE4-49DD-B6FD-2AFB2DD2DBB6}" type="datetime1">
              <a:rPr lang="en-US" smtClean="0"/>
              <a:t>11/7/2024</a:t>
            </a:fld>
            <a:endParaRPr lang="en-US"/>
          </a:p>
        </p:txBody>
      </p:sp>
      <p:sp>
        <p:nvSpPr>
          <p:cNvPr id="5" name="Footer Placeholder 4"/>
          <p:cNvSpPr>
            <a:spLocks noGrp="1"/>
          </p:cNvSpPr>
          <p:nvPr>
            <p:ph type="ftr" sz="quarter" idx="11"/>
          </p:nvPr>
        </p:nvSpPr>
        <p:spPr>
          <a:xfrm>
            <a:off x="4343400" y="6248401"/>
            <a:ext cx="4724400" cy="365125"/>
          </a:xfrm>
        </p:spPr>
        <p:txBody>
          <a:bodyPr/>
          <a:lstStyle/>
          <a:p>
            <a:r>
              <a:rPr lang="en-US" dirty="0"/>
              <a:t>Vaishali Mishra            ACSE0505 Web Technology                Unit 5</a:t>
            </a:r>
          </a:p>
        </p:txBody>
      </p:sp>
      <p:sp>
        <p:nvSpPr>
          <p:cNvPr id="6" name="Slide Number Placeholder 5"/>
          <p:cNvSpPr>
            <a:spLocks noGrp="1"/>
          </p:cNvSpPr>
          <p:nvPr>
            <p:ph type="sldNum" sz="quarter" idx="12"/>
          </p:nvPr>
        </p:nvSpPr>
        <p:spPr/>
        <p:txBody>
          <a:bodyPr/>
          <a:lstStyle/>
          <a:p>
            <a:fld id="{B6F15528-21DE-4FAA-801E-634DDDAF4B2B}" type="slidenum">
              <a:rPr lang="en-US" smtClean="0"/>
              <a:pPr/>
              <a:t>36</a:t>
            </a:fld>
            <a:endParaRPr lang="en-US"/>
          </a:p>
        </p:txBody>
      </p:sp>
      <p:sp>
        <p:nvSpPr>
          <p:cNvPr id="7" name="Title 1"/>
          <p:cNvSpPr txBox="1">
            <a:spLocks/>
          </p:cNvSpPr>
          <p:nvPr/>
        </p:nvSpPr>
        <p:spPr>
          <a:xfrm>
            <a:off x="2895600" y="2"/>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pPr>
              <a:defRPr/>
            </a:pPr>
            <a:endParaRPr lang="en-IN" sz="2800" dirty="0"/>
          </a:p>
          <a:p>
            <a:pPr>
              <a:defRPr/>
            </a:pPr>
            <a:r>
              <a:rPr lang="en-IN" sz="2800" dirty="0"/>
              <a:t>Variables &amp; Constants</a:t>
            </a:r>
            <a:r>
              <a:rPr lang="en-IN" sz="2800" dirty="0">
                <a:solidFill>
                  <a:prstClr val="black"/>
                </a:solidFill>
              </a:rPr>
              <a:t> </a:t>
            </a:r>
            <a:r>
              <a:rPr lang="en-US" sz="2800" dirty="0">
                <a:solidFill>
                  <a:prstClr val="black"/>
                </a:solidFill>
              </a:rPr>
              <a:t>(CO5)</a:t>
            </a:r>
          </a:p>
          <a:p>
            <a:pPr algn="ctr">
              <a:defRPr/>
            </a:pPr>
            <a:endParaRPr lang="en-US" sz="2800" dirty="0">
              <a:latin typeface="Times New Roman" pitchFamily="18" charset="0"/>
              <a:cs typeface="Times New Roman" pitchFamily="18" charset="0"/>
              <a:sym typeface="Arial" charset="0"/>
            </a:endParaRPr>
          </a:p>
        </p:txBody>
      </p:sp>
      <p:pic>
        <p:nvPicPr>
          <p:cNvPr id="2" name="Picture 1" descr="A black and red logo&#10;&#10;Description automatically generated">
            <a:extLst>
              <a:ext uri="{FF2B5EF4-FFF2-40B4-BE49-F238E27FC236}">
                <a16:creationId xmlns:a16="http://schemas.microsoft.com/office/drawing/2014/main" id="{8BDB0671-FC93-5C9E-75A2-ED46EE3FB8B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8" name="Content Placeholder 1">
            <a:extLst>
              <a:ext uri="{FF2B5EF4-FFF2-40B4-BE49-F238E27FC236}">
                <a16:creationId xmlns:a16="http://schemas.microsoft.com/office/drawing/2014/main" id="{1FF5ADF0-474C-251F-0E40-267B658E504A}"/>
              </a:ext>
            </a:extLst>
          </p:cNvPr>
          <p:cNvSpPr txBox="1">
            <a:spLocks noGrp="1"/>
          </p:cNvSpPr>
          <p:nvPr>
            <p:ph idx="1"/>
          </p:nvPr>
        </p:nvSpPr>
        <p:spPr>
          <a:xfrm>
            <a:off x="609600" y="1219200"/>
            <a:ext cx="10515600" cy="4449763"/>
          </a:xfrm>
        </p:spPr>
        <p:txBody>
          <a:bodyPr/>
          <a:lstStyle/>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lgn="ctr">
              <a:spcBef>
                <a:spcPts val="363"/>
              </a:spcBef>
              <a:spcAft>
                <a:spcPct val="0"/>
              </a:spcAft>
              <a:buClr>
                <a:srgbClr val="000000"/>
              </a:buClr>
              <a:buFont typeface="Arial" panose="020B0604020202020204" pitchFamily="34" charset="0"/>
              <a:buNone/>
            </a:pPr>
            <a:r>
              <a:rPr lang="en-IN" sz="2000" b="1" dirty="0">
                <a:latin typeface="Arial" panose="020B0604020202020204" pitchFamily="34" charset="0"/>
                <a:cs typeface="Arial" panose="020B0604020202020204" pitchFamily="34" charset="0"/>
              </a:rPr>
              <a:t> </a:t>
            </a:r>
          </a:p>
        </p:txBody>
      </p:sp>
      <p:sp>
        <p:nvSpPr>
          <p:cNvPr id="3" name="Subtitle 2">
            <a:extLst>
              <a:ext uri="{FF2B5EF4-FFF2-40B4-BE49-F238E27FC236}">
                <a16:creationId xmlns:a16="http://schemas.microsoft.com/office/drawing/2014/main" id="{6751D646-18D9-00EB-0E4A-08C14B3B7043}"/>
              </a:ext>
            </a:extLst>
          </p:cNvPr>
          <p:cNvSpPr txBox="1">
            <a:spLocks/>
          </p:cNvSpPr>
          <p:nvPr/>
        </p:nvSpPr>
        <p:spPr>
          <a:xfrm>
            <a:off x="304800" y="1189037"/>
            <a:ext cx="10515600" cy="5030788"/>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just"/>
            <a:r>
              <a:rPr lang="en-US" sz="2000"/>
              <a:t>They remain constant across the entire program. PHP constants follow the same PHP variable rules. </a:t>
            </a:r>
          </a:p>
          <a:p>
            <a:pPr algn="just"/>
            <a:r>
              <a:rPr lang="en-US" sz="2000"/>
              <a:t>For example, it can be started with a letter or underscore only. Conventionally, PHP constants should be defined in uppercase letters.</a:t>
            </a:r>
          </a:p>
          <a:p>
            <a:pPr algn="just"/>
            <a:r>
              <a:rPr lang="en-US" sz="2200" b="1"/>
              <a:t>1. PHP constant: define()</a:t>
            </a:r>
          </a:p>
          <a:p>
            <a:pPr algn="just"/>
            <a:r>
              <a:rPr lang="en-US" sz="2000"/>
              <a:t>Use the define() function to create a constant. </a:t>
            </a:r>
          </a:p>
          <a:p>
            <a:pPr algn="just"/>
            <a:r>
              <a:rPr lang="en-US" sz="2000"/>
              <a:t>It defines constant at run time. Let's see the syntax of define() function in PHP.</a:t>
            </a:r>
          </a:p>
          <a:p>
            <a:pPr marL="0" lvl="1" algn="just"/>
            <a:r>
              <a:rPr lang="en-IN" sz="2000"/>
              <a:t>define(name, value, </a:t>
            </a:r>
            <a:r>
              <a:rPr lang="en-IN" sz="2000" b="1"/>
              <a:t>case</a:t>
            </a:r>
            <a:r>
              <a:rPr lang="en-IN" sz="2000"/>
              <a:t>-insensitive)  </a:t>
            </a:r>
          </a:p>
          <a:p>
            <a:pPr algn="just"/>
            <a:r>
              <a:rPr lang="en-US" sz="2000"/>
              <a:t>&lt;?php  </a:t>
            </a:r>
          </a:p>
          <a:p>
            <a:pPr algn="just"/>
            <a:r>
              <a:rPr lang="en-US" sz="2000"/>
              <a:t>define("MESSAGE","Hello PHP");  </a:t>
            </a:r>
          </a:p>
          <a:p>
            <a:pPr algn="just"/>
            <a:r>
              <a:rPr lang="en-US" sz="2000"/>
              <a:t>echo MESSAGE;  </a:t>
            </a:r>
          </a:p>
          <a:p>
            <a:pPr algn="just"/>
            <a:r>
              <a:rPr lang="en-US" sz="2000"/>
              <a:t>?&gt;  </a:t>
            </a:r>
          </a:p>
          <a:p>
            <a:pPr algn="just"/>
            <a:r>
              <a:rPr lang="en-US" sz="2000"/>
              <a:t>Output:</a:t>
            </a:r>
          </a:p>
          <a:p>
            <a:pPr algn="just"/>
            <a:r>
              <a:rPr lang="en-US" sz="2000"/>
              <a:t>Hello PHP</a:t>
            </a:r>
            <a:endParaRPr lang="en-IN" sz="2000"/>
          </a:p>
          <a:p>
            <a:pPr algn="just"/>
            <a:endParaRPr lang="en-US" sz="2000"/>
          </a:p>
          <a:p>
            <a:pPr algn="just"/>
            <a:endParaRPr lang="en-US" sz="2000" dirty="0"/>
          </a:p>
        </p:txBody>
      </p:sp>
    </p:spTree>
    <p:extLst>
      <p:ext uri="{BB962C8B-B14F-4D97-AF65-F5344CB8AC3E}">
        <p14:creationId xmlns:p14="http://schemas.microsoft.com/office/powerpoint/2010/main" val="202410913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E73A3019-CFE4-49DD-B6FD-2AFB2DD2DBB6}" type="datetime1">
              <a:rPr lang="en-US" smtClean="0"/>
              <a:t>11/7/2024</a:t>
            </a:fld>
            <a:endParaRPr lang="en-US"/>
          </a:p>
        </p:txBody>
      </p:sp>
      <p:sp>
        <p:nvSpPr>
          <p:cNvPr id="5" name="Footer Placeholder 4"/>
          <p:cNvSpPr>
            <a:spLocks noGrp="1"/>
          </p:cNvSpPr>
          <p:nvPr>
            <p:ph type="ftr" sz="quarter" idx="11"/>
          </p:nvPr>
        </p:nvSpPr>
        <p:spPr>
          <a:xfrm>
            <a:off x="4343400" y="6248401"/>
            <a:ext cx="4724400" cy="365125"/>
          </a:xfrm>
        </p:spPr>
        <p:txBody>
          <a:bodyPr/>
          <a:lstStyle/>
          <a:p>
            <a:r>
              <a:rPr lang="en-US" dirty="0"/>
              <a:t>Vaishali Mishra            ACSE0505 Web Technology                Unit 5</a:t>
            </a:r>
          </a:p>
        </p:txBody>
      </p:sp>
      <p:sp>
        <p:nvSpPr>
          <p:cNvPr id="6" name="Slide Number Placeholder 5"/>
          <p:cNvSpPr>
            <a:spLocks noGrp="1"/>
          </p:cNvSpPr>
          <p:nvPr>
            <p:ph type="sldNum" sz="quarter" idx="12"/>
          </p:nvPr>
        </p:nvSpPr>
        <p:spPr/>
        <p:txBody>
          <a:bodyPr/>
          <a:lstStyle/>
          <a:p>
            <a:fld id="{B6F15528-21DE-4FAA-801E-634DDDAF4B2B}" type="slidenum">
              <a:rPr lang="en-US" smtClean="0"/>
              <a:pPr/>
              <a:t>37</a:t>
            </a:fld>
            <a:endParaRPr lang="en-US"/>
          </a:p>
        </p:txBody>
      </p:sp>
      <p:sp>
        <p:nvSpPr>
          <p:cNvPr id="7" name="Title 1"/>
          <p:cNvSpPr txBox="1">
            <a:spLocks/>
          </p:cNvSpPr>
          <p:nvPr/>
        </p:nvSpPr>
        <p:spPr>
          <a:xfrm>
            <a:off x="2895600" y="2"/>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pPr>
              <a:defRPr/>
            </a:pPr>
            <a:endParaRPr lang="en-IN" sz="2800" dirty="0"/>
          </a:p>
          <a:p>
            <a:pPr>
              <a:defRPr/>
            </a:pPr>
            <a:r>
              <a:rPr lang="en-IN" sz="2800" dirty="0"/>
              <a:t>Variables &amp; Constants</a:t>
            </a:r>
            <a:r>
              <a:rPr lang="en-IN" sz="2800" dirty="0">
                <a:solidFill>
                  <a:prstClr val="black"/>
                </a:solidFill>
              </a:rPr>
              <a:t> </a:t>
            </a:r>
            <a:r>
              <a:rPr lang="en-US" sz="2800" dirty="0">
                <a:solidFill>
                  <a:prstClr val="black"/>
                </a:solidFill>
              </a:rPr>
              <a:t>(CO5)</a:t>
            </a:r>
          </a:p>
          <a:p>
            <a:pPr algn="ctr">
              <a:defRPr/>
            </a:pPr>
            <a:endParaRPr lang="en-US" sz="2800" dirty="0">
              <a:latin typeface="Times New Roman" pitchFamily="18" charset="0"/>
              <a:cs typeface="Times New Roman" pitchFamily="18" charset="0"/>
              <a:sym typeface="Arial" charset="0"/>
            </a:endParaRPr>
          </a:p>
        </p:txBody>
      </p:sp>
      <p:pic>
        <p:nvPicPr>
          <p:cNvPr id="2" name="Picture 1" descr="A black and red logo&#10;&#10;Description automatically generated">
            <a:extLst>
              <a:ext uri="{FF2B5EF4-FFF2-40B4-BE49-F238E27FC236}">
                <a16:creationId xmlns:a16="http://schemas.microsoft.com/office/drawing/2014/main" id="{8BDB0671-FC93-5C9E-75A2-ED46EE3FB8B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8" name="Content Placeholder 1">
            <a:extLst>
              <a:ext uri="{FF2B5EF4-FFF2-40B4-BE49-F238E27FC236}">
                <a16:creationId xmlns:a16="http://schemas.microsoft.com/office/drawing/2014/main" id="{1FF5ADF0-474C-251F-0E40-267B658E504A}"/>
              </a:ext>
            </a:extLst>
          </p:cNvPr>
          <p:cNvSpPr txBox="1">
            <a:spLocks noGrp="1"/>
          </p:cNvSpPr>
          <p:nvPr>
            <p:ph idx="1"/>
          </p:nvPr>
        </p:nvSpPr>
        <p:spPr>
          <a:xfrm>
            <a:off x="609600" y="1219200"/>
            <a:ext cx="10515600" cy="4449763"/>
          </a:xfrm>
        </p:spPr>
        <p:txBody>
          <a:bodyPr/>
          <a:lstStyle/>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lgn="ctr">
              <a:spcBef>
                <a:spcPts val="363"/>
              </a:spcBef>
              <a:spcAft>
                <a:spcPct val="0"/>
              </a:spcAft>
              <a:buClr>
                <a:srgbClr val="000000"/>
              </a:buClr>
              <a:buFont typeface="Arial" panose="020B0604020202020204" pitchFamily="34" charset="0"/>
              <a:buNone/>
            </a:pPr>
            <a:r>
              <a:rPr lang="en-IN" sz="2000" b="1" dirty="0">
                <a:latin typeface="Arial" panose="020B0604020202020204" pitchFamily="34" charset="0"/>
                <a:cs typeface="Arial" panose="020B0604020202020204" pitchFamily="34" charset="0"/>
              </a:rPr>
              <a:t> </a:t>
            </a:r>
          </a:p>
        </p:txBody>
      </p:sp>
      <p:sp>
        <p:nvSpPr>
          <p:cNvPr id="9" name="Subtitle 2">
            <a:extLst>
              <a:ext uri="{FF2B5EF4-FFF2-40B4-BE49-F238E27FC236}">
                <a16:creationId xmlns:a16="http://schemas.microsoft.com/office/drawing/2014/main" id="{CF99BDBE-D213-CCAB-A2C8-4276E7F7BD9B}"/>
              </a:ext>
            </a:extLst>
          </p:cNvPr>
          <p:cNvSpPr txBox="1">
            <a:spLocks/>
          </p:cNvSpPr>
          <p:nvPr/>
        </p:nvSpPr>
        <p:spPr>
          <a:xfrm>
            <a:off x="457200" y="1055217"/>
            <a:ext cx="10515600" cy="516460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just"/>
            <a:r>
              <a:rPr lang="en-IN" sz="1800"/>
              <a:t> </a:t>
            </a:r>
          </a:p>
          <a:p>
            <a:pPr algn="just"/>
            <a:r>
              <a:rPr lang="en-US" sz="2200" b="1"/>
              <a:t>2. PHP constant: const keyword</a:t>
            </a:r>
          </a:p>
          <a:p>
            <a:pPr algn="just"/>
            <a:r>
              <a:rPr lang="en-US" sz="2000"/>
              <a:t>PHP introduced a keyword const to create a constant. The const keyword defines constants at compile time. It is a language construct, not a function. The constant defined using const keyword are case-sensitive.</a:t>
            </a:r>
          </a:p>
          <a:p>
            <a:pPr algn="just"/>
            <a:r>
              <a:rPr lang="en-US" sz="2000"/>
              <a:t>&lt;?php  </a:t>
            </a:r>
          </a:p>
          <a:p>
            <a:pPr algn="just"/>
            <a:r>
              <a:rPr lang="en-US" sz="2000"/>
              <a:t>const MESSAGE="Hello const by PHP";  </a:t>
            </a:r>
          </a:p>
          <a:p>
            <a:pPr algn="just"/>
            <a:r>
              <a:rPr lang="en-US" sz="2000"/>
              <a:t>echo MESSAGE;  </a:t>
            </a:r>
          </a:p>
          <a:p>
            <a:pPr algn="just"/>
            <a:r>
              <a:rPr lang="en-US" sz="2000"/>
              <a:t>?&gt;  </a:t>
            </a:r>
          </a:p>
          <a:p>
            <a:pPr algn="just"/>
            <a:r>
              <a:rPr lang="en-US" sz="2000"/>
              <a:t>Output:</a:t>
            </a:r>
          </a:p>
          <a:p>
            <a:pPr algn="just"/>
            <a:r>
              <a:rPr lang="en-US" sz="2000"/>
              <a:t>Hello const by PHP</a:t>
            </a:r>
          </a:p>
          <a:p>
            <a:pPr algn="just"/>
            <a:endParaRPr lang="en-US" sz="2000" dirty="0"/>
          </a:p>
        </p:txBody>
      </p:sp>
    </p:spTree>
    <p:extLst>
      <p:ext uri="{BB962C8B-B14F-4D97-AF65-F5344CB8AC3E}">
        <p14:creationId xmlns:p14="http://schemas.microsoft.com/office/powerpoint/2010/main" val="89572226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E73A3019-CFE4-49DD-B6FD-2AFB2DD2DBB6}" type="datetime1">
              <a:rPr lang="en-US" smtClean="0"/>
              <a:t>11/7/2024</a:t>
            </a:fld>
            <a:endParaRPr lang="en-US"/>
          </a:p>
        </p:txBody>
      </p:sp>
      <p:sp>
        <p:nvSpPr>
          <p:cNvPr id="5" name="Footer Placeholder 4"/>
          <p:cNvSpPr>
            <a:spLocks noGrp="1"/>
          </p:cNvSpPr>
          <p:nvPr>
            <p:ph type="ftr" sz="quarter" idx="11"/>
          </p:nvPr>
        </p:nvSpPr>
        <p:spPr>
          <a:xfrm>
            <a:off x="4343400" y="6248401"/>
            <a:ext cx="4724400" cy="365125"/>
          </a:xfrm>
        </p:spPr>
        <p:txBody>
          <a:bodyPr/>
          <a:lstStyle/>
          <a:p>
            <a:r>
              <a:rPr lang="en-US" dirty="0"/>
              <a:t>Vaishali Mishra            ACSE0505 Web Technology                Unit 5</a:t>
            </a:r>
          </a:p>
        </p:txBody>
      </p:sp>
      <p:sp>
        <p:nvSpPr>
          <p:cNvPr id="6" name="Slide Number Placeholder 5"/>
          <p:cNvSpPr>
            <a:spLocks noGrp="1"/>
          </p:cNvSpPr>
          <p:nvPr>
            <p:ph type="sldNum" sz="quarter" idx="12"/>
          </p:nvPr>
        </p:nvSpPr>
        <p:spPr/>
        <p:txBody>
          <a:bodyPr/>
          <a:lstStyle/>
          <a:p>
            <a:fld id="{B6F15528-21DE-4FAA-801E-634DDDAF4B2B}" type="slidenum">
              <a:rPr lang="en-US" smtClean="0"/>
              <a:pPr/>
              <a:t>38</a:t>
            </a:fld>
            <a:endParaRPr lang="en-US"/>
          </a:p>
        </p:txBody>
      </p:sp>
      <p:sp>
        <p:nvSpPr>
          <p:cNvPr id="7" name="Title 1"/>
          <p:cNvSpPr txBox="1">
            <a:spLocks/>
          </p:cNvSpPr>
          <p:nvPr/>
        </p:nvSpPr>
        <p:spPr>
          <a:xfrm>
            <a:off x="2895600" y="2"/>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pPr>
              <a:defRPr/>
            </a:pPr>
            <a:endParaRPr lang="en-US" sz="2800" dirty="0"/>
          </a:p>
          <a:p>
            <a:pPr>
              <a:defRPr/>
            </a:pPr>
            <a:r>
              <a:rPr lang="en-US" sz="2800" dirty="0"/>
              <a:t>Daily Quiz</a:t>
            </a:r>
            <a:endParaRPr kumimoji="0" lang="en-US" sz="2800" b="0" i="0" u="none" strike="noStrike" kern="1200" cap="none" spc="0" normalizeH="0" baseline="0" noProof="0" dirty="0">
              <a:ln>
                <a:noFill/>
              </a:ln>
              <a:solidFill>
                <a:schemeClr val="dk1"/>
              </a:solidFill>
              <a:effectLst/>
              <a:uLnTx/>
              <a:uFillTx/>
            </a:endParaRPr>
          </a:p>
          <a:p>
            <a:pPr algn="ctr">
              <a:defRPr/>
            </a:pPr>
            <a:endParaRPr lang="en-US" sz="2800" dirty="0">
              <a:latin typeface="Times New Roman" pitchFamily="18" charset="0"/>
              <a:cs typeface="Times New Roman" pitchFamily="18" charset="0"/>
              <a:sym typeface="Arial" charset="0"/>
            </a:endParaRPr>
          </a:p>
        </p:txBody>
      </p:sp>
      <p:pic>
        <p:nvPicPr>
          <p:cNvPr id="2" name="Picture 1" descr="A black and red logo&#10;&#10;Description automatically generated">
            <a:extLst>
              <a:ext uri="{FF2B5EF4-FFF2-40B4-BE49-F238E27FC236}">
                <a16:creationId xmlns:a16="http://schemas.microsoft.com/office/drawing/2014/main" id="{8BDB0671-FC93-5C9E-75A2-ED46EE3FB8B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8" name="Content Placeholder 1">
            <a:extLst>
              <a:ext uri="{FF2B5EF4-FFF2-40B4-BE49-F238E27FC236}">
                <a16:creationId xmlns:a16="http://schemas.microsoft.com/office/drawing/2014/main" id="{1FF5ADF0-474C-251F-0E40-267B658E504A}"/>
              </a:ext>
            </a:extLst>
          </p:cNvPr>
          <p:cNvSpPr txBox="1">
            <a:spLocks noGrp="1"/>
          </p:cNvSpPr>
          <p:nvPr>
            <p:ph idx="1"/>
          </p:nvPr>
        </p:nvSpPr>
        <p:spPr>
          <a:xfrm>
            <a:off x="609600" y="1219200"/>
            <a:ext cx="10515600" cy="4449763"/>
          </a:xfrm>
        </p:spPr>
        <p:txBody>
          <a:bodyPr/>
          <a:lstStyle/>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lgn="ctr">
              <a:spcBef>
                <a:spcPts val="363"/>
              </a:spcBef>
              <a:spcAft>
                <a:spcPct val="0"/>
              </a:spcAft>
              <a:buClr>
                <a:srgbClr val="000000"/>
              </a:buClr>
              <a:buFont typeface="Arial" panose="020B0604020202020204" pitchFamily="34" charset="0"/>
              <a:buNone/>
            </a:pPr>
            <a:r>
              <a:rPr lang="en-IN" sz="2000" b="1" dirty="0">
                <a:latin typeface="Arial" panose="020B0604020202020204" pitchFamily="34" charset="0"/>
                <a:cs typeface="Arial" panose="020B0604020202020204" pitchFamily="34" charset="0"/>
              </a:rPr>
              <a:t> </a:t>
            </a:r>
          </a:p>
        </p:txBody>
      </p:sp>
      <p:sp>
        <p:nvSpPr>
          <p:cNvPr id="3" name="Content Placeholder 2">
            <a:extLst>
              <a:ext uri="{FF2B5EF4-FFF2-40B4-BE49-F238E27FC236}">
                <a16:creationId xmlns:a16="http://schemas.microsoft.com/office/drawing/2014/main" id="{8E331056-8D5A-D1A8-203C-53AA9C9F3980}"/>
              </a:ext>
            </a:extLst>
          </p:cNvPr>
          <p:cNvSpPr txBox="1">
            <a:spLocks/>
          </p:cNvSpPr>
          <p:nvPr/>
        </p:nvSpPr>
        <p:spPr>
          <a:xfrm>
            <a:off x="152400" y="838200"/>
            <a:ext cx="10515600" cy="5334000"/>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Arial" pitchFamily="34" charset="0"/>
              <a:buNone/>
            </a:pPr>
            <a:r>
              <a:rPr lang="en-US" sz="2200"/>
              <a:t>1) PHP stands for -</a:t>
            </a:r>
          </a:p>
          <a:p>
            <a:pPr marL="0" indent="0">
              <a:buFont typeface="Arial" pitchFamily="34" charset="0"/>
              <a:buNone/>
            </a:pPr>
            <a:r>
              <a:rPr lang="en-US" sz="2200"/>
              <a:t>A)Hypertext Preprocessor</a:t>
            </a:r>
          </a:p>
          <a:p>
            <a:pPr marL="0" indent="0">
              <a:buFont typeface="Arial" pitchFamily="34" charset="0"/>
              <a:buNone/>
            </a:pPr>
            <a:r>
              <a:rPr lang="en-US" sz="2200"/>
              <a:t>B)Pretext Hypertext Preprocessor</a:t>
            </a:r>
          </a:p>
          <a:p>
            <a:pPr marL="0" indent="0">
              <a:buFont typeface="Arial" pitchFamily="34" charset="0"/>
              <a:buNone/>
            </a:pPr>
            <a:r>
              <a:rPr lang="en-US" sz="2200"/>
              <a:t>C)Personal Home Processor</a:t>
            </a:r>
          </a:p>
          <a:p>
            <a:pPr marL="0" indent="0">
              <a:buFont typeface="Arial" pitchFamily="34" charset="0"/>
              <a:buNone/>
            </a:pPr>
            <a:r>
              <a:rPr lang="en-US" sz="2200"/>
              <a:t>D)None of the above</a:t>
            </a:r>
          </a:p>
          <a:p>
            <a:pPr marL="0" indent="0">
              <a:buFont typeface="Arial" pitchFamily="34" charset="0"/>
              <a:buNone/>
            </a:pPr>
            <a:endParaRPr lang="en-US" sz="2200"/>
          </a:p>
          <a:p>
            <a:pPr marL="0" indent="0">
              <a:buFont typeface="Arial" pitchFamily="34" charset="0"/>
              <a:buNone/>
            </a:pPr>
            <a:r>
              <a:rPr lang="en-US" sz="2200"/>
              <a:t>2) Who is known as the father of PHP?</a:t>
            </a:r>
          </a:p>
          <a:p>
            <a:pPr marL="0" indent="0">
              <a:buFont typeface="Arial" pitchFamily="34" charset="0"/>
              <a:buNone/>
            </a:pPr>
            <a:r>
              <a:rPr lang="en-US" sz="2200"/>
              <a:t>A)Drek Kolkevi</a:t>
            </a:r>
          </a:p>
          <a:p>
            <a:pPr marL="0" indent="0">
              <a:buFont typeface="Arial" pitchFamily="34" charset="0"/>
              <a:buNone/>
            </a:pPr>
            <a:r>
              <a:rPr lang="en-US" sz="2200"/>
              <a:t>B)List Barely</a:t>
            </a:r>
          </a:p>
          <a:p>
            <a:pPr marL="0" indent="0">
              <a:buFont typeface="Arial" pitchFamily="34" charset="0"/>
              <a:buNone/>
            </a:pPr>
            <a:r>
              <a:rPr lang="en-US" sz="2200"/>
              <a:t>C)Rasmus Lerdrof</a:t>
            </a:r>
          </a:p>
          <a:p>
            <a:pPr marL="0" indent="0">
              <a:buFont typeface="Arial" pitchFamily="34" charset="0"/>
              <a:buNone/>
            </a:pPr>
            <a:r>
              <a:rPr lang="en-US" sz="2200"/>
              <a:t>D)None of the above</a:t>
            </a:r>
            <a:endParaRPr lang="en-US" sz="2200" dirty="0"/>
          </a:p>
        </p:txBody>
      </p:sp>
    </p:spTree>
    <p:extLst>
      <p:ext uri="{BB962C8B-B14F-4D97-AF65-F5344CB8AC3E}">
        <p14:creationId xmlns:p14="http://schemas.microsoft.com/office/powerpoint/2010/main" val="257860026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E73A3019-CFE4-49DD-B6FD-2AFB2DD2DBB6}" type="datetime1">
              <a:rPr lang="en-US" smtClean="0"/>
              <a:t>11/7/2024</a:t>
            </a:fld>
            <a:endParaRPr lang="en-US"/>
          </a:p>
        </p:txBody>
      </p:sp>
      <p:sp>
        <p:nvSpPr>
          <p:cNvPr id="5" name="Footer Placeholder 4"/>
          <p:cNvSpPr>
            <a:spLocks noGrp="1"/>
          </p:cNvSpPr>
          <p:nvPr>
            <p:ph type="ftr" sz="quarter" idx="11"/>
          </p:nvPr>
        </p:nvSpPr>
        <p:spPr>
          <a:xfrm>
            <a:off x="4343400" y="6248401"/>
            <a:ext cx="4724400" cy="365125"/>
          </a:xfrm>
        </p:spPr>
        <p:txBody>
          <a:bodyPr/>
          <a:lstStyle/>
          <a:p>
            <a:r>
              <a:rPr lang="en-US" dirty="0"/>
              <a:t>Vaishali Mishra            ACSE0505 Web Technology                Unit 5</a:t>
            </a:r>
          </a:p>
        </p:txBody>
      </p:sp>
      <p:sp>
        <p:nvSpPr>
          <p:cNvPr id="6" name="Slide Number Placeholder 5"/>
          <p:cNvSpPr>
            <a:spLocks noGrp="1"/>
          </p:cNvSpPr>
          <p:nvPr>
            <p:ph type="sldNum" sz="quarter" idx="12"/>
          </p:nvPr>
        </p:nvSpPr>
        <p:spPr/>
        <p:txBody>
          <a:bodyPr/>
          <a:lstStyle/>
          <a:p>
            <a:fld id="{B6F15528-21DE-4FAA-801E-634DDDAF4B2B}" type="slidenum">
              <a:rPr lang="en-US" smtClean="0"/>
              <a:pPr/>
              <a:t>39</a:t>
            </a:fld>
            <a:endParaRPr lang="en-US"/>
          </a:p>
        </p:txBody>
      </p:sp>
      <p:sp>
        <p:nvSpPr>
          <p:cNvPr id="7" name="Title 1"/>
          <p:cNvSpPr txBox="1">
            <a:spLocks/>
          </p:cNvSpPr>
          <p:nvPr/>
        </p:nvSpPr>
        <p:spPr>
          <a:xfrm>
            <a:off x="2895600" y="2"/>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pPr>
              <a:defRPr/>
            </a:pPr>
            <a:endParaRPr lang="en-US" sz="2800" dirty="0"/>
          </a:p>
          <a:p>
            <a:pPr>
              <a:defRPr/>
            </a:pPr>
            <a:r>
              <a:rPr lang="en-US" sz="2800" dirty="0"/>
              <a:t>Daily Quiz</a:t>
            </a:r>
            <a:endParaRPr kumimoji="0" lang="en-US" sz="2800" b="0" i="0" u="none" strike="noStrike" kern="1200" cap="none" spc="0" normalizeH="0" baseline="0" noProof="0" dirty="0">
              <a:ln>
                <a:noFill/>
              </a:ln>
              <a:solidFill>
                <a:schemeClr val="dk1"/>
              </a:solidFill>
              <a:effectLst/>
              <a:uLnTx/>
              <a:uFillTx/>
            </a:endParaRPr>
          </a:p>
          <a:p>
            <a:pPr algn="ctr">
              <a:defRPr/>
            </a:pPr>
            <a:endParaRPr lang="en-US" sz="2800" dirty="0">
              <a:latin typeface="Times New Roman" pitchFamily="18" charset="0"/>
              <a:cs typeface="Times New Roman" pitchFamily="18" charset="0"/>
              <a:sym typeface="Arial" charset="0"/>
            </a:endParaRPr>
          </a:p>
        </p:txBody>
      </p:sp>
      <p:pic>
        <p:nvPicPr>
          <p:cNvPr id="2" name="Picture 1" descr="A black and red logo&#10;&#10;Description automatically generated">
            <a:extLst>
              <a:ext uri="{FF2B5EF4-FFF2-40B4-BE49-F238E27FC236}">
                <a16:creationId xmlns:a16="http://schemas.microsoft.com/office/drawing/2014/main" id="{8BDB0671-FC93-5C9E-75A2-ED46EE3FB8B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8" name="Content Placeholder 1">
            <a:extLst>
              <a:ext uri="{FF2B5EF4-FFF2-40B4-BE49-F238E27FC236}">
                <a16:creationId xmlns:a16="http://schemas.microsoft.com/office/drawing/2014/main" id="{1FF5ADF0-474C-251F-0E40-267B658E504A}"/>
              </a:ext>
            </a:extLst>
          </p:cNvPr>
          <p:cNvSpPr txBox="1">
            <a:spLocks noGrp="1"/>
          </p:cNvSpPr>
          <p:nvPr>
            <p:ph idx="1"/>
          </p:nvPr>
        </p:nvSpPr>
        <p:spPr>
          <a:xfrm>
            <a:off x="609600" y="1219200"/>
            <a:ext cx="10515600" cy="4449763"/>
          </a:xfrm>
        </p:spPr>
        <p:txBody>
          <a:bodyPr/>
          <a:lstStyle/>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lgn="ctr">
              <a:spcBef>
                <a:spcPts val="363"/>
              </a:spcBef>
              <a:spcAft>
                <a:spcPct val="0"/>
              </a:spcAft>
              <a:buClr>
                <a:srgbClr val="000000"/>
              </a:buClr>
              <a:buFont typeface="Arial" panose="020B0604020202020204" pitchFamily="34" charset="0"/>
              <a:buNone/>
            </a:pPr>
            <a:r>
              <a:rPr lang="en-IN" sz="2000" b="1" dirty="0">
                <a:latin typeface="Arial" panose="020B0604020202020204" pitchFamily="34" charset="0"/>
                <a:cs typeface="Arial" panose="020B0604020202020204" pitchFamily="34" charset="0"/>
              </a:rPr>
              <a:t> </a:t>
            </a:r>
          </a:p>
        </p:txBody>
      </p:sp>
      <p:sp>
        <p:nvSpPr>
          <p:cNvPr id="3" name="Content Placeholder 2">
            <a:extLst>
              <a:ext uri="{FF2B5EF4-FFF2-40B4-BE49-F238E27FC236}">
                <a16:creationId xmlns:a16="http://schemas.microsoft.com/office/drawing/2014/main" id="{6C2178A6-8F88-AE06-A11D-343365363680}"/>
              </a:ext>
            </a:extLst>
          </p:cNvPr>
          <p:cNvSpPr txBox="1">
            <a:spLocks/>
          </p:cNvSpPr>
          <p:nvPr/>
        </p:nvSpPr>
        <p:spPr>
          <a:xfrm>
            <a:off x="304800" y="838200"/>
            <a:ext cx="10515600" cy="5334000"/>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Font typeface="Arial" pitchFamily="34" charset="0"/>
              <a:buNone/>
            </a:pPr>
            <a:r>
              <a:rPr lang="en-US" sz="2200" dirty="0"/>
              <a:t>3) </a:t>
            </a:r>
            <a:r>
              <a:rPr lang="en-US" sz="2000" dirty="0"/>
              <a:t>Which of the following statements is true about variables and constants in PHP?</a:t>
            </a:r>
          </a:p>
          <a:p>
            <a:pPr marL="0" indent="0" algn="just">
              <a:buFont typeface="Arial" pitchFamily="34" charset="0"/>
              <a:buNone/>
            </a:pPr>
            <a:r>
              <a:rPr lang="en-US" sz="2000" dirty="0"/>
              <a:t>A) Variables are used for storing data that remains the same throughout the script execution.</a:t>
            </a:r>
          </a:p>
          <a:p>
            <a:pPr marL="0" indent="0" algn="just">
              <a:buFont typeface="Arial" pitchFamily="34" charset="0"/>
              <a:buNone/>
            </a:pPr>
            <a:r>
              <a:rPr lang="en-US" sz="2000" dirty="0"/>
              <a:t>B) Constants can be reassigned multiple times during the execution of a script.</a:t>
            </a:r>
          </a:p>
          <a:p>
            <a:pPr marL="0" indent="0" algn="just">
              <a:buFont typeface="Arial" pitchFamily="34" charset="0"/>
              <a:buNone/>
            </a:pPr>
            <a:r>
              <a:rPr lang="en-US" sz="2000" dirty="0"/>
              <a:t>C) Variables are case-insensitive, while constants are case-sensitive.</a:t>
            </a:r>
          </a:p>
          <a:p>
            <a:pPr marL="0" indent="0" algn="just">
              <a:buFont typeface="Arial" pitchFamily="34" charset="0"/>
              <a:buNone/>
            </a:pPr>
            <a:r>
              <a:rPr lang="en-US" sz="2000" dirty="0"/>
              <a:t>D) Constants are created dynamically when assigned a value, while variables need to be declared before use.</a:t>
            </a:r>
          </a:p>
          <a:p>
            <a:pPr marL="0" indent="0">
              <a:buFont typeface="Arial" pitchFamily="34" charset="0"/>
              <a:buNone/>
            </a:pPr>
            <a:r>
              <a:rPr lang="en-US" sz="2200" dirty="0"/>
              <a:t>4)Variable name in PHP starts with -</a:t>
            </a:r>
          </a:p>
          <a:p>
            <a:pPr marL="0" indent="0">
              <a:buFont typeface="Arial" pitchFamily="34" charset="0"/>
              <a:buNone/>
            </a:pPr>
            <a:r>
              <a:rPr lang="en-US" sz="2200" dirty="0"/>
              <a:t>A)! (Exclamation)</a:t>
            </a:r>
          </a:p>
          <a:p>
            <a:pPr marL="0" indent="0">
              <a:buFont typeface="Arial" pitchFamily="34" charset="0"/>
              <a:buNone/>
            </a:pPr>
            <a:r>
              <a:rPr lang="en-US" sz="2200" dirty="0"/>
              <a:t>B)$ (Dollar)</a:t>
            </a:r>
          </a:p>
          <a:p>
            <a:pPr marL="0" indent="0">
              <a:buFont typeface="Arial" pitchFamily="34" charset="0"/>
              <a:buNone/>
            </a:pPr>
            <a:r>
              <a:rPr lang="en-US" sz="2200" dirty="0"/>
              <a:t>C)&amp; (Ampersand)</a:t>
            </a:r>
          </a:p>
          <a:p>
            <a:pPr marL="0" indent="0">
              <a:buFont typeface="Arial" pitchFamily="34" charset="0"/>
              <a:buNone/>
            </a:pPr>
            <a:r>
              <a:rPr lang="en-US" sz="2200" dirty="0"/>
              <a:t>D)# (Hash)</a:t>
            </a:r>
          </a:p>
        </p:txBody>
      </p:sp>
    </p:spTree>
    <p:extLst>
      <p:ext uri="{BB962C8B-B14F-4D97-AF65-F5344CB8AC3E}">
        <p14:creationId xmlns:p14="http://schemas.microsoft.com/office/powerpoint/2010/main" val="292227168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E73A3019-CFE4-49DD-B6FD-2AFB2DD2DBB6}" type="datetime1">
              <a:rPr lang="en-US" smtClean="0"/>
              <a:t>11/7/2024</a:t>
            </a:fld>
            <a:endParaRPr lang="en-US"/>
          </a:p>
        </p:txBody>
      </p:sp>
      <p:sp>
        <p:nvSpPr>
          <p:cNvPr id="5" name="Footer Placeholder 4"/>
          <p:cNvSpPr>
            <a:spLocks noGrp="1"/>
          </p:cNvSpPr>
          <p:nvPr>
            <p:ph type="ftr" sz="quarter" idx="11"/>
          </p:nvPr>
        </p:nvSpPr>
        <p:spPr>
          <a:xfrm>
            <a:off x="4343400" y="6248401"/>
            <a:ext cx="4724400" cy="365125"/>
          </a:xfrm>
        </p:spPr>
        <p:txBody>
          <a:bodyPr/>
          <a:lstStyle/>
          <a:p>
            <a:r>
              <a:rPr lang="en-US" dirty="0"/>
              <a:t>Vaishali Mishra            ACSE0505 Web Technology                Unit 5</a:t>
            </a:r>
          </a:p>
        </p:txBody>
      </p:sp>
      <p:sp>
        <p:nvSpPr>
          <p:cNvPr id="6" name="Slide Number Placeholder 5"/>
          <p:cNvSpPr>
            <a:spLocks noGrp="1"/>
          </p:cNvSpPr>
          <p:nvPr>
            <p:ph type="sldNum" sz="quarter" idx="12"/>
          </p:nvPr>
        </p:nvSpPr>
        <p:spPr/>
        <p:txBody>
          <a:bodyPr/>
          <a:lstStyle/>
          <a:p>
            <a:fld id="{B6F15528-21DE-4FAA-801E-634DDDAF4B2B}" type="slidenum">
              <a:rPr lang="en-US" smtClean="0"/>
              <a:pPr/>
              <a:t>40</a:t>
            </a:fld>
            <a:endParaRPr lang="en-US"/>
          </a:p>
        </p:txBody>
      </p:sp>
      <p:sp>
        <p:nvSpPr>
          <p:cNvPr id="7" name="Title 1"/>
          <p:cNvSpPr txBox="1">
            <a:spLocks/>
          </p:cNvSpPr>
          <p:nvPr/>
        </p:nvSpPr>
        <p:spPr>
          <a:xfrm>
            <a:off x="2895600" y="2"/>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pPr>
              <a:defRPr/>
            </a:pPr>
            <a:endParaRPr lang="en-US" sz="2800" dirty="0"/>
          </a:p>
          <a:p>
            <a:pPr>
              <a:defRPr/>
            </a:pPr>
            <a:r>
              <a:rPr lang="en-US" sz="2800" dirty="0"/>
              <a:t>Daily Quiz</a:t>
            </a:r>
            <a:endParaRPr kumimoji="0" lang="en-US" sz="2800" b="0" i="0" u="none" strike="noStrike" kern="1200" cap="none" spc="0" normalizeH="0" baseline="0" noProof="0" dirty="0">
              <a:ln>
                <a:noFill/>
              </a:ln>
              <a:solidFill>
                <a:schemeClr val="dk1"/>
              </a:solidFill>
              <a:effectLst/>
              <a:uLnTx/>
              <a:uFillTx/>
            </a:endParaRPr>
          </a:p>
          <a:p>
            <a:pPr algn="ctr">
              <a:defRPr/>
            </a:pPr>
            <a:endParaRPr lang="en-US" sz="2800" dirty="0">
              <a:latin typeface="Times New Roman" pitchFamily="18" charset="0"/>
              <a:cs typeface="Times New Roman" pitchFamily="18" charset="0"/>
              <a:sym typeface="Arial" charset="0"/>
            </a:endParaRPr>
          </a:p>
        </p:txBody>
      </p:sp>
      <p:pic>
        <p:nvPicPr>
          <p:cNvPr id="2" name="Picture 1" descr="A black and red logo&#10;&#10;Description automatically generated">
            <a:extLst>
              <a:ext uri="{FF2B5EF4-FFF2-40B4-BE49-F238E27FC236}">
                <a16:creationId xmlns:a16="http://schemas.microsoft.com/office/drawing/2014/main" id="{8BDB0671-FC93-5C9E-75A2-ED46EE3FB8B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8" name="Content Placeholder 1">
            <a:extLst>
              <a:ext uri="{FF2B5EF4-FFF2-40B4-BE49-F238E27FC236}">
                <a16:creationId xmlns:a16="http://schemas.microsoft.com/office/drawing/2014/main" id="{1FF5ADF0-474C-251F-0E40-267B658E504A}"/>
              </a:ext>
            </a:extLst>
          </p:cNvPr>
          <p:cNvSpPr txBox="1">
            <a:spLocks noGrp="1"/>
          </p:cNvSpPr>
          <p:nvPr>
            <p:ph idx="1"/>
          </p:nvPr>
        </p:nvSpPr>
        <p:spPr>
          <a:xfrm>
            <a:off x="609600" y="1219200"/>
            <a:ext cx="10515600" cy="4449763"/>
          </a:xfrm>
        </p:spPr>
        <p:txBody>
          <a:bodyPr/>
          <a:lstStyle/>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lgn="ctr">
              <a:spcBef>
                <a:spcPts val="363"/>
              </a:spcBef>
              <a:spcAft>
                <a:spcPct val="0"/>
              </a:spcAft>
              <a:buClr>
                <a:srgbClr val="000000"/>
              </a:buClr>
              <a:buFont typeface="Arial" panose="020B0604020202020204" pitchFamily="34" charset="0"/>
              <a:buNone/>
            </a:pPr>
            <a:r>
              <a:rPr lang="en-IN" sz="2000" b="1" dirty="0">
                <a:latin typeface="Arial" panose="020B0604020202020204" pitchFamily="34" charset="0"/>
                <a:cs typeface="Arial" panose="020B0604020202020204" pitchFamily="34" charset="0"/>
              </a:rPr>
              <a:t> </a:t>
            </a:r>
          </a:p>
        </p:txBody>
      </p:sp>
      <p:sp>
        <p:nvSpPr>
          <p:cNvPr id="3" name="Content Placeholder 2">
            <a:extLst>
              <a:ext uri="{FF2B5EF4-FFF2-40B4-BE49-F238E27FC236}">
                <a16:creationId xmlns:a16="http://schemas.microsoft.com/office/drawing/2014/main" id="{AC865633-8EC0-A162-FC5E-F37B21E8F3F5}"/>
              </a:ext>
            </a:extLst>
          </p:cNvPr>
          <p:cNvSpPr txBox="1">
            <a:spLocks/>
          </p:cNvSpPr>
          <p:nvPr/>
        </p:nvSpPr>
        <p:spPr>
          <a:xfrm>
            <a:off x="609600" y="838200"/>
            <a:ext cx="10058400" cy="5334000"/>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Arial" pitchFamily="34" charset="0"/>
              <a:buNone/>
            </a:pPr>
            <a:r>
              <a:rPr lang="en-US" sz="2200"/>
              <a:t>5) Which of the following is the default file extension of PHP? </a:t>
            </a:r>
          </a:p>
          <a:p>
            <a:pPr marL="0" indent="0">
              <a:buFont typeface="Arial" pitchFamily="34" charset="0"/>
              <a:buNone/>
            </a:pPr>
            <a:r>
              <a:rPr lang="en-US" sz="2200"/>
              <a:t>A).php</a:t>
            </a:r>
          </a:p>
          <a:p>
            <a:pPr marL="0" indent="0">
              <a:buFont typeface="Arial" pitchFamily="34" charset="0"/>
              <a:buNone/>
            </a:pPr>
            <a:r>
              <a:rPr lang="en-US" sz="2200"/>
              <a:t>B).hphp</a:t>
            </a:r>
          </a:p>
          <a:p>
            <a:pPr marL="0" indent="0">
              <a:buFont typeface="Arial" pitchFamily="34" charset="0"/>
              <a:buNone/>
            </a:pPr>
            <a:r>
              <a:rPr lang="en-US" sz="2200"/>
              <a:t>C).xml</a:t>
            </a:r>
          </a:p>
          <a:p>
            <a:pPr marL="0" indent="0">
              <a:buFont typeface="Arial" pitchFamily="34" charset="0"/>
              <a:buNone/>
            </a:pPr>
            <a:r>
              <a:rPr lang="en-US" sz="2200"/>
              <a:t>D).html</a:t>
            </a:r>
          </a:p>
          <a:p>
            <a:pPr marL="0" indent="0">
              <a:buFont typeface="Arial" pitchFamily="34" charset="0"/>
              <a:buNone/>
            </a:pPr>
            <a:endParaRPr lang="en-US" sz="2200"/>
          </a:p>
          <a:p>
            <a:pPr marL="0" indent="0">
              <a:buFont typeface="Arial" pitchFamily="34" charset="0"/>
              <a:buNone/>
            </a:pPr>
            <a:r>
              <a:rPr lang="en-US" sz="2200"/>
              <a:t>6) Which of the following is not a variable scope in PHP?</a:t>
            </a:r>
          </a:p>
          <a:p>
            <a:pPr marL="0" indent="0">
              <a:buFont typeface="Arial" pitchFamily="34" charset="0"/>
              <a:buNone/>
            </a:pPr>
            <a:r>
              <a:rPr lang="en-US" sz="2200"/>
              <a:t>A)Extern</a:t>
            </a:r>
          </a:p>
          <a:p>
            <a:pPr marL="0" indent="0">
              <a:buFont typeface="Arial" pitchFamily="34" charset="0"/>
              <a:buNone/>
            </a:pPr>
            <a:r>
              <a:rPr lang="en-US" sz="2200"/>
              <a:t>B)Local</a:t>
            </a:r>
          </a:p>
          <a:p>
            <a:pPr marL="0" indent="0">
              <a:buFont typeface="Arial" pitchFamily="34" charset="0"/>
              <a:buNone/>
            </a:pPr>
            <a:r>
              <a:rPr lang="en-US" sz="2200"/>
              <a:t>C)Static</a:t>
            </a:r>
          </a:p>
          <a:p>
            <a:pPr marL="0" indent="0">
              <a:buFont typeface="Arial" pitchFamily="34" charset="0"/>
              <a:buNone/>
            </a:pPr>
            <a:r>
              <a:rPr lang="en-US" sz="2200"/>
              <a:t>D)Global</a:t>
            </a:r>
            <a:endParaRPr lang="en-US" sz="2200" dirty="0"/>
          </a:p>
        </p:txBody>
      </p:sp>
    </p:spTree>
    <p:extLst>
      <p:ext uri="{BB962C8B-B14F-4D97-AF65-F5344CB8AC3E}">
        <p14:creationId xmlns:p14="http://schemas.microsoft.com/office/powerpoint/2010/main" val="127919366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E73A3019-CFE4-49DD-B6FD-2AFB2DD2DBB6}" type="datetime1">
              <a:rPr lang="en-US" smtClean="0"/>
              <a:t>11/7/2024</a:t>
            </a:fld>
            <a:endParaRPr lang="en-US"/>
          </a:p>
        </p:txBody>
      </p:sp>
      <p:sp>
        <p:nvSpPr>
          <p:cNvPr id="5" name="Footer Placeholder 4"/>
          <p:cNvSpPr>
            <a:spLocks noGrp="1"/>
          </p:cNvSpPr>
          <p:nvPr>
            <p:ph type="ftr" sz="quarter" idx="11"/>
          </p:nvPr>
        </p:nvSpPr>
        <p:spPr>
          <a:xfrm>
            <a:off x="4343400" y="6248401"/>
            <a:ext cx="4724400" cy="365125"/>
          </a:xfrm>
        </p:spPr>
        <p:txBody>
          <a:bodyPr/>
          <a:lstStyle/>
          <a:p>
            <a:r>
              <a:rPr lang="en-US" dirty="0"/>
              <a:t>Vaishali Mishra            ACSE0505 Web Technology                Unit 5</a:t>
            </a:r>
          </a:p>
        </p:txBody>
      </p:sp>
      <p:sp>
        <p:nvSpPr>
          <p:cNvPr id="6" name="Slide Number Placeholder 5"/>
          <p:cNvSpPr>
            <a:spLocks noGrp="1"/>
          </p:cNvSpPr>
          <p:nvPr>
            <p:ph type="sldNum" sz="quarter" idx="12"/>
          </p:nvPr>
        </p:nvSpPr>
        <p:spPr/>
        <p:txBody>
          <a:bodyPr/>
          <a:lstStyle/>
          <a:p>
            <a:fld id="{B6F15528-21DE-4FAA-801E-634DDDAF4B2B}" type="slidenum">
              <a:rPr lang="en-US" smtClean="0"/>
              <a:pPr/>
              <a:t>41</a:t>
            </a:fld>
            <a:endParaRPr lang="en-US"/>
          </a:p>
        </p:txBody>
      </p:sp>
      <p:sp>
        <p:nvSpPr>
          <p:cNvPr id="7" name="Title 1"/>
          <p:cNvSpPr txBox="1">
            <a:spLocks/>
          </p:cNvSpPr>
          <p:nvPr/>
        </p:nvSpPr>
        <p:spPr>
          <a:xfrm>
            <a:off x="2895600" y="2"/>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pPr>
              <a:defRPr/>
            </a:pPr>
            <a:endParaRPr kumimoji="0" lang="en-US" sz="2800" b="0" i="0" u="none" strike="noStrike" kern="1200" cap="none" spc="0" normalizeH="0" baseline="0" noProof="0" dirty="0">
              <a:ln>
                <a:noFill/>
              </a:ln>
              <a:solidFill>
                <a:schemeClr val="dk1"/>
              </a:solidFill>
              <a:effectLst/>
              <a:uLnTx/>
              <a:uFillTx/>
              <a:latin typeface="+mn-lt"/>
              <a:ea typeface="+mn-ea"/>
              <a:cs typeface="+mn-cs"/>
            </a:endParaRPr>
          </a:p>
          <a:p>
            <a:pPr>
              <a:defRPr/>
            </a:pPr>
            <a:r>
              <a:rPr kumimoji="0" lang="en-US" sz="2800" b="0" i="0" u="none" strike="noStrike" kern="1200" cap="none" spc="0" normalizeH="0" baseline="0" noProof="0" dirty="0">
                <a:ln>
                  <a:noFill/>
                </a:ln>
                <a:solidFill>
                  <a:schemeClr val="dk1"/>
                </a:solidFill>
                <a:effectLst/>
                <a:uLnTx/>
                <a:uFillTx/>
                <a:latin typeface="+mn-lt"/>
                <a:ea typeface="+mn-ea"/>
                <a:cs typeface="+mn-cs"/>
              </a:rPr>
              <a:t>Topic</a:t>
            </a:r>
          </a:p>
          <a:p>
            <a:pPr algn="ctr">
              <a:defRPr/>
            </a:pPr>
            <a:endParaRPr lang="en-US" sz="2800" dirty="0">
              <a:latin typeface="Times New Roman" pitchFamily="18" charset="0"/>
              <a:cs typeface="Times New Roman" pitchFamily="18" charset="0"/>
              <a:sym typeface="Arial" charset="0"/>
            </a:endParaRPr>
          </a:p>
        </p:txBody>
      </p:sp>
      <p:pic>
        <p:nvPicPr>
          <p:cNvPr id="2" name="Picture 1" descr="A black and red logo&#10;&#10;Description automatically generated">
            <a:extLst>
              <a:ext uri="{FF2B5EF4-FFF2-40B4-BE49-F238E27FC236}">
                <a16:creationId xmlns:a16="http://schemas.microsoft.com/office/drawing/2014/main" id="{8BDB0671-FC93-5C9E-75A2-ED46EE3FB8B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8" name="Content Placeholder 1">
            <a:extLst>
              <a:ext uri="{FF2B5EF4-FFF2-40B4-BE49-F238E27FC236}">
                <a16:creationId xmlns:a16="http://schemas.microsoft.com/office/drawing/2014/main" id="{1FF5ADF0-474C-251F-0E40-267B658E504A}"/>
              </a:ext>
            </a:extLst>
          </p:cNvPr>
          <p:cNvSpPr txBox="1">
            <a:spLocks noGrp="1"/>
          </p:cNvSpPr>
          <p:nvPr>
            <p:ph idx="1"/>
          </p:nvPr>
        </p:nvSpPr>
        <p:spPr>
          <a:xfrm>
            <a:off x="1143000" y="1266855"/>
            <a:ext cx="10515600" cy="4449763"/>
          </a:xfrm>
        </p:spPr>
        <p:txBody>
          <a:bodyPr/>
          <a:lstStyle/>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lgn="ctr">
              <a:spcBef>
                <a:spcPts val="363"/>
              </a:spcBef>
              <a:spcAft>
                <a:spcPct val="0"/>
              </a:spcAft>
              <a:buClr>
                <a:srgbClr val="000000"/>
              </a:buClr>
              <a:buFont typeface="Arial" panose="020B0604020202020204" pitchFamily="34" charset="0"/>
              <a:buNone/>
            </a:pPr>
            <a:r>
              <a:rPr lang="en-IN" sz="2000" b="1" dirty="0">
                <a:latin typeface="Arial" panose="020B0604020202020204" pitchFamily="34" charset="0"/>
                <a:cs typeface="Arial" panose="020B0604020202020204" pitchFamily="34" charset="0"/>
              </a:rPr>
              <a:t> </a:t>
            </a:r>
          </a:p>
        </p:txBody>
      </p:sp>
      <p:sp>
        <p:nvSpPr>
          <p:cNvPr id="3" name="TextBox 2">
            <a:extLst>
              <a:ext uri="{FF2B5EF4-FFF2-40B4-BE49-F238E27FC236}">
                <a16:creationId xmlns:a16="http://schemas.microsoft.com/office/drawing/2014/main" id="{657867D7-2670-BB82-0C5A-C150600829CC}"/>
              </a:ext>
            </a:extLst>
          </p:cNvPr>
          <p:cNvSpPr txBox="1"/>
          <p:nvPr/>
        </p:nvSpPr>
        <p:spPr>
          <a:xfrm>
            <a:off x="1600200" y="1055218"/>
            <a:ext cx="9067800" cy="411692"/>
          </a:xfrm>
          <a:prstGeom prst="rect">
            <a:avLst/>
          </a:prstGeom>
          <a:noFill/>
        </p:spPr>
        <p:txBody>
          <a:bodyPr wrap="square" rtlCol="0">
            <a:spAutoFit/>
          </a:bodyPr>
          <a:lstStyle/>
          <a:p>
            <a:pPr algn="ctr"/>
            <a:r>
              <a:rPr lang="en-US" sz="2000" dirty="0"/>
              <a:t>              Overview of </a:t>
            </a:r>
            <a:r>
              <a:rPr lang="en-IN" sz="2000" dirty="0"/>
              <a:t>Data Type, Operator &amp; Expressions in PHP</a:t>
            </a:r>
          </a:p>
        </p:txBody>
      </p:sp>
      <p:sp>
        <p:nvSpPr>
          <p:cNvPr id="9" name="Content Placeholder 2">
            <a:extLst>
              <a:ext uri="{FF2B5EF4-FFF2-40B4-BE49-F238E27FC236}">
                <a16:creationId xmlns:a16="http://schemas.microsoft.com/office/drawing/2014/main" id="{9B8DF059-8D79-5EE9-9527-4603451415EE}"/>
              </a:ext>
            </a:extLst>
          </p:cNvPr>
          <p:cNvSpPr txBox="1">
            <a:spLocks/>
          </p:cNvSpPr>
          <p:nvPr/>
        </p:nvSpPr>
        <p:spPr>
          <a:xfrm>
            <a:off x="533400" y="2629022"/>
            <a:ext cx="10591800" cy="2857378"/>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Font typeface="Arial" pitchFamily="34" charset="0"/>
              <a:buNone/>
            </a:pPr>
            <a:r>
              <a:rPr lang="en-US" sz="2000" dirty="0"/>
              <a:t>                                To discuss about data type, operator and expression in PHP </a:t>
            </a:r>
            <a:endParaRPr lang="en-IN" sz="2000" dirty="0"/>
          </a:p>
        </p:txBody>
      </p:sp>
      <p:sp>
        <p:nvSpPr>
          <p:cNvPr id="10" name="Title 1">
            <a:extLst>
              <a:ext uri="{FF2B5EF4-FFF2-40B4-BE49-F238E27FC236}">
                <a16:creationId xmlns:a16="http://schemas.microsoft.com/office/drawing/2014/main" id="{08164E65-28BF-B65D-08AA-B54CA2D96F64}"/>
              </a:ext>
            </a:extLst>
          </p:cNvPr>
          <p:cNvSpPr txBox="1">
            <a:spLocks/>
          </p:cNvSpPr>
          <p:nvPr/>
        </p:nvSpPr>
        <p:spPr>
          <a:xfrm>
            <a:off x="2819400" y="1754339"/>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pPr>
              <a:defRPr/>
            </a:pPr>
            <a:endParaRPr kumimoji="0" lang="en-US" sz="2800" b="0" i="0" u="none" strike="noStrike" kern="1200" cap="none" spc="0" normalizeH="0" baseline="0" noProof="0" dirty="0">
              <a:ln>
                <a:noFill/>
              </a:ln>
              <a:solidFill>
                <a:schemeClr val="dk1"/>
              </a:solidFill>
              <a:effectLst/>
              <a:uLnTx/>
              <a:uFillTx/>
              <a:latin typeface="+mn-lt"/>
              <a:ea typeface="+mn-ea"/>
              <a:cs typeface="+mn-cs"/>
            </a:endParaRPr>
          </a:p>
          <a:p>
            <a:pPr>
              <a:defRPr/>
            </a:pPr>
            <a:r>
              <a:rPr kumimoji="0" lang="en-US" sz="2800" b="0" i="0" u="none" strike="noStrike" kern="1200" cap="none" spc="0" normalizeH="0" baseline="0" noProof="0" dirty="0">
                <a:ln>
                  <a:noFill/>
                </a:ln>
                <a:solidFill>
                  <a:schemeClr val="dk1"/>
                </a:solidFill>
                <a:effectLst/>
                <a:uLnTx/>
                <a:uFillTx/>
                <a:latin typeface="+mn-lt"/>
                <a:ea typeface="+mn-ea"/>
                <a:cs typeface="+mn-cs"/>
              </a:rPr>
              <a:t>Topic Objective</a:t>
            </a:r>
          </a:p>
          <a:p>
            <a:pPr algn="ctr">
              <a:defRPr/>
            </a:pPr>
            <a:endParaRPr lang="en-US" sz="2800" dirty="0">
              <a:latin typeface="Times New Roman" pitchFamily="18" charset="0"/>
              <a:cs typeface="Times New Roman" pitchFamily="18" charset="0"/>
              <a:sym typeface="Arial" charset="0"/>
            </a:endParaRPr>
          </a:p>
        </p:txBody>
      </p:sp>
    </p:spTree>
    <p:extLst>
      <p:ext uri="{BB962C8B-B14F-4D97-AF65-F5344CB8AC3E}">
        <p14:creationId xmlns:p14="http://schemas.microsoft.com/office/powerpoint/2010/main" val="100927372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E73A3019-CFE4-49DD-B6FD-2AFB2DD2DBB6}" type="datetime1">
              <a:rPr lang="en-US" smtClean="0"/>
              <a:t>11/7/2024</a:t>
            </a:fld>
            <a:endParaRPr lang="en-US"/>
          </a:p>
        </p:txBody>
      </p:sp>
      <p:sp>
        <p:nvSpPr>
          <p:cNvPr id="5" name="Footer Placeholder 4"/>
          <p:cNvSpPr>
            <a:spLocks noGrp="1"/>
          </p:cNvSpPr>
          <p:nvPr>
            <p:ph type="ftr" sz="quarter" idx="11"/>
          </p:nvPr>
        </p:nvSpPr>
        <p:spPr>
          <a:xfrm>
            <a:off x="4343400" y="6248401"/>
            <a:ext cx="4724400" cy="365125"/>
          </a:xfrm>
        </p:spPr>
        <p:txBody>
          <a:bodyPr/>
          <a:lstStyle/>
          <a:p>
            <a:r>
              <a:rPr lang="en-US" dirty="0"/>
              <a:t>Vaishali Mishra            ACSE0505 Web Technology                Unit 5</a:t>
            </a:r>
          </a:p>
        </p:txBody>
      </p:sp>
      <p:sp>
        <p:nvSpPr>
          <p:cNvPr id="6" name="Slide Number Placeholder 5"/>
          <p:cNvSpPr>
            <a:spLocks noGrp="1"/>
          </p:cNvSpPr>
          <p:nvPr>
            <p:ph type="sldNum" sz="quarter" idx="12"/>
          </p:nvPr>
        </p:nvSpPr>
        <p:spPr/>
        <p:txBody>
          <a:bodyPr/>
          <a:lstStyle/>
          <a:p>
            <a:fld id="{B6F15528-21DE-4FAA-801E-634DDDAF4B2B}" type="slidenum">
              <a:rPr lang="en-US" smtClean="0"/>
              <a:pPr/>
              <a:t>42</a:t>
            </a:fld>
            <a:endParaRPr lang="en-US"/>
          </a:p>
        </p:txBody>
      </p:sp>
      <p:sp>
        <p:nvSpPr>
          <p:cNvPr id="7" name="Title 1"/>
          <p:cNvSpPr txBox="1">
            <a:spLocks/>
          </p:cNvSpPr>
          <p:nvPr/>
        </p:nvSpPr>
        <p:spPr>
          <a:xfrm>
            <a:off x="2895600" y="2"/>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800" b="0" i="0" u="none" strike="noStrike" kern="1200" cap="none" spc="0" normalizeH="0" baseline="0" noProof="0">
                <a:ln>
                  <a:noFill/>
                </a:ln>
                <a:solidFill>
                  <a:schemeClr val="dk1"/>
                </a:solidFill>
                <a:effectLst/>
                <a:uLnTx/>
                <a:uFillTx/>
                <a:latin typeface="+mn-lt"/>
                <a:ea typeface="+mn-ea"/>
                <a:cs typeface="+mn-cs"/>
              </a:rPr>
              <a:t>Recap</a:t>
            </a:r>
            <a:endParaRPr kumimoji="0" lang="en-US" sz="2800" b="0" i="0" u="none" strike="noStrike" kern="1200" cap="none" spc="0" normalizeH="0" baseline="0" noProof="0" dirty="0">
              <a:ln>
                <a:noFill/>
              </a:ln>
              <a:solidFill>
                <a:schemeClr val="dk1"/>
              </a:solidFill>
              <a:effectLst/>
              <a:uLnTx/>
              <a:uFillTx/>
              <a:latin typeface="+mn-lt"/>
              <a:ea typeface="+mn-ea"/>
              <a:cs typeface="+mn-cs"/>
            </a:endParaRPr>
          </a:p>
        </p:txBody>
      </p:sp>
      <p:pic>
        <p:nvPicPr>
          <p:cNvPr id="2" name="Picture 1" descr="A black and red logo&#10;&#10;Description automatically generated">
            <a:extLst>
              <a:ext uri="{FF2B5EF4-FFF2-40B4-BE49-F238E27FC236}">
                <a16:creationId xmlns:a16="http://schemas.microsoft.com/office/drawing/2014/main" id="{8BDB0671-FC93-5C9E-75A2-ED46EE3FB8B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8" name="Content Placeholder 1">
            <a:extLst>
              <a:ext uri="{FF2B5EF4-FFF2-40B4-BE49-F238E27FC236}">
                <a16:creationId xmlns:a16="http://schemas.microsoft.com/office/drawing/2014/main" id="{1FF5ADF0-474C-251F-0E40-267B658E504A}"/>
              </a:ext>
            </a:extLst>
          </p:cNvPr>
          <p:cNvSpPr txBox="1">
            <a:spLocks noGrp="1"/>
          </p:cNvSpPr>
          <p:nvPr>
            <p:ph idx="1"/>
          </p:nvPr>
        </p:nvSpPr>
        <p:spPr>
          <a:xfrm>
            <a:off x="609600" y="1219200"/>
            <a:ext cx="10515600" cy="4449763"/>
          </a:xfrm>
        </p:spPr>
        <p:txBody>
          <a:bodyPr/>
          <a:lstStyle/>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lgn="ctr">
              <a:spcBef>
                <a:spcPts val="363"/>
              </a:spcBef>
              <a:spcAft>
                <a:spcPct val="0"/>
              </a:spcAft>
              <a:buClr>
                <a:srgbClr val="000000"/>
              </a:buClr>
              <a:buFont typeface="Arial" panose="020B0604020202020204" pitchFamily="34" charset="0"/>
              <a:buNone/>
            </a:pPr>
            <a:r>
              <a:rPr lang="en-IN" sz="2000" b="1" dirty="0">
                <a:latin typeface="Arial" panose="020B0604020202020204" pitchFamily="34" charset="0"/>
                <a:cs typeface="Arial" panose="020B0604020202020204" pitchFamily="34" charset="0"/>
              </a:rPr>
              <a:t> </a:t>
            </a:r>
          </a:p>
        </p:txBody>
      </p:sp>
      <p:sp>
        <p:nvSpPr>
          <p:cNvPr id="3" name="Content Placeholder 2">
            <a:extLst>
              <a:ext uri="{FF2B5EF4-FFF2-40B4-BE49-F238E27FC236}">
                <a16:creationId xmlns:a16="http://schemas.microsoft.com/office/drawing/2014/main" id="{076E5C5F-7F1C-1BE5-CE0B-6D2CF7C5B4E0}"/>
              </a:ext>
            </a:extLst>
          </p:cNvPr>
          <p:cNvSpPr txBox="1">
            <a:spLocks/>
          </p:cNvSpPr>
          <p:nvPr/>
        </p:nvSpPr>
        <p:spPr>
          <a:xfrm>
            <a:off x="1066800" y="990600"/>
            <a:ext cx="9601200" cy="4495800"/>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buFont typeface="Arial" pitchFamily="34" charset="0"/>
              <a:buNone/>
            </a:pPr>
            <a:r>
              <a:rPr lang="en-US" sz="2000"/>
              <a:t>In the last lecture we have discussed about</a:t>
            </a:r>
          </a:p>
          <a:p>
            <a:pPr>
              <a:buFont typeface="Arial" pitchFamily="34" charset="0"/>
              <a:buNone/>
            </a:pPr>
            <a:endParaRPr lang="en-US" sz="2000"/>
          </a:p>
          <a:p>
            <a:pPr lvl="1">
              <a:buFont typeface="Arial" pitchFamily="34" charset="0"/>
              <a:buNone/>
            </a:pPr>
            <a:r>
              <a:rPr lang="en-US" sz="2000"/>
              <a:t>- Introduction of basic of PHP with its syntax variables and constant.</a:t>
            </a:r>
          </a:p>
          <a:p>
            <a:pPr>
              <a:buFont typeface="Arial" pitchFamily="34" charset="0"/>
              <a:buNone/>
            </a:pPr>
            <a:endParaRPr lang="en-US" sz="2800" dirty="0"/>
          </a:p>
        </p:txBody>
      </p:sp>
    </p:spTree>
    <p:extLst>
      <p:ext uri="{BB962C8B-B14F-4D97-AF65-F5344CB8AC3E}">
        <p14:creationId xmlns:p14="http://schemas.microsoft.com/office/powerpoint/2010/main" val="355709235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E73A3019-CFE4-49DD-B6FD-2AFB2DD2DBB6}" type="datetime1">
              <a:rPr lang="en-US" smtClean="0"/>
              <a:t>11/7/2024</a:t>
            </a:fld>
            <a:endParaRPr lang="en-US"/>
          </a:p>
        </p:txBody>
      </p:sp>
      <p:sp>
        <p:nvSpPr>
          <p:cNvPr id="5" name="Footer Placeholder 4"/>
          <p:cNvSpPr>
            <a:spLocks noGrp="1"/>
          </p:cNvSpPr>
          <p:nvPr>
            <p:ph type="ftr" sz="quarter" idx="11"/>
          </p:nvPr>
        </p:nvSpPr>
        <p:spPr>
          <a:xfrm>
            <a:off x="4343400" y="6248401"/>
            <a:ext cx="4724400" cy="365125"/>
          </a:xfrm>
        </p:spPr>
        <p:txBody>
          <a:bodyPr/>
          <a:lstStyle/>
          <a:p>
            <a:r>
              <a:rPr lang="en-US" dirty="0"/>
              <a:t>Vaishali Mishra            ACSE0505 Web Technology                Unit 5</a:t>
            </a:r>
          </a:p>
        </p:txBody>
      </p:sp>
      <p:sp>
        <p:nvSpPr>
          <p:cNvPr id="6" name="Slide Number Placeholder 5"/>
          <p:cNvSpPr>
            <a:spLocks noGrp="1"/>
          </p:cNvSpPr>
          <p:nvPr>
            <p:ph type="sldNum" sz="quarter" idx="12"/>
          </p:nvPr>
        </p:nvSpPr>
        <p:spPr/>
        <p:txBody>
          <a:bodyPr/>
          <a:lstStyle/>
          <a:p>
            <a:fld id="{B6F15528-21DE-4FAA-801E-634DDDAF4B2B}" type="slidenum">
              <a:rPr lang="en-US" smtClean="0"/>
              <a:pPr/>
              <a:t>43</a:t>
            </a:fld>
            <a:endParaRPr lang="en-US"/>
          </a:p>
        </p:txBody>
      </p:sp>
      <p:sp>
        <p:nvSpPr>
          <p:cNvPr id="7" name="Title 1"/>
          <p:cNvSpPr txBox="1">
            <a:spLocks/>
          </p:cNvSpPr>
          <p:nvPr/>
        </p:nvSpPr>
        <p:spPr>
          <a:xfrm>
            <a:off x="2895600" y="2"/>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pPr>
              <a:defRPr/>
            </a:pPr>
            <a:endParaRPr lang="en-US" sz="2800" dirty="0"/>
          </a:p>
          <a:p>
            <a:pPr>
              <a:defRPr/>
            </a:pPr>
            <a:r>
              <a:rPr lang="en-US" sz="2800" dirty="0"/>
              <a:t>Data type (CO5)</a:t>
            </a:r>
            <a:endParaRPr lang="en-IN" sz="2800" dirty="0"/>
          </a:p>
          <a:p>
            <a:pPr algn="ctr">
              <a:defRPr/>
            </a:pPr>
            <a:endParaRPr lang="en-US" sz="2800" dirty="0">
              <a:latin typeface="Times New Roman" pitchFamily="18" charset="0"/>
              <a:cs typeface="Times New Roman" pitchFamily="18" charset="0"/>
              <a:sym typeface="Arial" charset="0"/>
            </a:endParaRPr>
          </a:p>
        </p:txBody>
      </p:sp>
      <p:pic>
        <p:nvPicPr>
          <p:cNvPr id="2" name="Picture 1" descr="A black and red logo&#10;&#10;Description automatically generated">
            <a:extLst>
              <a:ext uri="{FF2B5EF4-FFF2-40B4-BE49-F238E27FC236}">
                <a16:creationId xmlns:a16="http://schemas.microsoft.com/office/drawing/2014/main" id="{8BDB0671-FC93-5C9E-75A2-ED46EE3FB8B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8" name="Content Placeholder 1">
            <a:extLst>
              <a:ext uri="{FF2B5EF4-FFF2-40B4-BE49-F238E27FC236}">
                <a16:creationId xmlns:a16="http://schemas.microsoft.com/office/drawing/2014/main" id="{1FF5ADF0-474C-251F-0E40-267B658E504A}"/>
              </a:ext>
            </a:extLst>
          </p:cNvPr>
          <p:cNvSpPr txBox="1">
            <a:spLocks noGrp="1"/>
          </p:cNvSpPr>
          <p:nvPr>
            <p:ph idx="1"/>
          </p:nvPr>
        </p:nvSpPr>
        <p:spPr>
          <a:xfrm>
            <a:off x="609600" y="1219200"/>
            <a:ext cx="10515600" cy="4449763"/>
          </a:xfrm>
        </p:spPr>
        <p:txBody>
          <a:bodyPr/>
          <a:lstStyle/>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lgn="ctr">
              <a:spcBef>
                <a:spcPts val="363"/>
              </a:spcBef>
              <a:spcAft>
                <a:spcPct val="0"/>
              </a:spcAft>
              <a:buClr>
                <a:srgbClr val="000000"/>
              </a:buClr>
              <a:buFont typeface="Arial" panose="020B0604020202020204" pitchFamily="34" charset="0"/>
              <a:buNone/>
            </a:pPr>
            <a:r>
              <a:rPr lang="en-IN" sz="2000" b="1" dirty="0">
                <a:latin typeface="Arial" panose="020B0604020202020204" pitchFamily="34" charset="0"/>
                <a:cs typeface="Arial" panose="020B0604020202020204" pitchFamily="34" charset="0"/>
              </a:rPr>
              <a:t> </a:t>
            </a:r>
          </a:p>
        </p:txBody>
      </p:sp>
      <p:sp>
        <p:nvSpPr>
          <p:cNvPr id="3" name="Content Placeholder 2">
            <a:extLst>
              <a:ext uri="{FF2B5EF4-FFF2-40B4-BE49-F238E27FC236}">
                <a16:creationId xmlns:a16="http://schemas.microsoft.com/office/drawing/2014/main" id="{A2F94E68-440A-268A-66BB-BE3489737466}"/>
              </a:ext>
            </a:extLst>
          </p:cNvPr>
          <p:cNvSpPr txBox="1">
            <a:spLocks/>
          </p:cNvSpPr>
          <p:nvPr/>
        </p:nvSpPr>
        <p:spPr>
          <a:xfrm>
            <a:off x="381000" y="914400"/>
            <a:ext cx="10744200" cy="5211764"/>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Font typeface="Arial" pitchFamily="34" charset="0"/>
              <a:buNone/>
            </a:pPr>
            <a:r>
              <a:rPr lang="en-US" sz="2000" dirty="0"/>
              <a:t>PHP data types are used to hold different types of data or values. PHP supports 8 primitive data types that can be categorized further in 3 types:</a:t>
            </a:r>
          </a:p>
          <a:p>
            <a:pPr algn="just"/>
            <a:r>
              <a:rPr lang="en-US" sz="2000" dirty="0"/>
              <a:t>Scalar Types (predefined)</a:t>
            </a:r>
          </a:p>
          <a:p>
            <a:pPr algn="just"/>
            <a:r>
              <a:rPr lang="en-US" sz="2000" dirty="0"/>
              <a:t>Compound Types (user-defined)</a:t>
            </a:r>
          </a:p>
          <a:p>
            <a:pPr algn="just"/>
            <a:r>
              <a:rPr lang="en-US" sz="2000" dirty="0"/>
              <a:t>Special Types</a:t>
            </a:r>
          </a:p>
          <a:p>
            <a:pPr marL="0" indent="0" algn="just">
              <a:buFont typeface="Arial" pitchFamily="34" charset="0"/>
              <a:buNone/>
            </a:pPr>
            <a:endParaRPr lang="en-US" sz="2000" dirty="0"/>
          </a:p>
          <a:p>
            <a:pPr marL="0" indent="0" algn="just">
              <a:buFont typeface="Arial" pitchFamily="34" charset="0"/>
              <a:buNone/>
            </a:pPr>
            <a:r>
              <a:rPr lang="en-US" sz="2200" b="1" dirty="0"/>
              <a:t>1 Scalar Types- </a:t>
            </a:r>
            <a:r>
              <a:rPr lang="en-US" sz="2000" dirty="0"/>
              <a:t>It holds only single value. There are 4 scalar data types in PHP.</a:t>
            </a:r>
          </a:p>
          <a:p>
            <a:pPr algn="just"/>
            <a:r>
              <a:rPr lang="en-US" sz="2000" dirty="0" err="1"/>
              <a:t>boolean</a:t>
            </a:r>
            <a:endParaRPr lang="en-US" sz="2000" dirty="0"/>
          </a:p>
          <a:p>
            <a:pPr algn="just"/>
            <a:r>
              <a:rPr lang="en-US" sz="2000" dirty="0"/>
              <a:t>integer</a:t>
            </a:r>
          </a:p>
          <a:p>
            <a:pPr algn="just"/>
            <a:r>
              <a:rPr lang="en-US" sz="2000" dirty="0"/>
              <a:t>float</a:t>
            </a:r>
          </a:p>
          <a:p>
            <a:pPr algn="just"/>
            <a:r>
              <a:rPr lang="en-US" sz="2000" dirty="0"/>
              <a:t>string</a:t>
            </a:r>
          </a:p>
          <a:p>
            <a:pPr marL="0" indent="0" algn="just">
              <a:buFont typeface="Arial" pitchFamily="34" charset="0"/>
              <a:buNone/>
            </a:pPr>
            <a:endParaRPr lang="en-US" sz="1600" dirty="0">
              <a:latin typeface="Open Sans"/>
            </a:endParaRPr>
          </a:p>
        </p:txBody>
      </p:sp>
    </p:spTree>
    <p:extLst>
      <p:ext uri="{BB962C8B-B14F-4D97-AF65-F5344CB8AC3E}">
        <p14:creationId xmlns:p14="http://schemas.microsoft.com/office/powerpoint/2010/main" val="282675266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E73A3019-CFE4-49DD-B6FD-2AFB2DD2DBB6}" type="datetime1">
              <a:rPr lang="en-US" smtClean="0"/>
              <a:t>11/7/2024</a:t>
            </a:fld>
            <a:endParaRPr lang="en-US"/>
          </a:p>
        </p:txBody>
      </p:sp>
      <p:sp>
        <p:nvSpPr>
          <p:cNvPr id="5" name="Footer Placeholder 4"/>
          <p:cNvSpPr>
            <a:spLocks noGrp="1"/>
          </p:cNvSpPr>
          <p:nvPr>
            <p:ph type="ftr" sz="quarter" idx="11"/>
          </p:nvPr>
        </p:nvSpPr>
        <p:spPr>
          <a:xfrm>
            <a:off x="4343400" y="6248401"/>
            <a:ext cx="4724400" cy="365125"/>
          </a:xfrm>
        </p:spPr>
        <p:txBody>
          <a:bodyPr/>
          <a:lstStyle/>
          <a:p>
            <a:r>
              <a:rPr lang="en-US" dirty="0"/>
              <a:t>Vaishali Mishra            ACSE0505 Web Technology                Unit 5</a:t>
            </a:r>
          </a:p>
        </p:txBody>
      </p:sp>
      <p:sp>
        <p:nvSpPr>
          <p:cNvPr id="6" name="Slide Number Placeholder 5"/>
          <p:cNvSpPr>
            <a:spLocks noGrp="1"/>
          </p:cNvSpPr>
          <p:nvPr>
            <p:ph type="sldNum" sz="quarter" idx="12"/>
          </p:nvPr>
        </p:nvSpPr>
        <p:spPr/>
        <p:txBody>
          <a:bodyPr/>
          <a:lstStyle/>
          <a:p>
            <a:fld id="{B6F15528-21DE-4FAA-801E-634DDDAF4B2B}" type="slidenum">
              <a:rPr lang="en-US" smtClean="0"/>
              <a:pPr/>
              <a:t>44</a:t>
            </a:fld>
            <a:endParaRPr lang="en-US"/>
          </a:p>
        </p:txBody>
      </p:sp>
      <p:sp>
        <p:nvSpPr>
          <p:cNvPr id="7" name="Title 1"/>
          <p:cNvSpPr txBox="1">
            <a:spLocks/>
          </p:cNvSpPr>
          <p:nvPr/>
        </p:nvSpPr>
        <p:spPr>
          <a:xfrm>
            <a:off x="2895600" y="2"/>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pPr algn="ctr">
              <a:defRPr/>
            </a:pPr>
            <a:endParaRPr lang="en-US" sz="2800" dirty="0">
              <a:latin typeface="Times New Roman" pitchFamily="18" charset="0"/>
              <a:cs typeface="Times New Roman" pitchFamily="18" charset="0"/>
              <a:sym typeface="Arial" charset="0"/>
            </a:endParaRPr>
          </a:p>
        </p:txBody>
      </p:sp>
      <p:pic>
        <p:nvPicPr>
          <p:cNvPr id="2" name="Picture 1" descr="A black and red logo&#10;&#10;Description automatically generated">
            <a:extLst>
              <a:ext uri="{FF2B5EF4-FFF2-40B4-BE49-F238E27FC236}">
                <a16:creationId xmlns:a16="http://schemas.microsoft.com/office/drawing/2014/main" id="{8BDB0671-FC93-5C9E-75A2-ED46EE3FB8B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8" name="Content Placeholder 1">
            <a:extLst>
              <a:ext uri="{FF2B5EF4-FFF2-40B4-BE49-F238E27FC236}">
                <a16:creationId xmlns:a16="http://schemas.microsoft.com/office/drawing/2014/main" id="{1FF5ADF0-474C-251F-0E40-267B658E504A}"/>
              </a:ext>
            </a:extLst>
          </p:cNvPr>
          <p:cNvSpPr txBox="1">
            <a:spLocks noGrp="1"/>
          </p:cNvSpPr>
          <p:nvPr>
            <p:ph idx="1"/>
          </p:nvPr>
        </p:nvSpPr>
        <p:spPr>
          <a:xfrm>
            <a:off x="609600" y="1219200"/>
            <a:ext cx="10515600" cy="4449763"/>
          </a:xfrm>
        </p:spPr>
        <p:txBody>
          <a:bodyPr/>
          <a:lstStyle/>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lgn="ctr">
              <a:spcBef>
                <a:spcPts val="363"/>
              </a:spcBef>
              <a:spcAft>
                <a:spcPct val="0"/>
              </a:spcAft>
              <a:buClr>
                <a:srgbClr val="000000"/>
              </a:buClr>
              <a:buFont typeface="Arial" panose="020B0604020202020204" pitchFamily="34" charset="0"/>
              <a:buNone/>
            </a:pPr>
            <a:r>
              <a:rPr lang="en-IN" sz="2000" b="1" dirty="0">
                <a:latin typeface="Arial" panose="020B0604020202020204" pitchFamily="34" charset="0"/>
                <a:cs typeface="Arial" panose="020B0604020202020204" pitchFamily="34" charset="0"/>
              </a:rPr>
              <a:t> </a:t>
            </a:r>
          </a:p>
        </p:txBody>
      </p:sp>
      <p:sp>
        <p:nvSpPr>
          <p:cNvPr id="3" name="Content Placeholder 2">
            <a:extLst>
              <a:ext uri="{FF2B5EF4-FFF2-40B4-BE49-F238E27FC236}">
                <a16:creationId xmlns:a16="http://schemas.microsoft.com/office/drawing/2014/main" id="{DB4B5FFD-D617-098B-890D-ECC42B241E06}"/>
              </a:ext>
            </a:extLst>
          </p:cNvPr>
          <p:cNvSpPr txBox="1">
            <a:spLocks/>
          </p:cNvSpPr>
          <p:nvPr/>
        </p:nvSpPr>
        <p:spPr>
          <a:xfrm>
            <a:off x="152400" y="914400"/>
            <a:ext cx="11125200" cy="5211764"/>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Font typeface="Arial" pitchFamily="34" charset="0"/>
              <a:buNone/>
            </a:pPr>
            <a:r>
              <a:rPr lang="en-US" sz="2200" b="1"/>
              <a:t>2 Compound Types- </a:t>
            </a:r>
            <a:r>
              <a:rPr lang="en-US" sz="2000"/>
              <a:t>It can hold multiple values. There are 2 compound data types in PHP.</a:t>
            </a:r>
          </a:p>
          <a:p>
            <a:pPr algn="just"/>
            <a:r>
              <a:rPr lang="en-US" sz="2000"/>
              <a:t>array</a:t>
            </a:r>
          </a:p>
          <a:p>
            <a:pPr algn="just"/>
            <a:r>
              <a:rPr lang="en-US" sz="2000"/>
              <a:t>object</a:t>
            </a:r>
          </a:p>
          <a:p>
            <a:pPr marL="0" indent="0" algn="just">
              <a:buFont typeface="Arial" pitchFamily="34" charset="0"/>
              <a:buNone/>
            </a:pPr>
            <a:endParaRPr lang="en-US" sz="2000"/>
          </a:p>
          <a:p>
            <a:pPr marL="0" indent="0" algn="just">
              <a:buFont typeface="Arial" pitchFamily="34" charset="0"/>
              <a:buNone/>
            </a:pPr>
            <a:r>
              <a:rPr lang="en-US" sz="2200" b="1"/>
              <a:t>3 Special Types-</a:t>
            </a:r>
            <a:r>
              <a:rPr lang="en-US" sz="2200"/>
              <a:t> </a:t>
            </a:r>
            <a:r>
              <a:rPr lang="en-US" sz="2000"/>
              <a:t>There are 2 special data types in PHP.</a:t>
            </a:r>
          </a:p>
          <a:p>
            <a:pPr algn="just"/>
            <a:r>
              <a:rPr lang="en-US" sz="2000"/>
              <a:t>resource</a:t>
            </a:r>
          </a:p>
          <a:p>
            <a:pPr algn="just"/>
            <a:r>
              <a:rPr lang="en-US" sz="2000"/>
              <a:t>NULL</a:t>
            </a:r>
            <a:endParaRPr lang="en-US" sz="2000" dirty="0"/>
          </a:p>
        </p:txBody>
      </p:sp>
    </p:spTree>
    <p:extLst>
      <p:ext uri="{BB962C8B-B14F-4D97-AF65-F5344CB8AC3E}">
        <p14:creationId xmlns:p14="http://schemas.microsoft.com/office/powerpoint/2010/main" val="381277333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E73A3019-CFE4-49DD-B6FD-2AFB2DD2DBB6}" type="datetime1">
              <a:rPr lang="en-US" smtClean="0"/>
              <a:t>11/7/2024</a:t>
            </a:fld>
            <a:endParaRPr lang="en-US"/>
          </a:p>
        </p:txBody>
      </p:sp>
      <p:sp>
        <p:nvSpPr>
          <p:cNvPr id="5" name="Footer Placeholder 4"/>
          <p:cNvSpPr>
            <a:spLocks noGrp="1"/>
          </p:cNvSpPr>
          <p:nvPr>
            <p:ph type="ftr" sz="quarter" idx="11"/>
          </p:nvPr>
        </p:nvSpPr>
        <p:spPr>
          <a:xfrm>
            <a:off x="4343400" y="6248401"/>
            <a:ext cx="4724400" cy="365125"/>
          </a:xfrm>
        </p:spPr>
        <p:txBody>
          <a:bodyPr/>
          <a:lstStyle/>
          <a:p>
            <a:r>
              <a:rPr lang="en-US" dirty="0"/>
              <a:t>Vaishali Mishra            ACSE0505 Web Technology                Unit 5</a:t>
            </a:r>
          </a:p>
        </p:txBody>
      </p:sp>
      <p:sp>
        <p:nvSpPr>
          <p:cNvPr id="6" name="Slide Number Placeholder 5"/>
          <p:cNvSpPr>
            <a:spLocks noGrp="1"/>
          </p:cNvSpPr>
          <p:nvPr>
            <p:ph type="sldNum" sz="quarter" idx="12"/>
          </p:nvPr>
        </p:nvSpPr>
        <p:spPr/>
        <p:txBody>
          <a:bodyPr/>
          <a:lstStyle/>
          <a:p>
            <a:fld id="{B6F15528-21DE-4FAA-801E-634DDDAF4B2B}" type="slidenum">
              <a:rPr lang="en-US" smtClean="0"/>
              <a:pPr/>
              <a:t>45</a:t>
            </a:fld>
            <a:endParaRPr lang="en-US"/>
          </a:p>
        </p:txBody>
      </p:sp>
      <p:sp>
        <p:nvSpPr>
          <p:cNvPr id="7" name="Title 1"/>
          <p:cNvSpPr txBox="1">
            <a:spLocks/>
          </p:cNvSpPr>
          <p:nvPr/>
        </p:nvSpPr>
        <p:spPr>
          <a:xfrm>
            <a:off x="2895600" y="2"/>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pPr>
              <a:defRPr/>
            </a:pPr>
            <a:endParaRPr lang="en-US" sz="2800" dirty="0"/>
          </a:p>
          <a:p>
            <a:pPr>
              <a:defRPr/>
            </a:pPr>
            <a:r>
              <a:rPr lang="en-US" sz="2800" dirty="0"/>
              <a:t>Operator (CO5)</a:t>
            </a:r>
            <a:endParaRPr lang="en-IN" sz="2800" dirty="0"/>
          </a:p>
          <a:p>
            <a:pPr algn="ctr">
              <a:defRPr/>
            </a:pPr>
            <a:endParaRPr lang="en-US" sz="2800" dirty="0">
              <a:latin typeface="Times New Roman" pitchFamily="18" charset="0"/>
              <a:cs typeface="Times New Roman" pitchFamily="18" charset="0"/>
              <a:sym typeface="Arial" charset="0"/>
            </a:endParaRPr>
          </a:p>
        </p:txBody>
      </p:sp>
      <p:pic>
        <p:nvPicPr>
          <p:cNvPr id="2" name="Picture 1" descr="A black and red logo&#10;&#10;Description automatically generated">
            <a:extLst>
              <a:ext uri="{FF2B5EF4-FFF2-40B4-BE49-F238E27FC236}">
                <a16:creationId xmlns:a16="http://schemas.microsoft.com/office/drawing/2014/main" id="{8BDB0671-FC93-5C9E-75A2-ED46EE3FB8B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8" name="Content Placeholder 1">
            <a:extLst>
              <a:ext uri="{FF2B5EF4-FFF2-40B4-BE49-F238E27FC236}">
                <a16:creationId xmlns:a16="http://schemas.microsoft.com/office/drawing/2014/main" id="{1FF5ADF0-474C-251F-0E40-267B658E504A}"/>
              </a:ext>
            </a:extLst>
          </p:cNvPr>
          <p:cNvSpPr txBox="1">
            <a:spLocks noGrp="1"/>
          </p:cNvSpPr>
          <p:nvPr>
            <p:ph idx="1"/>
          </p:nvPr>
        </p:nvSpPr>
        <p:spPr>
          <a:xfrm>
            <a:off x="609600" y="1219200"/>
            <a:ext cx="10515600" cy="4449763"/>
          </a:xfrm>
        </p:spPr>
        <p:txBody>
          <a:bodyPr/>
          <a:lstStyle/>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lgn="ctr">
              <a:spcBef>
                <a:spcPts val="363"/>
              </a:spcBef>
              <a:spcAft>
                <a:spcPct val="0"/>
              </a:spcAft>
              <a:buClr>
                <a:srgbClr val="000000"/>
              </a:buClr>
              <a:buFont typeface="Arial" panose="020B0604020202020204" pitchFamily="34" charset="0"/>
              <a:buNone/>
            </a:pPr>
            <a:r>
              <a:rPr lang="en-IN" sz="2000" b="1" dirty="0">
                <a:latin typeface="Arial" panose="020B0604020202020204" pitchFamily="34" charset="0"/>
                <a:cs typeface="Arial" panose="020B0604020202020204" pitchFamily="34" charset="0"/>
              </a:rPr>
              <a:t> </a:t>
            </a:r>
          </a:p>
        </p:txBody>
      </p:sp>
      <p:sp>
        <p:nvSpPr>
          <p:cNvPr id="3" name="Content Placeholder 2">
            <a:extLst>
              <a:ext uri="{FF2B5EF4-FFF2-40B4-BE49-F238E27FC236}">
                <a16:creationId xmlns:a16="http://schemas.microsoft.com/office/drawing/2014/main" id="{9B087F88-184A-3234-D3A3-C5B2CC0AEF11}"/>
              </a:ext>
            </a:extLst>
          </p:cNvPr>
          <p:cNvSpPr txBox="1">
            <a:spLocks/>
          </p:cNvSpPr>
          <p:nvPr/>
        </p:nvSpPr>
        <p:spPr>
          <a:xfrm>
            <a:off x="228600" y="1219200"/>
            <a:ext cx="11353800" cy="4906964"/>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Font typeface="Arial" pitchFamily="34" charset="0"/>
              <a:buNone/>
            </a:pPr>
            <a:r>
              <a:rPr lang="en-US" sz="2200" dirty="0"/>
              <a:t>PHP Operator is a symbol </a:t>
            </a:r>
            <a:r>
              <a:rPr lang="en-US" sz="2200" dirty="0" err="1"/>
              <a:t>i.e</a:t>
            </a:r>
            <a:r>
              <a:rPr lang="en-US" sz="2200" dirty="0"/>
              <a:t> used to perform operations on operands. In simple words, operators are used to perform operations on variables or values.</a:t>
            </a:r>
          </a:p>
          <a:p>
            <a:pPr marL="0" indent="0" algn="just">
              <a:buFont typeface="Arial" pitchFamily="34" charset="0"/>
              <a:buNone/>
            </a:pPr>
            <a:endParaRPr lang="en-US" sz="1600" dirty="0">
              <a:latin typeface="Open Sans"/>
            </a:endParaRPr>
          </a:p>
        </p:txBody>
      </p:sp>
      <p:pic>
        <p:nvPicPr>
          <p:cNvPr id="9" name="Picture 8">
            <a:extLst>
              <a:ext uri="{FF2B5EF4-FFF2-40B4-BE49-F238E27FC236}">
                <a16:creationId xmlns:a16="http://schemas.microsoft.com/office/drawing/2014/main" id="{7A39CAC8-067E-259F-075F-FA51D471DD34}"/>
              </a:ext>
            </a:extLst>
          </p:cNvPr>
          <p:cNvPicPr>
            <a:picLocks noChangeAspect="1"/>
          </p:cNvPicPr>
          <p:nvPr/>
        </p:nvPicPr>
        <p:blipFill rotWithShape="1">
          <a:blip r:embed="rId3"/>
          <a:srcRect l="17790" t="30209" r="36530" b="38542"/>
          <a:stretch/>
        </p:blipFill>
        <p:spPr>
          <a:xfrm>
            <a:off x="419100" y="2133600"/>
            <a:ext cx="11010900" cy="3733800"/>
          </a:xfrm>
          <a:prstGeom prst="rect">
            <a:avLst/>
          </a:prstGeom>
        </p:spPr>
      </p:pic>
    </p:spTree>
    <p:extLst>
      <p:ext uri="{BB962C8B-B14F-4D97-AF65-F5344CB8AC3E}">
        <p14:creationId xmlns:p14="http://schemas.microsoft.com/office/powerpoint/2010/main" val="282379703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E73A3019-CFE4-49DD-B6FD-2AFB2DD2DBB6}" type="datetime1">
              <a:rPr lang="en-US" smtClean="0"/>
              <a:t>11/7/2024</a:t>
            </a:fld>
            <a:endParaRPr lang="en-US"/>
          </a:p>
        </p:txBody>
      </p:sp>
      <p:sp>
        <p:nvSpPr>
          <p:cNvPr id="5" name="Footer Placeholder 4"/>
          <p:cNvSpPr>
            <a:spLocks noGrp="1"/>
          </p:cNvSpPr>
          <p:nvPr>
            <p:ph type="ftr" sz="quarter" idx="11"/>
          </p:nvPr>
        </p:nvSpPr>
        <p:spPr>
          <a:xfrm>
            <a:off x="4343400" y="6248401"/>
            <a:ext cx="4724400" cy="365125"/>
          </a:xfrm>
        </p:spPr>
        <p:txBody>
          <a:bodyPr/>
          <a:lstStyle/>
          <a:p>
            <a:r>
              <a:rPr lang="en-US" dirty="0"/>
              <a:t>Vaishali Mishra            ACSE0505 Web Technology                Unit 5</a:t>
            </a:r>
          </a:p>
        </p:txBody>
      </p:sp>
      <p:sp>
        <p:nvSpPr>
          <p:cNvPr id="6" name="Slide Number Placeholder 5"/>
          <p:cNvSpPr>
            <a:spLocks noGrp="1"/>
          </p:cNvSpPr>
          <p:nvPr>
            <p:ph type="sldNum" sz="quarter" idx="12"/>
          </p:nvPr>
        </p:nvSpPr>
        <p:spPr/>
        <p:txBody>
          <a:bodyPr/>
          <a:lstStyle/>
          <a:p>
            <a:fld id="{B6F15528-21DE-4FAA-801E-634DDDAF4B2B}" type="slidenum">
              <a:rPr lang="en-US" smtClean="0"/>
              <a:pPr/>
              <a:t>46</a:t>
            </a:fld>
            <a:endParaRPr lang="en-US"/>
          </a:p>
        </p:txBody>
      </p:sp>
      <p:sp>
        <p:nvSpPr>
          <p:cNvPr id="7" name="Title 1"/>
          <p:cNvSpPr txBox="1">
            <a:spLocks/>
          </p:cNvSpPr>
          <p:nvPr/>
        </p:nvSpPr>
        <p:spPr>
          <a:xfrm>
            <a:off x="2895600" y="2"/>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pPr>
              <a:defRPr/>
            </a:pPr>
            <a:endParaRPr lang="en-US" sz="2800" dirty="0"/>
          </a:p>
          <a:p>
            <a:pPr>
              <a:defRPr/>
            </a:pPr>
            <a:r>
              <a:rPr lang="en-US" sz="2800" dirty="0"/>
              <a:t>Operator (CO5)</a:t>
            </a:r>
            <a:endParaRPr lang="en-IN" sz="2800" dirty="0"/>
          </a:p>
          <a:p>
            <a:pPr algn="ctr">
              <a:defRPr/>
            </a:pPr>
            <a:endParaRPr lang="en-US" sz="2800" dirty="0">
              <a:latin typeface="Times New Roman" pitchFamily="18" charset="0"/>
              <a:cs typeface="Times New Roman" pitchFamily="18" charset="0"/>
              <a:sym typeface="Arial" charset="0"/>
            </a:endParaRPr>
          </a:p>
        </p:txBody>
      </p:sp>
      <p:pic>
        <p:nvPicPr>
          <p:cNvPr id="2" name="Picture 1" descr="A black and red logo&#10;&#10;Description automatically generated">
            <a:extLst>
              <a:ext uri="{FF2B5EF4-FFF2-40B4-BE49-F238E27FC236}">
                <a16:creationId xmlns:a16="http://schemas.microsoft.com/office/drawing/2014/main" id="{8BDB0671-FC93-5C9E-75A2-ED46EE3FB8B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8" name="Content Placeholder 1">
            <a:extLst>
              <a:ext uri="{FF2B5EF4-FFF2-40B4-BE49-F238E27FC236}">
                <a16:creationId xmlns:a16="http://schemas.microsoft.com/office/drawing/2014/main" id="{1FF5ADF0-474C-251F-0E40-267B658E504A}"/>
              </a:ext>
            </a:extLst>
          </p:cNvPr>
          <p:cNvSpPr txBox="1">
            <a:spLocks noGrp="1"/>
          </p:cNvSpPr>
          <p:nvPr>
            <p:ph idx="1"/>
          </p:nvPr>
        </p:nvSpPr>
        <p:spPr>
          <a:xfrm>
            <a:off x="609600" y="1219200"/>
            <a:ext cx="10515600" cy="4449763"/>
          </a:xfrm>
        </p:spPr>
        <p:txBody>
          <a:bodyPr/>
          <a:lstStyle/>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lgn="ctr">
              <a:spcBef>
                <a:spcPts val="363"/>
              </a:spcBef>
              <a:spcAft>
                <a:spcPct val="0"/>
              </a:spcAft>
              <a:buClr>
                <a:srgbClr val="000000"/>
              </a:buClr>
              <a:buFont typeface="Arial" panose="020B0604020202020204" pitchFamily="34" charset="0"/>
              <a:buNone/>
            </a:pPr>
            <a:r>
              <a:rPr lang="en-IN" sz="2000" b="1" dirty="0">
                <a:latin typeface="Arial" panose="020B0604020202020204" pitchFamily="34" charset="0"/>
                <a:cs typeface="Arial" panose="020B0604020202020204" pitchFamily="34" charset="0"/>
              </a:rPr>
              <a:t> </a:t>
            </a:r>
          </a:p>
        </p:txBody>
      </p:sp>
      <p:pic>
        <p:nvPicPr>
          <p:cNvPr id="3" name="Content Placeholder 6">
            <a:extLst>
              <a:ext uri="{FF2B5EF4-FFF2-40B4-BE49-F238E27FC236}">
                <a16:creationId xmlns:a16="http://schemas.microsoft.com/office/drawing/2014/main" id="{1451F029-17ED-CED6-FE57-FD9D427BDF0D}"/>
              </a:ext>
            </a:extLst>
          </p:cNvPr>
          <p:cNvPicPr>
            <a:picLocks noChangeAspect="1"/>
          </p:cNvPicPr>
          <p:nvPr/>
        </p:nvPicPr>
        <p:blipFill rotWithShape="1">
          <a:blip r:embed="rId3"/>
          <a:srcRect l="17949" t="28416" r="31624" b="41180"/>
          <a:stretch/>
        </p:blipFill>
        <p:spPr>
          <a:xfrm>
            <a:off x="304800" y="1066800"/>
            <a:ext cx="10668000" cy="2635250"/>
          </a:xfrm>
          <a:prstGeom prst="rect">
            <a:avLst/>
          </a:prstGeom>
        </p:spPr>
      </p:pic>
      <p:pic>
        <p:nvPicPr>
          <p:cNvPr id="9" name="Picture 8">
            <a:extLst>
              <a:ext uri="{FF2B5EF4-FFF2-40B4-BE49-F238E27FC236}">
                <a16:creationId xmlns:a16="http://schemas.microsoft.com/office/drawing/2014/main" id="{615C7AAF-51FE-D027-8396-94EFD34FC0FF}"/>
              </a:ext>
            </a:extLst>
          </p:cNvPr>
          <p:cNvPicPr>
            <a:picLocks noChangeAspect="1"/>
          </p:cNvPicPr>
          <p:nvPr/>
        </p:nvPicPr>
        <p:blipFill rotWithShape="1">
          <a:blip r:embed="rId4"/>
          <a:srcRect l="18155" t="34728" r="33602" b="38188"/>
          <a:stretch/>
        </p:blipFill>
        <p:spPr>
          <a:xfrm>
            <a:off x="425116" y="3706061"/>
            <a:ext cx="10547684" cy="2362200"/>
          </a:xfrm>
          <a:prstGeom prst="rect">
            <a:avLst/>
          </a:prstGeom>
        </p:spPr>
      </p:pic>
    </p:spTree>
    <p:extLst>
      <p:ext uri="{BB962C8B-B14F-4D97-AF65-F5344CB8AC3E}">
        <p14:creationId xmlns:p14="http://schemas.microsoft.com/office/powerpoint/2010/main" val="321922365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E73A3019-CFE4-49DD-B6FD-2AFB2DD2DBB6}" type="datetime1">
              <a:rPr lang="en-US" smtClean="0"/>
              <a:t>11/7/2024</a:t>
            </a:fld>
            <a:endParaRPr lang="en-US"/>
          </a:p>
        </p:txBody>
      </p:sp>
      <p:sp>
        <p:nvSpPr>
          <p:cNvPr id="5" name="Footer Placeholder 4"/>
          <p:cNvSpPr>
            <a:spLocks noGrp="1"/>
          </p:cNvSpPr>
          <p:nvPr>
            <p:ph type="ftr" sz="quarter" idx="11"/>
          </p:nvPr>
        </p:nvSpPr>
        <p:spPr>
          <a:xfrm>
            <a:off x="4343400" y="6248401"/>
            <a:ext cx="4724400" cy="365125"/>
          </a:xfrm>
        </p:spPr>
        <p:txBody>
          <a:bodyPr/>
          <a:lstStyle/>
          <a:p>
            <a:r>
              <a:rPr lang="en-US" dirty="0"/>
              <a:t>Vaishali Mishra            ACSE0505 Web Technology                Unit 5</a:t>
            </a:r>
          </a:p>
        </p:txBody>
      </p:sp>
      <p:sp>
        <p:nvSpPr>
          <p:cNvPr id="6" name="Slide Number Placeholder 5"/>
          <p:cNvSpPr>
            <a:spLocks noGrp="1"/>
          </p:cNvSpPr>
          <p:nvPr>
            <p:ph type="sldNum" sz="quarter" idx="12"/>
          </p:nvPr>
        </p:nvSpPr>
        <p:spPr/>
        <p:txBody>
          <a:bodyPr/>
          <a:lstStyle/>
          <a:p>
            <a:fld id="{B6F15528-21DE-4FAA-801E-634DDDAF4B2B}" type="slidenum">
              <a:rPr lang="en-US" smtClean="0"/>
              <a:pPr/>
              <a:t>47</a:t>
            </a:fld>
            <a:endParaRPr lang="en-US"/>
          </a:p>
        </p:txBody>
      </p:sp>
      <p:sp>
        <p:nvSpPr>
          <p:cNvPr id="7" name="Title 1"/>
          <p:cNvSpPr txBox="1">
            <a:spLocks/>
          </p:cNvSpPr>
          <p:nvPr/>
        </p:nvSpPr>
        <p:spPr>
          <a:xfrm>
            <a:off x="2895600" y="2"/>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pPr>
              <a:defRPr/>
            </a:pPr>
            <a:endParaRPr lang="en-US" sz="2800" dirty="0"/>
          </a:p>
          <a:p>
            <a:pPr algn="ctr"/>
            <a:r>
              <a:rPr lang="en-US" sz="2800" dirty="0"/>
              <a:t>Expression (CO5)</a:t>
            </a:r>
            <a:endParaRPr lang="en-IN" sz="2800" dirty="0"/>
          </a:p>
          <a:p>
            <a:pPr algn="ctr">
              <a:defRPr/>
            </a:pPr>
            <a:endParaRPr lang="en-US" sz="2800" dirty="0">
              <a:latin typeface="Times New Roman" pitchFamily="18" charset="0"/>
              <a:cs typeface="Times New Roman" pitchFamily="18" charset="0"/>
              <a:sym typeface="Arial" charset="0"/>
            </a:endParaRPr>
          </a:p>
        </p:txBody>
      </p:sp>
      <p:pic>
        <p:nvPicPr>
          <p:cNvPr id="2" name="Picture 1" descr="A black and red logo&#10;&#10;Description automatically generated">
            <a:extLst>
              <a:ext uri="{FF2B5EF4-FFF2-40B4-BE49-F238E27FC236}">
                <a16:creationId xmlns:a16="http://schemas.microsoft.com/office/drawing/2014/main" id="{8BDB0671-FC93-5C9E-75A2-ED46EE3FB8B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8" name="Content Placeholder 1">
            <a:extLst>
              <a:ext uri="{FF2B5EF4-FFF2-40B4-BE49-F238E27FC236}">
                <a16:creationId xmlns:a16="http://schemas.microsoft.com/office/drawing/2014/main" id="{1FF5ADF0-474C-251F-0E40-267B658E504A}"/>
              </a:ext>
            </a:extLst>
          </p:cNvPr>
          <p:cNvSpPr txBox="1">
            <a:spLocks noGrp="1"/>
          </p:cNvSpPr>
          <p:nvPr>
            <p:ph idx="1"/>
          </p:nvPr>
        </p:nvSpPr>
        <p:spPr>
          <a:xfrm>
            <a:off x="609600" y="1219200"/>
            <a:ext cx="10515600" cy="4449763"/>
          </a:xfrm>
        </p:spPr>
        <p:txBody>
          <a:bodyPr/>
          <a:lstStyle/>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lgn="ctr">
              <a:spcBef>
                <a:spcPts val="363"/>
              </a:spcBef>
              <a:spcAft>
                <a:spcPct val="0"/>
              </a:spcAft>
              <a:buClr>
                <a:srgbClr val="000000"/>
              </a:buClr>
              <a:buFont typeface="Arial" panose="020B0604020202020204" pitchFamily="34" charset="0"/>
              <a:buNone/>
            </a:pPr>
            <a:r>
              <a:rPr lang="en-IN" sz="2000" b="1" dirty="0">
                <a:latin typeface="Arial" panose="020B0604020202020204" pitchFamily="34" charset="0"/>
                <a:cs typeface="Arial" panose="020B0604020202020204" pitchFamily="34" charset="0"/>
              </a:rPr>
              <a:t> </a:t>
            </a:r>
          </a:p>
        </p:txBody>
      </p:sp>
      <p:sp>
        <p:nvSpPr>
          <p:cNvPr id="10" name="Content Placeholder 2">
            <a:extLst>
              <a:ext uri="{FF2B5EF4-FFF2-40B4-BE49-F238E27FC236}">
                <a16:creationId xmlns:a16="http://schemas.microsoft.com/office/drawing/2014/main" id="{F1E3BC16-8E54-F2FF-2087-CC566717CC88}"/>
              </a:ext>
            </a:extLst>
          </p:cNvPr>
          <p:cNvSpPr txBox="1">
            <a:spLocks/>
          </p:cNvSpPr>
          <p:nvPr/>
        </p:nvSpPr>
        <p:spPr>
          <a:xfrm>
            <a:off x="152400" y="914400"/>
            <a:ext cx="10744200" cy="5211764"/>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just"/>
            <a:r>
              <a:rPr lang="en-US" sz="2200"/>
              <a:t>An </a:t>
            </a:r>
            <a:r>
              <a:rPr lang="en-US" sz="2200" i="1"/>
              <a:t>expression</a:t>
            </a:r>
            <a:r>
              <a:rPr lang="en-US" sz="2200"/>
              <a:t> is a bit of PHP that can be evaluated to produce a value. The simplest expressions are literal values and variables. </a:t>
            </a:r>
          </a:p>
          <a:p>
            <a:pPr algn="just"/>
            <a:r>
              <a:rPr lang="en-US" sz="2200"/>
              <a:t>A literal value evaluates to itself, while a variable evaluates to the value stored in the variable. </a:t>
            </a:r>
          </a:p>
          <a:p>
            <a:pPr algn="just"/>
            <a:r>
              <a:rPr lang="en-US" sz="2200"/>
              <a:t>More complex expressions can be formed using simple expressions and operators.</a:t>
            </a:r>
            <a:endParaRPr lang="en-US" sz="2200" dirty="0">
              <a:latin typeface="Open Sans"/>
            </a:endParaRPr>
          </a:p>
        </p:txBody>
      </p:sp>
    </p:spTree>
    <p:extLst>
      <p:ext uri="{BB962C8B-B14F-4D97-AF65-F5344CB8AC3E}">
        <p14:creationId xmlns:p14="http://schemas.microsoft.com/office/powerpoint/2010/main" val="83463317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E73A3019-CFE4-49DD-B6FD-2AFB2DD2DBB6}" type="datetime1">
              <a:rPr lang="en-US" smtClean="0"/>
              <a:t>11/7/2024</a:t>
            </a:fld>
            <a:endParaRPr lang="en-US"/>
          </a:p>
        </p:txBody>
      </p:sp>
      <p:sp>
        <p:nvSpPr>
          <p:cNvPr id="5" name="Footer Placeholder 4"/>
          <p:cNvSpPr>
            <a:spLocks noGrp="1"/>
          </p:cNvSpPr>
          <p:nvPr>
            <p:ph type="ftr" sz="quarter" idx="11"/>
          </p:nvPr>
        </p:nvSpPr>
        <p:spPr>
          <a:xfrm>
            <a:off x="4343400" y="6248401"/>
            <a:ext cx="4724400" cy="365125"/>
          </a:xfrm>
        </p:spPr>
        <p:txBody>
          <a:bodyPr/>
          <a:lstStyle/>
          <a:p>
            <a:r>
              <a:rPr lang="en-US" dirty="0"/>
              <a:t>Vaishali Mishra            ACSE0505 Web Technology                Unit 5</a:t>
            </a:r>
          </a:p>
        </p:txBody>
      </p:sp>
      <p:sp>
        <p:nvSpPr>
          <p:cNvPr id="6" name="Slide Number Placeholder 5"/>
          <p:cNvSpPr>
            <a:spLocks noGrp="1"/>
          </p:cNvSpPr>
          <p:nvPr>
            <p:ph type="sldNum" sz="quarter" idx="12"/>
          </p:nvPr>
        </p:nvSpPr>
        <p:spPr/>
        <p:txBody>
          <a:bodyPr/>
          <a:lstStyle/>
          <a:p>
            <a:fld id="{B6F15528-21DE-4FAA-801E-634DDDAF4B2B}" type="slidenum">
              <a:rPr lang="en-US" smtClean="0"/>
              <a:pPr/>
              <a:t>48</a:t>
            </a:fld>
            <a:endParaRPr lang="en-US"/>
          </a:p>
        </p:txBody>
      </p:sp>
      <p:sp>
        <p:nvSpPr>
          <p:cNvPr id="7" name="Title 1"/>
          <p:cNvSpPr txBox="1">
            <a:spLocks/>
          </p:cNvSpPr>
          <p:nvPr/>
        </p:nvSpPr>
        <p:spPr>
          <a:xfrm>
            <a:off x="2895600" y="2"/>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pPr>
              <a:defRPr/>
            </a:pPr>
            <a:endParaRPr lang="en-US" sz="2800" dirty="0"/>
          </a:p>
          <a:p>
            <a:pPr>
              <a:defRPr/>
            </a:pPr>
            <a:r>
              <a:rPr lang="en-US" sz="2800" dirty="0"/>
              <a:t>Control flow and Decision making statements (CO5)</a:t>
            </a:r>
            <a:endParaRPr lang="en-IN" sz="2800" dirty="0"/>
          </a:p>
          <a:p>
            <a:pPr algn="ctr">
              <a:defRPr/>
            </a:pPr>
            <a:endParaRPr lang="en-US" sz="2800" dirty="0">
              <a:latin typeface="Times New Roman" pitchFamily="18" charset="0"/>
              <a:cs typeface="Times New Roman" pitchFamily="18" charset="0"/>
              <a:sym typeface="Arial" charset="0"/>
            </a:endParaRPr>
          </a:p>
        </p:txBody>
      </p:sp>
      <p:pic>
        <p:nvPicPr>
          <p:cNvPr id="2" name="Picture 1" descr="A black and red logo&#10;&#10;Description automatically generated">
            <a:extLst>
              <a:ext uri="{FF2B5EF4-FFF2-40B4-BE49-F238E27FC236}">
                <a16:creationId xmlns:a16="http://schemas.microsoft.com/office/drawing/2014/main" id="{8BDB0671-FC93-5C9E-75A2-ED46EE3FB8B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8" name="Content Placeholder 1">
            <a:extLst>
              <a:ext uri="{FF2B5EF4-FFF2-40B4-BE49-F238E27FC236}">
                <a16:creationId xmlns:a16="http://schemas.microsoft.com/office/drawing/2014/main" id="{1FF5ADF0-474C-251F-0E40-267B658E504A}"/>
              </a:ext>
            </a:extLst>
          </p:cNvPr>
          <p:cNvSpPr txBox="1">
            <a:spLocks noGrp="1"/>
          </p:cNvSpPr>
          <p:nvPr>
            <p:ph idx="1"/>
          </p:nvPr>
        </p:nvSpPr>
        <p:spPr>
          <a:xfrm>
            <a:off x="609600" y="1219200"/>
            <a:ext cx="10515600" cy="4449763"/>
          </a:xfrm>
        </p:spPr>
        <p:txBody>
          <a:bodyPr/>
          <a:lstStyle/>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lgn="ctr">
              <a:spcBef>
                <a:spcPts val="363"/>
              </a:spcBef>
              <a:spcAft>
                <a:spcPct val="0"/>
              </a:spcAft>
              <a:buClr>
                <a:srgbClr val="000000"/>
              </a:buClr>
              <a:buFont typeface="Arial" panose="020B0604020202020204" pitchFamily="34" charset="0"/>
              <a:buNone/>
            </a:pPr>
            <a:r>
              <a:rPr lang="en-IN" sz="2000" b="1" dirty="0">
                <a:latin typeface="Arial" panose="020B0604020202020204" pitchFamily="34" charset="0"/>
                <a:cs typeface="Arial" panose="020B0604020202020204" pitchFamily="34" charset="0"/>
              </a:rPr>
              <a:t> </a:t>
            </a:r>
          </a:p>
        </p:txBody>
      </p:sp>
      <p:sp>
        <p:nvSpPr>
          <p:cNvPr id="3" name="Content Placeholder 2">
            <a:extLst>
              <a:ext uri="{FF2B5EF4-FFF2-40B4-BE49-F238E27FC236}">
                <a16:creationId xmlns:a16="http://schemas.microsoft.com/office/drawing/2014/main" id="{CB5865A2-F0E0-8897-6104-9BB0BF3C5852}"/>
              </a:ext>
            </a:extLst>
          </p:cNvPr>
          <p:cNvSpPr txBox="1">
            <a:spLocks/>
          </p:cNvSpPr>
          <p:nvPr/>
        </p:nvSpPr>
        <p:spPr>
          <a:xfrm>
            <a:off x="152400" y="838200"/>
            <a:ext cx="10439400" cy="5287964"/>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Font typeface="Arial" pitchFamily="34" charset="0"/>
              <a:buNone/>
            </a:pPr>
            <a:r>
              <a:rPr lang="en-US" sz="2200" b="1"/>
              <a:t>1 PHP if-  </a:t>
            </a:r>
            <a:r>
              <a:rPr lang="en-US" sz="2000"/>
              <a:t>statement allows conditional execution of code. It is executed if condition is true. If statement is used to executes the block of code exist inside the if statement only if the specified condition is true.</a:t>
            </a:r>
          </a:p>
          <a:p>
            <a:pPr algn="just"/>
            <a:r>
              <a:rPr lang="en-US" sz="2000"/>
              <a:t>Syntax</a:t>
            </a:r>
            <a:r>
              <a:rPr lang="en-US" sz="2000" b="1"/>
              <a:t> </a:t>
            </a:r>
          </a:p>
          <a:p>
            <a:pPr lvl="1" algn="just"/>
            <a:r>
              <a:rPr lang="en-US" sz="2000" b="1"/>
              <a:t>if</a:t>
            </a:r>
            <a:r>
              <a:rPr lang="en-US" sz="2000"/>
              <a:t>(condition){  </a:t>
            </a:r>
          </a:p>
          <a:p>
            <a:pPr lvl="1" algn="just"/>
            <a:r>
              <a:rPr lang="en-US" sz="2000"/>
              <a:t>//code to be executed  </a:t>
            </a:r>
          </a:p>
          <a:p>
            <a:pPr lvl="1" algn="just"/>
            <a:r>
              <a:rPr lang="en-US" sz="2000"/>
              <a:t>} </a:t>
            </a:r>
          </a:p>
          <a:p>
            <a:endParaRPr lang="en-US" sz="2000"/>
          </a:p>
          <a:p>
            <a:pPr marL="0" indent="0" algn="just">
              <a:buFont typeface="Arial" pitchFamily="34" charset="0"/>
              <a:buNone/>
            </a:pPr>
            <a:endParaRPr lang="en-US" sz="2000" dirty="0">
              <a:latin typeface="Open Sans"/>
            </a:endParaRPr>
          </a:p>
        </p:txBody>
      </p:sp>
    </p:spTree>
    <p:extLst>
      <p:ext uri="{BB962C8B-B14F-4D97-AF65-F5344CB8AC3E}">
        <p14:creationId xmlns:p14="http://schemas.microsoft.com/office/powerpoint/2010/main" val="365243381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E73A3019-CFE4-49DD-B6FD-2AFB2DD2DBB6}" type="datetime1">
              <a:rPr lang="en-US" smtClean="0"/>
              <a:t>11/7/2024</a:t>
            </a:fld>
            <a:endParaRPr lang="en-US"/>
          </a:p>
        </p:txBody>
      </p:sp>
      <p:sp>
        <p:nvSpPr>
          <p:cNvPr id="5" name="Footer Placeholder 4"/>
          <p:cNvSpPr>
            <a:spLocks noGrp="1"/>
          </p:cNvSpPr>
          <p:nvPr>
            <p:ph type="ftr" sz="quarter" idx="11"/>
          </p:nvPr>
        </p:nvSpPr>
        <p:spPr>
          <a:xfrm>
            <a:off x="4343400" y="6248401"/>
            <a:ext cx="4724400" cy="365125"/>
          </a:xfrm>
        </p:spPr>
        <p:txBody>
          <a:bodyPr/>
          <a:lstStyle/>
          <a:p>
            <a:r>
              <a:rPr lang="en-US" dirty="0"/>
              <a:t>Vaishali Mishra            ACSE0505 Web Technology                Unit 5</a:t>
            </a:r>
          </a:p>
        </p:txBody>
      </p:sp>
      <p:sp>
        <p:nvSpPr>
          <p:cNvPr id="6" name="Slide Number Placeholder 5"/>
          <p:cNvSpPr>
            <a:spLocks noGrp="1"/>
          </p:cNvSpPr>
          <p:nvPr>
            <p:ph type="sldNum" sz="quarter" idx="12"/>
          </p:nvPr>
        </p:nvSpPr>
        <p:spPr/>
        <p:txBody>
          <a:bodyPr/>
          <a:lstStyle/>
          <a:p>
            <a:fld id="{B6F15528-21DE-4FAA-801E-634DDDAF4B2B}" type="slidenum">
              <a:rPr lang="en-US" smtClean="0"/>
              <a:pPr/>
              <a:t>49</a:t>
            </a:fld>
            <a:endParaRPr lang="en-US"/>
          </a:p>
        </p:txBody>
      </p:sp>
      <p:sp>
        <p:nvSpPr>
          <p:cNvPr id="7" name="Title 1"/>
          <p:cNvSpPr txBox="1">
            <a:spLocks/>
          </p:cNvSpPr>
          <p:nvPr/>
        </p:nvSpPr>
        <p:spPr>
          <a:xfrm>
            <a:off x="2895600" y="2"/>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pPr>
              <a:defRPr/>
            </a:pPr>
            <a:endParaRPr lang="en-US" sz="2800" dirty="0"/>
          </a:p>
          <a:p>
            <a:pPr>
              <a:defRPr/>
            </a:pPr>
            <a:r>
              <a:rPr lang="en-US" sz="2800" dirty="0"/>
              <a:t>Control flow and Decision making statements (CO5)</a:t>
            </a:r>
            <a:endParaRPr lang="en-IN" sz="2800" dirty="0"/>
          </a:p>
          <a:p>
            <a:pPr algn="ctr">
              <a:defRPr/>
            </a:pPr>
            <a:endParaRPr lang="en-US" sz="2800" dirty="0">
              <a:latin typeface="Times New Roman" pitchFamily="18" charset="0"/>
              <a:cs typeface="Times New Roman" pitchFamily="18" charset="0"/>
              <a:sym typeface="Arial" charset="0"/>
            </a:endParaRPr>
          </a:p>
        </p:txBody>
      </p:sp>
      <p:pic>
        <p:nvPicPr>
          <p:cNvPr id="2" name="Picture 1" descr="A black and red logo&#10;&#10;Description automatically generated">
            <a:extLst>
              <a:ext uri="{FF2B5EF4-FFF2-40B4-BE49-F238E27FC236}">
                <a16:creationId xmlns:a16="http://schemas.microsoft.com/office/drawing/2014/main" id="{8BDB0671-FC93-5C9E-75A2-ED46EE3FB8B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8" name="Content Placeholder 1">
            <a:extLst>
              <a:ext uri="{FF2B5EF4-FFF2-40B4-BE49-F238E27FC236}">
                <a16:creationId xmlns:a16="http://schemas.microsoft.com/office/drawing/2014/main" id="{1FF5ADF0-474C-251F-0E40-267B658E504A}"/>
              </a:ext>
            </a:extLst>
          </p:cNvPr>
          <p:cNvSpPr txBox="1">
            <a:spLocks noGrp="1"/>
          </p:cNvSpPr>
          <p:nvPr>
            <p:ph idx="1"/>
          </p:nvPr>
        </p:nvSpPr>
        <p:spPr>
          <a:xfrm>
            <a:off x="609600" y="1219200"/>
            <a:ext cx="10515600" cy="4449763"/>
          </a:xfrm>
        </p:spPr>
        <p:txBody>
          <a:bodyPr/>
          <a:lstStyle/>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lgn="ctr">
              <a:spcBef>
                <a:spcPts val="363"/>
              </a:spcBef>
              <a:spcAft>
                <a:spcPct val="0"/>
              </a:spcAft>
              <a:buClr>
                <a:srgbClr val="000000"/>
              </a:buClr>
              <a:buFont typeface="Arial" panose="020B0604020202020204" pitchFamily="34" charset="0"/>
              <a:buNone/>
            </a:pPr>
            <a:r>
              <a:rPr lang="en-IN" sz="2000" b="1" dirty="0">
                <a:latin typeface="Arial" panose="020B0604020202020204" pitchFamily="34" charset="0"/>
                <a:cs typeface="Arial" panose="020B0604020202020204" pitchFamily="34" charset="0"/>
              </a:rPr>
              <a:t> </a:t>
            </a:r>
          </a:p>
        </p:txBody>
      </p:sp>
      <p:sp>
        <p:nvSpPr>
          <p:cNvPr id="9" name="Content Placeholder 2">
            <a:extLst>
              <a:ext uri="{FF2B5EF4-FFF2-40B4-BE49-F238E27FC236}">
                <a16:creationId xmlns:a16="http://schemas.microsoft.com/office/drawing/2014/main" id="{00A4B106-1391-CB3A-B515-2AB131B89A70}"/>
              </a:ext>
            </a:extLst>
          </p:cNvPr>
          <p:cNvSpPr txBox="1">
            <a:spLocks/>
          </p:cNvSpPr>
          <p:nvPr/>
        </p:nvSpPr>
        <p:spPr>
          <a:xfrm>
            <a:off x="152400" y="838200"/>
            <a:ext cx="10668000" cy="5287964"/>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Font typeface="Arial" pitchFamily="34" charset="0"/>
              <a:buNone/>
            </a:pPr>
            <a:r>
              <a:rPr lang="en-US" sz="2000" b="1"/>
              <a:t>2</a:t>
            </a:r>
            <a:r>
              <a:rPr lang="en-US" sz="2000"/>
              <a:t> </a:t>
            </a:r>
            <a:r>
              <a:rPr lang="en-US" sz="2000" b="1"/>
              <a:t>PHP if-else </a:t>
            </a:r>
            <a:r>
              <a:rPr lang="en-US" sz="2000"/>
              <a:t>statement is executed whether condition is true or false. If-else statement is slightly different from if statement. It executes one block of code if the specified condition is true and another block of code if the condition is false.</a:t>
            </a:r>
          </a:p>
          <a:p>
            <a:pPr algn="just"/>
            <a:r>
              <a:rPr lang="en-US" sz="2000"/>
              <a:t>Syntax</a:t>
            </a:r>
          </a:p>
          <a:p>
            <a:pPr lvl="1" algn="just"/>
            <a:r>
              <a:rPr lang="en-US" sz="2000" b="1"/>
              <a:t>if</a:t>
            </a:r>
            <a:r>
              <a:rPr lang="en-US" sz="2000"/>
              <a:t>(condition){  </a:t>
            </a:r>
          </a:p>
          <a:p>
            <a:pPr lvl="1" algn="just"/>
            <a:r>
              <a:rPr lang="en-US" sz="2000"/>
              <a:t>//code to be executed if true  </a:t>
            </a:r>
          </a:p>
          <a:p>
            <a:pPr lvl="1" algn="just"/>
            <a:r>
              <a:rPr lang="en-US" sz="2000"/>
              <a:t>}</a:t>
            </a:r>
            <a:r>
              <a:rPr lang="en-US" sz="2000" b="1"/>
              <a:t>else</a:t>
            </a:r>
            <a:r>
              <a:rPr lang="en-US" sz="2000"/>
              <a:t>{  </a:t>
            </a:r>
          </a:p>
          <a:p>
            <a:pPr lvl="1" algn="just"/>
            <a:r>
              <a:rPr lang="en-US" sz="2000"/>
              <a:t>//code to be executed if false  </a:t>
            </a:r>
          </a:p>
          <a:p>
            <a:pPr lvl="1" algn="just"/>
            <a:r>
              <a:rPr lang="en-US" sz="2000"/>
              <a:t>} </a:t>
            </a:r>
          </a:p>
          <a:p>
            <a:endParaRPr lang="en-US" sz="2000"/>
          </a:p>
          <a:p>
            <a:pPr marL="0" indent="0" algn="just">
              <a:buFont typeface="Arial" pitchFamily="34" charset="0"/>
              <a:buNone/>
            </a:pPr>
            <a:endParaRPr lang="en-US" sz="2000" dirty="0">
              <a:latin typeface="Open Sans"/>
            </a:endParaRPr>
          </a:p>
        </p:txBody>
      </p:sp>
    </p:spTree>
    <p:extLst>
      <p:ext uri="{BB962C8B-B14F-4D97-AF65-F5344CB8AC3E}">
        <p14:creationId xmlns:p14="http://schemas.microsoft.com/office/powerpoint/2010/main" val="354716036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E73A3019-CFE4-49DD-B6FD-2AFB2DD2DBB6}" type="datetime1">
              <a:rPr lang="en-US" smtClean="0"/>
              <a:t>11/7/2024</a:t>
            </a:fld>
            <a:endParaRPr lang="en-US"/>
          </a:p>
        </p:txBody>
      </p:sp>
      <p:sp>
        <p:nvSpPr>
          <p:cNvPr id="5" name="Footer Placeholder 4"/>
          <p:cNvSpPr>
            <a:spLocks noGrp="1"/>
          </p:cNvSpPr>
          <p:nvPr>
            <p:ph type="ftr" sz="quarter" idx="11"/>
          </p:nvPr>
        </p:nvSpPr>
        <p:spPr>
          <a:xfrm>
            <a:off x="4343400" y="6248401"/>
            <a:ext cx="4724400" cy="365125"/>
          </a:xfrm>
        </p:spPr>
        <p:txBody>
          <a:bodyPr/>
          <a:lstStyle/>
          <a:p>
            <a:r>
              <a:rPr lang="en-US" dirty="0"/>
              <a:t>Vaishali Mishra            ACSE0505 Web Technology                Unit 5</a:t>
            </a:r>
          </a:p>
        </p:txBody>
      </p:sp>
      <p:sp>
        <p:nvSpPr>
          <p:cNvPr id="6" name="Slide Number Placeholder 5"/>
          <p:cNvSpPr>
            <a:spLocks noGrp="1"/>
          </p:cNvSpPr>
          <p:nvPr>
            <p:ph type="sldNum" sz="quarter" idx="12"/>
          </p:nvPr>
        </p:nvSpPr>
        <p:spPr/>
        <p:txBody>
          <a:bodyPr/>
          <a:lstStyle/>
          <a:p>
            <a:fld id="{B6F15528-21DE-4FAA-801E-634DDDAF4B2B}" type="slidenum">
              <a:rPr lang="en-US" smtClean="0"/>
              <a:pPr/>
              <a:t>50</a:t>
            </a:fld>
            <a:endParaRPr lang="en-US"/>
          </a:p>
        </p:txBody>
      </p:sp>
      <p:sp>
        <p:nvSpPr>
          <p:cNvPr id="7" name="Title 1"/>
          <p:cNvSpPr txBox="1">
            <a:spLocks/>
          </p:cNvSpPr>
          <p:nvPr/>
        </p:nvSpPr>
        <p:spPr>
          <a:xfrm>
            <a:off x="2895600" y="2"/>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pPr>
              <a:defRPr/>
            </a:pPr>
            <a:endParaRPr lang="en-US" sz="2800" dirty="0"/>
          </a:p>
          <a:p>
            <a:pPr>
              <a:defRPr/>
            </a:pPr>
            <a:r>
              <a:rPr lang="en-US" sz="2800" dirty="0"/>
              <a:t>Control flow and Decision making statements (CO5)</a:t>
            </a:r>
            <a:endParaRPr lang="en-IN" sz="2800" dirty="0"/>
          </a:p>
          <a:p>
            <a:pPr algn="ctr">
              <a:defRPr/>
            </a:pPr>
            <a:endParaRPr lang="en-US" sz="2800" dirty="0">
              <a:latin typeface="Times New Roman" pitchFamily="18" charset="0"/>
              <a:cs typeface="Times New Roman" pitchFamily="18" charset="0"/>
              <a:sym typeface="Arial" charset="0"/>
            </a:endParaRPr>
          </a:p>
        </p:txBody>
      </p:sp>
      <p:pic>
        <p:nvPicPr>
          <p:cNvPr id="2" name="Picture 1" descr="A black and red logo&#10;&#10;Description automatically generated">
            <a:extLst>
              <a:ext uri="{FF2B5EF4-FFF2-40B4-BE49-F238E27FC236}">
                <a16:creationId xmlns:a16="http://schemas.microsoft.com/office/drawing/2014/main" id="{8BDB0671-FC93-5C9E-75A2-ED46EE3FB8B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8" name="Content Placeholder 1">
            <a:extLst>
              <a:ext uri="{FF2B5EF4-FFF2-40B4-BE49-F238E27FC236}">
                <a16:creationId xmlns:a16="http://schemas.microsoft.com/office/drawing/2014/main" id="{1FF5ADF0-474C-251F-0E40-267B658E504A}"/>
              </a:ext>
            </a:extLst>
          </p:cNvPr>
          <p:cNvSpPr txBox="1">
            <a:spLocks noGrp="1"/>
          </p:cNvSpPr>
          <p:nvPr>
            <p:ph idx="1"/>
          </p:nvPr>
        </p:nvSpPr>
        <p:spPr>
          <a:xfrm>
            <a:off x="609600" y="1219200"/>
            <a:ext cx="10515600" cy="4449763"/>
          </a:xfrm>
        </p:spPr>
        <p:txBody>
          <a:bodyPr/>
          <a:lstStyle/>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lgn="ctr">
              <a:spcBef>
                <a:spcPts val="363"/>
              </a:spcBef>
              <a:spcAft>
                <a:spcPct val="0"/>
              </a:spcAft>
              <a:buClr>
                <a:srgbClr val="000000"/>
              </a:buClr>
              <a:buFont typeface="Arial" panose="020B0604020202020204" pitchFamily="34" charset="0"/>
              <a:buNone/>
            </a:pPr>
            <a:r>
              <a:rPr lang="en-IN" sz="2000" b="1" dirty="0">
                <a:latin typeface="Arial" panose="020B0604020202020204" pitchFamily="34" charset="0"/>
                <a:cs typeface="Arial" panose="020B0604020202020204" pitchFamily="34" charset="0"/>
              </a:rPr>
              <a:t> </a:t>
            </a:r>
          </a:p>
        </p:txBody>
      </p:sp>
      <p:sp>
        <p:nvSpPr>
          <p:cNvPr id="3" name="Content Placeholder 2">
            <a:extLst>
              <a:ext uri="{FF2B5EF4-FFF2-40B4-BE49-F238E27FC236}">
                <a16:creationId xmlns:a16="http://schemas.microsoft.com/office/drawing/2014/main" id="{B32D6CD7-FFB8-580A-BE49-6196F8CF135B}"/>
              </a:ext>
            </a:extLst>
          </p:cNvPr>
          <p:cNvSpPr txBox="1">
            <a:spLocks/>
          </p:cNvSpPr>
          <p:nvPr/>
        </p:nvSpPr>
        <p:spPr>
          <a:xfrm>
            <a:off x="304800" y="1219200"/>
            <a:ext cx="10515600" cy="4906964"/>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Font typeface="Arial" pitchFamily="34" charset="0"/>
              <a:buNone/>
            </a:pPr>
            <a:r>
              <a:rPr lang="en-US" sz="2000" b="1"/>
              <a:t>3</a:t>
            </a:r>
            <a:r>
              <a:rPr lang="en-US" sz="2000"/>
              <a:t> </a:t>
            </a:r>
            <a:r>
              <a:rPr lang="en-US" sz="2000" b="1"/>
              <a:t>The PHP if-else-if </a:t>
            </a:r>
            <a:r>
              <a:rPr lang="en-US" sz="2000"/>
              <a:t>is a special statement used to combine multiple if-else statements. So, we can check multiple conditions using this statement.</a:t>
            </a:r>
          </a:p>
          <a:p>
            <a:pPr algn="just"/>
            <a:r>
              <a:rPr lang="en-US" sz="2000"/>
              <a:t>Syntax</a:t>
            </a:r>
          </a:p>
          <a:p>
            <a:pPr lvl="1" algn="just"/>
            <a:r>
              <a:rPr lang="en-US" sz="2000" b="1"/>
              <a:t>if</a:t>
            </a:r>
            <a:r>
              <a:rPr lang="en-US" sz="2000"/>
              <a:t> (condition1){    </a:t>
            </a:r>
          </a:p>
          <a:p>
            <a:pPr lvl="1" algn="just"/>
            <a:r>
              <a:rPr lang="en-US" sz="2000"/>
              <a:t>//code to be executed if condition1 is true    </a:t>
            </a:r>
          </a:p>
          <a:p>
            <a:pPr lvl="1" algn="just"/>
            <a:r>
              <a:rPr lang="en-US" sz="2000"/>
              <a:t>} </a:t>
            </a:r>
            <a:r>
              <a:rPr lang="en-US" sz="2000" b="1"/>
              <a:t>elseif</a:t>
            </a:r>
            <a:r>
              <a:rPr lang="en-US" sz="2000"/>
              <a:t> (condition2){      </a:t>
            </a:r>
          </a:p>
          <a:p>
            <a:pPr lvl="1" algn="just"/>
            <a:r>
              <a:rPr lang="en-US" sz="2000"/>
              <a:t>//code to be executed if condition2 is true    </a:t>
            </a:r>
          </a:p>
          <a:p>
            <a:pPr lvl="1" algn="just"/>
            <a:r>
              <a:rPr lang="en-US" sz="2000"/>
              <a:t>} </a:t>
            </a:r>
            <a:r>
              <a:rPr lang="en-US" sz="2000" b="1"/>
              <a:t>elseif</a:t>
            </a:r>
            <a:r>
              <a:rPr lang="en-US" sz="2000"/>
              <a:t> (condition3){      </a:t>
            </a:r>
          </a:p>
          <a:p>
            <a:pPr lvl="1" algn="just"/>
            <a:r>
              <a:rPr lang="en-US" sz="2000"/>
              <a:t>//code to be executed if condition3 is true    </a:t>
            </a:r>
          </a:p>
          <a:p>
            <a:pPr lvl="1" algn="just"/>
            <a:r>
              <a:rPr lang="en-US" sz="2000"/>
              <a:t>....  </a:t>
            </a:r>
          </a:p>
          <a:p>
            <a:pPr lvl="1" algn="just"/>
            <a:r>
              <a:rPr lang="en-US" sz="2000"/>
              <a:t>}  </a:t>
            </a:r>
            <a:r>
              <a:rPr lang="en-US" sz="2000" b="1"/>
              <a:t>else</a:t>
            </a:r>
            <a:r>
              <a:rPr lang="en-US" sz="2000"/>
              <a:t>{    </a:t>
            </a:r>
          </a:p>
          <a:p>
            <a:pPr lvl="1" algn="just"/>
            <a:r>
              <a:rPr lang="en-US" sz="2000"/>
              <a:t>//code to be executed if all given conditions are false    </a:t>
            </a:r>
          </a:p>
          <a:p>
            <a:pPr lvl="1" algn="just"/>
            <a:r>
              <a:rPr lang="en-US" sz="2000"/>
              <a:t>} </a:t>
            </a:r>
          </a:p>
          <a:p>
            <a:endParaRPr lang="en-US" sz="2000"/>
          </a:p>
          <a:p>
            <a:pPr marL="0" indent="0" algn="just">
              <a:buFont typeface="Arial" pitchFamily="34" charset="0"/>
              <a:buNone/>
            </a:pPr>
            <a:endParaRPr lang="en-US" sz="2000" dirty="0">
              <a:latin typeface="Open Sans"/>
            </a:endParaRPr>
          </a:p>
        </p:txBody>
      </p:sp>
    </p:spTree>
    <p:extLst>
      <p:ext uri="{BB962C8B-B14F-4D97-AF65-F5344CB8AC3E}">
        <p14:creationId xmlns:p14="http://schemas.microsoft.com/office/powerpoint/2010/main" val="402797354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E73A3019-CFE4-49DD-B6FD-2AFB2DD2DBB6}" type="datetime1">
              <a:rPr lang="en-US" smtClean="0"/>
              <a:t>11/7/2024</a:t>
            </a:fld>
            <a:endParaRPr lang="en-US"/>
          </a:p>
        </p:txBody>
      </p:sp>
      <p:sp>
        <p:nvSpPr>
          <p:cNvPr id="5" name="Footer Placeholder 4"/>
          <p:cNvSpPr>
            <a:spLocks noGrp="1"/>
          </p:cNvSpPr>
          <p:nvPr>
            <p:ph type="ftr" sz="quarter" idx="11"/>
          </p:nvPr>
        </p:nvSpPr>
        <p:spPr>
          <a:xfrm>
            <a:off x="4343400" y="6248401"/>
            <a:ext cx="4724400" cy="365125"/>
          </a:xfrm>
        </p:spPr>
        <p:txBody>
          <a:bodyPr/>
          <a:lstStyle/>
          <a:p>
            <a:r>
              <a:rPr lang="en-US" dirty="0"/>
              <a:t>Vaishali Mishra            ACSE0505 Web Technology                Unit 5</a:t>
            </a:r>
          </a:p>
        </p:txBody>
      </p:sp>
      <p:sp>
        <p:nvSpPr>
          <p:cNvPr id="6" name="Slide Number Placeholder 5"/>
          <p:cNvSpPr>
            <a:spLocks noGrp="1"/>
          </p:cNvSpPr>
          <p:nvPr>
            <p:ph type="sldNum" sz="quarter" idx="12"/>
          </p:nvPr>
        </p:nvSpPr>
        <p:spPr/>
        <p:txBody>
          <a:bodyPr/>
          <a:lstStyle/>
          <a:p>
            <a:fld id="{B6F15528-21DE-4FAA-801E-634DDDAF4B2B}" type="slidenum">
              <a:rPr lang="en-US" smtClean="0"/>
              <a:pPr/>
              <a:t>51</a:t>
            </a:fld>
            <a:endParaRPr lang="en-US"/>
          </a:p>
        </p:txBody>
      </p:sp>
      <p:sp>
        <p:nvSpPr>
          <p:cNvPr id="7" name="Title 1"/>
          <p:cNvSpPr txBox="1">
            <a:spLocks/>
          </p:cNvSpPr>
          <p:nvPr/>
        </p:nvSpPr>
        <p:spPr>
          <a:xfrm>
            <a:off x="2895600" y="2"/>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pPr>
              <a:defRPr/>
            </a:pPr>
            <a:endParaRPr lang="en-US" sz="2800" dirty="0"/>
          </a:p>
          <a:p>
            <a:pPr>
              <a:defRPr/>
            </a:pPr>
            <a:r>
              <a:rPr lang="en-US" sz="2800" dirty="0"/>
              <a:t>Control flow and Decision making statements (CO5)</a:t>
            </a:r>
            <a:endParaRPr lang="en-IN" sz="2800" dirty="0"/>
          </a:p>
          <a:p>
            <a:pPr algn="ctr">
              <a:defRPr/>
            </a:pPr>
            <a:endParaRPr lang="en-US" sz="2800" dirty="0">
              <a:latin typeface="Times New Roman" pitchFamily="18" charset="0"/>
              <a:cs typeface="Times New Roman" pitchFamily="18" charset="0"/>
              <a:sym typeface="Arial" charset="0"/>
            </a:endParaRPr>
          </a:p>
        </p:txBody>
      </p:sp>
      <p:pic>
        <p:nvPicPr>
          <p:cNvPr id="2" name="Picture 1" descr="A black and red logo&#10;&#10;Description automatically generated">
            <a:extLst>
              <a:ext uri="{FF2B5EF4-FFF2-40B4-BE49-F238E27FC236}">
                <a16:creationId xmlns:a16="http://schemas.microsoft.com/office/drawing/2014/main" id="{8BDB0671-FC93-5C9E-75A2-ED46EE3FB8B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8" name="Content Placeholder 1">
            <a:extLst>
              <a:ext uri="{FF2B5EF4-FFF2-40B4-BE49-F238E27FC236}">
                <a16:creationId xmlns:a16="http://schemas.microsoft.com/office/drawing/2014/main" id="{1FF5ADF0-474C-251F-0E40-267B658E504A}"/>
              </a:ext>
            </a:extLst>
          </p:cNvPr>
          <p:cNvSpPr txBox="1">
            <a:spLocks noGrp="1"/>
          </p:cNvSpPr>
          <p:nvPr>
            <p:ph idx="1"/>
          </p:nvPr>
        </p:nvSpPr>
        <p:spPr>
          <a:xfrm>
            <a:off x="609600" y="1219200"/>
            <a:ext cx="10515600" cy="4449763"/>
          </a:xfrm>
        </p:spPr>
        <p:txBody>
          <a:bodyPr/>
          <a:lstStyle/>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lgn="ctr">
              <a:spcBef>
                <a:spcPts val="363"/>
              </a:spcBef>
              <a:spcAft>
                <a:spcPct val="0"/>
              </a:spcAft>
              <a:buClr>
                <a:srgbClr val="000000"/>
              </a:buClr>
              <a:buFont typeface="Arial" panose="020B0604020202020204" pitchFamily="34" charset="0"/>
              <a:buNone/>
            </a:pPr>
            <a:r>
              <a:rPr lang="en-IN" sz="2000" b="1" dirty="0">
                <a:latin typeface="Arial" panose="020B0604020202020204" pitchFamily="34" charset="0"/>
                <a:cs typeface="Arial" panose="020B0604020202020204" pitchFamily="34" charset="0"/>
              </a:rPr>
              <a:t> </a:t>
            </a:r>
          </a:p>
        </p:txBody>
      </p:sp>
      <p:sp>
        <p:nvSpPr>
          <p:cNvPr id="9" name="Content Placeholder 2">
            <a:extLst>
              <a:ext uri="{FF2B5EF4-FFF2-40B4-BE49-F238E27FC236}">
                <a16:creationId xmlns:a16="http://schemas.microsoft.com/office/drawing/2014/main" id="{3D1C9EFB-5038-9680-EE4F-AF986EDC0CC7}"/>
              </a:ext>
            </a:extLst>
          </p:cNvPr>
          <p:cNvSpPr txBox="1">
            <a:spLocks/>
          </p:cNvSpPr>
          <p:nvPr/>
        </p:nvSpPr>
        <p:spPr>
          <a:xfrm>
            <a:off x="152400" y="838200"/>
            <a:ext cx="10515600" cy="5287964"/>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Arial" pitchFamily="34" charset="0"/>
              <a:buNone/>
            </a:pPr>
            <a:r>
              <a:rPr lang="en-US" sz="2000" b="1"/>
              <a:t>4</a:t>
            </a:r>
            <a:r>
              <a:rPr lang="en-US" sz="2000"/>
              <a:t> </a:t>
            </a:r>
            <a:r>
              <a:rPr lang="en-US" sz="2000" b="1"/>
              <a:t>PHP switch </a:t>
            </a:r>
            <a:r>
              <a:rPr lang="en-US" sz="2000"/>
              <a:t>statement is used to execute one statement from multiple conditions. It works like PHP if-else-if statement.</a:t>
            </a:r>
          </a:p>
          <a:p>
            <a:r>
              <a:rPr lang="en-US" sz="2000"/>
              <a:t>Syntax</a:t>
            </a:r>
          </a:p>
          <a:p>
            <a:pPr lvl="1"/>
            <a:r>
              <a:rPr lang="en-US" sz="2000" b="1"/>
              <a:t>switch</a:t>
            </a:r>
            <a:r>
              <a:rPr lang="en-US" sz="2000"/>
              <a:t>(expression){      </a:t>
            </a:r>
          </a:p>
          <a:p>
            <a:pPr lvl="1"/>
            <a:r>
              <a:rPr lang="en-US" sz="2000" b="1"/>
              <a:t>case</a:t>
            </a:r>
            <a:r>
              <a:rPr lang="en-US" sz="2000"/>
              <a:t> value1:      </a:t>
            </a:r>
          </a:p>
          <a:p>
            <a:pPr lvl="1"/>
            <a:r>
              <a:rPr lang="en-US" sz="2000"/>
              <a:t> //code to be executed  </a:t>
            </a:r>
          </a:p>
          <a:p>
            <a:pPr lvl="1"/>
            <a:r>
              <a:rPr lang="en-US" sz="2000"/>
              <a:t> </a:t>
            </a:r>
            <a:r>
              <a:rPr lang="en-US" sz="2000" b="1"/>
              <a:t>break</a:t>
            </a:r>
            <a:r>
              <a:rPr lang="en-US" sz="2000"/>
              <a:t>;  </a:t>
            </a:r>
          </a:p>
          <a:p>
            <a:pPr lvl="1"/>
            <a:r>
              <a:rPr lang="en-US" sz="2000" b="1"/>
              <a:t>case</a:t>
            </a:r>
            <a:r>
              <a:rPr lang="en-US" sz="2000"/>
              <a:t> value2:      </a:t>
            </a:r>
          </a:p>
          <a:p>
            <a:pPr lvl="1"/>
            <a:r>
              <a:rPr lang="en-US" sz="2000"/>
              <a:t> //code to be executed  </a:t>
            </a:r>
          </a:p>
          <a:p>
            <a:pPr lvl="1"/>
            <a:r>
              <a:rPr lang="en-US" sz="2000"/>
              <a:t> </a:t>
            </a:r>
            <a:r>
              <a:rPr lang="en-US" sz="2000" b="1"/>
              <a:t>break</a:t>
            </a:r>
            <a:r>
              <a:rPr lang="en-US" sz="2000"/>
              <a:t>;  </a:t>
            </a:r>
          </a:p>
          <a:p>
            <a:pPr lvl="1"/>
            <a:r>
              <a:rPr lang="en-US" sz="2000"/>
              <a:t>......      </a:t>
            </a:r>
          </a:p>
          <a:p>
            <a:pPr lvl="1"/>
            <a:r>
              <a:rPr lang="en-US" sz="2000" b="1"/>
              <a:t>default</a:t>
            </a:r>
            <a:r>
              <a:rPr lang="en-US" sz="2000"/>
              <a:t>:       </a:t>
            </a:r>
          </a:p>
          <a:p>
            <a:pPr lvl="1"/>
            <a:r>
              <a:rPr lang="en-US" sz="2000"/>
              <a:t> code to be executed </a:t>
            </a:r>
            <a:r>
              <a:rPr lang="en-US" sz="2000" b="1"/>
              <a:t>if</a:t>
            </a:r>
            <a:r>
              <a:rPr lang="en-US" sz="2000"/>
              <a:t> all cases are not matched;    </a:t>
            </a:r>
          </a:p>
          <a:p>
            <a:pPr lvl="1"/>
            <a:r>
              <a:rPr lang="en-US" sz="2000"/>
              <a:t>}  </a:t>
            </a:r>
          </a:p>
          <a:p>
            <a:endParaRPr lang="en-US" sz="2000"/>
          </a:p>
          <a:p>
            <a:pPr marL="0" indent="0" algn="just">
              <a:buFont typeface="Arial" pitchFamily="34" charset="0"/>
              <a:buNone/>
            </a:pPr>
            <a:endParaRPr lang="en-US" sz="2000" dirty="0">
              <a:latin typeface="Open Sans"/>
            </a:endParaRPr>
          </a:p>
        </p:txBody>
      </p:sp>
    </p:spTree>
    <p:extLst>
      <p:ext uri="{BB962C8B-B14F-4D97-AF65-F5344CB8AC3E}">
        <p14:creationId xmlns:p14="http://schemas.microsoft.com/office/powerpoint/2010/main" val="274515151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E73A3019-CFE4-49DD-B6FD-2AFB2DD2DBB6}" type="datetime1">
              <a:rPr lang="en-US" smtClean="0"/>
              <a:t>11/7/2024</a:t>
            </a:fld>
            <a:endParaRPr lang="en-US"/>
          </a:p>
        </p:txBody>
      </p:sp>
      <p:sp>
        <p:nvSpPr>
          <p:cNvPr id="5" name="Footer Placeholder 4"/>
          <p:cNvSpPr>
            <a:spLocks noGrp="1"/>
          </p:cNvSpPr>
          <p:nvPr>
            <p:ph type="ftr" sz="quarter" idx="11"/>
          </p:nvPr>
        </p:nvSpPr>
        <p:spPr>
          <a:xfrm>
            <a:off x="4343400" y="6248401"/>
            <a:ext cx="4724400" cy="365125"/>
          </a:xfrm>
        </p:spPr>
        <p:txBody>
          <a:bodyPr/>
          <a:lstStyle/>
          <a:p>
            <a:r>
              <a:rPr lang="en-US" dirty="0"/>
              <a:t>Vaishali Mishra            ACSE0505 Web Technology                Unit 5</a:t>
            </a:r>
          </a:p>
        </p:txBody>
      </p:sp>
      <p:sp>
        <p:nvSpPr>
          <p:cNvPr id="6" name="Slide Number Placeholder 5"/>
          <p:cNvSpPr>
            <a:spLocks noGrp="1"/>
          </p:cNvSpPr>
          <p:nvPr>
            <p:ph type="sldNum" sz="quarter" idx="12"/>
          </p:nvPr>
        </p:nvSpPr>
        <p:spPr/>
        <p:txBody>
          <a:bodyPr/>
          <a:lstStyle/>
          <a:p>
            <a:fld id="{B6F15528-21DE-4FAA-801E-634DDDAF4B2B}" type="slidenum">
              <a:rPr lang="en-US" smtClean="0"/>
              <a:pPr/>
              <a:t>52</a:t>
            </a:fld>
            <a:endParaRPr lang="en-US"/>
          </a:p>
        </p:txBody>
      </p:sp>
      <p:sp>
        <p:nvSpPr>
          <p:cNvPr id="7" name="Title 1"/>
          <p:cNvSpPr txBox="1">
            <a:spLocks/>
          </p:cNvSpPr>
          <p:nvPr/>
        </p:nvSpPr>
        <p:spPr>
          <a:xfrm>
            <a:off x="2895600" y="2"/>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pPr>
              <a:defRPr/>
            </a:pPr>
            <a:endParaRPr lang="en-US" sz="2800" dirty="0"/>
          </a:p>
          <a:p>
            <a:pPr>
              <a:defRPr/>
            </a:pPr>
            <a:endParaRPr lang="en-US" dirty="0"/>
          </a:p>
          <a:p>
            <a:pPr>
              <a:defRPr/>
            </a:pPr>
            <a:r>
              <a:rPr lang="en-US" sz="2800" dirty="0"/>
              <a:t>Control flow and Decision making statements (CO5)</a:t>
            </a:r>
            <a:endParaRPr lang="en-IN" sz="2800" dirty="0"/>
          </a:p>
          <a:p>
            <a:pPr>
              <a:defRPr/>
            </a:pPr>
            <a:endParaRPr lang="en-US" sz="2800" dirty="0"/>
          </a:p>
          <a:p>
            <a:pPr algn="ctr">
              <a:defRPr/>
            </a:pPr>
            <a:endParaRPr lang="en-US" sz="2800" dirty="0">
              <a:latin typeface="Times New Roman" pitchFamily="18" charset="0"/>
              <a:cs typeface="Times New Roman" pitchFamily="18" charset="0"/>
              <a:sym typeface="Arial" charset="0"/>
            </a:endParaRPr>
          </a:p>
        </p:txBody>
      </p:sp>
      <p:pic>
        <p:nvPicPr>
          <p:cNvPr id="2" name="Picture 1" descr="A black and red logo&#10;&#10;Description automatically generated">
            <a:extLst>
              <a:ext uri="{FF2B5EF4-FFF2-40B4-BE49-F238E27FC236}">
                <a16:creationId xmlns:a16="http://schemas.microsoft.com/office/drawing/2014/main" id="{8BDB0671-FC93-5C9E-75A2-ED46EE3FB8B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8" name="Content Placeholder 1">
            <a:extLst>
              <a:ext uri="{FF2B5EF4-FFF2-40B4-BE49-F238E27FC236}">
                <a16:creationId xmlns:a16="http://schemas.microsoft.com/office/drawing/2014/main" id="{1FF5ADF0-474C-251F-0E40-267B658E504A}"/>
              </a:ext>
            </a:extLst>
          </p:cNvPr>
          <p:cNvSpPr txBox="1">
            <a:spLocks noGrp="1"/>
          </p:cNvSpPr>
          <p:nvPr>
            <p:ph idx="1"/>
          </p:nvPr>
        </p:nvSpPr>
        <p:spPr>
          <a:xfrm>
            <a:off x="609600" y="1219200"/>
            <a:ext cx="10515600" cy="4449763"/>
          </a:xfrm>
        </p:spPr>
        <p:txBody>
          <a:bodyPr/>
          <a:lstStyle/>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lgn="ctr">
              <a:spcBef>
                <a:spcPts val="363"/>
              </a:spcBef>
              <a:spcAft>
                <a:spcPct val="0"/>
              </a:spcAft>
              <a:buClr>
                <a:srgbClr val="000000"/>
              </a:buClr>
              <a:buFont typeface="Arial" panose="020B0604020202020204" pitchFamily="34" charset="0"/>
              <a:buNone/>
            </a:pPr>
            <a:r>
              <a:rPr lang="en-IN" sz="2000" b="1" dirty="0">
                <a:latin typeface="Arial" panose="020B0604020202020204" pitchFamily="34" charset="0"/>
                <a:cs typeface="Arial" panose="020B0604020202020204" pitchFamily="34" charset="0"/>
              </a:rPr>
              <a:t> </a:t>
            </a:r>
          </a:p>
        </p:txBody>
      </p:sp>
      <p:sp>
        <p:nvSpPr>
          <p:cNvPr id="3" name="Content Placeholder 2">
            <a:extLst>
              <a:ext uri="{FF2B5EF4-FFF2-40B4-BE49-F238E27FC236}">
                <a16:creationId xmlns:a16="http://schemas.microsoft.com/office/drawing/2014/main" id="{062C7066-BED9-E2AA-573E-BDD7EFFCD716}"/>
              </a:ext>
            </a:extLst>
          </p:cNvPr>
          <p:cNvSpPr txBox="1">
            <a:spLocks/>
          </p:cNvSpPr>
          <p:nvPr/>
        </p:nvSpPr>
        <p:spPr>
          <a:xfrm>
            <a:off x="152400" y="1219200"/>
            <a:ext cx="10972800" cy="4906964"/>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Font typeface="Arial" pitchFamily="34" charset="0"/>
              <a:buNone/>
            </a:pPr>
            <a:r>
              <a:rPr lang="en-US" sz="2000" b="1"/>
              <a:t>5 PHP for loop </a:t>
            </a:r>
            <a:r>
              <a:rPr lang="en-US" sz="2000"/>
              <a:t>can be used to traverse set of code for the specified number of times. It should be used if the number of iterations is known otherwise use while loop. This means for loop is used when you already know how many times you want to execute a block of code. It allows users to put all the loop related statements in one place. </a:t>
            </a:r>
          </a:p>
          <a:p>
            <a:pPr algn="just"/>
            <a:r>
              <a:rPr lang="en-US" sz="2000"/>
              <a:t>Syntax</a:t>
            </a:r>
          </a:p>
          <a:p>
            <a:pPr lvl="1" algn="just"/>
            <a:r>
              <a:rPr lang="en-US" sz="1800" b="1"/>
              <a:t>for</a:t>
            </a:r>
            <a:r>
              <a:rPr lang="en-US" sz="1800"/>
              <a:t>(initialization; condition; increment/decrement){  </a:t>
            </a:r>
          </a:p>
          <a:p>
            <a:pPr lvl="1" algn="just"/>
            <a:r>
              <a:rPr lang="en-US" sz="1800"/>
              <a:t>//code to be executed  </a:t>
            </a:r>
          </a:p>
          <a:p>
            <a:pPr lvl="1" algn="just"/>
            <a:r>
              <a:rPr lang="en-US" sz="1800"/>
              <a:t>}  </a:t>
            </a:r>
          </a:p>
          <a:p>
            <a:pPr marL="0" indent="0">
              <a:buFont typeface="Arial" pitchFamily="34" charset="0"/>
              <a:buNone/>
            </a:pPr>
            <a:endParaRPr lang="en-US" sz="2000"/>
          </a:p>
          <a:p>
            <a:pPr marL="0" indent="0" algn="just">
              <a:buFont typeface="Arial" pitchFamily="34" charset="0"/>
              <a:buNone/>
            </a:pPr>
            <a:endParaRPr lang="en-US" sz="2000" dirty="0">
              <a:latin typeface="Open Sans"/>
            </a:endParaRPr>
          </a:p>
        </p:txBody>
      </p:sp>
    </p:spTree>
    <p:extLst>
      <p:ext uri="{BB962C8B-B14F-4D97-AF65-F5344CB8AC3E}">
        <p14:creationId xmlns:p14="http://schemas.microsoft.com/office/powerpoint/2010/main" val="370459211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E73A3019-CFE4-49DD-B6FD-2AFB2DD2DBB6}" type="datetime1">
              <a:rPr lang="en-US" smtClean="0"/>
              <a:t>11/7/2024</a:t>
            </a:fld>
            <a:endParaRPr lang="en-US"/>
          </a:p>
        </p:txBody>
      </p:sp>
      <p:sp>
        <p:nvSpPr>
          <p:cNvPr id="5" name="Footer Placeholder 4"/>
          <p:cNvSpPr>
            <a:spLocks noGrp="1"/>
          </p:cNvSpPr>
          <p:nvPr>
            <p:ph type="ftr" sz="quarter" idx="11"/>
          </p:nvPr>
        </p:nvSpPr>
        <p:spPr>
          <a:xfrm>
            <a:off x="4343400" y="6248401"/>
            <a:ext cx="4724400" cy="365125"/>
          </a:xfrm>
        </p:spPr>
        <p:txBody>
          <a:bodyPr/>
          <a:lstStyle/>
          <a:p>
            <a:r>
              <a:rPr lang="en-US" dirty="0"/>
              <a:t>Vaishali Mishra            ACSE0505 Web Technology                Unit 5</a:t>
            </a:r>
          </a:p>
        </p:txBody>
      </p:sp>
      <p:sp>
        <p:nvSpPr>
          <p:cNvPr id="6" name="Slide Number Placeholder 5"/>
          <p:cNvSpPr>
            <a:spLocks noGrp="1"/>
          </p:cNvSpPr>
          <p:nvPr>
            <p:ph type="sldNum" sz="quarter" idx="12"/>
          </p:nvPr>
        </p:nvSpPr>
        <p:spPr/>
        <p:txBody>
          <a:bodyPr/>
          <a:lstStyle/>
          <a:p>
            <a:fld id="{B6F15528-21DE-4FAA-801E-634DDDAF4B2B}" type="slidenum">
              <a:rPr lang="en-US" smtClean="0"/>
              <a:pPr/>
              <a:t>53</a:t>
            </a:fld>
            <a:endParaRPr lang="en-US"/>
          </a:p>
        </p:txBody>
      </p:sp>
      <p:sp>
        <p:nvSpPr>
          <p:cNvPr id="7" name="Title 1"/>
          <p:cNvSpPr txBox="1">
            <a:spLocks/>
          </p:cNvSpPr>
          <p:nvPr/>
        </p:nvSpPr>
        <p:spPr>
          <a:xfrm>
            <a:off x="2895600" y="2"/>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pPr>
              <a:defRPr/>
            </a:pPr>
            <a:endParaRPr lang="en-US" sz="2800" dirty="0"/>
          </a:p>
          <a:p>
            <a:pPr>
              <a:defRPr/>
            </a:pPr>
            <a:endParaRPr lang="en-US" dirty="0"/>
          </a:p>
          <a:p>
            <a:pPr>
              <a:defRPr/>
            </a:pPr>
            <a:r>
              <a:rPr lang="en-US" sz="2800" dirty="0"/>
              <a:t>Control flow and Decision making statements (CO5)</a:t>
            </a:r>
            <a:endParaRPr lang="en-IN" sz="2800" dirty="0"/>
          </a:p>
          <a:p>
            <a:pPr>
              <a:defRPr/>
            </a:pPr>
            <a:endParaRPr lang="en-US" sz="2800" dirty="0"/>
          </a:p>
          <a:p>
            <a:pPr algn="ctr">
              <a:defRPr/>
            </a:pPr>
            <a:endParaRPr lang="en-US" sz="2800" dirty="0">
              <a:latin typeface="Times New Roman" pitchFamily="18" charset="0"/>
              <a:cs typeface="Times New Roman" pitchFamily="18" charset="0"/>
              <a:sym typeface="Arial" charset="0"/>
            </a:endParaRPr>
          </a:p>
        </p:txBody>
      </p:sp>
      <p:pic>
        <p:nvPicPr>
          <p:cNvPr id="2" name="Picture 1" descr="A black and red logo&#10;&#10;Description automatically generated">
            <a:extLst>
              <a:ext uri="{FF2B5EF4-FFF2-40B4-BE49-F238E27FC236}">
                <a16:creationId xmlns:a16="http://schemas.microsoft.com/office/drawing/2014/main" id="{8BDB0671-FC93-5C9E-75A2-ED46EE3FB8B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8" name="Content Placeholder 1">
            <a:extLst>
              <a:ext uri="{FF2B5EF4-FFF2-40B4-BE49-F238E27FC236}">
                <a16:creationId xmlns:a16="http://schemas.microsoft.com/office/drawing/2014/main" id="{1FF5ADF0-474C-251F-0E40-267B658E504A}"/>
              </a:ext>
            </a:extLst>
          </p:cNvPr>
          <p:cNvSpPr txBox="1">
            <a:spLocks noGrp="1"/>
          </p:cNvSpPr>
          <p:nvPr>
            <p:ph idx="1"/>
          </p:nvPr>
        </p:nvSpPr>
        <p:spPr>
          <a:xfrm>
            <a:off x="609600" y="1219200"/>
            <a:ext cx="10515600" cy="4449763"/>
          </a:xfrm>
        </p:spPr>
        <p:txBody>
          <a:bodyPr/>
          <a:lstStyle/>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lgn="ctr">
              <a:spcBef>
                <a:spcPts val="363"/>
              </a:spcBef>
              <a:spcAft>
                <a:spcPct val="0"/>
              </a:spcAft>
              <a:buClr>
                <a:srgbClr val="000000"/>
              </a:buClr>
              <a:buFont typeface="Arial" panose="020B0604020202020204" pitchFamily="34" charset="0"/>
              <a:buNone/>
            </a:pPr>
            <a:r>
              <a:rPr lang="en-IN" sz="2000" b="1" dirty="0">
                <a:latin typeface="Arial" panose="020B0604020202020204" pitchFamily="34" charset="0"/>
                <a:cs typeface="Arial" panose="020B0604020202020204" pitchFamily="34" charset="0"/>
              </a:rPr>
              <a:t> </a:t>
            </a:r>
          </a:p>
        </p:txBody>
      </p:sp>
      <p:sp>
        <p:nvSpPr>
          <p:cNvPr id="3" name="Content Placeholder 2">
            <a:extLst>
              <a:ext uri="{FF2B5EF4-FFF2-40B4-BE49-F238E27FC236}">
                <a16:creationId xmlns:a16="http://schemas.microsoft.com/office/drawing/2014/main" id="{A033EBB9-D9A3-0521-EAC5-F11AD81760BC}"/>
              </a:ext>
            </a:extLst>
          </p:cNvPr>
          <p:cNvSpPr txBox="1">
            <a:spLocks/>
          </p:cNvSpPr>
          <p:nvPr/>
        </p:nvSpPr>
        <p:spPr>
          <a:xfrm>
            <a:off x="152400" y="838200"/>
            <a:ext cx="10515600" cy="5287964"/>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Font typeface="Arial" pitchFamily="34" charset="0"/>
              <a:buNone/>
            </a:pPr>
            <a:r>
              <a:rPr lang="en-US" sz="2000" b="1"/>
              <a:t>6 PHP while loop </a:t>
            </a:r>
            <a:r>
              <a:rPr lang="en-US" sz="2000"/>
              <a:t>can be used to traverse set of code like for loop. The while loop executes a block of code repeatedly until the condition is FALSE. Once the condition gets FALSE, it exits from the body of loop. It should be used if the number of iterations is not known.</a:t>
            </a:r>
          </a:p>
          <a:p>
            <a:pPr algn="just"/>
            <a:r>
              <a:rPr lang="en-US" sz="2000"/>
              <a:t>Syntax</a:t>
            </a:r>
          </a:p>
          <a:p>
            <a:pPr lvl="1" algn="just"/>
            <a:r>
              <a:rPr lang="en-US" sz="2000" b="1"/>
              <a:t>while</a:t>
            </a:r>
            <a:r>
              <a:rPr lang="en-US" sz="2000"/>
              <a:t>(condition){  </a:t>
            </a:r>
          </a:p>
          <a:p>
            <a:pPr lvl="1" algn="just"/>
            <a:r>
              <a:rPr lang="en-US" sz="2000"/>
              <a:t>//code to be executed  </a:t>
            </a:r>
          </a:p>
          <a:p>
            <a:pPr lvl="1" algn="just"/>
            <a:r>
              <a:rPr lang="en-US" sz="2000"/>
              <a:t>}  </a:t>
            </a:r>
          </a:p>
          <a:p>
            <a:pPr marL="0" indent="0">
              <a:buFont typeface="Arial" pitchFamily="34" charset="0"/>
              <a:buNone/>
            </a:pPr>
            <a:endParaRPr lang="en-US" sz="2000"/>
          </a:p>
          <a:p>
            <a:pPr marL="0" indent="0" algn="just">
              <a:buFont typeface="Arial" pitchFamily="34" charset="0"/>
              <a:buNone/>
            </a:pPr>
            <a:endParaRPr lang="en-US" sz="2000" dirty="0">
              <a:latin typeface="Open Sans"/>
            </a:endParaRPr>
          </a:p>
        </p:txBody>
      </p:sp>
    </p:spTree>
    <p:extLst>
      <p:ext uri="{BB962C8B-B14F-4D97-AF65-F5344CB8AC3E}">
        <p14:creationId xmlns:p14="http://schemas.microsoft.com/office/powerpoint/2010/main" val="363959790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E73A3019-CFE4-49DD-B6FD-2AFB2DD2DBB6}" type="datetime1">
              <a:rPr lang="en-US" smtClean="0"/>
              <a:t>11/7/2024</a:t>
            </a:fld>
            <a:endParaRPr lang="en-US"/>
          </a:p>
        </p:txBody>
      </p:sp>
      <p:sp>
        <p:nvSpPr>
          <p:cNvPr id="5" name="Footer Placeholder 4"/>
          <p:cNvSpPr>
            <a:spLocks noGrp="1"/>
          </p:cNvSpPr>
          <p:nvPr>
            <p:ph type="ftr" sz="quarter" idx="11"/>
          </p:nvPr>
        </p:nvSpPr>
        <p:spPr>
          <a:xfrm>
            <a:off x="4343400" y="6248401"/>
            <a:ext cx="4724400" cy="365125"/>
          </a:xfrm>
        </p:spPr>
        <p:txBody>
          <a:bodyPr/>
          <a:lstStyle/>
          <a:p>
            <a:r>
              <a:rPr lang="en-US" dirty="0"/>
              <a:t>Vaishali Mishra            ACSE0505 Web Technology                Unit 5</a:t>
            </a:r>
          </a:p>
        </p:txBody>
      </p:sp>
      <p:sp>
        <p:nvSpPr>
          <p:cNvPr id="6" name="Slide Number Placeholder 5"/>
          <p:cNvSpPr>
            <a:spLocks noGrp="1"/>
          </p:cNvSpPr>
          <p:nvPr>
            <p:ph type="sldNum" sz="quarter" idx="12"/>
          </p:nvPr>
        </p:nvSpPr>
        <p:spPr/>
        <p:txBody>
          <a:bodyPr/>
          <a:lstStyle/>
          <a:p>
            <a:fld id="{B6F15528-21DE-4FAA-801E-634DDDAF4B2B}" type="slidenum">
              <a:rPr lang="en-US" smtClean="0"/>
              <a:pPr/>
              <a:t>54</a:t>
            </a:fld>
            <a:endParaRPr lang="en-US"/>
          </a:p>
        </p:txBody>
      </p:sp>
      <p:sp>
        <p:nvSpPr>
          <p:cNvPr id="7" name="Title 1"/>
          <p:cNvSpPr txBox="1">
            <a:spLocks/>
          </p:cNvSpPr>
          <p:nvPr/>
        </p:nvSpPr>
        <p:spPr>
          <a:xfrm>
            <a:off x="2895600" y="2"/>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pPr>
              <a:defRPr/>
            </a:pPr>
            <a:endParaRPr lang="en-US" sz="2800" dirty="0"/>
          </a:p>
          <a:p>
            <a:pPr>
              <a:defRPr/>
            </a:pPr>
            <a:endParaRPr lang="en-US" dirty="0"/>
          </a:p>
          <a:p>
            <a:pPr>
              <a:defRPr/>
            </a:pPr>
            <a:r>
              <a:rPr lang="en-US" sz="2800" dirty="0"/>
              <a:t>Control flow and Decision making statements (CO5)</a:t>
            </a:r>
            <a:endParaRPr lang="en-IN" sz="2800" dirty="0"/>
          </a:p>
          <a:p>
            <a:pPr>
              <a:defRPr/>
            </a:pPr>
            <a:endParaRPr lang="en-US" sz="2800" dirty="0"/>
          </a:p>
          <a:p>
            <a:pPr algn="ctr">
              <a:defRPr/>
            </a:pPr>
            <a:endParaRPr lang="en-US" sz="2800" dirty="0">
              <a:latin typeface="Times New Roman" pitchFamily="18" charset="0"/>
              <a:cs typeface="Times New Roman" pitchFamily="18" charset="0"/>
              <a:sym typeface="Arial" charset="0"/>
            </a:endParaRPr>
          </a:p>
        </p:txBody>
      </p:sp>
      <p:pic>
        <p:nvPicPr>
          <p:cNvPr id="2" name="Picture 1" descr="A black and red logo&#10;&#10;Description automatically generated">
            <a:extLst>
              <a:ext uri="{FF2B5EF4-FFF2-40B4-BE49-F238E27FC236}">
                <a16:creationId xmlns:a16="http://schemas.microsoft.com/office/drawing/2014/main" id="{8BDB0671-FC93-5C9E-75A2-ED46EE3FB8B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8" name="Content Placeholder 1">
            <a:extLst>
              <a:ext uri="{FF2B5EF4-FFF2-40B4-BE49-F238E27FC236}">
                <a16:creationId xmlns:a16="http://schemas.microsoft.com/office/drawing/2014/main" id="{1FF5ADF0-474C-251F-0E40-267B658E504A}"/>
              </a:ext>
            </a:extLst>
          </p:cNvPr>
          <p:cNvSpPr txBox="1">
            <a:spLocks noGrp="1"/>
          </p:cNvSpPr>
          <p:nvPr>
            <p:ph idx="1"/>
          </p:nvPr>
        </p:nvSpPr>
        <p:spPr>
          <a:xfrm>
            <a:off x="609600" y="1219200"/>
            <a:ext cx="10515600" cy="4449763"/>
          </a:xfrm>
        </p:spPr>
        <p:txBody>
          <a:bodyPr/>
          <a:lstStyle/>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lgn="ctr">
              <a:spcBef>
                <a:spcPts val="363"/>
              </a:spcBef>
              <a:spcAft>
                <a:spcPct val="0"/>
              </a:spcAft>
              <a:buClr>
                <a:srgbClr val="000000"/>
              </a:buClr>
              <a:buFont typeface="Arial" panose="020B0604020202020204" pitchFamily="34" charset="0"/>
              <a:buNone/>
            </a:pPr>
            <a:r>
              <a:rPr lang="en-IN" sz="2000" b="1" dirty="0">
                <a:latin typeface="Arial" panose="020B0604020202020204" pitchFamily="34" charset="0"/>
                <a:cs typeface="Arial" panose="020B0604020202020204" pitchFamily="34" charset="0"/>
              </a:rPr>
              <a:t> </a:t>
            </a:r>
          </a:p>
        </p:txBody>
      </p:sp>
      <p:sp>
        <p:nvSpPr>
          <p:cNvPr id="9" name="Content Placeholder 2">
            <a:extLst>
              <a:ext uri="{FF2B5EF4-FFF2-40B4-BE49-F238E27FC236}">
                <a16:creationId xmlns:a16="http://schemas.microsoft.com/office/drawing/2014/main" id="{B52E2478-CEF0-5B01-F654-AAB5A0D37783}"/>
              </a:ext>
            </a:extLst>
          </p:cNvPr>
          <p:cNvSpPr txBox="1">
            <a:spLocks/>
          </p:cNvSpPr>
          <p:nvPr/>
        </p:nvSpPr>
        <p:spPr>
          <a:xfrm>
            <a:off x="381000" y="1189036"/>
            <a:ext cx="10744200" cy="4937127"/>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Font typeface="Arial" pitchFamily="34" charset="0"/>
              <a:buNone/>
            </a:pPr>
            <a:r>
              <a:rPr lang="en-US" sz="2000" b="1" dirty="0"/>
              <a:t>7 PHP do-while loop </a:t>
            </a:r>
            <a:r>
              <a:rPr lang="en-US" sz="2000" dirty="0"/>
              <a:t>can be used to traverse set of code like </a:t>
            </a:r>
            <a:r>
              <a:rPr lang="en-US" sz="2000" dirty="0" err="1"/>
              <a:t>php</a:t>
            </a:r>
            <a:r>
              <a:rPr lang="en-US" sz="2000" dirty="0"/>
              <a:t> while loop. The PHP do-while loop is guaranteed to run at least once. The PHP do-while loop is used to execute a set of code of the program several times. If you have to execute the loop at least once and the number of iterations is not even fixed, it is recommended to use the </a:t>
            </a:r>
            <a:r>
              <a:rPr lang="en-US" sz="2000" b="1" dirty="0"/>
              <a:t>do-while</a:t>
            </a:r>
            <a:r>
              <a:rPr lang="en-US" sz="2000" dirty="0"/>
              <a:t> loop.</a:t>
            </a:r>
          </a:p>
          <a:p>
            <a:pPr algn="just"/>
            <a:r>
              <a:rPr lang="en-US" sz="2000" dirty="0"/>
              <a:t>Syntax</a:t>
            </a:r>
          </a:p>
          <a:p>
            <a:pPr lvl="1" algn="just"/>
            <a:r>
              <a:rPr lang="en-US" sz="2000" b="1" dirty="0"/>
              <a:t>do</a:t>
            </a:r>
            <a:r>
              <a:rPr lang="en-US" sz="2000" dirty="0"/>
              <a:t>{  </a:t>
            </a:r>
          </a:p>
          <a:p>
            <a:pPr lvl="1" algn="just"/>
            <a:r>
              <a:rPr lang="en-US" sz="2000" dirty="0"/>
              <a:t>//code to be executed  </a:t>
            </a:r>
          </a:p>
          <a:p>
            <a:pPr lvl="1" algn="just"/>
            <a:r>
              <a:rPr lang="en-US" sz="2000" dirty="0"/>
              <a:t>}</a:t>
            </a:r>
            <a:r>
              <a:rPr lang="en-US" sz="2000" b="1" dirty="0"/>
              <a:t>while</a:t>
            </a:r>
            <a:r>
              <a:rPr lang="en-US" sz="2000" dirty="0"/>
              <a:t>(condition);</a:t>
            </a:r>
          </a:p>
          <a:p>
            <a:pPr marL="0" indent="0" algn="just">
              <a:buFont typeface="Arial" pitchFamily="34" charset="0"/>
              <a:buNone/>
            </a:pPr>
            <a:endParaRPr lang="en-US" sz="2000" dirty="0"/>
          </a:p>
          <a:p>
            <a:pPr marL="0" indent="0" algn="just">
              <a:buFont typeface="Arial" pitchFamily="34" charset="0"/>
              <a:buNone/>
            </a:pPr>
            <a:endParaRPr lang="en-US" sz="2000" dirty="0">
              <a:latin typeface="Open Sans"/>
            </a:endParaRPr>
          </a:p>
        </p:txBody>
      </p:sp>
    </p:spTree>
    <p:extLst>
      <p:ext uri="{BB962C8B-B14F-4D97-AF65-F5344CB8AC3E}">
        <p14:creationId xmlns:p14="http://schemas.microsoft.com/office/powerpoint/2010/main" val="248784922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E73A3019-CFE4-49DD-B6FD-2AFB2DD2DBB6}" type="datetime1">
              <a:rPr lang="en-US" smtClean="0"/>
              <a:t>11/7/2024</a:t>
            </a:fld>
            <a:endParaRPr lang="en-US"/>
          </a:p>
        </p:txBody>
      </p:sp>
      <p:sp>
        <p:nvSpPr>
          <p:cNvPr id="5" name="Footer Placeholder 4"/>
          <p:cNvSpPr>
            <a:spLocks noGrp="1"/>
          </p:cNvSpPr>
          <p:nvPr>
            <p:ph type="ftr" sz="quarter" idx="11"/>
          </p:nvPr>
        </p:nvSpPr>
        <p:spPr>
          <a:xfrm>
            <a:off x="4343400" y="6248401"/>
            <a:ext cx="4724400" cy="365125"/>
          </a:xfrm>
        </p:spPr>
        <p:txBody>
          <a:bodyPr/>
          <a:lstStyle/>
          <a:p>
            <a:r>
              <a:rPr lang="en-US" dirty="0"/>
              <a:t>Vaishali Mishra            ACSE0505 Web Technology                Unit 5</a:t>
            </a:r>
          </a:p>
        </p:txBody>
      </p:sp>
      <p:sp>
        <p:nvSpPr>
          <p:cNvPr id="6" name="Slide Number Placeholder 5"/>
          <p:cNvSpPr>
            <a:spLocks noGrp="1"/>
          </p:cNvSpPr>
          <p:nvPr>
            <p:ph type="sldNum" sz="quarter" idx="12"/>
          </p:nvPr>
        </p:nvSpPr>
        <p:spPr/>
        <p:txBody>
          <a:bodyPr/>
          <a:lstStyle/>
          <a:p>
            <a:fld id="{B6F15528-21DE-4FAA-801E-634DDDAF4B2B}" type="slidenum">
              <a:rPr lang="en-US" smtClean="0"/>
              <a:pPr/>
              <a:t>55</a:t>
            </a:fld>
            <a:endParaRPr lang="en-US"/>
          </a:p>
        </p:txBody>
      </p:sp>
      <p:sp>
        <p:nvSpPr>
          <p:cNvPr id="7" name="Title 1"/>
          <p:cNvSpPr txBox="1">
            <a:spLocks/>
          </p:cNvSpPr>
          <p:nvPr/>
        </p:nvSpPr>
        <p:spPr>
          <a:xfrm>
            <a:off x="2895600" y="2"/>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pPr>
              <a:defRPr/>
            </a:pPr>
            <a:endParaRPr lang="en-US" sz="2800" dirty="0"/>
          </a:p>
          <a:p>
            <a:pPr>
              <a:defRPr/>
            </a:pPr>
            <a:r>
              <a:rPr lang="en-US" sz="2800" dirty="0"/>
              <a:t>Control flow and Decision making statements (CO5)</a:t>
            </a:r>
            <a:endParaRPr lang="en-IN" sz="2800" dirty="0"/>
          </a:p>
          <a:p>
            <a:pPr algn="ctr">
              <a:defRPr/>
            </a:pPr>
            <a:endParaRPr lang="en-US" sz="2800" dirty="0">
              <a:latin typeface="Times New Roman" pitchFamily="18" charset="0"/>
              <a:cs typeface="Times New Roman" pitchFamily="18" charset="0"/>
              <a:sym typeface="Arial" charset="0"/>
            </a:endParaRPr>
          </a:p>
        </p:txBody>
      </p:sp>
      <p:pic>
        <p:nvPicPr>
          <p:cNvPr id="2" name="Picture 1" descr="A black and red logo&#10;&#10;Description automatically generated">
            <a:extLst>
              <a:ext uri="{FF2B5EF4-FFF2-40B4-BE49-F238E27FC236}">
                <a16:creationId xmlns:a16="http://schemas.microsoft.com/office/drawing/2014/main" id="{8BDB0671-FC93-5C9E-75A2-ED46EE3FB8B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8" name="Content Placeholder 1">
            <a:extLst>
              <a:ext uri="{FF2B5EF4-FFF2-40B4-BE49-F238E27FC236}">
                <a16:creationId xmlns:a16="http://schemas.microsoft.com/office/drawing/2014/main" id="{1FF5ADF0-474C-251F-0E40-267B658E504A}"/>
              </a:ext>
            </a:extLst>
          </p:cNvPr>
          <p:cNvSpPr txBox="1">
            <a:spLocks noGrp="1"/>
          </p:cNvSpPr>
          <p:nvPr>
            <p:ph idx="1"/>
          </p:nvPr>
        </p:nvSpPr>
        <p:spPr>
          <a:xfrm>
            <a:off x="609600" y="1219200"/>
            <a:ext cx="10515600" cy="4449763"/>
          </a:xfrm>
        </p:spPr>
        <p:txBody>
          <a:bodyPr/>
          <a:lstStyle/>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lgn="ctr">
              <a:spcBef>
                <a:spcPts val="363"/>
              </a:spcBef>
              <a:spcAft>
                <a:spcPct val="0"/>
              </a:spcAft>
              <a:buClr>
                <a:srgbClr val="000000"/>
              </a:buClr>
              <a:buFont typeface="Arial" panose="020B0604020202020204" pitchFamily="34" charset="0"/>
              <a:buNone/>
            </a:pPr>
            <a:r>
              <a:rPr lang="en-IN" sz="2000" b="1" dirty="0">
                <a:latin typeface="Arial" panose="020B0604020202020204" pitchFamily="34" charset="0"/>
                <a:cs typeface="Arial" panose="020B0604020202020204" pitchFamily="34" charset="0"/>
              </a:rPr>
              <a:t> </a:t>
            </a:r>
          </a:p>
        </p:txBody>
      </p:sp>
      <p:sp>
        <p:nvSpPr>
          <p:cNvPr id="3" name="Content Placeholder 2">
            <a:extLst>
              <a:ext uri="{FF2B5EF4-FFF2-40B4-BE49-F238E27FC236}">
                <a16:creationId xmlns:a16="http://schemas.microsoft.com/office/drawing/2014/main" id="{9E56E478-8B13-47EB-1510-4FD44CA6F6D6}"/>
              </a:ext>
            </a:extLst>
          </p:cNvPr>
          <p:cNvSpPr txBox="1">
            <a:spLocks/>
          </p:cNvSpPr>
          <p:nvPr/>
        </p:nvSpPr>
        <p:spPr>
          <a:xfrm>
            <a:off x="381000" y="1055218"/>
            <a:ext cx="10515600" cy="5070946"/>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Font typeface="Arial" pitchFamily="34" charset="0"/>
              <a:buNone/>
            </a:pPr>
            <a:r>
              <a:rPr lang="en-US" sz="2000" b="1"/>
              <a:t>8 PHP break statement </a:t>
            </a:r>
            <a:r>
              <a:rPr lang="en-US" sz="2000"/>
              <a:t>breaks the execution of the current for, while, do-while, switch, and for-each loop. If you use break inside inner loop, it breaks the execution of inner loop only. The break statement can be used in all types of loops such as while, do-while, for, foreach loop, and also with switch case.</a:t>
            </a:r>
          </a:p>
          <a:p>
            <a:pPr algn="just"/>
            <a:r>
              <a:rPr lang="en-US" sz="2000"/>
              <a:t>Syntax</a:t>
            </a:r>
          </a:p>
          <a:p>
            <a:pPr lvl="1" algn="just"/>
            <a:r>
              <a:rPr lang="en-US" sz="2000"/>
              <a:t>jump statement;  </a:t>
            </a:r>
          </a:p>
          <a:p>
            <a:pPr lvl="1" algn="just"/>
            <a:r>
              <a:rPr lang="en-US" sz="2000" b="1"/>
              <a:t>break</a:t>
            </a:r>
            <a:r>
              <a:rPr lang="en-US" sz="2000"/>
              <a:t>; </a:t>
            </a:r>
          </a:p>
          <a:p>
            <a:pPr marL="0" indent="0" algn="just">
              <a:buFont typeface="Arial" pitchFamily="34" charset="0"/>
              <a:buNone/>
            </a:pPr>
            <a:endParaRPr lang="en-US" sz="2000" dirty="0">
              <a:latin typeface="Open Sans"/>
            </a:endParaRPr>
          </a:p>
        </p:txBody>
      </p:sp>
    </p:spTree>
    <p:extLst>
      <p:ext uri="{BB962C8B-B14F-4D97-AF65-F5344CB8AC3E}">
        <p14:creationId xmlns:p14="http://schemas.microsoft.com/office/powerpoint/2010/main" val="43966364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E73A3019-CFE4-49DD-B6FD-2AFB2DD2DBB6}" type="datetime1">
              <a:rPr lang="en-US" smtClean="0"/>
              <a:t>11/7/2024</a:t>
            </a:fld>
            <a:endParaRPr lang="en-US"/>
          </a:p>
        </p:txBody>
      </p:sp>
      <p:sp>
        <p:nvSpPr>
          <p:cNvPr id="5" name="Footer Placeholder 4"/>
          <p:cNvSpPr>
            <a:spLocks noGrp="1"/>
          </p:cNvSpPr>
          <p:nvPr>
            <p:ph type="ftr" sz="quarter" idx="11"/>
          </p:nvPr>
        </p:nvSpPr>
        <p:spPr>
          <a:xfrm>
            <a:off x="4343400" y="6248401"/>
            <a:ext cx="4724400" cy="365125"/>
          </a:xfrm>
        </p:spPr>
        <p:txBody>
          <a:bodyPr/>
          <a:lstStyle/>
          <a:p>
            <a:r>
              <a:rPr lang="en-US" dirty="0"/>
              <a:t>Vaishali Mishra            ACSE0505 Web Technology                Unit 5</a:t>
            </a:r>
          </a:p>
        </p:txBody>
      </p:sp>
      <p:sp>
        <p:nvSpPr>
          <p:cNvPr id="6" name="Slide Number Placeholder 5"/>
          <p:cNvSpPr>
            <a:spLocks noGrp="1"/>
          </p:cNvSpPr>
          <p:nvPr>
            <p:ph type="sldNum" sz="quarter" idx="12"/>
          </p:nvPr>
        </p:nvSpPr>
        <p:spPr/>
        <p:txBody>
          <a:bodyPr/>
          <a:lstStyle/>
          <a:p>
            <a:fld id="{B6F15528-21DE-4FAA-801E-634DDDAF4B2B}" type="slidenum">
              <a:rPr lang="en-US" smtClean="0"/>
              <a:pPr/>
              <a:t>56</a:t>
            </a:fld>
            <a:endParaRPr lang="en-US"/>
          </a:p>
        </p:txBody>
      </p:sp>
      <p:sp>
        <p:nvSpPr>
          <p:cNvPr id="7" name="Title 1"/>
          <p:cNvSpPr txBox="1">
            <a:spLocks/>
          </p:cNvSpPr>
          <p:nvPr/>
        </p:nvSpPr>
        <p:spPr>
          <a:xfrm>
            <a:off x="2895600" y="2"/>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pPr>
              <a:defRPr/>
            </a:pPr>
            <a:endParaRPr lang="en-US" sz="2800" dirty="0"/>
          </a:p>
          <a:p>
            <a:pPr>
              <a:defRPr/>
            </a:pPr>
            <a:r>
              <a:rPr lang="en-US" sz="2800" dirty="0"/>
              <a:t>Daily Quiz</a:t>
            </a:r>
            <a:endParaRPr kumimoji="0" lang="en-US" sz="2800" b="0" i="0" u="none" strike="noStrike" kern="1200" cap="none" spc="0" normalizeH="0" baseline="0" noProof="0" dirty="0">
              <a:ln>
                <a:noFill/>
              </a:ln>
              <a:solidFill>
                <a:schemeClr val="dk1"/>
              </a:solidFill>
              <a:effectLst/>
              <a:uLnTx/>
              <a:uFillTx/>
            </a:endParaRPr>
          </a:p>
          <a:p>
            <a:pPr algn="ctr">
              <a:defRPr/>
            </a:pPr>
            <a:endParaRPr lang="en-US" sz="2800" dirty="0">
              <a:latin typeface="Times New Roman" pitchFamily="18" charset="0"/>
              <a:cs typeface="Times New Roman" pitchFamily="18" charset="0"/>
              <a:sym typeface="Arial" charset="0"/>
            </a:endParaRPr>
          </a:p>
        </p:txBody>
      </p:sp>
      <p:pic>
        <p:nvPicPr>
          <p:cNvPr id="2" name="Picture 1" descr="A black and red logo&#10;&#10;Description automatically generated">
            <a:extLst>
              <a:ext uri="{FF2B5EF4-FFF2-40B4-BE49-F238E27FC236}">
                <a16:creationId xmlns:a16="http://schemas.microsoft.com/office/drawing/2014/main" id="{8BDB0671-FC93-5C9E-75A2-ED46EE3FB8B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8" name="Content Placeholder 1">
            <a:extLst>
              <a:ext uri="{FF2B5EF4-FFF2-40B4-BE49-F238E27FC236}">
                <a16:creationId xmlns:a16="http://schemas.microsoft.com/office/drawing/2014/main" id="{1FF5ADF0-474C-251F-0E40-267B658E504A}"/>
              </a:ext>
            </a:extLst>
          </p:cNvPr>
          <p:cNvSpPr txBox="1">
            <a:spLocks noGrp="1"/>
          </p:cNvSpPr>
          <p:nvPr>
            <p:ph idx="1"/>
          </p:nvPr>
        </p:nvSpPr>
        <p:spPr>
          <a:xfrm>
            <a:off x="609600" y="1219200"/>
            <a:ext cx="10515600" cy="4449763"/>
          </a:xfrm>
        </p:spPr>
        <p:txBody>
          <a:bodyPr/>
          <a:lstStyle/>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lgn="ctr">
              <a:spcBef>
                <a:spcPts val="363"/>
              </a:spcBef>
              <a:spcAft>
                <a:spcPct val="0"/>
              </a:spcAft>
              <a:buClr>
                <a:srgbClr val="000000"/>
              </a:buClr>
              <a:buFont typeface="Arial" panose="020B0604020202020204" pitchFamily="34" charset="0"/>
              <a:buNone/>
            </a:pPr>
            <a:r>
              <a:rPr lang="en-IN" sz="2000" b="1" dirty="0">
                <a:latin typeface="Arial" panose="020B0604020202020204" pitchFamily="34" charset="0"/>
                <a:cs typeface="Arial" panose="020B0604020202020204" pitchFamily="34" charset="0"/>
              </a:rPr>
              <a:t> </a:t>
            </a:r>
          </a:p>
        </p:txBody>
      </p:sp>
      <p:sp>
        <p:nvSpPr>
          <p:cNvPr id="3" name="Content Placeholder 2">
            <a:extLst>
              <a:ext uri="{FF2B5EF4-FFF2-40B4-BE49-F238E27FC236}">
                <a16:creationId xmlns:a16="http://schemas.microsoft.com/office/drawing/2014/main" id="{7DCFA195-7622-5D69-F272-1A09E3711DDA}"/>
              </a:ext>
            </a:extLst>
          </p:cNvPr>
          <p:cNvSpPr txBox="1">
            <a:spLocks/>
          </p:cNvSpPr>
          <p:nvPr/>
        </p:nvSpPr>
        <p:spPr>
          <a:xfrm>
            <a:off x="381000" y="947268"/>
            <a:ext cx="10287000" cy="5224932"/>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Arial" pitchFamily="34" charset="0"/>
              <a:buNone/>
            </a:pPr>
            <a:r>
              <a:rPr lang="en-US" sz="2200"/>
              <a:t>1) Variable name in PHP starts with -</a:t>
            </a:r>
          </a:p>
          <a:p>
            <a:pPr marL="0" indent="0">
              <a:buFont typeface="Arial" pitchFamily="34" charset="0"/>
              <a:buNone/>
            </a:pPr>
            <a:r>
              <a:rPr lang="en-US" sz="2200"/>
              <a:t>! (Exclamation)</a:t>
            </a:r>
          </a:p>
          <a:p>
            <a:pPr marL="0" indent="0">
              <a:buFont typeface="Arial" pitchFamily="34" charset="0"/>
              <a:buNone/>
            </a:pPr>
            <a:r>
              <a:rPr lang="en-US" sz="2200"/>
              <a:t>$ (Dollar)</a:t>
            </a:r>
          </a:p>
          <a:p>
            <a:pPr marL="0" indent="0">
              <a:buFont typeface="Arial" pitchFamily="34" charset="0"/>
              <a:buNone/>
            </a:pPr>
            <a:r>
              <a:rPr lang="en-US" sz="2200"/>
              <a:t>&amp; (Ampersand)</a:t>
            </a:r>
          </a:p>
          <a:p>
            <a:pPr marL="0" indent="0">
              <a:buFont typeface="Arial" pitchFamily="34" charset="0"/>
              <a:buNone/>
            </a:pPr>
            <a:r>
              <a:rPr lang="en-US" sz="2200"/>
              <a:t># (Hash)</a:t>
            </a:r>
          </a:p>
          <a:p>
            <a:pPr marL="0" indent="0">
              <a:buFont typeface="Arial" pitchFamily="34" charset="0"/>
              <a:buNone/>
            </a:pPr>
            <a:endParaRPr lang="en-US" sz="2200"/>
          </a:p>
          <a:p>
            <a:pPr marL="0" indent="0">
              <a:buFont typeface="Arial" pitchFamily="34" charset="0"/>
              <a:buNone/>
            </a:pPr>
            <a:r>
              <a:rPr lang="en-US" sz="2200"/>
              <a:t>2) Default file extension of PHP?</a:t>
            </a:r>
          </a:p>
          <a:p>
            <a:pPr marL="0" indent="0">
              <a:buFont typeface="Arial" pitchFamily="34" charset="0"/>
              <a:buNone/>
            </a:pPr>
            <a:r>
              <a:rPr lang="en-US" sz="2200"/>
              <a:t>A).php</a:t>
            </a:r>
          </a:p>
          <a:p>
            <a:pPr marL="0" indent="0">
              <a:buFont typeface="Arial" pitchFamily="34" charset="0"/>
              <a:buNone/>
            </a:pPr>
            <a:r>
              <a:rPr lang="en-US" sz="2200"/>
              <a:t>B).hphp</a:t>
            </a:r>
          </a:p>
          <a:p>
            <a:pPr marL="0" indent="0">
              <a:buFont typeface="Arial" pitchFamily="34" charset="0"/>
              <a:buNone/>
            </a:pPr>
            <a:r>
              <a:rPr lang="en-US" sz="2200"/>
              <a:t>C).xml</a:t>
            </a:r>
          </a:p>
          <a:p>
            <a:pPr marL="0" indent="0">
              <a:buFont typeface="Arial" pitchFamily="34" charset="0"/>
              <a:buNone/>
            </a:pPr>
            <a:r>
              <a:rPr lang="en-US" sz="2200"/>
              <a:t>D).html</a:t>
            </a:r>
            <a:endParaRPr lang="en-US" sz="2200" dirty="0"/>
          </a:p>
        </p:txBody>
      </p:sp>
    </p:spTree>
    <p:extLst>
      <p:ext uri="{BB962C8B-B14F-4D97-AF65-F5344CB8AC3E}">
        <p14:creationId xmlns:p14="http://schemas.microsoft.com/office/powerpoint/2010/main" val="201288096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E73A3019-CFE4-49DD-B6FD-2AFB2DD2DBB6}" type="datetime1">
              <a:rPr lang="en-US" smtClean="0"/>
              <a:t>11/7/2024</a:t>
            </a:fld>
            <a:endParaRPr lang="en-US"/>
          </a:p>
        </p:txBody>
      </p:sp>
      <p:sp>
        <p:nvSpPr>
          <p:cNvPr id="5" name="Footer Placeholder 4"/>
          <p:cNvSpPr>
            <a:spLocks noGrp="1"/>
          </p:cNvSpPr>
          <p:nvPr>
            <p:ph type="ftr" sz="quarter" idx="11"/>
          </p:nvPr>
        </p:nvSpPr>
        <p:spPr>
          <a:xfrm>
            <a:off x="4343400" y="6248401"/>
            <a:ext cx="4724400" cy="365125"/>
          </a:xfrm>
        </p:spPr>
        <p:txBody>
          <a:bodyPr/>
          <a:lstStyle/>
          <a:p>
            <a:r>
              <a:rPr lang="en-US" dirty="0"/>
              <a:t>Vaishali Mishra            ACSE0505 Web Technology                Unit 5</a:t>
            </a:r>
          </a:p>
        </p:txBody>
      </p:sp>
      <p:sp>
        <p:nvSpPr>
          <p:cNvPr id="6" name="Slide Number Placeholder 5"/>
          <p:cNvSpPr>
            <a:spLocks noGrp="1"/>
          </p:cNvSpPr>
          <p:nvPr>
            <p:ph type="sldNum" sz="quarter" idx="12"/>
          </p:nvPr>
        </p:nvSpPr>
        <p:spPr/>
        <p:txBody>
          <a:bodyPr/>
          <a:lstStyle/>
          <a:p>
            <a:fld id="{B6F15528-21DE-4FAA-801E-634DDDAF4B2B}" type="slidenum">
              <a:rPr lang="en-US" smtClean="0"/>
              <a:pPr/>
              <a:t>57</a:t>
            </a:fld>
            <a:endParaRPr lang="en-US"/>
          </a:p>
        </p:txBody>
      </p:sp>
      <p:sp>
        <p:nvSpPr>
          <p:cNvPr id="7" name="Title 1"/>
          <p:cNvSpPr txBox="1">
            <a:spLocks/>
          </p:cNvSpPr>
          <p:nvPr/>
        </p:nvSpPr>
        <p:spPr>
          <a:xfrm>
            <a:off x="2895600" y="2"/>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pPr>
              <a:defRPr/>
            </a:pPr>
            <a:endParaRPr lang="en-US" sz="2800" dirty="0"/>
          </a:p>
          <a:p>
            <a:pPr>
              <a:defRPr/>
            </a:pPr>
            <a:endParaRPr lang="en-US" dirty="0"/>
          </a:p>
          <a:p>
            <a:pPr>
              <a:defRPr/>
            </a:pPr>
            <a:r>
              <a:rPr lang="en-US" sz="2800" dirty="0"/>
              <a:t>Daily Quiz</a:t>
            </a:r>
            <a:endParaRPr kumimoji="0" lang="en-US" sz="2800" b="0" i="0" u="none" strike="noStrike" kern="1200" cap="none" spc="0" normalizeH="0" baseline="0" noProof="0" dirty="0">
              <a:ln>
                <a:noFill/>
              </a:ln>
              <a:solidFill>
                <a:schemeClr val="dk1"/>
              </a:solidFill>
              <a:effectLst/>
              <a:uLnTx/>
              <a:uFillTx/>
            </a:endParaRPr>
          </a:p>
          <a:p>
            <a:pPr>
              <a:defRPr/>
            </a:pPr>
            <a:endParaRPr lang="en-US" sz="2800" dirty="0"/>
          </a:p>
          <a:p>
            <a:pPr algn="ctr">
              <a:defRPr/>
            </a:pPr>
            <a:endParaRPr lang="en-US" sz="2800" dirty="0">
              <a:latin typeface="Times New Roman" pitchFamily="18" charset="0"/>
              <a:cs typeface="Times New Roman" pitchFamily="18" charset="0"/>
              <a:sym typeface="Arial" charset="0"/>
            </a:endParaRPr>
          </a:p>
        </p:txBody>
      </p:sp>
      <p:pic>
        <p:nvPicPr>
          <p:cNvPr id="2" name="Picture 1" descr="A black and red logo&#10;&#10;Description automatically generated">
            <a:extLst>
              <a:ext uri="{FF2B5EF4-FFF2-40B4-BE49-F238E27FC236}">
                <a16:creationId xmlns:a16="http://schemas.microsoft.com/office/drawing/2014/main" id="{8BDB0671-FC93-5C9E-75A2-ED46EE3FB8B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8" name="Content Placeholder 1">
            <a:extLst>
              <a:ext uri="{FF2B5EF4-FFF2-40B4-BE49-F238E27FC236}">
                <a16:creationId xmlns:a16="http://schemas.microsoft.com/office/drawing/2014/main" id="{1FF5ADF0-474C-251F-0E40-267B658E504A}"/>
              </a:ext>
            </a:extLst>
          </p:cNvPr>
          <p:cNvSpPr txBox="1">
            <a:spLocks noGrp="1"/>
          </p:cNvSpPr>
          <p:nvPr>
            <p:ph idx="1"/>
          </p:nvPr>
        </p:nvSpPr>
        <p:spPr>
          <a:xfrm>
            <a:off x="609600" y="1219200"/>
            <a:ext cx="10515600" cy="4449763"/>
          </a:xfrm>
        </p:spPr>
        <p:txBody>
          <a:bodyPr/>
          <a:lstStyle/>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lgn="ctr">
              <a:spcBef>
                <a:spcPts val="363"/>
              </a:spcBef>
              <a:spcAft>
                <a:spcPct val="0"/>
              </a:spcAft>
              <a:buClr>
                <a:srgbClr val="000000"/>
              </a:buClr>
              <a:buFont typeface="Arial" panose="020B0604020202020204" pitchFamily="34" charset="0"/>
              <a:buNone/>
            </a:pPr>
            <a:r>
              <a:rPr lang="en-IN" sz="2000" b="1" dirty="0">
                <a:latin typeface="Arial" panose="020B0604020202020204" pitchFamily="34" charset="0"/>
                <a:cs typeface="Arial" panose="020B0604020202020204" pitchFamily="34" charset="0"/>
              </a:rPr>
              <a:t> </a:t>
            </a:r>
          </a:p>
        </p:txBody>
      </p:sp>
      <p:sp>
        <p:nvSpPr>
          <p:cNvPr id="3" name="Content Placeholder 2">
            <a:extLst>
              <a:ext uri="{FF2B5EF4-FFF2-40B4-BE49-F238E27FC236}">
                <a16:creationId xmlns:a16="http://schemas.microsoft.com/office/drawing/2014/main" id="{D8E2ED14-7D1B-7995-5C7A-B8C8631F07F8}"/>
              </a:ext>
            </a:extLst>
          </p:cNvPr>
          <p:cNvSpPr txBox="1">
            <a:spLocks/>
          </p:cNvSpPr>
          <p:nvPr/>
        </p:nvSpPr>
        <p:spPr>
          <a:xfrm>
            <a:off x="381000" y="947268"/>
            <a:ext cx="9906000" cy="5224932"/>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Arial" pitchFamily="34" charset="0"/>
              <a:buNone/>
            </a:pPr>
            <a:r>
              <a:rPr lang="en-US" sz="2200"/>
              <a:t>3) Which of the following is used to display the output in PHP?</a:t>
            </a:r>
          </a:p>
          <a:p>
            <a:pPr marL="0" indent="0">
              <a:buFont typeface="Arial" pitchFamily="34" charset="0"/>
              <a:buNone/>
            </a:pPr>
            <a:r>
              <a:rPr lang="en-US" sz="2200"/>
              <a:t>A)echo</a:t>
            </a:r>
          </a:p>
          <a:p>
            <a:pPr marL="0" indent="0">
              <a:buFont typeface="Arial" pitchFamily="34" charset="0"/>
              <a:buNone/>
            </a:pPr>
            <a:r>
              <a:rPr lang="en-US" sz="2200"/>
              <a:t>B)write</a:t>
            </a:r>
          </a:p>
          <a:p>
            <a:pPr marL="0" indent="0">
              <a:buFont typeface="Arial" pitchFamily="34" charset="0"/>
              <a:buNone/>
            </a:pPr>
            <a:r>
              <a:rPr lang="en-US" sz="2200"/>
              <a:t>C)print</a:t>
            </a:r>
          </a:p>
          <a:p>
            <a:pPr marL="0" indent="0">
              <a:buFont typeface="Arial" pitchFamily="34" charset="0"/>
              <a:buNone/>
            </a:pPr>
            <a:r>
              <a:rPr lang="en-US" sz="2200"/>
              <a:t>D)Both (a) and (c)</a:t>
            </a:r>
          </a:p>
          <a:p>
            <a:pPr marL="0" indent="0">
              <a:buFont typeface="Arial" pitchFamily="34" charset="0"/>
              <a:buNone/>
            </a:pPr>
            <a:r>
              <a:rPr lang="en-US" sz="2200"/>
              <a:t>4) Which of the following is correct to add a comment in php?</a:t>
            </a:r>
          </a:p>
          <a:p>
            <a:pPr marL="0" indent="0">
              <a:buFont typeface="Arial" pitchFamily="34" charset="0"/>
              <a:buNone/>
            </a:pPr>
            <a:r>
              <a:rPr lang="en-US" sz="2200"/>
              <a:t>A)&amp; …… &amp;</a:t>
            </a:r>
          </a:p>
          <a:p>
            <a:pPr marL="0" indent="0">
              <a:buFont typeface="Arial" pitchFamily="34" charset="0"/>
              <a:buNone/>
            </a:pPr>
            <a:r>
              <a:rPr lang="en-US" sz="2200"/>
              <a:t>B)// ……</a:t>
            </a:r>
          </a:p>
          <a:p>
            <a:pPr marL="0" indent="0">
              <a:buFont typeface="Arial" pitchFamily="34" charset="0"/>
              <a:buNone/>
            </a:pPr>
            <a:r>
              <a:rPr lang="en-US" sz="2200"/>
              <a:t>C)/* …… */</a:t>
            </a:r>
          </a:p>
          <a:p>
            <a:pPr marL="0" indent="0">
              <a:buFont typeface="Arial" pitchFamily="34" charset="0"/>
              <a:buNone/>
            </a:pPr>
            <a:r>
              <a:rPr lang="en-US" sz="2200"/>
              <a:t>D)Both (b) and (c)</a:t>
            </a:r>
            <a:endParaRPr lang="en-US" sz="2200" dirty="0"/>
          </a:p>
        </p:txBody>
      </p:sp>
    </p:spTree>
    <p:extLst>
      <p:ext uri="{BB962C8B-B14F-4D97-AF65-F5344CB8AC3E}">
        <p14:creationId xmlns:p14="http://schemas.microsoft.com/office/powerpoint/2010/main" val="264952394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E73A3019-CFE4-49DD-B6FD-2AFB2DD2DBB6}" type="datetime1">
              <a:rPr lang="en-US" smtClean="0"/>
              <a:t>11/7/2024</a:t>
            </a:fld>
            <a:endParaRPr lang="en-US"/>
          </a:p>
        </p:txBody>
      </p:sp>
      <p:sp>
        <p:nvSpPr>
          <p:cNvPr id="5" name="Footer Placeholder 4"/>
          <p:cNvSpPr>
            <a:spLocks noGrp="1"/>
          </p:cNvSpPr>
          <p:nvPr>
            <p:ph type="ftr" sz="quarter" idx="11"/>
          </p:nvPr>
        </p:nvSpPr>
        <p:spPr>
          <a:xfrm>
            <a:off x="4343400" y="6248401"/>
            <a:ext cx="4724400" cy="365125"/>
          </a:xfrm>
        </p:spPr>
        <p:txBody>
          <a:bodyPr/>
          <a:lstStyle/>
          <a:p>
            <a:r>
              <a:rPr lang="en-US" dirty="0"/>
              <a:t>Vaishali Mishra            ACSE0505 Web Technology                Unit 5</a:t>
            </a:r>
          </a:p>
        </p:txBody>
      </p:sp>
      <p:sp>
        <p:nvSpPr>
          <p:cNvPr id="6" name="Slide Number Placeholder 5"/>
          <p:cNvSpPr>
            <a:spLocks noGrp="1"/>
          </p:cNvSpPr>
          <p:nvPr>
            <p:ph type="sldNum" sz="quarter" idx="12"/>
          </p:nvPr>
        </p:nvSpPr>
        <p:spPr/>
        <p:txBody>
          <a:bodyPr/>
          <a:lstStyle/>
          <a:p>
            <a:fld id="{B6F15528-21DE-4FAA-801E-634DDDAF4B2B}" type="slidenum">
              <a:rPr lang="en-US" smtClean="0"/>
              <a:pPr/>
              <a:t>58</a:t>
            </a:fld>
            <a:endParaRPr lang="en-US"/>
          </a:p>
        </p:txBody>
      </p:sp>
      <p:sp>
        <p:nvSpPr>
          <p:cNvPr id="7" name="Title 1"/>
          <p:cNvSpPr txBox="1">
            <a:spLocks/>
          </p:cNvSpPr>
          <p:nvPr/>
        </p:nvSpPr>
        <p:spPr>
          <a:xfrm>
            <a:off x="2895600" y="2"/>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pPr>
              <a:defRPr/>
            </a:pPr>
            <a:endParaRPr kumimoji="0" lang="en-US" sz="2800" b="0" i="0" u="none" strike="noStrike" kern="1200" cap="none" spc="0" normalizeH="0" baseline="0" noProof="0" dirty="0">
              <a:ln>
                <a:noFill/>
              </a:ln>
              <a:solidFill>
                <a:schemeClr val="dk1"/>
              </a:solidFill>
              <a:effectLst/>
              <a:uLnTx/>
              <a:uFillTx/>
              <a:latin typeface="+mn-lt"/>
              <a:ea typeface="+mn-ea"/>
              <a:cs typeface="+mn-cs"/>
            </a:endParaRPr>
          </a:p>
          <a:p>
            <a:pPr>
              <a:defRPr/>
            </a:pPr>
            <a:endParaRPr lang="en-US" dirty="0"/>
          </a:p>
          <a:p>
            <a:pPr>
              <a:defRPr/>
            </a:pPr>
            <a:r>
              <a:rPr kumimoji="0" lang="en-US" sz="2800" b="0" i="0" u="none" strike="noStrike" kern="1200" cap="none" spc="0" normalizeH="0" baseline="0" noProof="0" dirty="0">
                <a:ln>
                  <a:noFill/>
                </a:ln>
                <a:solidFill>
                  <a:schemeClr val="dk1"/>
                </a:solidFill>
                <a:effectLst/>
                <a:uLnTx/>
                <a:uFillTx/>
                <a:latin typeface="+mn-lt"/>
                <a:ea typeface="+mn-ea"/>
                <a:cs typeface="+mn-cs"/>
              </a:rPr>
              <a:t>Topic</a:t>
            </a:r>
          </a:p>
          <a:p>
            <a:pPr>
              <a:defRPr/>
            </a:pPr>
            <a:endParaRPr lang="en-US" sz="2800" dirty="0"/>
          </a:p>
          <a:p>
            <a:pPr algn="ctr">
              <a:defRPr/>
            </a:pPr>
            <a:endParaRPr lang="en-US" sz="2800" dirty="0">
              <a:latin typeface="Times New Roman" pitchFamily="18" charset="0"/>
              <a:cs typeface="Times New Roman" pitchFamily="18" charset="0"/>
              <a:sym typeface="Arial" charset="0"/>
            </a:endParaRPr>
          </a:p>
        </p:txBody>
      </p:sp>
      <p:pic>
        <p:nvPicPr>
          <p:cNvPr id="2" name="Picture 1" descr="A black and red logo&#10;&#10;Description automatically generated">
            <a:extLst>
              <a:ext uri="{FF2B5EF4-FFF2-40B4-BE49-F238E27FC236}">
                <a16:creationId xmlns:a16="http://schemas.microsoft.com/office/drawing/2014/main" id="{8BDB0671-FC93-5C9E-75A2-ED46EE3FB8B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8" name="Content Placeholder 1">
            <a:extLst>
              <a:ext uri="{FF2B5EF4-FFF2-40B4-BE49-F238E27FC236}">
                <a16:creationId xmlns:a16="http://schemas.microsoft.com/office/drawing/2014/main" id="{1FF5ADF0-474C-251F-0E40-267B658E504A}"/>
              </a:ext>
            </a:extLst>
          </p:cNvPr>
          <p:cNvSpPr txBox="1">
            <a:spLocks noGrp="1"/>
          </p:cNvSpPr>
          <p:nvPr>
            <p:ph idx="1"/>
          </p:nvPr>
        </p:nvSpPr>
        <p:spPr>
          <a:xfrm>
            <a:off x="609600" y="1219200"/>
            <a:ext cx="10515600" cy="4449763"/>
          </a:xfrm>
        </p:spPr>
        <p:txBody>
          <a:bodyPr/>
          <a:lstStyle/>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lgn="ctr">
              <a:spcBef>
                <a:spcPts val="363"/>
              </a:spcBef>
              <a:spcAft>
                <a:spcPct val="0"/>
              </a:spcAft>
              <a:buClr>
                <a:srgbClr val="000000"/>
              </a:buClr>
              <a:buFont typeface="Arial" panose="020B0604020202020204" pitchFamily="34" charset="0"/>
              <a:buNone/>
            </a:pPr>
            <a:r>
              <a:rPr lang="en-IN" sz="2000" b="1" dirty="0">
                <a:latin typeface="Arial" panose="020B0604020202020204" pitchFamily="34" charset="0"/>
                <a:cs typeface="Arial" panose="020B0604020202020204" pitchFamily="34" charset="0"/>
              </a:rPr>
              <a:t> </a:t>
            </a:r>
          </a:p>
        </p:txBody>
      </p:sp>
      <p:sp>
        <p:nvSpPr>
          <p:cNvPr id="3" name="Title 1">
            <a:extLst>
              <a:ext uri="{FF2B5EF4-FFF2-40B4-BE49-F238E27FC236}">
                <a16:creationId xmlns:a16="http://schemas.microsoft.com/office/drawing/2014/main" id="{2FE569D5-3319-0A1D-B94D-911E3F953B85}"/>
              </a:ext>
            </a:extLst>
          </p:cNvPr>
          <p:cNvSpPr txBox="1">
            <a:spLocks/>
          </p:cNvSpPr>
          <p:nvPr/>
        </p:nvSpPr>
        <p:spPr>
          <a:xfrm>
            <a:off x="2819400" y="1937281"/>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pPr>
              <a:defRPr/>
            </a:pPr>
            <a:endParaRPr lang="en-US" sz="2800" dirty="0"/>
          </a:p>
          <a:p>
            <a:pPr>
              <a:defRPr/>
            </a:pPr>
            <a:r>
              <a:rPr kumimoji="0" lang="en-US" sz="2800" b="0" i="0" u="none" strike="noStrike" kern="1200" cap="none" spc="0" normalizeH="0" baseline="0" noProof="0" dirty="0">
                <a:ln>
                  <a:noFill/>
                </a:ln>
                <a:solidFill>
                  <a:schemeClr val="dk1"/>
                </a:solidFill>
                <a:effectLst/>
                <a:uLnTx/>
                <a:uFillTx/>
                <a:latin typeface="+mn-lt"/>
                <a:ea typeface="+mn-ea"/>
                <a:cs typeface="+mn-cs"/>
              </a:rPr>
              <a:t>Topic objective</a:t>
            </a:r>
          </a:p>
          <a:p>
            <a:pPr algn="ctr">
              <a:defRPr/>
            </a:pPr>
            <a:endParaRPr lang="en-US" sz="2800" dirty="0">
              <a:latin typeface="Times New Roman" pitchFamily="18" charset="0"/>
              <a:cs typeface="Times New Roman" pitchFamily="18" charset="0"/>
              <a:sym typeface="Arial" charset="0"/>
            </a:endParaRPr>
          </a:p>
        </p:txBody>
      </p:sp>
      <p:sp>
        <p:nvSpPr>
          <p:cNvPr id="9" name="TextBox 8">
            <a:extLst>
              <a:ext uri="{FF2B5EF4-FFF2-40B4-BE49-F238E27FC236}">
                <a16:creationId xmlns:a16="http://schemas.microsoft.com/office/drawing/2014/main" id="{38FFB488-3F0E-7D79-18CD-3020D548B928}"/>
              </a:ext>
            </a:extLst>
          </p:cNvPr>
          <p:cNvSpPr txBox="1"/>
          <p:nvPr/>
        </p:nvSpPr>
        <p:spPr>
          <a:xfrm>
            <a:off x="3200400" y="957733"/>
            <a:ext cx="6705600" cy="400110"/>
          </a:xfrm>
          <a:prstGeom prst="rect">
            <a:avLst/>
          </a:prstGeom>
          <a:noFill/>
        </p:spPr>
        <p:txBody>
          <a:bodyPr wrap="square" rtlCol="0">
            <a:spAutoFit/>
          </a:bodyPr>
          <a:lstStyle/>
          <a:p>
            <a:pPr algn="ctr"/>
            <a:r>
              <a:rPr lang="en-US" sz="2000" dirty="0"/>
              <a:t>Overview of </a:t>
            </a:r>
            <a:r>
              <a:rPr lang="en-IN" sz="2000" dirty="0"/>
              <a:t>function, string &amp; arrays in PHP</a:t>
            </a:r>
          </a:p>
        </p:txBody>
      </p:sp>
      <p:sp>
        <p:nvSpPr>
          <p:cNvPr id="10" name="Content Placeholder 2">
            <a:extLst>
              <a:ext uri="{FF2B5EF4-FFF2-40B4-BE49-F238E27FC236}">
                <a16:creationId xmlns:a16="http://schemas.microsoft.com/office/drawing/2014/main" id="{E8B93162-2502-F499-6CED-9EE9510C8E70}"/>
              </a:ext>
            </a:extLst>
          </p:cNvPr>
          <p:cNvSpPr txBox="1">
            <a:spLocks/>
          </p:cNvSpPr>
          <p:nvPr/>
        </p:nvSpPr>
        <p:spPr>
          <a:xfrm>
            <a:off x="3200400" y="3472330"/>
            <a:ext cx="7239000" cy="2014069"/>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Font typeface="Arial" pitchFamily="34" charset="0"/>
              <a:buNone/>
            </a:pPr>
            <a:r>
              <a:rPr lang="en-US" sz="2000"/>
              <a:t>To discuss about function, string and arrays in PHP </a:t>
            </a:r>
            <a:endParaRPr lang="en-IN" sz="2000" dirty="0"/>
          </a:p>
        </p:txBody>
      </p:sp>
    </p:spTree>
    <p:extLst>
      <p:ext uri="{BB962C8B-B14F-4D97-AF65-F5344CB8AC3E}">
        <p14:creationId xmlns:p14="http://schemas.microsoft.com/office/powerpoint/2010/main" val="114988461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E73A3019-CFE4-49DD-B6FD-2AFB2DD2DBB6}" type="datetime1">
              <a:rPr lang="en-US" smtClean="0"/>
              <a:t>11/7/2024</a:t>
            </a:fld>
            <a:endParaRPr lang="en-US"/>
          </a:p>
        </p:txBody>
      </p:sp>
      <p:sp>
        <p:nvSpPr>
          <p:cNvPr id="5" name="Footer Placeholder 4"/>
          <p:cNvSpPr>
            <a:spLocks noGrp="1"/>
          </p:cNvSpPr>
          <p:nvPr>
            <p:ph type="ftr" sz="quarter" idx="11"/>
          </p:nvPr>
        </p:nvSpPr>
        <p:spPr>
          <a:xfrm>
            <a:off x="4343400" y="6248401"/>
            <a:ext cx="4724400" cy="365125"/>
          </a:xfrm>
        </p:spPr>
        <p:txBody>
          <a:bodyPr/>
          <a:lstStyle/>
          <a:p>
            <a:r>
              <a:rPr lang="en-US" dirty="0"/>
              <a:t>Vaishali Mishra            ACSE0505 Web Technology                Unit 5</a:t>
            </a:r>
          </a:p>
        </p:txBody>
      </p:sp>
      <p:sp>
        <p:nvSpPr>
          <p:cNvPr id="6" name="Slide Number Placeholder 5"/>
          <p:cNvSpPr>
            <a:spLocks noGrp="1"/>
          </p:cNvSpPr>
          <p:nvPr>
            <p:ph type="sldNum" sz="quarter" idx="12"/>
          </p:nvPr>
        </p:nvSpPr>
        <p:spPr/>
        <p:txBody>
          <a:bodyPr/>
          <a:lstStyle/>
          <a:p>
            <a:fld id="{B6F15528-21DE-4FAA-801E-634DDDAF4B2B}" type="slidenum">
              <a:rPr lang="en-US" smtClean="0"/>
              <a:pPr/>
              <a:t>59</a:t>
            </a:fld>
            <a:endParaRPr lang="en-US"/>
          </a:p>
        </p:txBody>
      </p:sp>
      <p:sp>
        <p:nvSpPr>
          <p:cNvPr id="7" name="Title 1"/>
          <p:cNvSpPr txBox="1">
            <a:spLocks/>
          </p:cNvSpPr>
          <p:nvPr/>
        </p:nvSpPr>
        <p:spPr>
          <a:xfrm>
            <a:off x="2895600" y="2"/>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pPr>
              <a:defRPr/>
            </a:pPr>
            <a:endParaRPr lang="en-US" sz="2800" dirty="0"/>
          </a:p>
          <a:p>
            <a:pPr>
              <a:defRPr/>
            </a:pPr>
            <a:r>
              <a:rPr kumimoji="0" lang="en-US" sz="2800" i="0" u="none" strike="noStrike" kern="1200" cap="none" spc="0" normalizeH="0" baseline="0" noProof="0" dirty="0">
                <a:ln>
                  <a:noFill/>
                </a:ln>
                <a:solidFill>
                  <a:schemeClr val="dk1"/>
                </a:solidFill>
                <a:effectLst/>
                <a:uLnTx/>
                <a:uFillTx/>
                <a:latin typeface="+mn-lt"/>
                <a:ea typeface="+mn-ea"/>
                <a:cs typeface="+mn-cs"/>
              </a:rPr>
              <a:t>Recap</a:t>
            </a:r>
          </a:p>
          <a:p>
            <a:pPr algn="ctr">
              <a:defRPr/>
            </a:pPr>
            <a:endParaRPr lang="en-US" sz="2800" dirty="0">
              <a:latin typeface="Times New Roman" pitchFamily="18" charset="0"/>
              <a:cs typeface="Times New Roman" pitchFamily="18" charset="0"/>
              <a:sym typeface="Arial" charset="0"/>
            </a:endParaRPr>
          </a:p>
        </p:txBody>
      </p:sp>
      <p:pic>
        <p:nvPicPr>
          <p:cNvPr id="2" name="Picture 1" descr="A black and red logo&#10;&#10;Description automatically generated">
            <a:extLst>
              <a:ext uri="{FF2B5EF4-FFF2-40B4-BE49-F238E27FC236}">
                <a16:creationId xmlns:a16="http://schemas.microsoft.com/office/drawing/2014/main" id="{8BDB0671-FC93-5C9E-75A2-ED46EE3FB8B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8" name="Content Placeholder 1">
            <a:extLst>
              <a:ext uri="{FF2B5EF4-FFF2-40B4-BE49-F238E27FC236}">
                <a16:creationId xmlns:a16="http://schemas.microsoft.com/office/drawing/2014/main" id="{1FF5ADF0-474C-251F-0E40-267B658E504A}"/>
              </a:ext>
            </a:extLst>
          </p:cNvPr>
          <p:cNvSpPr txBox="1">
            <a:spLocks noGrp="1"/>
          </p:cNvSpPr>
          <p:nvPr>
            <p:ph idx="1"/>
          </p:nvPr>
        </p:nvSpPr>
        <p:spPr>
          <a:xfrm>
            <a:off x="609600" y="1219200"/>
            <a:ext cx="10515600" cy="4449763"/>
          </a:xfrm>
        </p:spPr>
        <p:txBody>
          <a:bodyPr/>
          <a:lstStyle/>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lgn="ctr">
              <a:spcBef>
                <a:spcPts val="363"/>
              </a:spcBef>
              <a:spcAft>
                <a:spcPct val="0"/>
              </a:spcAft>
              <a:buClr>
                <a:srgbClr val="000000"/>
              </a:buClr>
              <a:buFont typeface="Arial" panose="020B0604020202020204" pitchFamily="34" charset="0"/>
              <a:buNone/>
            </a:pPr>
            <a:r>
              <a:rPr lang="en-IN" sz="2000" b="1" dirty="0">
                <a:latin typeface="Arial" panose="020B0604020202020204" pitchFamily="34" charset="0"/>
                <a:cs typeface="Arial" panose="020B0604020202020204" pitchFamily="34" charset="0"/>
              </a:rPr>
              <a:t> </a:t>
            </a:r>
          </a:p>
        </p:txBody>
      </p:sp>
      <p:sp>
        <p:nvSpPr>
          <p:cNvPr id="3" name="Content Placeholder 2">
            <a:extLst>
              <a:ext uri="{FF2B5EF4-FFF2-40B4-BE49-F238E27FC236}">
                <a16:creationId xmlns:a16="http://schemas.microsoft.com/office/drawing/2014/main" id="{C7FCD748-9073-004F-1B78-DBFB443F930B}"/>
              </a:ext>
            </a:extLst>
          </p:cNvPr>
          <p:cNvSpPr txBox="1">
            <a:spLocks/>
          </p:cNvSpPr>
          <p:nvPr/>
        </p:nvSpPr>
        <p:spPr>
          <a:xfrm>
            <a:off x="533400" y="990600"/>
            <a:ext cx="10134600" cy="4495800"/>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buFont typeface="Arial" pitchFamily="34" charset="0"/>
              <a:buNone/>
            </a:pPr>
            <a:r>
              <a:rPr lang="en-US" sz="2000"/>
              <a:t>In the last lecture we have discussed about</a:t>
            </a:r>
          </a:p>
          <a:p>
            <a:pPr>
              <a:buFont typeface="Arial" pitchFamily="34" charset="0"/>
              <a:buNone/>
            </a:pPr>
            <a:endParaRPr lang="en-US" sz="2000"/>
          </a:p>
          <a:p>
            <a:pPr lvl="1">
              <a:buFont typeface="Arial" pitchFamily="34" charset="0"/>
              <a:buNone/>
            </a:pPr>
            <a:r>
              <a:rPr lang="en-US" sz="2000"/>
              <a:t>- Introduction of basic of PHP with </a:t>
            </a:r>
            <a:r>
              <a:rPr lang="en-IN" sz="2000"/>
              <a:t>Data Type, Operator &amp; Expressions, Control flow and Decision making statements</a:t>
            </a:r>
            <a:r>
              <a:rPr lang="en-US" sz="2000"/>
              <a:t>.</a:t>
            </a:r>
          </a:p>
          <a:p>
            <a:pPr>
              <a:buFont typeface="Arial" pitchFamily="34" charset="0"/>
              <a:buNone/>
            </a:pPr>
            <a:endParaRPr lang="en-US" sz="2800" dirty="0"/>
          </a:p>
        </p:txBody>
      </p:sp>
    </p:spTree>
    <p:extLst>
      <p:ext uri="{BB962C8B-B14F-4D97-AF65-F5344CB8AC3E}">
        <p14:creationId xmlns:p14="http://schemas.microsoft.com/office/powerpoint/2010/main" val="296845004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E73A3019-CFE4-49DD-B6FD-2AFB2DD2DBB6}" type="datetime1">
              <a:rPr lang="en-US" smtClean="0"/>
              <a:t>11/7/2024</a:t>
            </a:fld>
            <a:endParaRPr lang="en-US"/>
          </a:p>
        </p:txBody>
      </p:sp>
      <p:sp>
        <p:nvSpPr>
          <p:cNvPr id="5" name="Footer Placeholder 4"/>
          <p:cNvSpPr>
            <a:spLocks noGrp="1"/>
          </p:cNvSpPr>
          <p:nvPr>
            <p:ph type="ftr" sz="quarter" idx="11"/>
          </p:nvPr>
        </p:nvSpPr>
        <p:spPr>
          <a:xfrm>
            <a:off x="4343400" y="6248401"/>
            <a:ext cx="4724400" cy="365125"/>
          </a:xfrm>
        </p:spPr>
        <p:txBody>
          <a:bodyPr/>
          <a:lstStyle/>
          <a:p>
            <a:r>
              <a:rPr lang="en-US" dirty="0"/>
              <a:t>Vaishali Mishra            ACSE0505 Web Technology                Unit 5</a:t>
            </a:r>
          </a:p>
        </p:txBody>
      </p:sp>
      <p:sp>
        <p:nvSpPr>
          <p:cNvPr id="6" name="Slide Number Placeholder 5"/>
          <p:cNvSpPr>
            <a:spLocks noGrp="1"/>
          </p:cNvSpPr>
          <p:nvPr>
            <p:ph type="sldNum" sz="quarter" idx="12"/>
          </p:nvPr>
        </p:nvSpPr>
        <p:spPr/>
        <p:txBody>
          <a:bodyPr/>
          <a:lstStyle/>
          <a:p>
            <a:fld id="{B6F15528-21DE-4FAA-801E-634DDDAF4B2B}" type="slidenum">
              <a:rPr lang="en-US" smtClean="0"/>
              <a:pPr/>
              <a:t>60</a:t>
            </a:fld>
            <a:endParaRPr lang="en-US"/>
          </a:p>
        </p:txBody>
      </p:sp>
      <p:sp>
        <p:nvSpPr>
          <p:cNvPr id="7" name="Title 1"/>
          <p:cNvSpPr txBox="1">
            <a:spLocks/>
          </p:cNvSpPr>
          <p:nvPr/>
        </p:nvSpPr>
        <p:spPr>
          <a:xfrm>
            <a:off x="2895600" y="2"/>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pPr>
              <a:defRPr/>
            </a:pPr>
            <a:endParaRPr lang="en-US" sz="2800" dirty="0"/>
          </a:p>
          <a:p>
            <a:pPr>
              <a:defRPr/>
            </a:pPr>
            <a:r>
              <a:rPr lang="en-US" sz="2800" dirty="0"/>
              <a:t>Functions (CO5)</a:t>
            </a:r>
            <a:endParaRPr lang="en-IN" sz="2800" dirty="0"/>
          </a:p>
          <a:p>
            <a:pPr algn="ctr">
              <a:defRPr/>
            </a:pPr>
            <a:endParaRPr lang="en-US" sz="2800" dirty="0">
              <a:latin typeface="Times New Roman" pitchFamily="18" charset="0"/>
              <a:cs typeface="Times New Roman" pitchFamily="18" charset="0"/>
              <a:sym typeface="Arial" charset="0"/>
            </a:endParaRPr>
          </a:p>
        </p:txBody>
      </p:sp>
      <p:pic>
        <p:nvPicPr>
          <p:cNvPr id="2" name="Picture 1" descr="A black and red logo&#10;&#10;Description automatically generated">
            <a:extLst>
              <a:ext uri="{FF2B5EF4-FFF2-40B4-BE49-F238E27FC236}">
                <a16:creationId xmlns:a16="http://schemas.microsoft.com/office/drawing/2014/main" id="{8BDB0671-FC93-5C9E-75A2-ED46EE3FB8B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8" name="Content Placeholder 1">
            <a:extLst>
              <a:ext uri="{FF2B5EF4-FFF2-40B4-BE49-F238E27FC236}">
                <a16:creationId xmlns:a16="http://schemas.microsoft.com/office/drawing/2014/main" id="{1FF5ADF0-474C-251F-0E40-267B658E504A}"/>
              </a:ext>
            </a:extLst>
          </p:cNvPr>
          <p:cNvSpPr txBox="1">
            <a:spLocks noGrp="1"/>
          </p:cNvSpPr>
          <p:nvPr>
            <p:ph idx="1"/>
          </p:nvPr>
        </p:nvSpPr>
        <p:spPr>
          <a:xfrm>
            <a:off x="609600" y="1219200"/>
            <a:ext cx="10515600" cy="4449763"/>
          </a:xfrm>
        </p:spPr>
        <p:txBody>
          <a:bodyPr/>
          <a:lstStyle/>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lgn="ctr">
              <a:spcBef>
                <a:spcPts val="363"/>
              </a:spcBef>
              <a:spcAft>
                <a:spcPct val="0"/>
              </a:spcAft>
              <a:buClr>
                <a:srgbClr val="000000"/>
              </a:buClr>
              <a:buFont typeface="Arial" panose="020B0604020202020204" pitchFamily="34" charset="0"/>
              <a:buNone/>
            </a:pPr>
            <a:r>
              <a:rPr lang="en-IN" sz="2000" b="1" dirty="0">
                <a:latin typeface="Arial" panose="020B0604020202020204" pitchFamily="34" charset="0"/>
                <a:cs typeface="Arial" panose="020B0604020202020204" pitchFamily="34" charset="0"/>
              </a:rPr>
              <a:t> </a:t>
            </a:r>
          </a:p>
        </p:txBody>
      </p:sp>
      <p:sp>
        <p:nvSpPr>
          <p:cNvPr id="3" name="Content Placeholder 2">
            <a:extLst>
              <a:ext uri="{FF2B5EF4-FFF2-40B4-BE49-F238E27FC236}">
                <a16:creationId xmlns:a16="http://schemas.microsoft.com/office/drawing/2014/main" id="{597E7CA2-FCD3-F0EC-D1BD-7CD2CAB7F9B5}"/>
              </a:ext>
            </a:extLst>
          </p:cNvPr>
          <p:cNvSpPr txBox="1">
            <a:spLocks/>
          </p:cNvSpPr>
          <p:nvPr/>
        </p:nvSpPr>
        <p:spPr>
          <a:xfrm>
            <a:off x="152400" y="838200"/>
            <a:ext cx="10668000" cy="5287964"/>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just"/>
            <a:r>
              <a:rPr lang="en-US" sz="2000"/>
              <a:t>PHP function is a piece of code that can be reused many times. It can take input as argument list and return value. There are thousands of built-in functions in PHP.</a:t>
            </a:r>
          </a:p>
          <a:p>
            <a:pPr algn="just"/>
            <a:r>
              <a:rPr lang="en-US" sz="2000"/>
              <a:t>In PHP, we can define </a:t>
            </a:r>
            <a:r>
              <a:rPr lang="en-US" sz="2000" b="1"/>
              <a:t>Conditional function</a:t>
            </a:r>
            <a:r>
              <a:rPr lang="en-US" sz="2000"/>
              <a:t>, </a:t>
            </a:r>
            <a:r>
              <a:rPr lang="en-US" sz="2000" b="1"/>
              <a:t>Function within Function</a:t>
            </a:r>
            <a:r>
              <a:rPr lang="en-US" sz="2000"/>
              <a:t> and </a:t>
            </a:r>
            <a:r>
              <a:rPr lang="en-US" sz="2000" b="1"/>
              <a:t>Recursive function</a:t>
            </a:r>
            <a:r>
              <a:rPr lang="en-US" sz="2000"/>
              <a:t> also.</a:t>
            </a:r>
          </a:p>
          <a:p>
            <a:pPr algn="just"/>
            <a:r>
              <a:rPr lang="en-US" sz="2000"/>
              <a:t>PHP User-defined Functions</a:t>
            </a:r>
          </a:p>
          <a:p>
            <a:pPr algn="just"/>
            <a:r>
              <a:rPr lang="en-US" sz="2000"/>
              <a:t>We can declare and call user-defined functions easily. Let's see the syntax to declare user-defined functions.</a:t>
            </a:r>
          </a:p>
          <a:p>
            <a:pPr algn="just"/>
            <a:r>
              <a:rPr lang="en-US" sz="2000"/>
              <a:t>Syntax</a:t>
            </a:r>
          </a:p>
          <a:p>
            <a:pPr lvl="1" algn="just"/>
            <a:r>
              <a:rPr lang="en-US" sz="2000" b="1"/>
              <a:t>function</a:t>
            </a:r>
            <a:r>
              <a:rPr lang="en-US" sz="2000"/>
              <a:t> functionname(){  </a:t>
            </a:r>
          </a:p>
          <a:p>
            <a:pPr lvl="1" algn="just"/>
            <a:r>
              <a:rPr lang="en-US" sz="2000"/>
              <a:t>//code to be executed  </a:t>
            </a:r>
          </a:p>
          <a:p>
            <a:pPr lvl="1" algn="just"/>
            <a:r>
              <a:rPr lang="en-US" sz="2000"/>
              <a:t>}  </a:t>
            </a:r>
          </a:p>
          <a:p>
            <a:pPr marL="0" indent="0" algn="just">
              <a:buFont typeface="Arial" pitchFamily="34" charset="0"/>
              <a:buNone/>
            </a:pPr>
            <a:endParaRPr lang="en-US" sz="2000" b="1" dirty="0">
              <a:latin typeface="Open Sans"/>
            </a:endParaRPr>
          </a:p>
        </p:txBody>
      </p:sp>
    </p:spTree>
    <p:extLst>
      <p:ext uri="{BB962C8B-B14F-4D97-AF65-F5344CB8AC3E}">
        <p14:creationId xmlns:p14="http://schemas.microsoft.com/office/powerpoint/2010/main" val="330425476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E73A3019-CFE4-49DD-B6FD-2AFB2DD2DBB6}" type="datetime1">
              <a:rPr lang="en-US" smtClean="0"/>
              <a:t>11/7/2024</a:t>
            </a:fld>
            <a:endParaRPr lang="en-US"/>
          </a:p>
        </p:txBody>
      </p:sp>
      <p:sp>
        <p:nvSpPr>
          <p:cNvPr id="5" name="Footer Placeholder 4"/>
          <p:cNvSpPr>
            <a:spLocks noGrp="1"/>
          </p:cNvSpPr>
          <p:nvPr>
            <p:ph type="ftr" sz="quarter" idx="11"/>
          </p:nvPr>
        </p:nvSpPr>
        <p:spPr>
          <a:xfrm>
            <a:off x="4343400" y="6248401"/>
            <a:ext cx="4724400" cy="365125"/>
          </a:xfrm>
        </p:spPr>
        <p:txBody>
          <a:bodyPr/>
          <a:lstStyle/>
          <a:p>
            <a:r>
              <a:rPr lang="en-US" dirty="0"/>
              <a:t>Vaishali Mishra            ACSE0505 Web Technology                Unit 5</a:t>
            </a:r>
          </a:p>
        </p:txBody>
      </p:sp>
      <p:sp>
        <p:nvSpPr>
          <p:cNvPr id="6" name="Slide Number Placeholder 5"/>
          <p:cNvSpPr>
            <a:spLocks noGrp="1"/>
          </p:cNvSpPr>
          <p:nvPr>
            <p:ph type="sldNum" sz="quarter" idx="12"/>
          </p:nvPr>
        </p:nvSpPr>
        <p:spPr/>
        <p:txBody>
          <a:bodyPr/>
          <a:lstStyle/>
          <a:p>
            <a:fld id="{B6F15528-21DE-4FAA-801E-634DDDAF4B2B}" type="slidenum">
              <a:rPr lang="en-US" smtClean="0"/>
              <a:pPr/>
              <a:t>61</a:t>
            </a:fld>
            <a:endParaRPr lang="en-US"/>
          </a:p>
        </p:txBody>
      </p:sp>
      <p:sp>
        <p:nvSpPr>
          <p:cNvPr id="7" name="Title 1"/>
          <p:cNvSpPr txBox="1">
            <a:spLocks/>
          </p:cNvSpPr>
          <p:nvPr/>
        </p:nvSpPr>
        <p:spPr>
          <a:xfrm>
            <a:off x="2895600" y="2"/>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pPr>
              <a:defRPr/>
            </a:pPr>
            <a:endParaRPr lang="en-US" sz="2800" dirty="0"/>
          </a:p>
          <a:p>
            <a:pPr>
              <a:defRPr/>
            </a:pPr>
            <a:r>
              <a:rPr lang="en-US" sz="2800" dirty="0"/>
              <a:t>Functions (CO5)</a:t>
            </a:r>
            <a:endParaRPr lang="en-IN" sz="2800" dirty="0"/>
          </a:p>
          <a:p>
            <a:pPr algn="ctr">
              <a:defRPr/>
            </a:pPr>
            <a:endParaRPr lang="en-US" sz="2800" dirty="0">
              <a:latin typeface="Times New Roman" pitchFamily="18" charset="0"/>
              <a:cs typeface="Times New Roman" pitchFamily="18" charset="0"/>
              <a:sym typeface="Arial" charset="0"/>
            </a:endParaRPr>
          </a:p>
        </p:txBody>
      </p:sp>
      <p:pic>
        <p:nvPicPr>
          <p:cNvPr id="2" name="Picture 1" descr="A black and red logo&#10;&#10;Description automatically generated">
            <a:extLst>
              <a:ext uri="{FF2B5EF4-FFF2-40B4-BE49-F238E27FC236}">
                <a16:creationId xmlns:a16="http://schemas.microsoft.com/office/drawing/2014/main" id="{8BDB0671-FC93-5C9E-75A2-ED46EE3FB8B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8" name="Content Placeholder 1">
            <a:extLst>
              <a:ext uri="{FF2B5EF4-FFF2-40B4-BE49-F238E27FC236}">
                <a16:creationId xmlns:a16="http://schemas.microsoft.com/office/drawing/2014/main" id="{1FF5ADF0-474C-251F-0E40-267B658E504A}"/>
              </a:ext>
            </a:extLst>
          </p:cNvPr>
          <p:cNvSpPr txBox="1">
            <a:spLocks noGrp="1"/>
          </p:cNvSpPr>
          <p:nvPr>
            <p:ph idx="1"/>
          </p:nvPr>
        </p:nvSpPr>
        <p:spPr>
          <a:xfrm>
            <a:off x="609600" y="1219200"/>
            <a:ext cx="10515600" cy="4449763"/>
          </a:xfrm>
        </p:spPr>
        <p:txBody>
          <a:bodyPr/>
          <a:lstStyle/>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lgn="ctr">
              <a:spcBef>
                <a:spcPts val="363"/>
              </a:spcBef>
              <a:spcAft>
                <a:spcPct val="0"/>
              </a:spcAft>
              <a:buClr>
                <a:srgbClr val="000000"/>
              </a:buClr>
              <a:buFont typeface="Arial" panose="020B0604020202020204" pitchFamily="34" charset="0"/>
              <a:buNone/>
            </a:pPr>
            <a:r>
              <a:rPr lang="en-IN" sz="2000" b="1" dirty="0">
                <a:latin typeface="Arial" panose="020B0604020202020204" pitchFamily="34" charset="0"/>
                <a:cs typeface="Arial" panose="020B0604020202020204" pitchFamily="34" charset="0"/>
              </a:rPr>
              <a:t> </a:t>
            </a:r>
          </a:p>
        </p:txBody>
      </p:sp>
      <p:sp>
        <p:nvSpPr>
          <p:cNvPr id="3" name="Content Placeholder 2">
            <a:extLst>
              <a:ext uri="{FF2B5EF4-FFF2-40B4-BE49-F238E27FC236}">
                <a16:creationId xmlns:a16="http://schemas.microsoft.com/office/drawing/2014/main" id="{6F2172A7-5ACB-9E14-1F28-C1829431BF83}"/>
              </a:ext>
            </a:extLst>
          </p:cNvPr>
          <p:cNvSpPr txBox="1">
            <a:spLocks/>
          </p:cNvSpPr>
          <p:nvPr/>
        </p:nvSpPr>
        <p:spPr>
          <a:xfrm>
            <a:off x="457200" y="1055218"/>
            <a:ext cx="9906000" cy="5070946"/>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Font typeface="Arial" pitchFamily="34" charset="0"/>
              <a:buNone/>
            </a:pPr>
            <a:r>
              <a:rPr lang="en-US" sz="2000" b="1"/>
              <a:t>1</a:t>
            </a:r>
            <a:r>
              <a:rPr lang="en-US" sz="2000"/>
              <a:t> </a:t>
            </a:r>
            <a:r>
              <a:rPr lang="en-US" sz="2000" b="1"/>
              <a:t>PHP Parameterized functions </a:t>
            </a:r>
            <a:r>
              <a:rPr lang="en-US" sz="2000"/>
              <a:t>are the functions with parameters. You can pass any number of parameters inside a function. These passed parameters act as variables inside your function. They are specified inside the parentheses, after the function name. The output depends upon the dynamic values passed as the parameters into the function.</a:t>
            </a:r>
          </a:p>
          <a:p>
            <a:pPr marL="0" indent="0" algn="just">
              <a:buFont typeface="Arial" pitchFamily="34" charset="0"/>
              <a:buNone/>
            </a:pPr>
            <a:endParaRPr lang="en-US" sz="2000" b="1" dirty="0">
              <a:latin typeface="Open Sans"/>
            </a:endParaRPr>
          </a:p>
        </p:txBody>
      </p:sp>
    </p:spTree>
    <p:extLst>
      <p:ext uri="{BB962C8B-B14F-4D97-AF65-F5344CB8AC3E}">
        <p14:creationId xmlns:p14="http://schemas.microsoft.com/office/powerpoint/2010/main" val="174467621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E73A3019-CFE4-49DD-B6FD-2AFB2DD2DBB6}" type="datetime1">
              <a:rPr lang="en-US" smtClean="0"/>
              <a:t>11/7/2024</a:t>
            </a:fld>
            <a:endParaRPr lang="en-US"/>
          </a:p>
        </p:txBody>
      </p:sp>
      <p:sp>
        <p:nvSpPr>
          <p:cNvPr id="5" name="Footer Placeholder 4"/>
          <p:cNvSpPr>
            <a:spLocks noGrp="1"/>
          </p:cNvSpPr>
          <p:nvPr>
            <p:ph type="ftr" sz="quarter" idx="11"/>
          </p:nvPr>
        </p:nvSpPr>
        <p:spPr>
          <a:xfrm>
            <a:off x="4343400" y="6248401"/>
            <a:ext cx="4724400" cy="365125"/>
          </a:xfrm>
        </p:spPr>
        <p:txBody>
          <a:bodyPr/>
          <a:lstStyle/>
          <a:p>
            <a:r>
              <a:rPr lang="en-US" dirty="0"/>
              <a:t>Vaishali Mishra            ACSE0505 Web Technology                Unit 5</a:t>
            </a:r>
          </a:p>
        </p:txBody>
      </p:sp>
      <p:sp>
        <p:nvSpPr>
          <p:cNvPr id="6" name="Slide Number Placeholder 5"/>
          <p:cNvSpPr>
            <a:spLocks noGrp="1"/>
          </p:cNvSpPr>
          <p:nvPr>
            <p:ph type="sldNum" sz="quarter" idx="12"/>
          </p:nvPr>
        </p:nvSpPr>
        <p:spPr/>
        <p:txBody>
          <a:bodyPr/>
          <a:lstStyle/>
          <a:p>
            <a:fld id="{B6F15528-21DE-4FAA-801E-634DDDAF4B2B}" type="slidenum">
              <a:rPr lang="en-US" smtClean="0"/>
              <a:pPr/>
              <a:t>62</a:t>
            </a:fld>
            <a:endParaRPr lang="en-US"/>
          </a:p>
        </p:txBody>
      </p:sp>
      <p:sp>
        <p:nvSpPr>
          <p:cNvPr id="7" name="Title 1"/>
          <p:cNvSpPr txBox="1">
            <a:spLocks/>
          </p:cNvSpPr>
          <p:nvPr/>
        </p:nvSpPr>
        <p:spPr>
          <a:xfrm>
            <a:off x="2895600" y="2"/>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pPr>
              <a:defRPr/>
            </a:pPr>
            <a:endParaRPr lang="en-US" sz="2800" dirty="0"/>
          </a:p>
          <a:p>
            <a:pPr>
              <a:defRPr/>
            </a:pPr>
            <a:r>
              <a:rPr lang="en-US" sz="2800" dirty="0"/>
              <a:t>Functions (CO5)</a:t>
            </a:r>
            <a:endParaRPr lang="en-IN" sz="2800" dirty="0"/>
          </a:p>
          <a:p>
            <a:pPr algn="ctr">
              <a:defRPr/>
            </a:pPr>
            <a:endParaRPr lang="en-US" sz="2800" dirty="0">
              <a:latin typeface="Times New Roman" pitchFamily="18" charset="0"/>
              <a:cs typeface="Times New Roman" pitchFamily="18" charset="0"/>
              <a:sym typeface="Arial" charset="0"/>
            </a:endParaRPr>
          </a:p>
        </p:txBody>
      </p:sp>
      <p:pic>
        <p:nvPicPr>
          <p:cNvPr id="2" name="Picture 1" descr="A black and red logo&#10;&#10;Description automatically generated">
            <a:extLst>
              <a:ext uri="{FF2B5EF4-FFF2-40B4-BE49-F238E27FC236}">
                <a16:creationId xmlns:a16="http://schemas.microsoft.com/office/drawing/2014/main" id="{8BDB0671-FC93-5C9E-75A2-ED46EE3FB8B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8" name="Content Placeholder 1">
            <a:extLst>
              <a:ext uri="{FF2B5EF4-FFF2-40B4-BE49-F238E27FC236}">
                <a16:creationId xmlns:a16="http://schemas.microsoft.com/office/drawing/2014/main" id="{1FF5ADF0-474C-251F-0E40-267B658E504A}"/>
              </a:ext>
            </a:extLst>
          </p:cNvPr>
          <p:cNvSpPr txBox="1">
            <a:spLocks noGrp="1"/>
          </p:cNvSpPr>
          <p:nvPr>
            <p:ph idx="1"/>
          </p:nvPr>
        </p:nvSpPr>
        <p:spPr>
          <a:xfrm>
            <a:off x="609600" y="1219200"/>
            <a:ext cx="10515600" cy="4449763"/>
          </a:xfrm>
        </p:spPr>
        <p:txBody>
          <a:bodyPr/>
          <a:lstStyle/>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lgn="ctr">
              <a:spcBef>
                <a:spcPts val="363"/>
              </a:spcBef>
              <a:spcAft>
                <a:spcPct val="0"/>
              </a:spcAft>
              <a:buClr>
                <a:srgbClr val="000000"/>
              </a:buClr>
              <a:buFont typeface="Arial" panose="020B0604020202020204" pitchFamily="34" charset="0"/>
              <a:buNone/>
            </a:pPr>
            <a:r>
              <a:rPr lang="en-IN" sz="2000" b="1" dirty="0">
                <a:latin typeface="Arial" panose="020B0604020202020204" pitchFamily="34" charset="0"/>
                <a:cs typeface="Arial" panose="020B0604020202020204" pitchFamily="34" charset="0"/>
              </a:rPr>
              <a:t> </a:t>
            </a:r>
          </a:p>
        </p:txBody>
      </p:sp>
      <p:sp>
        <p:nvSpPr>
          <p:cNvPr id="3" name="Content Placeholder 2">
            <a:extLst>
              <a:ext uri="{FF2B5EF4-FFF2-40B4-BE49-F238E27FC236}">
                <a16:creationId xmlns:a16="http://schemas.microsoft.com/office/drawing/2014/main" id="{AA3ECAD9-B39D-1641-DA8C-711DB2E9C85B}"/>
              </a:ext>
            </a:extLst>
          </p:cNvPr>
          <p:cNvSpPr txBox="1">
            <a:spLocks/>
          </p:cNvSpPr>
          <p:nvPr/>
        </p:nvSpPr>
        <p:spPr>
          <a:xfrm>
            <a:off x="457200" y="1055218"/>
            <a:ext cx="9982200" cy="5070946"/>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Font typeface="Arial" pitchFamily="34" charset="0"/>
              <a:buNone/>
            </a:pPr>
            <a:r>
              <a:rPr lang="en-US" sz="2000" b="1"/>
              <a:t>2 PHP call by value function </a:t>
            </a:r>
            <a:r>
              <a:rPr lang="en-US" sz="2000"/>
              <a:t>allows you to call function by value and reference both. In case of PHP call by value, actual value is not modified if it is modified inside the function.</a:t>
            </a:r>
          </a:p>
          <a:p>
            <a:pPr lvl="1" algn="just"/>
            <a:r>
              <a:rPr lang="en-US" sz="2000"/>
              <a:t>&lt;?php  </a:t>
            </a:r>
          </a:p>
          <a:p>
            <a:pPr lvl="1" algn="just"/>
            <a:r>
              <a:rPr lang="en-US" sz="2000" b="1"/>
              <a:t>function</a:t>
            </a:r>
            <a:r>
              <a:rPr lang="en-US" sz="2000"/>
              <a:t> adder($str2)  </a:t>
            </a:r>
          </a:p>
          <a:p>
            <a:pPr lvl="1" algn="just"/>
            <a:r>
              <a:rPr lang="en-US" sz="2000"/>
              <a:t>{  </a:t>
            </a:r>
          </a:p>
          <a:p>
            <a:pPr lvl="1" algn="just"/>
            <a:r>
              <a:rPr lang="en-US" sz="2000"/>
              <a:t>    $str2 .= 'Call By Value';  </a:t>
            </a:r>
          </a:p>
          <a:p>
            <a:pPr lvl="1" algn="just"/>
            <a:r>
              <a:rPr lang="en-US" sz="2000"/>
              <a:t>}  </a:t>
            </a:r>
          </a:p>
          <a:p>
            <a:pPr lvl="1" algn="just"/>
            <a:r>
              <a:rPr lang="en-US" sz="2000"/>
              <a:t>$str = 'Hello ';  </a:t>
            </a:r>
          </a:p>
          <a:p>
            <a:pPr lvl="1" algn="just"/>
            <a:r>
              <a:rPr lang="en-US" sz="2000"/>
              <a:t>adder($str);  </a:t>
            </a:r>
          </a:p>
          <a:p>
            <a:pPr lvl="1" algn="just"/>
            <a:r>
              <a:rPr lang="en-US" sz="2000"/>
              <a:t>echo $str;  </a:t>
            </a:r>
          </a:p>
          <a:p>
            <a:pPr lvl="1" algn="just"/>
            <a:r>
              <a:rPr lang="en-US" sz="2000"/>
              <a:t>?&gt;</a:t>
            </a:r>
            <a:r>
              <a:rPr lang="en-US" sz="1800"/>
              <a:t>  </a:t>
            </a:r>
          </a:p>
          <a:p>
            <a:pPr marL="0" indent="0" algn="just">
              <a:buFont typeface="Arial" pitchFamily="34" charset="0"/>
              <a:buNone/>
            </a:pPr>
            <a:endParaRPr lang="en-US" sz="2000" b="1" dirty="0">
              <a:latin typeface="Open Sans"/>
            </a:endParaRPr>
          </a:p>
        </p:txBody>
      </p:sp>
    </p:spTree>
    <p:extLst>
      <p:ext uri="{BB962C8B-B14F-4D97-AF65-F5344CB8AC3E}">
        <p14:creationId xmlns:p14="http://schemas.microsoft.com/office/powerpoint/2010/main" val="358446238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E73A3019-CFE4-49DD-B6FD-2AFB2DD2DBB6}" type="datetime1">
              <a:rPr lang="en-US" smtClean="0"/>
              <a:t>11/7/2024</a:t>
            </a:fld>
            <a:endParaRPr lang="en-US"/>
          </a:p>
        </p:txBody>
      </p:sp>
      <p:sp>
        <p:nvSpPr>
          <p:cNvPr id="5" name="Footer Placeholder 4"/>
          <p:cNvSpPr>
            <a:spLocks noGrp="1"/>
          </p:cNvSpPr>
          <p:nvPr>
            <p:ph type="ftr" sz="quarter" idx="11"/>
          </p:nvPr>
        </p:nvSpPr>
        <p:spPr>
          <a:xfrm>
            <a:off x="4343400" y="6248401"/>
            <a:ext cx="4724400" cy="365125"/>
          </a:xfrm>
        </p:spPr>
        <p:txBody>
          <a:bodyPr/>
          <a:lstStyle/>
          <a:p>
            <a:r>
              <a:rPr lang="en-US" dirty="0"/>
              <a:t>Vaishali Mishra            ACSE0505 Web Technology                Unit 5</a:t>
            </a:r>
          </a:p>
        </p:txBody>
      </p:sp>
      <p:sp>
        <p:nvSpPr>
          <p:cNvPr id="6" name="Slide Number Placeholder 5"/>
          <p:cNvSpPr>
            <a:spLocks noGrp="1"/>
          </p:cNvSpPr>
          <p:nvPr>
            <p:ph type="sldNum" sz="quarter" idx="12"/>
          </p:nvPr>
        </p:nvSpPr>
        <p:spPr/>
        <p:txBody>
          <a:bodyPr/>
          <a:lstStyle/>
          <a:p>
            <a:fld id="{B6F15528-21DE-4FAA-801E-634DDDAF4B2B}" type="slidenum">
              <a:rPr lang="en-US" smtClean="0"/>
              <a:pPr/>
              <a:t>63</a:t>
            </a:fld>
            <a:endParaRPr lang="en-US"/>
          </a:p>
        </p:txBody>
      </p:sp>
      <p:sp>
        <p:nvSpPr>
          <p:cNvPr id="7" name="Title 1"/>
          <p:cNvSpPr txBox="1">
            <a:spLocks/>
          </p:cNvSpPr>
          <p:nvPr/>
        </p:nvSpPr>
        <p:spPr>
          <a:xfrm>
            <a:off x="2895600" y="2"/>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pPr>
              <a:defRPr/>
            </a:pPr>
            <a:endParaRPr lang="en-US" sz="2800" dirty="0"/>
          </a:p>
          <a:p>
            <a:pPr>
              <a:defRPr/>
            </a:pPr>
            <a:r>
              <a:rPr lang="en-US" sz="2800" dirty="0"/>
              <a:t>Functions (CO5)</a:t>
            </a:r>
            <a:endParaRPr lang="en-IN" sz="2800" dirty="0"/>
          </a:p>
          <a:p>
            <a:pPr algn="ctr">
              <a:defRPr/>
            </a:pPr>
            <a:endParaRPr lang="en-US" sz="2800" dirty="0">
              <a:latin typeface="Times New Roman" pitchFamily="18" charset="0"/>
              <a:cs typeface="Times New Roman" pitchFamily="18" charset="0"/>
              <a:sym typeface="Arial" charset="0"/>
            </a:endParaRPr>
          </a:p>
        </p:txBody>
      </p:sp>
      <p:pic>
        <p:nvPicPr>
          <p:cNvPr id="2" name="Picture 1" descr="A black and red logo&#10;&#10;Description automatically generated">
            <a:extLst>
              <a:ext uri="{FF2B5EF4-FFF2-40B4-BE49-F238E27FC236}">
                <a16:creationId xmlns:a16="http://schemas.microsoft.com/office/drawing/2014/main" id="{8BDB0671-FC93-5C9E-75A2-ED46EE3FB8B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8" name="Content Placeholder 1">
            <a:extLst>
              <a:ext uri="{FF2B5EF4-FFF2-40B4-BE49-F238E27FC236}">
                <a16:creationId xmlns:a16="http://schemas.microsoft.com/office/drawing/2014/main" id="{1FF5ADF0-474C-251F-0E40-267B658E504A}"/>
              </a:ext>
            </a:extLst>
          </p:cNvPr>
          <p:cNvSpPr txBox="1">
            <a:spLocks noGrp="1"/>
          </p:cNvSpPr>
          <p:nvPr>
            <p:ph idx="1"/>
          </p:nvPr>
        </p:nvSpPr>
        <p:spPr>
          <a:xfrm>
            <a:off x="609600" y="1219200"/>
            <a:ext cx="10515600" cy="4449763"/>
          </a:xfrm>
        </p:spPr>
        <p:txBody>
          <a:bodyPr/>
          <a:lstStyle/>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lgn="ctr">
              <a:spcBef>
                <a:spcPts val="363"/>
              </a:spcBef>
              <a:spcAft>
                <a:spcPct val="0"/>
              </a:spcAft>
              <a:buClr>
                <a:srgbClr val="000000"/>
              </a:buClr>
              <a:buFont typeface="Arial" panose="020B0604020202020204" pitchFamily="34" charset="0"/>
              <a:buNone/>
            </a:pPr>
            <a:r>
              <a:rPr lang="en-IN" sz="2000" b="1" dirty="0">
                <a:latin typeface="Arial" panose="020B0604020202020204" pitchFamily="34" charset="0"/>
                <a:cs typeface="Arial" panose="020B0604020202020204" pitchFamily="34" charset="0"/>
              </a:rPr>
              <a:t> </a:t>
            </a:r>
          </a:p>
        </p:txBody>
      </p:sp>
      <p:sp>
        <p:nvSpPr>
          <p:cNvPr id="3" name="Content Placeholder 2">
            <a:extLst>
              <a:ext uri="{FF2B5EF4-FFF2-40B4-BE49-F238E27FC236}">
                <a16:creationId xmlns:a16="http://schemas.microsoft.com/office/drawing/2014/main" id="{871ABAA3-A604-3916-CD43-3CAD74AD5C82}"/>
              </a:ext>
            </a:extLst>
          </p:cNvPr>
          <p:cNvSpPr txBox="1">
            <a:spLocks/>
          </p:cNvSpPr>
          <p:nvPr/>
        </p:nvSpPr>
        <p:spPr>
          <a:xfrm>
            <a:off x="381000" y="947268"/>
            <a:ext cx="10287000" cy="5178896"/>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Font typeface="Arial" pitchFamily="34" charset="0"/>
              <a:buNone/>
            </a:pPr>
            <a:r>
              <a:rPr lang="en-US" sz="2000" b="1"/>
              <a:t>3 In case of PHP call by reference</a:t>
            </a:r>
            <a:r>
              <a:rPr lang="en-US" sz="2000"/>
              <a:t>, actual value is modified if it is modified inside the function. In such case, you need to use &amp; (ampersand) symbol with formal arguments. The &amp; represents reference of the variable.</a:t>
            </a:r>
          </a:p>
          <a:p>
            <a:pPr lvl="1" algn="just"/>
            <a:r>
              <a:rPr lang="en-US" sz="2000"/>
              <a:t>&lt;?php  </a:t>
            </a:r>
          </a:p>
          <a:p>
            <a:pPr lvl="1" algn="just"/>
            <a:r>
              <a:rPr lang="en-US" sz="2000" b="1"/>
              <a:t>function</a:t>
            </a:r>
            <a:r>
              <a:rPr lang="en-US" sz="2000"/>
              <a:t> adder(&amp;$str2)  </a:t>
            </a:r>
          </a:p>
          <a:p>
            <a:pPr lvl="1" algn="just"/>
            <a:r>
              <a:rPr lang="en-US" sz="2000"/>
              <a:t>{  </a:t>
            </a:r>
          </a:p>
          <a:p>
            <a:pPr lvl="1" algn="just"/>
            <a:r>
              <a:rPr lang="en-US" sz="2000"/>
              <a:t>    $str2 .= 'Call By Reference';  </a:t>
            </a:r>
          </a:p>
          <a:p>
            <a:pPr lvl="1" algn="just"/>
            <a:r>
              <a:rPr lang="en-US" sz="2000"/>
              <a:t>}  </a:t>
            </a:r>
          </a:p>
          <a:p>
            <a:pPr lvl="1" algn="just"/>
            <a:r>
              <a:rPr lang="en-US" sz="2000"/>
              <a:t>$str = 'This is ';  </a:t>
            </a:r>
          </a:p>
          <a:p>
            <a:pPr lvl="1" algn="just"/>
            <a:r>
              <a:rPr lang="en-US" sz="2000"/>
              <a:t>adder($str);  </a:t>
            </a:r>
          </a:p>
          <a:p>
            <a:pPr lvl="1" algn="just"/>
            <a:r>
              <a:rPr lang="en-US" sz="2000"/>
              <a:t>echo $str;  </a:t>
            </a:r>
          </a:p>
          <a:p>
            <a:pPr lvl="1" algn="just"/>
            <a:r>
              <a:rPr lang="en-US" sz="2000"/>
              <a:t>?&gt;  </a:t>
            </a:r>
          </a:p>
          <a:p>
            <a:pPr marL="0" indent="0" algn="just">
              <a:buFont typeface="Arial" pitchFamily="34" charset="0"/>
              <a:buNone/>
            </a:pPr>
            <a:endParaRPr lang="en-US" sz="2000" b="1" dirty="0">
              <a:latin typeface="Open Sans"/>
            </a:endParaRPr>
          </a:p>
        </p:txBody>
      </p:sp>
    </p:spTree>
    <p:extLst>
      <p:ext uri="{BB962C8B-B14F-4D97-AF65-F5344CB8AC3E}">
        <p14:creationId xmlns:p14="http://schemas.microsoft.com/office/powerpoint/2010/main" val="241300080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E73A3019-CFE4-49DD-B6FD-2AFB2DD2DBB6}" type="datetime1">
              <a:rPr lang="en-US" smtClean="0"/>
              <a:t>11/7/2024</a:t>
            </a:fld>
            <a:endParaRPr lang="en-US"/>
          </a:p>
        </p:txBody>
      </p:sp>
      <p:sp>
        <p:nvSpPr>
          <p:cNvPr id="5" name="Footer Placeholder 4"/>
          <p:cNvSpPr>
            <a:spLocks noGrp="1"/>
          </p:cNvSpPr>
          <p:nvPr>
            <p:ph type="ftr" sz="quarter" idx="11"/>
          </p:nvPr>
        </p:nvSpPr>
        <p:spPr>
          <a:xfrm>
            <a:off x="4343400" y="6248401"/>
            <a:ext cx="4724400" cy="365125"/>
          </a:xfrm>
        </p:spPr>
        <p:txBody>
          <a:bodyPr/>
          <a:lstStyle/>
          <a:p>
            <a:r>
              <a:rPr lang="en-US" dirty="0"/>
              <a:t>Vaishali Mishra            ACSE0505 Web Technology                Unit 5</a:t>
            </a:r>
          </a:p>
        </p:txBody>
      </p:sp>
      <p:sp>
        <p:nvSpPr>
          <p:cNvPr id="6" name="Slide Number Placeholder 5"/>
          <p:cNvSpPr>
            <a:spLocks noGrp="1"/>
          </p:cNvSpPr>
          <p:nvPr>
            <p:ph type="sldNum" sz="quarter" idx="12"/>
          </p:nvPr>
        </p:nvSpPr>
        <p:spPr/>
        <p:txBody>
          <a:bodyPr/>
          <a:lstStyle/>
          <a:p>
            <a:fld id="{B6F15528-21DE-4FAA-801E-634DDDAF4B2B}" type="slidenum">
              <a:rPr lang="en-US" smtClean="0"/>
              <a:pPr/>
              <a:t>64</a:t>
            </a:fld>
            <a:endParaRPr lang="en-US"/>
          </a:p>
        </p:txBody>
      </p:sp>
      <p:sp>
        <p:nvSpPr>
          <p:cNvPr id="7" name="Title 1"/>
          <p:cNvSpPr txBox="1">
            <a:spLocks/>
          </p:cNvSpPr>
          <p:nvPr/>
        </p:nvSpPr>
        <p:spPr>
          <a:xfrm>
            <a:off x="2895600" y="2"/>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pPr>
              <a:defRPr/>
            </a:pPr>
            <a:endParaRPr lang="en-US" sz="2800" dirty="0"/>
          </a:p>
          <a:p>
            <a:pPr>
              <a:defRPr/>
            </a:pPr>
            <a:r>
              <a:rPr lang="en-US" sz="2800" dirty="0"/>
              <a:t>Functions (CO5)</a:t>
            </a:r>
            <a:endParaRPr lang="en-IN" sz="2800" dirty="0"/>
          </a:p>
          <a:p>
            <a:pPr algn="ctr">
              <a:defRPr/>
            </a:pPr>
            <a:endParaRPr lang="en-US" sz="2800" dirty="0">
              <a:latin typeface="Times New Roman" pitchFamily="18" charset="0"/>
              <a:cs typeface="Times New Roman" pitchFamily="18" charset="0"/>
              <a:sym typeface="Arial" charset="0"/>
            </a:endParaRPr>
          </a:p>
        </p:txBody>
      </p:sp>
      <p:pic>
        <p:nvPicPr>
          <p:cNvPr id="2" name="Picture 1" descr="A black and red logo&#10;&#10;Description automatically generated">
            <a:extLst>
              <a:ext uri="{FF2B5EF4-FFF2-40B4-BE49-F238E27FC236}">
                <a16:creationId xmlns:a16="http://schemas.microsoft.com/office/drawing/2014/main" id="{8BDB0671-FC93-5C9E-75A2-ED46EE3FB8B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8" name="Content Placeholder 1">
            <a:extLst>
              <a:ext uri="{FF2B5EF4-FFF2-40B4-BE49-F238E27FC236}">
                <a16:creationId xmlns:a16="http://schemas.microsoft.com/office/drawing/2014/main" id="{1FF5ADF0-474C-251F-0E40-267B658E504A}"/>
              </a:ext>
            </a:extLst>
          </p:cNvPr>
          <p:cNvSpPr txBox="1">
            <a:spLocks noGrp="1"/>
          </p:cNvSpPr>
          <p:nvPr>
            <p:ph idx="1"/>
          </p:nvPr>
        </p:nvSpPr>
        <p:spPr>
          <a:xfrm>
            <a:off x="609600" y="1219200"/>
            <a:ext cx="10515600" cy="4449763"/>
          </a:xfrm>
        </p:spPr>
        <p:txBody>
          <a:bodyPr/>
          <a:lstStyle/>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lgn="ctr">
              <a:spcBef>
                <a:spcPts val="363"/>
              </a:spcBef>
              <a:spcAft>
                <a:spcPct val="0"/>
              </a:spcAft>
              <a:buClr>
                <a:srgbClr val="000000"/>
              </a:buClr>
              <a:buFont typeface="Arial" panose="020B0604020202020204" pitchFamily="34" charset="0"/>
              <a:buNone/>
            </a:pPr>
            <a:r>
              <a:rPr lang="en-IN" sz="2000" b="1" dirty="0">
                <a:latin typeface="Arial" panose="020B0604020202020204" pitchFamily="34" charset="0"/>
                <a:cs typeface="Arial" panose="020B0604020202020204" pitchFamily="34" charset="0"/>
              </a:rPr>
              <a:t> </a:t>
            </a:r>
          </a:p>
        </p:txBody>
      </p:sp>
      <p:sp>
        <p:nvSpPr>
          <p:cNvPr id="3" name="Content Placeholder 2">
            <a:extLst>
              <a:ext uri="{FF2B5EF4-FFF2-40B4-BE49-F238E27FC236}">
                <a16:creationId xmlns:a16="http://schemas.microsoft.com/office/drawing/2014/main" id="{927AD353-076C-E814-5EE4-7BC364CFC37A}"/>
              </a:ext>
            </a:extLst>
          </p:cNvPr>
          <p:cNvSpPr txBox="1">
            <a:spLocks/>
          </p:cNvSpPr>
          <p:nvPr/>
        </p:nvSpPr>
        <p:spPr>
          <a:xfrm>
            <a:off x="152400" y="947268"/>
            <a:ext cx="10744200" cy="5178896"/>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Font typeface="Arial" pitchFamily="34" charset="0"/>
              <a:buNone/>
            </a:pPr>
            <a:r>
              <a:rPr lang="en-IN" sz="2000" b="1"/>
              <a:t>4 PHP Default Argument Values Function </a:t>
            </a:r>
            <a:r>
              <a:rPr lang="en-IN" sz="2000"/>
              <a:t>allows you to define C++ style default argument values. In such case, if you don't pass any value to the function, it will use default argument value.</a:t>
            </a:r>
          </a:p>
          <a:p>
            <a:pPr lvl="1" algn="just"/>
            <a:r>
              <a:rPr lang="en-IN" sz="2000"/>
              <a:t>&lt;?php  </a:t>
            </a:r>
          </a:p>
          <a:p>
            <a:pPr lvl="1" algn="just"/>
            <a:r>
              <a:rPr lang="en-IN" sz="2000" b="1"/>
              <a:t>function</a:t>
            </a:r>
            <a:r>
              <a:rPr lang="en-IN" sz="2000"/>
              <a:t> sayHello($name="Ram"){  </a:t>
            </a:r>
          </a:p>
          <a:p>
            <a:pPr lvl="1" algn="just"/>
            <a:r>
              <a:rPr lang="en-IN" sz="2000"/>
              <a:t>echo "Hello $name&lt;br/&gt;";  </a:t>
            </a:r>
          </a:p>
          <a:p>
            <a:pPr lvl="1" algn="just"/>
            <a:r>
              <a:rPr lang="en-IN" sz="2000"/>
              <a:t>}  </a:t>
            </a:r>
          </a:p>
          <a:p>
            <a:pPr lvl="1" algn="just"/>
            <a:r>
              <a:rPr lang="en-IN" sz="2000"/>
              <a:t>sayHello("Sonoo");  </a:t>
            </a:r>
          </a:p>
          <a:p>
            <a:pPr lvl="1" algn="just"/>
            <a:r>
              <a:rPr lang="en-IN" sz="2000"/>
              <a:t>sayHello();//passing no value  </a:t>
            </a:r>
          </a:p>
          <a:p>
            <a:pPr lvl="1" algn="just"/>
            <a:r>
              <a:rPr lang="en-IN" sz="2000"/>
              <a:t>sayHello("Vimal");  </a:t>
            </a:r>
          </a:p>
          <a:p>
            <a:pPr lvl="1" algn="just"/>
            <a:r>
              <a:rPr lang="en-IN" sz="2000"/>
              <a:t>?&gt;  </a:t>
            </a:r>
          </a:p>
          <a:p>
            <a:pPr marL="0" indent="0" algn="just">
              <a:buFont typeface="Arial" pitchFamily="34" charset="0"/>
              <a:buNone/>
            </a:pPr>
            <a:endParaRPr lang="en-US" sz="2000" b="1" dirty="0">
              <a:latin typeface="Open Sans"/>
            </a:endParaRPr>
          </a:p>
        </p:txBody>
      </p:sp>
    </p:spTree>
    <p:extLst>
      <p:ext uri="{BB962C8B-B14F-4D97-AF65-F5344CB8AC3E}">
        <p14:creationId xmlns:p14="http://schemas.microsoft.com/office/powerpoint/2010/main" val="3291421117"/>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E73A3019-CFE4-49DD-B6FD-2AFB2DD2DBB6}" type="datetime1">
              <a:rPr lang="en-US" smtClean="0"/>
              <a:t>11/7/2024</a:t>
            </a:fld>
            <a:endParaRPr lang="en-US"/>
          </a:p>
        </p:txBody>
      </p:sp>
      <p:sp>
        <p:nvSpPr>
          <p:cNvPr id="5" name="Footer Placeholder 4"/>
          <p:cNvSpPr>
            <a:spLocks noGrp="1"/>
          </p:cNvSpPr>
          <p:nvPr>
            <p:ph type="ftr" sz="quarter" idx="11"/>
          </p:nvPr>
        </p:nvSpPr>
        <p:spPr>
          <a:xfrm>
            <a:off x="4343400" y="6248401"/>
            <a:ext cx="4724400" cy="365125"/>
          </a:xfrm>
        </p:spPr>
        <p:txBody>
          <a:bodyPr/>
          <a:lstStyle/>
          <a:p>
            <a:r>
              <a:rPr lang="en-US" dirty="0"/>
              <a:t>Vaishali Mishra            ACSE0505 Web Technology                Unit 5</a:t>
            </a:r>
          </a:p>
        </p:txBody>
      </p:sp>
      <p:sp>
        <p:nvSpPr>
          <p:cNvPr id="6" name="Slide Number Placeholder 5"/>
          <p:cNvSpPr>
            <a:spLocks noGrp="1"/>
          </p:cNvSpPr>
          <p:nvPr>
            <p:ph type="sldNum" sz="quarter" idx="12"/>
          </p:nvPr>
        </p:nvSpPr>
        <p:spPr/>
        <p:txBody>
          <a:bodyPr/>
          <a:lstStyle/>
          <a:p>
            <a:fld id="{B6F15528-21DE-4FAA-801E-634DDDAF4B2B}" type="slidenum">
              <a:rPr lang="en-US" smtClean="0"/>
              <a:pPr/>
              <a:t>65</a:t>
            </a:fld>
            <a:endParaRPr lang="en-US"/>
          </a:p>
        </p:txBody>
      </p:sp>
      <p:sp>
        <p:nvSpPr>
          <p:cNvPr id="7" name="Title 1"/>
          <p:cNvSpPr txBox="1">
            <a:spLocks/>
          </p:cNvSpPr>
          <p:nvPr/>
        </p:nvSpPr>
        <p:spPr>
          <a:xfrm>
            <a:off x="2895600" y="2"/>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pPr>
              <a:defRPr/>
            </a:pPr>
            <a:endParaRPr lang="en-US" sz="2800" dirty="0"/>
          </a:p>
          <a:p>
            <a:pPr>
              <a:defRPr/>
            </a:pPr>
            <a:r>
              <a:rPr lang="en-US" sz="2800" dirty="0"/>
              <a:t>String (CO5)</a:t>
            </a:r>
            <a:endParaRPr lang="en-IN" sz="2800" dirty="0"/>
          </a:p>
          <a:p>
            <a:pPr algn="ctr">
              <a:defRPr/>
            </a:pPr>
            <a:endParaRPr lang="en-US" sz="2800" dirty="0">
              <a:latin typeface="Times New Roman" pitchFamily="18" charset="0"/>
              <a:cs typeface="Times New Roman" pitchFamily="18" charset="0"/>
              <a:sym typeface="Arial" charset="0"/>
            </a:endParaRPr>
          </a:p>
        </p:txBody>
      </p:sp>
      <p:pic>
        <p:nvPicPr>
          <p:cNvPr id="2" name="Picture 1" descr="A black and red logo&#10;&#10;Description automatically generated">
            <a:extLst>
              <a:ext uri="{FF2B5EF4-FFF2-40B4-BE49-F238E27FC236}">
                <a16:creationId xmlns:a16="http://schemas.microsoft.com/office/drawing/2014/main" id="{8BDB0671-FC93-5C9E-75A2-ED46EE3FB8B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8" name="Content Placeholder 1">
            <a:extLst>
              <a:ext uri="{FF2B5EF4-FFF2-40B4-BE49-F238E27FC236}">
                <a16:creationId xmlns:a16="http://schemas.microsoft.com/office/drawing/2014/main" id="{1FF5ADF0-474C-251F-0E40-267B658E504A}"/>
              </a:ext>
            </a:extLst>
          </p:cNvPr>
          <p:cNvSpPr txBox="1">
            <a:spLocks noGrp="1"/>
          </p:cNvSpPr>
          <p:nvPr>
            <p:ph idx="1"/>
          </p:nvPr>
        </p:nvSpPr>
        <p:spPr>
          <a:xfrm>
            <a:off x="609600" y="1219200"/>
            <a:ext cx="10515600" cy="4449763"/>
          </a:xfrm>
        </p:spPr>
        <p:txBody>
          <a:bodyPr/>
          <a:lstStyle/>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lgn="ctr">
              <a:spcBef>
                <a:spcPts val="363"/>
              </a:spcBef>
              <a:spcAft>
                <a:spcPct val="0"/>
              </a:spcAft>
              <a:buClr>
                <a:srgbClr val="000000"/>
              </a:buClr>
              <a:buFont typeface="Arial" panose="020B0604020202020204" pitchFamily="34" charset="0"/>
              <a:buNone/>
            </a:pPr>
            <a:r>
              <a:rPr lang="en-IN" sz="2000" b="1" dirty="0">
                <a:latin typeface="Arial" panose="020B0604020202020204" pitchFamily="34" charset="0"/>
                <a:cs typeface="Arial" panose="020B0604020202020204" pitchFamily="34" charset="0"/>
              </a:rPr>
              <a:t> </a:t>
            </a:r>
          </a:p>
        </p:txBody>
      </p:sp>
      <p:sp>
        <p:nvSpPr>
          <p:cNvPr id="3" name="Content Placeholder 2">
            <a:extLst>
              <a:ext uri="{FF2B5EF4-FFF2-40B4-BE49-F238E27FC236}">
                <a16:creationId xmlns:a16="http://schemas.microsoft.com/office/drawing/2014/main" id="{C2A75FD3-A3E8-1C75-A723-468827C4EABE}"/>
              </a:ext>
            </a:extLst>
          </p:cNvPr>
          <p:cNvSpPr txBox="1">
            <a:spLocks/>
          </p:cNvSpPr>
          <p:nvPr/>
        </p:nvSpPr>
        <p:spPr>
          <a:xfrm>
            <a:off x="152400" y="1055218"/>
            <a:ext cx="10744200" cy="5070946"/>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Font typeface="Arial" pitchFamily="34" charset="0"/>
              <a:buNone/>
            </a:pPr>
            <a:r>
              <a:rPr lang="en-US" sz="2000">
                <a:cs typeface="Times New Roman" panose="02020603050405020304" pitchFamily="18" charset="0"/>
              </a:rPr>
              <a:t>PHP string is a sequence of characters i.e., used to store and manipulate text. PHP supports only 256-character set and so that it does not offer native Unicode support. There are 4 ways to specify a string literal in PHP.</a:t>
            </a:r>
          </a:p>
          <a:p>
            <a:pPr marL="0" indent="0" algn="just">
              <a:buFont typeface="Arial" pitchFamily="34" charset="0"/>
              <a:buNone/>
            </a:pPr>
            <a:endParaRPr lang="en-US" sz="2000" b="1">
              <a:cs typeface="Times New Roman" panose="02020603050405020304" pitchFamily="18" charset="0"/>
            </a:endParaRPr>
          </a:p>
          <a:p>
            <a:pPr marL="0" indent="0" algn="just">
              <a:buFont typeface="Arial" pitchFamily="34" charset="0"/>
              <a:buNone/>
            </a:pPr>
            <a:r>
              <a:rPr lang="en-US" sz="2000" b="1">
                <a:cs typeface="Times New Roman" panose="02020603050405020304" pitchFamily="18" charset="0"/>
              </a:rPr>
              <a:t>1 Single Quoted- </a:t>
            </a:r>
            <a:r>
              <a:rPr lang="en-US" sz="2000">
                <a:cs typeface="Times New Roman" panose="02020603050405020304" pitchFamily="18" charset="0"/>
              </a:rPr>
              <a:t>We can create a string in PHP by enclosing the text in a single-quote. It is the easiest way to specify string in PHP. </a:t>
            </a:r>
          </a:p>
          <a:p>
            <a:pPr marL="0" indent="0" algn="just">
              <a:buFont typeface="Arial" pitchFamily="34" charset="0"/>
              <a:buNone/>
            </a:pPr>
            <a:r>
              <a:rPr lang="en-US" sz="2000">
                <a:cs typeface="Times New Roman" panose="02020603050405020304" pitchFamily="18" charset="0"/>
              </a:rPr>
              <a:t>For specifying a literal single quote, escape it with a backslash (\) and to specify a literal backslash (\) use double backslash (\\). </a:t>
            </a:r>
          </a:p>
          <a:p>
            <a:pPr marL="0" indent="0" algn="just">
              <a:buFont typeface="Arial" pitchFamily="34" charset="0"/>
              <a:buNone/>
            </a:pPr>
            <a:r>
              <a:rPr lang="en-US" sz="2000">
                <a:cs typeface="Times New Roman" panose="02020603050405020304" pitchFamily="18" charset="0"/>
              </a:rPr>
              <a:t>All the other instances with backslash such as \r or \n, will be output same as they specified instead of having any special meaning.</a:t>
            </a:r>
            <a:endParaRPr lang="en-US" sz="2000" dirty="0">
              <a:cs typeface="Times New Roman" panose="02020603050405020304" pitchFamily="18" charset="0"/>
            </a:endParaRPr>
          </a:p>
        </p:txBody>
      </p:sp>
    </p:spTree>
    <p:extLst>
      <p:ext uri="{BB962C8B-B14F-4D97-AF65-F5344CB8AC3E}">
        <p14:creationId xmlns:p14="http://schemas.microsoft.com/office/powerpoint/2010/main" val="2363258805"/>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E73A3019-CFE4-49DD-B6FD-2AFB2DD2DBB6}" type="datetime1">
              <a:rPr lang="en-US" smtClean="0"/>
              <a:t>11/7/2024</a:t>
            </a:fld>
            <a:endParaRPr lang="en-US"/>
          </a:p>
        </p:txBody>
      </p:sp>
      <p:sp>
        <p:nvSpPr>
          <p:cNvPr id="5" name="Footer Placeholder 4"/>
          <p:cNvSpPr>
            <a:spLocks noGrp="1"/>
          </p:cNvSpPr>
          <p:nvPr>
            <p:ph type="ftr" sz="quarter" idx="11"/>
          </p:nvPr>
        </p:nvSpPr>
        <p:spPr>
          <a:xfrm>
            <a:off x="4343400" y="6248401"/>
            <a:ext cx="4724400" cy="365125"/>
          </a:xfrm>
        </p:spPr>
        <p:txBody>
          <a:bodyPr/>
          <a:lstStyle/>
          <a:p>
            <a:r>
              <a:rPr lang="en-US" dirty="0"/>
              <a:t>Vaishali Mishra            ACSE0505 Web Technology                Unit 5</a:t>
            </a:r>
          </a:p>
        </p:txBody>
      </p:sp>
      <p:sp>
        <p:nvSpPr>
          <p:cNvPr id="6" name="Slide Number Placeholder 5"/>
          <p:cNvSpPr>
            <a:spLocks noGrp="1"/>
          </p:cNvSpPr>
          <p:nvPr>
            <p:ph type="sldNum" sz="quarter" idx="12"/>
          </p:nvPr>
        </p:nvSpPr>
        <p:spPr/>
        <p:txBody>
          <a:bodyPr/>
          <a:lstStyle/>
          <a:p>
            <a:fld id="{B6F15528-21DE-4FAA-801E-634DDDAF4B2B}" type="slidenum">
              <a:rPr lang="en-US" smtClean="0"/>
              <a:pPr/>
              <a:t>66</a:t>
            </a:fld>
            <a:endParaRPr lang="en-US"/>
          </a:p>
        </p:txBody>
      </p:sp>
      <p:sp>
        <p:nvSpPr>
          <p:cNvPr id="7" name="Title 1"/>
          <p:cNvSpPr txBox="1">
            <a:spLocks/>
          </p:cNvSpPr>
          <p:nvPr/>
        </p:nvSpPr>
        <p:spPr>
          <a:xfrm>
            <a:off x="2895600" y="2"/>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pPr>
              <a:defRPr/>
            </a:pPr>
            <a:endParaRPr lang="en-US" sz="2800" dirty="0"/>
          </a:p>
          <a:p>
            <a:pPr>
              <a:defRPr/>
            </a:pPr>
            <a:r>
              <a:rPr lang="en-US" sz="2800" dirty="0"/>
              <a:t>String (CO5)</a:t>
            </a:r>
            <a:endParaRPr lang="en-IN" sz="2800" dirty="0"/>
          </a:p>
          <a:p>
            <a:pPr algn="ctr">
              <a:defRPr/>
            </a:pPr>
            <a:endParaRPr lang="en-US" sz="2800" dirty="0">
              <a:latin typeface="Times New Roman" pitchFamily="18" charset="0"/>
              <a:cs typeface="Times New Roman" pitchFamily="18" charset="0"/>
              <a:sym typeface="Arial" charset="0"/>
            </a:endParaRPr>
          </a:p>
        </p:txBody>
      </p:sp>
      <p:pic>
        <p:nvPicPr>
          <p:cNvPr id="2" name="Picture 1" descr="A black and red logo&#10;&#10;Description automatically generated">
            <a:extLst>
              <a:ext uri="{FF2B5EF4-FFF2-40B4-BE49-F238E27FC236}">
                <a16:creationId xmlns:a16="http://schemas.microsoft.com/office/drawing/2014/main" id="{8BDB0671-FC93-5C9E-75A2-ED46EE3FB8B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8" name="Content Placeholder 1">
            <a:extLst>
              <a:ext uri="{FF2B5EF4-FFF2-40B4-BE49-F238E27FC236}">
                <a16:creationId xmlns:a16="http://schemas.microsoft.com/office/drawing/2014/main" id="{1FF5ADF0-474C-251F-0E40-267B658E504A}"/>
              </a:ext>
            </a:extLst>
          </p:cNvPr>
          <p:cNvSpPr txBox="1">
            <a:spLocks noGrp="1"/>
          </p:cNvSpPr>
          <p:nvPr>
            <p:ph idx="1"/>
          </p:nvPr>
        </p:nvSpPr>
        <p:spPr>
          <a:xfrm>
            <a:off x="609600" y="1219200"/>
            <a:ext cx="10515600" cy="4449763"/>
          </a:xfrm>
        </p:spPr>
        <p:txBody>
          <a:bodyPr/>
          <a:lstStyle/>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lgn="ctr">
              <a:spcBef>
                <a:spcPts val="363"/>
              </a:spcBef>
              <a:spcAft>
                <a:spcPct val="0"/>
              </a:spcAft>
              <a:buClr>
                <a:srgbClr val="000000"/>
              </a:buClr>
              <a:buFont typeface="Arial" panose="020B0604020202020204" pitchFamily="34" charset="0"/>
              <a:buNone/>
            </a:pPr>
            <a:r>
              <a:rPr lang="en-IN" sz="2000" b="1" dirty="0">
                <a:latin typeface="Arial" panose="020B0604020202020204" pitchFamily="34" charset="0"/>
                <a:cs typeface="Arial" panose="020B0604020202020204" pitchFamily="34" charset="0"/>
              </a:rPr>
              <a:t> </a:t>
            </a:r>
          </a:p>
        </p:txBody>
      </p:sp>
      <p:sp>
        <p:nvSpPr>
          <p:cNvPr id="3" name="Content Placeholder 2">
            <a:extLst>
              <a:ext uri="{FF2B5EF4-FFF2-40B4-BE49-F238E27FC236}">
                <a16:creationId xmlns:a16="http://schemas.microsoft.com/office/drawing/2014/main" id="{53806063-E4BD-5A56-3F55-F3011B24F5B8}"/>
              </a:ext>
            </a:extLst>
          </p:cNvPr>
          <p:cNvSpPr txBox="1">
            <a:spLocks/>
          </p:cNvSpPr>
          <p:nvPr/>
        </p:nvSpPr>
        <p:spPr>
          <a:xfrm>
            <a:off x="304800" y="947268"/>
            <a:ext cx="10134600" cy="5178896"/>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Font typeface="Arial" pitchFamily="34" charset="0"/>
              <a:buNone/>
            </a:pPr>
            <a:r>
              <a:rPr lang="en-US" sz="2000" b="1" dirty="0">
                <a:cs typeface="Times New Roman" panose="02020603050405020304" pitchFamily="18" charset="0"/>
              </a:rPr>
              <a:t>2 Doubled Quoted-</a:t>
            </a:r>
            <a:r>
              <a:rPr lang="en-US" sz="2000" dirty="0">
                <a:cs typeface="Times New Roman" panose="02020603050405020304" pitchFamily="18" charset="0"/>
              </a:rPr>
              <a:t> In PHP, we can specify string through enclosing text within double quote also. </a:t>
            </a:r>
          </a:p>
          <a:p>
            <a:pPr marL="0" indent="0" algn="just">
              <a:buFont typeface="Arial" pitchFamily="34" charset="0"/>
              <a:buNone/>
            </a:pPr>
            <a:r>
              <a:rPr lang="en-US" sz="2000" dirty="0">
                <a:cs typeface="Times New Roman" panose="02020603050405020304" pitchFamily="18" charset="0"/>
              </a:rPr>
              <a:t>But escape sequences and variables will be interpreted using double quote PHP strings.</a:t>
            </a:r>
          </a:p>
          <a:p>
            <a:pPr marL="400050" lvl="1" indent="0" algn="just">
              <a:buFont typeface="Arial" pitchFamily="34" charset="0"/>
              <a:buNone/>
            </a:pPr>
            <a:r>
              <a:rPr lang="en-US" sz="2000" dirty="0">
                <a:cs typeface="Times New Roman" panose="02020603050405020304" pitchFamily="18" charset="0"/>
              </a:rPr>
              <a:t>&lt;?</a:t>
            </a:r>
            <a:r>
              <a:rPr lang="en-US" sz="2000" dirty="0" err="1">
                <a:cs typeface="Times New Roman" panose="02020603050405020304" pitchFamily="18" charset="0"/>
              </a:rPr>
              <a:t>php</a:t>
            </a:r>
            <a:r>
              <a:rPr lang="en-US" sz="2000" dirty="0">
                <a:cs typeface="Times New Roman" panose="02020603050405020304" pitchFamily="18" charset="0"/>
              </a:rPr>
              <a:t>  </a:t>
            </a:r>
          </a:p>
          <a:p>
            <a:pPr marL="400050" lvl="1" indent="0" algn="just">
              <a:buFont typeface="Arial" pitchFamily="34" charset="0"/>
              <a:buNone/>
            </a:pPr>
            <a:r>
              <a:rPr lang="en-US" sz="2000" dirty="0">
                <a:cs typeface="Times New Roman" panose="02020603050405020304" pitchFamily="18" charset="0"/>
              </a:rPr>
              <a:t>$str="Hello text within double quote";  </a:t>
            </a:r>
          </a:p>
          <a:p>
            <a:pPr marL="400050" lvl="1" indent="0" algn="just">
              <a:buFont typeface="Arial" pitchFamily="34" charset="0"/>
              <a:buNone/>
            </a:pPr>
            <a:r>
              <a:rPr lang="en-US" sz="2000" dirty="0">
                <a:cs typeface="Times New Roman" panose="02020603050405020304" pitchFamily="18" charset="0"/>
              </a:rPr>
              <a:t>echo $str;  </a:t>
            </a:r>
          </a:p>
          <a:p>
            <a:pPr marL="400050" lvl="1" indent="0" algn="just">
              <a:buFont typeface="Arial" pitchFamily="34" charset="0"/>
              <a:buNone/>
            </a:pPr>
            <a:r>
              <a:rPr lang="en-US" sz="2000" dirty="0">
                <a:cs typeface="Times New Roman" panose="02020603050405020304" pitchFamily="18" charset="0"/>
              </a:rPr>
              <a:t>?&gt;  </a:t>
            </a:r>
          </a:p>
          <a:p>
            <a:pPr marL="400050" lvl="1" indent="0" algn="just">
              <a:buFont typeface="Arial" pitchFamily="34" charset="0"/>
              <a:buNone/>
            </a:pPr>
            <a:r>
              <a:rPr lang="en-US" sz="2000" dirty="0">
                <a:cs typeface="Times New Roman" panose="02020603050405020304" pitchFamily="18" charset="0"/>
              </a:rPr>
              <a:t>Output:</a:t>
            </a:r>
          </a:p>
          <a:p>
            <a:pPr marL="400050" lvl="1" indent="0" algn="just">
              <a:buFont typeface="Arial" pitchFamily="34" charset="0"/>
              <a:buNone/>
            </a:pPr>
            <a:r>
              <a:rPr lang="en-US" sz="2000" dirty="0">
                <a:cs typeface="Times New Roman" panose="02020603050405020304" pitchFamily="18" charset="0"/>
              </a:rPr>
              <a:t>Hello text within double quote</a:t>
            </a:r>
          </a:p>
        </p:txBody>
      </p:sp>
    </p:spTree>
    <p:extLst>
      <p:ext uri="{BB962C8B-B14F-4D97-AF65-F5344CB8AC3E}">
        <p14:creationId xmlns:p14="http://schemas.microsoft.com/office/powerpoint/2010/main" val="4122900529"/>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E73A3019-CFE4-49DD-B6FD-2AFB2DD2DBB6}" type="datetime1">
              <a:rPr lang="en-US" smtClean="0"/>
              <a:t>11/7/2024</a:t>
            </a:fld>
            <a:endParaRPr lang="en-US"/>
          </a:p>
        </p:txBody>
      </p:sp>
      <p:sp>
        <p:nvSpPr>
          <p:cNvPr id="5" name="Footer Placeholder 4"/>
          <p:cNvSpPr>
            <a:spLocks noGrp="1"/>
          </p:cNvSpPr>
          <p:nvPr>
            <p:ph type="ftr" sz="quarter" idx="11"/>
          </p:nvPr>
        </p:nvSpPr>
        <p:spPr>
          <a:xfrm>
            <a:off x="4343400" y="6248401"/>
            <a:ext cx="4724400" cy="365125"/>
          </a:xfrm>
        </p:spPr>
        <p:txBody>
          <a:bodyPr/>
          <a:lstStyle/>
          <a:p>
            <a:r>
              <a:rPr lang="en-US" dirty="0"/>
              <a:t>Vaishali Mishra            ACSE0505 Web Technology                Unit 5</a:t>
            </a:r>
          </a:p>
        </p:txBody>
      </p:sp>
      <p:sp>
        <p:nvSpPr>
          <p:cNvPr id="6" name="Slide Number Placeholder 5"/>
          <p:cNvSpPr>
            <a:spLocks noGrp="1"/>
          </p:cNvSpPr>
          <p:nvPr>
            <p:ph type="sldNum" sz="quarter" idx="12"/>
          </p:nvPr>
        </p:nvSpPr>
        <p:spPr/>
        <p:txBody>
          <a:bodyPr/>
          <a:lstStyle/>
          <a:p>
            <a:fld id="{B6F15528-21DE-4FAA-801E-634DDDAF4B2B}" type="slidenum">
              <a:rPr lang="en-US" smtClean="0"/>
              <a:pPr/>
              <a:t>67</a:t>
            </a:fld>
            <a:endParaRPr lang="en-US"/>
          </a:p>
        </p:txBody>
      </p:sp>
      <p:sp>
        <p:nvSpPr>
          <p:cNvPr id="7" name="Title 1"/>
          <p:cNvSpPr txBox="1">
            <a:spLocks/>
          </p:cNvSpPr>
          <p:nvPr/>
        </p:nvSpPr>
        <p:spPr>
          <a:xfrm>
            <a:off x="2895600" y="2"/>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pPr>
              <a:defRPr/>
            </a:pPr>
            <a:endParaRPr lang="en-US" sz="2800" dirty="0"/>
          </a:p>
          <a:p>
            <a:pPr>
              <a:defRPr/>
            </a:pPr>
            <a:endParaRPr lang="en-US" dirty="0"/>
          </a:p>
          <a:p>
            <a:pPr>
              <a:defRPr/>
            </a:pPr>
            <a:r>
              <a:rPr lang="en-US" sz="2800" dirty="0"/>
              <a:t>String (CO5)</a:t>
            </a:r>
            <a:endParaRPr lang="en-IN" sz="2800" dirty="0"/>
          </a:p>
          <a:p>
            <a:pPr>
              <a:defRPr/>
            </a:pPr>
            <a:endParaRPr lang="en-US" sz="2800" dirty="0"/>
          </a:p>
          <a:p>
            <a:pPr algn="ctr">
              <a:defRPr/>
            </a:pPr>
            <a:endParaRPr lang="en-US" sz="2800" dirty="0">
              <a:latin typeface="Times New Roman" pitchFamily="18" charset="0"/>
              <a:cs typeface="Times New Roman" pitchFamily="18" charset="0"/>
              <a:sym typeface="Arial" charset="0"/>
            </a:endParaRPr>
          </a:p>
        </p:txBody>
      </p:sp>
      <p:pic>
        <p:nvPicPr>
          <p:cNvPr id="2" name="Picture 1" descr="A black and red logo&#10;&#10;Description automatically generated">
            <a:extLst>
              <a:ext uri="{FF2B5EF4-FFF2-40B4-BE49-F238E27FC236}">
                <a16:creationId xmlns:a16="http://schemas.microsoft.com/office/drawing/2014/main" id="{8BDB0671-FC93-5C9E-75A2-ED46EE3FB8B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8" name="Content Placeholder 1">
            <a:extLst>
              <a:ext uri="{FF2B5EF4-FFF2-40B4-BE49-F238E27FC236}">
                <a16:creationId xmlns:a16="http://schemas.microsoft.com/office/drawing/2014/main" id="{1FF5ADF0-474C-251F-0E40-267B658E504A}"/>
              </a:ext>
            </a:extLst>
          </p:cNvPr>
          <p:cNvSpPr txBox="1">
            <a:spLocks noGrp="1"/>
          </p:cNvSpPr>
          <p:nvPr>
            <p:ph idx="1"/>
          </p:nvPr>
        </p:nvSpPr>
        <p:spPr>
          <a:xfrm>
            <a:off x="609600" y="1219200"/>
            <a:ext cx="10515600" cy="4449763"/>
          </a:xfrm>
        </p:spPr>
        <p:txBody>
          <a:bodyPr/>
          <a:lstStyle/>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lgn="ctr">
              <a:spcBef>
                <a:spcPts val="363"/>
              </a:spcBef>
              <a:spcAft>
                <a:spcPct val="0"/>
              </a:spcAft>
              <a:buClr>
                <a:srgbClr val="000000"/>
              </a:buClr>
              <a:buFont typeface="Arial" panose="020B0604020202020204" pitchFamily="34" charset="0"/>
              <a:buNone/>
            </a:pPr>
            <a:r>
              <a:rPr lang="en-IN" sz="2000" b="1" dirty="0">
                <a:latin typeface="Arial" panose="020B0604020202020204" pitchFamily="34" charset="0"/>
                <a:cs typeface="Arial" panose="020B0604020202020204" pitchFamily="34" charset="0"/>
              </a:rPr>
              <a:t> </a:t>
            </a:r>
          </a:p>
        </p:txBody>
      </p:sp>
      <p:sp>
        <p:nvSpPr>
          <p:cNvPr id="3" name="Content Placeholder 2">
            <a:extLst>
              <a:ext uri="{FF2B5EF4-FFF2-40B4-BE49-F238E27FC236}">
                <a16:creationId xmlns:a16="http://schemas.microsoft.com/office/drawing/2014/main" id="{9D924434-157C-0F0B-F043-50831886AA09}"/>
              </a:ext>
            </a:extLst>
          </p:cNvPr>
          <p:cNvSpPr txBox="1">
            <a:spLocks/>
          </p:cNvSpPr>
          <p:nvPr/>
        </p:nvSpPr>
        <p:spPr>
          <a:xfrm>
            <a:off x="152400" y="947268"/>
            <a:ext cx="10515600" cy="5178896"/>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Font typeface="Arial" pitchFamily="34" charset="0"/>
              <a:buNone/>
            </a:pPr>
            <a:r>
              <a:rPr lang="en-US" sz="2000" b="1" dirty="0"/>
              <a:t>3 Heredoc syntax </a:t>
            </a:r>
            <a:r>
              <a:rPr lang="en-US" sz="2000" dirty="0"/>
              <a:t>(&lt;&lt;&lt;) is the third way to delimit strings. In Heredoc syntax, an identifier is provided after this heredoc &lt;&lt;&lt; operator, and immediately a new line is started to write any text. To close the quotation, the string follows itself and then again that same identifier is provided. That closing identifier must begin from the new line without any whitespace or tab.</a:t>
            </a:r>
          </a:p>
          <a:p>
            <a:pPr marL="400050" lvl="1" indent="0" algn="just">
              <a:buFont typeface="Arial" pitchFamily="34" charset="0"/>
              <a:buNone/>
            </a:pPr>
            <a:r>
              <a:rPr lang="en-US" sz="2000" dirty="0"/>
              <a:t>&lt;?</a:t>
            </a:r>
            <a:r>
              <a:rPr lang="en-US" sz="2000" dirty="0" err="1"/>
              <a:t>php</a:t>
            </a:r>
            <a:r>
              <a:rPr lang="en-US" sz="2000" dirty="0"/>
              <a:t>  </a:t>
            </a:r>
          </a:p>
          <a:p>
            <a:pPr marL="400050" lvl="1" indent="0" algn="just">
              <a:buFont typeface="Arial" pitchFamily="34" charset="0"/>
              <a:buNone/>
            </a:pPr>
            <a:r>
              <a:rPr lang="en-US" sz="2000" dirty="0"/>
              <a:t>    $str = &lt;&lt;&lt;Demo  </a:t>
            </a:r>
          </a:p>
          <a:p>
            <a:pPr marL="400050" lvl="1" indent="0" algn="just">
              <a:buFont typeface="Arial" pitchFamily="34" charset="0"/>
              <a:buNone/>
            </a:pPr>
            <a:r>
              <a:rPr lang="en-US" sz="2000" dirty="0"/>
              <a:t>It is a valid example  </a:t>
            </a:r>
          </a:p>
          <a:p>
            <a:pPr marL="400050" lvl="1" indent="0" algn="just">
              <a:buFont typeface="Arial" pitchFamily="34" charset="0"/>
              <a:buNone/>
            </a:pPr>
            <a:r>
              <a:rPr lang="en-US" sz="2000" dirty="0"/>
              <a:t>Demo;    //Valid code as whitespace or tab is not valid before closing identifier  </a:t>
            </a:r>
          </a:p>
          <a:p>
            <a:pPr marL="400050" lvl="1" indent="0" algn="just">
              <a:buFont typeface="Arial" pitchFamily="34" charset="0"/>
              <a:buNone/>
            </a:pPr>
            <a:r>
              <a:rPr lang="en-US" sz="2000" dirty="0"/>
              <a:t>echo $str;  </a:t>
            </a:r>
          </a:p>
          <a:p>
            <a:pPr marL="400050" lvl="1" indent="0" algn="just">
              <a:buFont typeface="Arial" pitchFamily="34" charset="0"/>
              <a:buNone/>
            </a:pPr>
            <a:r>
              <a:rPr lang="en-US" sz="2000" dirty="0"/>
              <a:t>?&gt;  </a:t>
            </a:r>
          </a:p>
          <a:p>
            <a:pPr marL="400050" lvl="1" indent="0" algn="just">
              <a:buFont typeface="Arial" pitchFamily="34" charset="0"/>
              <a:buNone/>
            </a:pPr>
            <a:r>
              <a:rPr lang="en-US" sz="2000" dirty="0"/>
              <a:t>Output:</a:t>
            </a:r>
          </a:p>
          <a:p>
            <a:pPr marL="400050" lvl="1" indent="0" algn="just">
              <a:buFont typeface="Arial" pitchFamily="34" charset="0"/>
              <a:buNone/>
            </a:pPr>
            <a:r>
              <a:rPr lang="en-US" sz="2000" dirty="0"/>
              <a:t>It is a valid example </a:t>
            </a:r>
          </a:p>
          <a:p>
            <a:pPr marL="0" indent="0">
              <a:buFont typeface="Arial" pitchFamily="34" charset="0"/>
              <a:buNone/>
            </a:pPr>
            <a:endParaRPr lang="en-US" sz="1600" dirty="0">
              <a:latin typeface="Open Sans"/>
            </a:endParaRPr>
          </a:p>
        </p:txBody>
      </p:sp>
    </p:spTree>
    <p:extLst>
      <p:ext uri="{BB962C8B-B14F-4D97-AF65-F5344CB8AC3E}">
        <p14:creationId xmlns:p14="http://schemas.microsoft.com/office/powerpoint/2010/main" val="3473310125"/>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E73A3019-CFE4-49DD-B6FD-2AFB2DD2DBB6}" type="datetime1">
              <a:rPr lang="en-US" smtClean="0"/>
              <a:t>11/7/2024</a:t>
            </a:fld>
            <a:endParaRPr lang="en-US"/>
          </a:p>
        </p:txBody>
      </p:sp>
      <p:sp>
        <p:nvSpPr>
          <p:cNvPr id="5" name="Footer Placeholder 4"/>
          <p:cNvSpPr>
            <a:spLocks noGrp="1"/>
          </p:cNvSpPr>
          <p:nvPr>
            <p:ph type="ftr" sz="quarter" idx="11"/>
          </p:nvPr>
        </p:nvSpPr>
        <p:spPr>
          <a:xfrm>
            <a:off x="4343400" y="6248401"/>
            <a:ext cx="4724400" cy="365125"/>
          </a:xfrm>
        </p:spPr>
        <p:txBody>
          <a:bodyPr/>
          <a:lstStyle/>
          <a:p>
            <a:r>
              <a:rPr lang="en-US" dirty="0"/>
              <a:t>Vaishali Mishra            ACSE0505 Web Technology                Unit 5</a:t>
            </a:r>
          </a:p>
        </p:txBody>
      </p:sp>
      <p:sp>
        <p:nvSpPr>
          <p:cNvPr id="6" name="Slide Number Placeholder 5"/>
          <p:cNvSpPr>
            <a:spLocks noGrp="1"/>
          </p:cNvSpPr>
          <p:nvPr>
            <p:ph type="sldNum" sz="quarter" idx="12"/>
          </p:nvPr>
        </p:nvSpPr>
        <p:spPr/>
        <p:txBody>
          <a:bodyPr/>
          <a:lstStyle/>
          <a:p>
            <a:fld id="{B6F15528-21DE-4FAA-801E-634DDDAF4B2B}" type="slidenum">
              <a:rPr lang="en-US" smtClean="0"/>
              <a:pPr/>
              <a:t>68</a:t>
            </a:fld>
            <a:endParaRPr lang="en-US"/>
          </a:p>
        </p:txBody>
      </p:sp>
      <p:sp>
        <p:nvSpPr>
          <p:cNvPr id="7" name="Title 1"/>
          <p:cNvSpPr txBox="1">
            <a:spLocks/>
          </p:cNvSpPr>
          <p:nvPr/>
        </p:nvSpPr>
        <p:spPr>
          <a:xfrm>
            <a:off x="2895600" y="2"/>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pPr>
              <a:defRPr/>
            </a:pPr>
            <a:endParaRPr lang="en-US" sz="2800" dirty="0"/>
          </a:p>
          <a:p>
            <a:pPr>
              <a:defRPr/>
            </a:pPr>
            <a:endParaRPr lang="en-US" dirty="0"/>
          </a:p>
          <a:p>
            <a:pPr>
              <a:defRPr/>
            </a:pPr>
            <a:r>
              <a:rPr lang="en-US" sz="2800" dirty="0"/>
              <a:t>String (CO5)</a:t>
            </a:r>
            <a:endParaRPr lang="en-IN" sz="2800" dirty="0"/>
          </a:p>
          <a:p>
            <a:pPr>
              <a:defRPr/>
            </a:pPr>
            <a:endParaRPr lang="en-US" sz="2800" dirty="0"/>
          </a:p>
          <a:p>
            <a:pPr algn="ctr">
              <a:defRPr/>
            </a:pPr>
            <a:endParaRPr lang="en-US" sz="2800" dirty="0">
              <a:latin typeface="Times New Roman" pitchFamily="18" charset="0"/>
              <a:cs typeface="Times New Roman" pitchFamily="18" charset="0"/>
              <a:sym typeface="Arial" charset="0"/>
            </a:endParaRPr>
          </a:p>
        </p:txBody>
      </p:sp>
      <p:pic>
        <p:nvPicPr>
          <p:cNvPr id="2" name="Picture 1" descr="A black and red logo&#10;&#10;Description automatically generated">
            <a:extLst>
              <a:ext uri="{FF2B5EF4-FFF2-40B4-BE49-F238E27FC236}">
                <a16:creationId xmlns:a16="http://schemas.microsoft.com/office/drawing/2014/main" id="{8BDB0671-FC93-5C9E-75A2-ED46EE3FB8B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8" name="Content Placeholder 1">
            <a:extLst>
              <a:ext uri="{FF2B5EF4-FFF2-40B4-BE49-F238E27FC236}">
                <a16:creationId xmlns:a16="http://schemas.microsoft.com/office/drawing/2014/main" id="{1FF5ADF0-474C-251F-0E40-267B658E504A}"/>
              </a:ext>
            </a:extLst>
          </p:cNvPr>
          <p:cNvSpPr txBox="1">
            <a:spLocks noGrp="1"/>
          </p:cNvSpPr>
          <p:nvPr>
            <p:ph idx="1"/>
          </p:nvPr>
        </p:nvSpPr>
        <p:spPr>
          <a:xfrm>
            <a:off x="609600" y="1219200"/>
            <a:ext cx="10515600" cy="4449763"/>
          </a:xfrm>
        </p:spPr>
        <p:txBody>
          <a:bodyPr/>
          <a:lstStyle/>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lgn="ctr">
              <a:spcBef>
                <a:spcPts val="363"/>
              </a:spcBef>
              <a:spcAft>
                <a:spcPct val="0"/>
              </a:spcAft>
              <a:buClr>
                <a:srgbClr val="000000"/>
              </a:buClr>
              <a:buFont typeface="Arial" panose="020B0604020202020204" pitchFamily="34" charset="0"/>
              <a:buNone/>
            </a:pPr>
            <a:r>
              <a:rPr lang="en-IN" sz="2000" b="1" dirty="0">
                <a:latin typeface="Arial" panose="020B0604020202020204" pitchFamily="34" charset="0"/>
                <a:cs typeface="Arial" panose="020B0604020202020204" pitchFamily="34" charset="0"/>
              </a:rPr>
              <a:t> </a:t>
            </a:r>
          </a:p>
        </p:txBody>
      </p:sp>
      <p:sp>
        <p:nvSpPr>
          <p:cNvPr id="3" name="Content Placeholder 2">
            <a:extLst>
              <a:ext uri="{FF2B5EF4-FFF2-40B4-BE49-F238E27FC236}">
                <a16:creationId xmlns:a16="http://schemas.microsoft.com/office/drawing/2014/main" id="{1BFCDC3D-6CF3-A3FB-2F33-E38E4F03E0C2}"/>
              </a:ext>
            </a:extLst>
          </p:cNvPr>
          <p:cNvSpPr txBox="1">
            <a:spLocks/>
          </p:cNvSpPr>
          <p:nvPr/>
        </p:nvSpPr>
        <p:spPr>
          <a:xfrm>
            <a:off x="533400" y="1055218"/>
            <a:ext cx="10134600" cy="5070946"/>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Font typeface="Arial" pitchFamily="34" charset="0"/>
              <a:buNone/>
            </a:pPr>
            <a:r>
              <a:rPr lang="en-US" sz="2000" b="1"/>
              <a:t>4 Newdoc </a:t>
            </a:r>
            <a:r>
              <a:rPr lang="en-US" sz="2000"/>
              <a:t>is similar to the heredoc, but in newdoc parsing is not done. </a:t>
            </a:r>
          </a:p>
          <a:p>
            <a:pPr algn="just"/>
            <a:r>
              <a:rPr lang="en-US" sz="2000"/>
              <a:t>It is also identified with three less than symbols &lt;&lt;&lt; followed by an identifier. </a:t>
            </a:r>
          </a:p>
          <a:p>
            <a:pPr algn="just"/>
            <a:r>
              <a:rPr lang="en-US" sz="2000"/>
              <a:t>But here identifier is enclosed in single-quote, e.g. &lt;&lt;&lt;'EXP'. Newdoc follows the same rule as heredocs. </a:t>
            </a:r>
          </a:p>
          <a:p>
            <a:pPr algn="just"/>
            <a:r>
              <a:rPr lang="en-US" sz="2000"/>
              <a:t>The difference between newdoc and heredoc is that - Newdoc is a single-quoted string whereas heredoc is a double-quoted string.</a:t>
            </a:r>
          </a:p>
          <a:p>
            <a:pPr marL="0" indent="0">
              <a:buFont typeface="Arial" pitchFamily="34" charset="0"/>
              <a:buNone/>
            </a:pPr>
            <a:endParaRPr lang="en-US" sz="1600" dirty="0">
              <a:latin typeface="Open Sans"/>
            </a:endParaRPr>
          </a:p>
        </p:txBody>
      </p:sp>
    </p:spTree>
    <p:extLst>
      <p:ext uri="{BB962C8B-B14F-4D97-AF65-F5344CB8AC3E}">
        <p14:creationId xmlns:p14="http://schemas.microsoft.com/office/powerpoint/2010/main" val="358895858"/>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E73A3019-CFE4-49DD-B6FD-2AFB2DD2DBB6}" type="datetime1">
              <a:rPr lang="en-US" smtClean="0"/>
              <a:t>11/7/2024</a:t>
            </a:fld>
            <a:endParaRPr lang="en-US"/>
          </a:p>
        </p:txBody>
      </p:sp>
      <p:sp>
        <p:nvSpPr>
          <p:cNvPr id="5" name="Footer Placeholder 4"/>
          <p:cNvSpPr>
            <a:spLocks noGrp="1"/>
          </p:cNvSpPr>
          <p:nvPr>
            <p:ph type="ftr" sz="quarter" idx="11"/>
          </p:nvPr>
        </p:nvSpPr>
        <p:spPr>
          <a:xfrm>
            <a:off x="4343400" y="6248401"/>
            <a:ext cx="4724400" cy="365125"/>
          </a:xfrm>
        </p:spPr>
        <p:txBody>
          <a:bodyPr/>
          <a:lstStyle/>
          <a:p>
            <a:r>
              <a:rPr lang="en-US" dirty="0"/>
              <a:t>Vaishali Mishra            ACSE0505 Web Technology                Unit 5</a:t>
            </a:r>
          </a:p>
        </p:txBody>
      </p:sp>
      <p:sp>
        <p:nvSpPr>
          <p:cNvPr id="6" name="Slide Number Placeholder 5"/>
          <p:cNvSpPr>
            <a:spLocks noGrp="1"/>
          </p:cNvSpPr>
          <p:nvPr>
            <p:ph type="sldNum" sz="quarter" idx="12"/>
          </p:nvPr>
        </p:nvSpPr>
        <p:spPr/>
        <p:txBody>
          <a:bodyPr/>
          <a:lstStyle/>
          <a:p>
            <a:fld id="{B6F15528-21DE-4FAA-801E-634DDDAF4B2B}" type="slidenum">
              <a:rPr lang="en-US" smtClean="0"/>
              <a:pPr/>
              <a:t>69</a:t>
            </a:fld>
            <a:endParaRPr lang="en-US"/>
          </a:p>
        </p:txBody>
      </p:sp>
      <p:sp>
        <p:nvSpPr>
          <p:cNvPr id="7" name="Title 1"/>
          <p:cNvSpPr txBox="1">
            <a:spLocks/>
          </p:cNvSpPr>
          <p:nvPr/>
        </p:nvSpPr>
        <p:spPr>
          <a:xfrm>
            <a:off x="2895600" y="2"/>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pPr>
              <a:defRPr/>
            </a:pPr>
            <a:endParaRPr lang="en-US" sz="2800" dirty="0"/>
          </a:p>
          <a:p>
            <a:pPr>
              <a:defRPr/>
            </a:pPr>
            <a:endParaRPr lang="en-US" dirty="0"/>
          </a:p>
          <a:p>
            <a:pPr>
              <a:defRPr/>
            </a:pPr>
            <a:r>
              <a:rPr lang="en-US" sz="2800" dirty="0"/>
              <a:t>Array (CO5)</a:t>
            </a:r>
            <a:endParaRPr lang="en-IN" sz="2800" dirty="0"/>
          </a:p>
          <a:p>
            <a:pPr>
              <a:defRPr/>
            </a:pPr>
            <a:endParaRPr lang="en-US" sz="2800" dirty="0"/>
          </a:p>
          <a:p>
            <a:pPr algn="ctr">
              <a:defRPr/>
            </a:pPr>
            <a:endParaRPr lang="en-US" sz="2800" dirty="0">
              <a:latin typeface="Times New Roman" pitchFamily="18" charset="0"/>
              <a:cs typeface="Times New Roman" pitchFamily="18" charset="0"/>
              <a:sym typeface="Arial" charset="0"/>
            </a:endParaRPr>
          </a:p>
        </p:txBody>
      </p:sp>
      <p:pic>
        <p:nvPicPr>
          <p:cNvPr id="2" name="Picture 1" descr="A black and red logo&#10;&#10;Description automatically generated">
            <a:extLst>
              <a:ext uri="{FF2B5EF4-FFF2-40B4-BE49-F238E27FC236}">
                <a16:creationId xmlns:a16="http://schemas.microsoft.com/office/drawing/2014/main" id="{8BDB0671-FC93-5C9E-75A2-ED46EE3FB8B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8" name="Content Placeholder 1">
            <a:extLst>
              <a:ext uri="{FF2B5EF4-FFF2-40B4-BE49-F238E27FC236}">
                <a16:creationId xmlns:a16="http://schemas.microsoft.com/office/drawing/2014/main" id="{1FF5ADF0-474C-251F-0E40-267B658E504A}"/>
              </a:ext>
            </a:extLst>
          </p:cNvPr>
          <p:cNvSpPr txBox="1">
            <a:spLocks noGrp="1"/>
          </p:cNvSpPr>
          <p:nvPr>
            <p:ph idx="1"/>
          </p:nvPr>
        </p:nvSpPr>
        <p:spPr>
          <a:xfrm>
            <a:off x="609600" y="1219200"/>
            <a:ext cx="10515600" cy="4449763"/>
          </a:xfrm>
        </p:spPr>
        <p:txBody>
          <a:bodyPr/>
          <a:lstStyle/>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lgn="ctr">
              <a:spcBef>
                <a:spcPts val="363"/>
              </a:spcBef>
              <a:spcAft>
                <a:spcPct val="0"/>
              </a:spcAft>
              <a:buClr>
                <a:srgbClr val="000000"/>
              </a:buClr>
              <a:buFont typeface="Arial" panose="020B0604020202020204" pitchFamily="34" charset="0"/>
              <a:buNone/>
            </a:pPr>
            <a:r>
              <a:rPr lang="en-IN" sz="2000" b="1" dirty="0">
                <a:latin typeface="Arial" panose="020B0604020202020204" pitchFamily="34" charset="0"/>
                <a:cs typeface="Arial" panose="020B0604020202020204" pitchFamily="34" charset="0"/>
              </a:rPr>
              <a:t> </a:t>
            </a:r>
          </a:p>
        </p:txBody>
      </p:sp>
      <p:sp>
        <p:nvSpPr>
          <p:cNvPr id="3" name="Content Placeholder 2">
            <a:extLst>
              <a:ext uri="{FF2B5EF4-FFF2-40B4-BE49-F238E27FC236}">
                <a16:creationId xmlns:a16="http://schemas.microsoft.com/office/drawing/2014/main" id="{C994631D-8220-0ACC-4F71-A5D5CCD1F14F}"/>
              </a:ext>
            </a:extLst>
          </p:cNvPr>
          <p:cNvSpPr txBox="1">
            <a:spLocks/>
          </p:cNvSpPr>
          <p:nvPr/>
        </p:nvSpPr>
        <p:spPr>
          <a:xfrm>
            <a:off x="457200" y="1189036"/>
            <a:ext cx="10210800" cy="4937127"/>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Font typeface="Arial" pitchFamily="34" charset="0"/>
              <a:buNone/>
            </a:pPr>
            <a:r>
              <a:rPr lang="en-US" sz="2000"/>
              <a:t>PHP array is an ordered map (contains value on the basis of key). It is used to hold multiple values of similar type in a single variable. We don't need to define multiple variables. By the help of single loop, we can traverse all the elements of an array. We can sort the elements of array. There are 3 types of array in PHP.</a:t>
            </a:r>
          </a:p>
          <a:p>
            <a:pPr marL="0" indent="0" algn="just">
              <a:buFont typeface="Arial" pitchFamily="34" charset="0"/>
              <a:buNone/>
            </a:pPr>
            <a:r>
              <a:rPr lang="en-US" sz="2000" b="1"/>
              <a:t>1 PHP indexed array </a:t>
            </a:r>
            <a:r>
              <a:rPr lang="en-US" sz="2000"/>
              <a:t>is represented by number which starts from 0. We can store number, string and object in the PHP array. </a:t>
            </a:r>
          </a:p>
          <a:p>
            <a:pPr marL="0" indent="0" algn="just">
              <a:buFont typeface="Arial" pitchFamily="34" charset="0"/>
              <a:buNone/>
            </a:pPr>
            <a:r>
              <a:rPr lang="en-US" sz="2000"/>
              <a:t>All PHP array elements are assigned to an index number by default. There are two ways to define indexed array:</a:t>
            </a:r>
            <a:endParaRPr lang="en-US" sz="2000" dirty="0"/>
          </a:p>
        </p:txBody>
      </p:sp>
    </p:spTree>
    <p:extLst>
      <p:ext uri="{BB962C8B-B14F-4D97-AF65-F5344CB8AC3E}">
        <p14:creationId xmlns:p14="http://schemas.microsoft.com/office/powerpoint/2010/main" val="1221392693"/>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E73A3019-CFE4-49DD-B6FD-2AFB2DD2DBB6}" type="datetime1">
              <a:rPr lang="en-US" smtClean="0"/>
              <a:t>11/7/2024</a:t>
            </a:fld>
            <a:endParaRPr lang="en-US"/>
          </a:p>
        </p:txBody>
      </p:sp>
      <p:sp>
        <p:nvSpPr>
          <p:cNvPr id="5" name="Footer Placeholder 4"/>
          <p:cNvSpPr>
            <a:spLocks noGrp="1"/>
          </p:cNvSpPr>
          <p:nvPr>
            <p:ph type="ftr" sz="quarter" idx="11"/>
          </p:nvPr>
        </p:nvSpPr>
        <p:spPr>
          <a:xfrm>
            <a:off x="4343400" y="6248401"/>
            <a:ext cx="4724400" cy="365125"/>
          </a:xfrm>
        </p:spPr>
        <p:txBody>
          <a:bodyPr/>
          <a:lstStyle/>
          <a:p>
            <a:r>
              <a:rPr lang="en-US" dirty="0"/>
              <a:t>Vaishali Mishra            ACSE0505 Web Technology                Unit 5</a:t>
            </a:r>
          </a:p>
        </p:txBody>
      </p:sp>
      <p:sp>
        <p:nvSpPr>
          <p:cNvPr id="6" name="Slide Number Placeholder 5"/>
          <p:cNvSpPr>
            <a:spLocks noGrp="1"/>
          </p:cNvSpPr>
          <p:nvPr>
            <p:ph type="sldNum" sz="quarter" idx="12"/>
          </p:nvPr>
        </p:nvSpPr>
        <p:spPr/>
        <p:txBody>
          <a:bodyPr/>
          <a:lstStyle/>
          <a:p>
            <a:fld id="{B6F15528-21DE-4FAA-801E-634DDDAF4B2B}" type="slidenum">
              <a:rPr lang="en-US" smtClean="0"/>
              <a:pPr/>
              <a:t>70</a:t>
            </a:fld>
            <a:endParaRPr lang="en-US"/>
          </a:p>
        </p:txBody>
      </p:sp>
      <p:sp>
        <p:nvSpPr>
          <p:cNvPr id="7" name="Title 1"/>
          <p:cNvSpPr txBox="1">
            <a:spLocks/>
          </p:cNvSpPr>
          <p:nvPr/>
        </p:nvSpPr>
        <p:spPr>
          <a:xfrm>
            <a:off x="2895600" y="2"/>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pPr>
              <a:defRPr/>
            </a:pPr>
            <a:endParaRPr lang="en-US" sz="2800" dirty="0"/>
          </a:p>
          <a:p>
            <a:pPr>
              <a:defRPr/>
            </a:pPr>
            <a:r>
              <a:rPr lang="en-US" sz="2800" dirty="0"/>
              <a:t>Array (CO5)</a:t>
            </a:r>
            <a:endParaRPr lang="en-IN" sz="2800" dirty="0"/>
          </a:p>
          <a:p>
            <a:pPr algn="ctr">
              <a:defRPr/>
            </a:pPr>
            <a:endParaRPr lang="en-US" sz="2800" dirty="0">
              <a:latin typeface="Times New Roman" pitchFamily="18" charset="0"/>
              <a:cs typeface="Times New Roman" pitchFamily="18" charset="0"/>
              <a:sym typeface="Arial" charset="0"/>
            </a:endParaRPr>
          </a:p>
        </p:txBody>
      </p:sp>
      <p:pic>
        <p:nvPicPr>
          <p:cNvPr id="2" name="Picture 1" descr="A black and red logo&#10;&#10;Description automatically generated">
            <a:extLst>
              <a:ext uri="{FF2B5EF4-FFF2-40B4-BE49-F238E27FC236}">
                <a16:creationId xmlns:a16="http://schemas.microsoft.com/office/drawing/2014/main" id="{8BDB0671-FC93-5C9E-75A2-ED46EE3FB8B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8" name="Content Placeholder 1">
            <a:extLst>
              <a:ext uri="{FF2B5EF4-FFF2-40B4-BE49-F238E27FC236}">
                <a16:creationId xmlns:a16="http://schemas.microsoft.com/office/drawing/2014/main" id="{1FF5ADF0-474C-251F-0E40-267B658E504A}"/>
              </a:ext>
            </a:extLst>
          </p:cNvPr>
          <p:cNvSpPr txBox="1">
            <a:spLocks noGrp="1"/>
          </p:cNvSpPr>
          <p:nvPr>
            <p:ph idx="1"/>
          </p:nvPr>
        </p:nvSpPr>
        <p:spPr>
          <a:xfrm>
            <a:off x="609600" y="1219200"/>
            <a:ext cx="10515600" cy="4449763"/>
          </a:xfrm>
        </p:spPr>
        <p:txBody>
          <a:bodyPr/>
          <a:lstStyle/>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lgn="ctr">
              <a:spcBef>
                <a:spcPts val="363"/>
              </a:spcBef>
              <a:spcAft>
                <a:spcPct val="0"/>
              </a:spcAft>
              <a:buClr>
                <a:srgbClr val="000000"/>
              </a:buClr>
              <a:buFont typeface="Arial" panose="020B0604020202020204" pitchFamily="34" charset="0"/>
              <a:buNone/>
            </a:pPr>
            <a:r>
              <a:rPr lang="en-IN" sz="2000" b="1" dirty="0">
                <a:latin typeface="Arial" panose="020B0604020202020204" pitchFamily="34" charset="0"/>
                <a:cs typeface="Arial" panose="020B0604020202020204" pitchFamily="34" charset="0"/>
              </a:rPr>
              <a:t> </a:t>
            </a:r>
          </a:p>
        </p:txBody>
      </p:sp>
      <p:sp>
        <p:nvSpPr>
          <p:cNvPr id="3" name="Content Placeholder 2">
            <a:extLst>
              <a:ext uri="{FF2B5EF4-FFF2-40B4-BE49-F238E27FC236}">
                <a16:creationId xmlns:a16="http://schemas.microsoft.com/office/drawing/2014/main" id="{20C0A37D-7ED3-AC23-5BC0-DC6EE25EF6A7}"/>
              </a:ext>
            </a:extLst>
          </p:cNvPr>
          <p:cNvSpPr txBox="1">
            <a:spLocks/>
          </p:cNvSpPr>
          <p:nvPr/>
        </p:nvSpPr>
        <p:spPr>
          <a:xfrm>
            <a:off x="152400" y="1189036"/>
            <a:ext cx="10515600" cy="4937127"/>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685800" lvl="1" algn="just">
              <a:buFont typeface="Arial" pitchFamily="34" charset="0"/>
              <a:buChar char="•"/>
            </a:pPr>
            <a:r>
              <a:rPr lang="en-US" sz="2000"/>
              <a:t>1st way:</a:t>
            </a:r>
          </a:p>
          <a:p>
            <a:pPr marL="685800" lvl="1" algn="just">
              <a:buFont typeface="Arial" pitchFamily="34" charset="0"/>
              <a:buChar char="•"/>
            </a:pPr>
            <a:r>
              <a:rPr lang="en-US" sz="2000"/>
              <a:t>$season=array("summer","winter","spring","autumn");  </a:t>
            </a:r>
          </a:p>
          <a:p>
            <a:pPr marL="685800" lvl="1" algn="just">
              <a:buFont typeface="Arial" pitchFamily="34" charset="0"/>
              <a:buChar char="•"/>
            </a:pPr>
            <a:r>
              <a:rPr lang="en-US" sz="2000"/>
              <a:t>2nd way:</a:t>
            </a:r>
          </a:p>
          <a:p>
            <a:pPr marL="685800" lvl="1" algn="just">
              <a:buFont typeface="Arial" pitchFamily="34" charset="0"/>
              <a:buChar char="•"/>
            </a:pPr>
            <a:r>
              <a:rPr lang="en-US" sz="2000"/>
              <a:t>$season[0]="summer";  </a:t>
            </a:r>
          </a:p>
          <a:p>
            <a:pPr marL="685800" lvl="1" algn="just">
              <a:buFont typeface="Arial" pitchFamily="34" charset="0"/>
              <a:buChar char="•"/>
            </a:pPr>
            <a:r>
              <a:rPr lang="en-US" sz="2000"/>
              <a:t>$season[1]="winter";  </a:t>
            </a:r>
          </a:p>
          <a:p>
            <a:pPr marL="685800" lvl="1" algn="just">
              <a:buFont typeface="Arial" pitchFamily="34" charset="0"/>
              <a:buChar char="•"/>
            </a:pPr>
            <a:r>
              <a:rPr lang="en-US" sz="2000"/>
              <a:t>$season[2]="spring";  </a:t>
            </a:r>
          </a:p>
          <a:p>
            <a:pPr marL="685800" lvl="1" algn="just">
              <a:buFont typeface="Arial" pitchFamily="34" charset="0"/>
              <a:buChar char="•"/>
            </a:pPr>
            <a:r>
              <a:rPr lang="en-US" sz="2000"/>
              <a:t>$season[3]="autumn"; </a:t>
            </a:r>
            <a:endParaRPr lang="en-US" sz="2000" dirty="0"/>
          </a:p>
        </p:txBody>
      </p:sp>
    </p:spTree>
    <p:extLst>
      <p:ext uri="{BB962C8B-B14F-4D97-AF65-F5344CB8AC3E}">
        <p14:creationId xmlns:p14="http://schemas.microsoft.com/office/powerpoint/2010/main" val="1824390445"/>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E73A3019-CFE4-49DD-B6FD-2AFB2DD2DBB6}" type="datetime1">
              <a:rPr lang="en-US" smtClean="0"/>
              <a:t>11/7/2024</a:t>
            </a:fld>
            <a:endParaRPr lang="en-US"/>
          </a:p>
        </p:txBody>
      </p:sp>
      <p:sp>
        <p:nvSpPr>
          <p:cNvPr id="5" name="Footer Placeholder 4"/>
          <p:cNvSpPr>
            <a:spLocks noGrp="1"/>
          </p:cNvSpPr>
          <p:nvPr>
            <p:ph type="ftr" sz="quarter" idx="11"/>
          </p:nvPr>
        </p:nvSpPr>
        <p:spPr>
          <a:xfrm>
            <a:off x="4343400" y="6248401"/>
            <a:ext cx="4724400" cy="365125"/>
          </a:xfrm>
        </p:spPr>
        <p:txBody>
          <a:bodyPr/>
          <a:lstStyle/>
          <a:p>
            <a:r>
              <a:rPr lang="en-US" dirty="0"/>
              <a:t>Vaishali Mishra            ACSE0505 Web Technology                Unit 5</a:t>
            </a:r>
          </a:p>
        </p:txBody>
      </p:sp>
      <p:sp>
        <p:nvSpPr>
          <p:cNvPr id="6" name="Slide Number Placeholder 5"/>
          <p:cNvSpPr>
            <a:spLocks noGrp="1"/>
          </p:cNvSpPr>
          <p:nvPr>
            <p:ph type="sldNum" sz="quarter" idx="12"/>
          </p:nvPr>
        </p:nvSpPr>
        <p:spPr/>
        <p:txBody>
          <a:bodyPr/>
          <a:lstStyle/>
          <a:p>
            <a:fld id="{B6F15528-21DE-4FAA-801E-634DDDAF4B2B}" type="slidenum">
              <a:rPr lang="en-US" smtClean="0"/>
              <a:pPr/>
              <a:t>71</a:t>
            </a:fld>
            <a:endParaRPr lang="en-US"/>
          </a:p>
        </p:txBody>
      </p:sp>
      <p:sp>
        <p:nvSpPr>
          <p:cNvPr id="7" name="Title 1"/>
          <p:cNvSpPr txBox="1">
            <a:spLocks/>
          </p:cNvSpPr>
          <p:nvPr/>
        </p:nvSpPr>
        <p:spPr>
          <a:xfrm>
            <a:off x="2895600" y="2"/>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pPr>
              <a:defRPr/>
            </a:pPr>
            <a:endParaRPr lang="en-US" sz="2800" dirty="0"/>
          </a:p>
          <a:p>
            <a:pPr>
              <a:defRPr/>
            </a:pPr>
            <a:endParaRPr lang="en-US" dirty="0"/>
          </a:p>
          <a:p>
            <a:pPr>
              <a:defRPr/>
            </a:pPr>
            <a:r>
              <a:rPr lang="en-US" sz="2800" dirty="0"/>
              <a:t>Array (CO5)</a:t>
            </a:r>
            <a:endParaRPr lang="en-IN" sz="2800" dirty="0"/>
          </a:p>
          <a:p>
            <a:pPr>
              <a:defRPr/>
            </a:pPr>
            <a:endParaRPr lang="en-US" sz="2800" dirty="0"/>
          </a:p>
          <a:p>
            <a:pPr algn="ctr">
              <a:defRPr/>
            </a:pPr>
            <a:endParaRPr lang="en-US" sz="2800" dirty="0">
              <a:latin typeface="Times New Roman" pitchFamily="18" charset="0"/>
              <a:cs typeface="Times New Roman" pitchFamily="18" charset="0"/>
              <a:sym typeface="Arial" charset="0"/>
            </a:endParaRPr>
          </a:p>
        </p:txBody>
      </p:sp>
      <p:pic>
        <p:nvPicPr>
          <p:cNvPr id="2" name="Picture 1" descr="A black and red logo&#10;&#10;Description automatically generated">
            <a:extLst>
              <a:ext uri="{FF2B5EF4-FFF2-40B4-BE49-F238E27FC236}">
                <a16:creationId xmlns:a16="http://schemas.microsoft.com/office/drawing/2014/main" id="{8BDB0671-FC93-5C9E-75A2-ED46EE3FB8B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8" name="Content Placeholder 1">
            <a:extLst>
              <a:ext uri="{FF2B5EF4-FFF2-40B4-BE49-F238E27FC236}">
                <a16:creationId xmlns:a16="http://schemas.microsoft.com/office/drawing/2014/main" id="{1FF5ADF0-474C-251F-0E40-267B658E504A}"/>
              </a:ext>
            </a:extLst>
          </p:cNvPr>
          <p:cNvSpPr txBox="1">
            <a:spLocks noGrp="1"/>
          </p:cNvSpPr>
          <p:nvPr>
            <p:ph idx="1"/>
          </p:nvPr>
        </p:nvSpPr>
        <p:spPr>
          <a:xfrm>
            <a:off x="609600" y="1219200"/>
            <a:ext cx="10515600" cy="4449763"/>
          </a:xfrm>
        </p:spPr>
        <p:txBody>
          <a:bodyPr/>
          <a:lstStyle/>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lgn="ctr">
              <a:spcBef>
                <a:spcPts val="363"/>
              </a:spcBef>
              <a:spcAft>
                <a:spcPct val="0"/>
              </a:spcAft>
              <a:buClr>
                <a:srgbClr val="000000"/>
              </a:buClr>
              <a:buFont typeface="Arial" panose="020B0604020202020204" pitchFamily="34" charset="0"/>
              <a:buNone/>
            </a:pPr>
            <a:r>
              <a:rPr lang="en-IN" sz="2000" b="1" dirty="0">
                <a:latin typeface="Arial" panose="020B0604020202020204" pitchFamily="34" charset="0"/>
                <a:cs typeface="Arial" panose="020B0604020202020204" pitchFamily="34" charset="0"/>
              </a:rPr>
              <a:t> </a:t>
            </a:r>
          </a:p>
        </p:txBody>
      </p:sp>
      <p:sp>
        <p:nvSpPr>
          <p:cNvPr id="3" name="Content Placeholder 2">
            <a:extLst>
              <a:ext uri="{FF2B5EF4-FFF2-40B4-BE49-F238E27FC236}">
                <a16:creationId xmlns:a16="http://schemas.microsoft.com/office/drawing/2014/main" id="{659DC543-E812-ECDC-5BB1-AB4509CCE4C4}"/>
              </a:ext>
            </a:extLst>
          </p:cNvPr>
          <p:cNvSpPr txBox="1">
            <a:spLocks/>
          </p:cNvSpPr>
          <p:nvPr/>
        </p:nvSpPr>
        <p:spPr>
          <a:xfrm>
            <a:off x="609600" y="1055218"/>
            <a:ext cx="10058400" cy="5070946"/>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Font typeface="Arial" pitchFamily="34" charset="0"/>
              <a:buNone/>
            </a:pPr>
            <a:r>
              <a:rPr lang="en-US" sz="2000" b="1" dirty="0"/>
              <a:t>2 PHP associative array </a:t>
            </a:r>
            <a:r>
              <a:rPr lang="en-US" sz="2000" dirty="0"/>
              <a:t>allows you to associate name/label with each array elements in PHP using =&gt; symbol. Such way, you can easily remember the element because each element is represented by label than an incremented number. There are two ways to define associative array:</a:t>
            </a:r>
          </a:p>
          <a:p>
            <a:pPr lvl="1" algn="just"/>
            <a:r>
              <a:rPr lang="en-US" sz="2000" dirty="0"/>
              <a:t>1st way:</a:t>
            </a:r>
          </a:p>
          <a:p>
            <a:pPr lvl="1" algn="just"/>
            <a:r>
              <a:rPr lang="en-US" sz="2000" dirty="0"/>
              <a:t>$salary=</a:t>
            </a:r>
            <a:r>
              <a:rPr lang="en-US" sz="2000" b="1" dirty="0"/>
              <a:t>array</a:t>
            </a:r>
            <a:r>
              <a:rPr lang="en-US" sz="2000" dirty="0"/>
              <a:t>("</a:t>
            </a:r>
            <a:r>
              <a:rPr lang="en-US" sz="2000" dirty="0" err="1"/>
              <a:t>Sonoo</a:t>
            </a:r>
            <a:r>
              <a:rPr lang="en-US" sz="2000" dirty="0"/>
              <a:t>"=&gt;"550000","Vimal"=&gt;"250000","Ratan"=&gt;"200000");  </a:t>
            </a:r>
          </a:p>
          <a:p>
            <a:pPr lvl="1" algn="just"/>
            <a:r>
              <a:rPr lang="en-US" sz="2000" dirty="0"/>
              <a:t>2nd way:</a:t>
            </a:r>
          </a:p>
          <a:p>
            <a:pPr lvl="1" algn="just"/>
            <a:r>
              <a:rPr lang="en-US" sz="2000" dirty="0"/>
              <a:t>$salary["</a:t>
            </a:r>
            <a:r>
              <a:rPr lang="en-US" sz="2000" dirty="0" err="1"/>
              <a:t>Sonoo</a:t>
            </a:r>
            <a:r>
              <a:rPr lang="en-US" sz="2000" dirty="0"/>
              <a:t>"]="550000";  </a:t>
            </a:r>
          </a:p>
          <a:p>
            <a:pPr lvl="1" algn="just"/>
            <a:r>
              <a:rPr lang="en-US" sz="2000" dirty="0"/>
              <a:t>$salary["Vimal"]="250000";  </a:t>
            </a:r>
          </a:p>
          <a:p>
            <a:pPr lvl="1" algn="just"/>
            <a:r>
              <a:rPr lang="en-US" sz="2000" dirty="0"/>
              <a:t>$salary["Ratan"]="200000";  </a:t>
            </a:r>
          </a:p>
          <a:p>
            <a:pPr marL="0" indent="0" algn="just">
              <a:buFont typeface="Arial" pitchFamily="34" charset="0"/>
              <a:buNone/>
            </a:pPr>
            <a:r>
              <a:rPr lang="en-US" sz="1700" dirty="0"/>
              <a:t>  </a:t>
            </a:r>
          </a:p>
          <a:p>
            <a:endParaRPr lang="en-US" sz="2000" dirty="0"/>
          </a:p>
        </p:txBody>
      </p:sp>
    </p:spTree>
    <p:extLst>
      <p:ext uri="{BB962C8B-B14F-4D97-AF65-F5344CB8AC3E}">
        <p14:creationId xmlns:p14="http://schemas.microsoft.com/office/powerpoint/2010/main" val="1234840219"/>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E73A3019-CFE4-49DD-B6FD-2AFB2DD2DBB6}" type="datetime1">
              <a:rPr lang="en-US" smtClean="0"/>
              <a:t>11/7/2024</a:t>
            </a:fld>
            <a:endParaRPr lang="en-US"/>
          </a:p>
        </p:txBody>
      </p:sp>
      <p:sp>
        <p:nvSpPr>
          <p:cNvPr id="5" name="Footer Placeholder 4"/>
          <p:cNvSpPr>
            <a:spLocks noGrp="1"/>
          </p:cNvSpPr>
          <p:nvPr>
            <p:ph type="ftr" sz="quarter" idx="11"/>
          </p:nvPr>
        </p:nvSpPr>
        <p:spPr>
          <a:xfrm>
            <a:off x="4343400" y="6248401"/>
            <a:ext cx="4724400" cy="365125"/>
          </a:xfrm>
        </p:spPr>
        <p:txBody>
          <a:bodyPr/>
          <a:lstStyle/>
          <a:p>
            <a:r>
              <a:rPr lang="en-US" dirty="0"/>
              <a:t>Vaishali Mishra            ACSE0505 Web Technology                Unit 5</a:t>
            </a:r>
          </a:p>
        </p:txBody>
      </p:sp>
      <p:sp>
        <p:nvSpPr>
          <p:cNvPr id="6" name="Slide Number Placeholder 5"/>
          <p:cNvSpPr>
            <a:spLocks noGrp="1"/>
          </p:cNvSpPr>
          <p:nvPr>
            <p:ph type="sldNum" sz="quarter" idx="12"/>
          </p:nvPr>
        </p:nvSpPr>
        <p:spPr/>
        <p:txBody>
          <a:bodyPr/>
          <a:lstStyle/>
          <a:p>
            <a:fld id="{B6F15528-21DE-4FAA-801E-634DDDAF4B2B}" type="slidenum">
              <a:rPr lang="en-US" smtClean="0"/>
              <a:pPr/>
              <a:t>72</a:t>
            </a:fld>
            <a:endParaRPr lang="en-US"/>
          </a:p>
        </p:txBody>
      </p:sp>
      <p:sp>
        <p:nvSpPr>
          <p:cNvPr id="7" name="Title 1"/>
          <p:cNvSpPr txBox="1">
            <a:spLocks/>
          </p:cNvSpPr>
          <p:nvPr/>
        </p:nvSpPr>
        <p:spPr>
          <a:xfrm>
            <a:off x="2895600" y="2"/>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pPr algn="ctr"/>
            <a:r>
              <a:rPr lang="en-US" sz="2800"/>
              <a:t>Array (CO5)</a:t>
            </a:r>
            <a:endParaRPr lang="en-IN" sz="2800" dirty="0"/>
          </a:p>
        </p:txBody>
      </p:sp>
      <p:pic>
        <p:nvPicPr>
          <p:cNvPr id="2" name="Picture 1" descr="A black and red logo&#10;&#10;Description automatically generated">
            <a:extLst>
              <a:ext uri="{FF2B5EF4-FFF2-40B4-BE49-F238E27FC236}">
                <a16:creationId xmlns:a16="http://schemas.microsoft.com/office/drawing/2014/main" id="{8BDB0671-FC93-5C9E-75A2-ED46EE3FB8B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8" name="Content Placeholder 1">
            <a:extLst>
              <a:ext uri="{FF2B5EF4-FFF2-40B4-BE49-F238E27FC236}">
                <a16:creationId xmlns:a16="http://schemas.microsoft.com/office/drawing/2014/main" id="{1FF5ADF0-474C-251F-0E40-267B658E504A}"/>
              </a:ext>
            </a:extLst>
          </p:cNvPr>
          <p:cNvSpPr txBox="1">
            <a:spLocks noGrp="1"/>
          </p:cNvSpPr>
          <p:nvPr>
            <p:ph idx="1"/>
          </p:nvPr>
        </p:nvSpPr>
        <p:spPr>
          <a:xfrm>
            <a:off x="609600" y="1219200"/>
            <a:ext cx="10515600" cy="4449763"/>
          </a:xfrm>
        </p:spPr>
        <p:txBody>
          <a:bodyPr/>
          <a:lstStyle/>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lgn="ctr">
              <a:spcBef>
                <a:spcPts val="363"/>
              </a:spcBef>
              <a:spcAft>
                <a:spcPct val="0"/>
              </a:spcAft>
              <a:buClr>
                <a:srgbClr val="000000"/>
              </a:buClr>
              <a:buFont typeface="Arial" panose="020B0604020202020204" pitchFamily="34" charset="0"/>
              <a:buNone/>
            </a:pPr>
            <a:r>
              <a:rPr lang="en-IN" sz="2000" b="1" dirty="0">
                <a:latin typeface="Arial" panose="020B0604020202020204" pitchFamily="34" charset="0"/>
                <a:cs typeface="Arial" panose="020B0604020202020204" pitchFamily="34" charset="0"/>
              </a:rPr>
              <a:t> </a:t>
            </a:r>
          </a:p>
        </p:txBody>
      </p:sp>
      <p:sp>
        <p:nvSpPr>
          <p:cNvPr id="3" name="Content Placeholder 2">
            <a:extLst>
              <a:ext uri="{FF2B5EF4-FFF2-40B4-BE49-F238E27FC236}">
                <a16:creationId xmlns:a16="http://schemas.microsoft.com/office/drawing/2014/main" id="{4C633F59-93C1-93BC-8B58-226ECE203C4D}"/>
              </a:ext>
            </a:extLst>
          </p:cNvPr>
          <p:cNvSpPr txBox="1">
            <a:spLocks/>
          </p:cNvSpPr>
          <p:nvPr/>
        </p:nvSpPr>
        <p:spPr>
          <a:xfrm>
            <a:off x="304800" y="838200"/>
            <a:ext cx="10363200" cy="5287964"/>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Font typeface="Arial" pitchFamily="34" charset="0"/>
              <a:buNone/>
            </a:pPr>
            <a:r>
              <a:rPr lang="en-US" sz="2000" b="1"/>
              <a:t>3 PHP multidimensional array </a:t>
            </a:r>
            <a:r>
              <a:rPr lang="en-US" sz="2000"/>
              <a:t>is also known as array of arrays. It allows you to store tabular data in an array. PHP multidimensional array can be represented in the form of matrix which is represented by row * column.</a:t>
            </a:r>
          </a:p>
          <a:p>
            <a:pPr lvl="1" algn="just"/>
            <a:r>
              <a:rPr lang="en-US" sz="2000"/>
              <a:t>$emp = </a:t>
            </a:r>
            <a:r>
              <a:rPr lang="en-US" sz="2000" b="1"/>
              <a:t>array</a:t>
            </a:r>
            <a:r>
              <a:rPr lang="en-US" sz="2000"/>
              <a:t>  </a:t>
            </a:r>
          </a:p>
          <a:p>
            <a:pPr lvl="1" algn="just"/>
            <a:r>
              <a:rPr lang="en-US" sz="2000"/>
              <a:t>  (  </a:t>
            </a:r>
          </a:p>
          <a:p>
            <a:pPr lvl="1" algn="just"/>
            <a:r>
              <a:rPr lang="en-US" sz="2000"/>
              <a:t>  </a:t>
            </a:r>
            <a:r>
              <a:rPr lang="en-US" sz="2000" b="1"/>
              <a:t>array</a:t>
            </a:r>
            <a:r>
              <a:rPr lang="en-US" sz="2000"/>
              <a:t>(1,"sonoo",400000),  </a:t>
            </a:r>
          </a:p>
          <a:p>
            <a:pPr lvl="1" algn="just"/>
            <a:r>
              <a:rPr lang="en-US" sz="2000"/>
              <a:t>  </a:t>
            </a:r>
            <a:r>
              <a:rPr lang="en-US" sz="2000" b="1"/>
              <a:t>array</a:t>
            </a:r>
            <a:r>
              <a:rPr lang="en-US" sz="2000"/>
              <a:t>(2,"john",500000),  </a:t>
            </a:r>
          </a:p>
          <a:p>
            <a:pPr lvl="1" algn="just"/>
            <a:r>
              <a:rPr lang="en-US" sz="2000"/>
              <a:t>  </a:t>
            </a:r>
            <a:r>
              <a:rPr lang="en-US" sz="2000" b="1"/>
              <a:t>array</a:t>
            </a:r>
            <a:r>
              <a:rPr lang="en-US" sz="2000"/>
              <a:t>(3,"rahul",300000)  </a:t>
            </a:r>
          </a:p>
          <a:p>
            <a:pPr lvl="1" algn="just"/>
            <a:r>
              <a:rPr lang="en-US" sz="2000"/>
              <a:t>  );  </a:t>
            </a:r>
          </a:p>
          <a:p>
            <a:endParaRPr lang="en-US" sz="2000" dirty="0"/>
          </a:p>
        </p:txBody>
      </p:sp>
    </p:spTree>
    <p:extLst>
      <p:ext uri="{BB962C8B-B14F-4D97-AF65-F5344CB8AC3E}">
        <p14:creationId xmlns:p14="http://schemas.microsoft.com/office/powerpoint/2010/main" val="1004030636"/>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E73A3019-CFE4-49DD-B6FD-2AFB2DD2DBB6}" type="datetime1">
              <a:rPr lang="en-US" smtClean="0"/>
              <a:t>11/7/2024</a:t>
            </a:fld>
            <a:endParaRPr lang="en-US"/>
          </a:p>
        </p:txBody>
      </p:sp>
      <p:sp>
        <p:nvSpPr>
          <p:cNvPr id="5" name="Footer Placeholder 4"/>
          <p:cNvSpPr>
            <a:spLocks noGrp="1"/>
          </p:cNvSpPr>
          <p:nvPr>
            <p:ph type="ftr" sz="quarter" idx="11"/>
          </p:nvPr>
        </p:nvSpPr>
        <p:spPr>
          <a:xfrm>
            <a:off x="4343400" y="6248401"/>
            <a:ext cx="4724400" cy="365125"/>
          </a:xfrm>
        </p:spPr>
        <p:txBody>
          <a:bodyPr/>
          <a:lstStyle/>
          <a:p>
            <a:r>
              <a:rPr lang="en-US" dirty="0"/>
              <a:t>Vaishali Mishra            ACSE0505 Web Technology                Unit 5</a:t>
            </a:r>
          </a:p>
        </p:txBody>
      </p:sp>
      <p:sp>
        <p:nvSpPr>
          <p:cNvPr id="6" name="Slide Number Placeholder 5"/>
          <p:cNvSpPr>
            <a:spLocks noGrp="1"/>
          </p:cNvSpPr>
          <p:nvPr>
            <p:ph type="sldNum" sz="quarter" idx="12"/>
          </p:nvPr>
        </p:nvSpPr>
        <p:spPr/>
        <p:txBody>
          <a:bodyPr/>
          <a:lstStyle/>
          <a:p>
            <a:fld id="{B6F15528-21DE-4FAA-801E-634DDDAF4B2B}" type="slidenum">
              <a:rPr lang="en-US" smtClean="0"/>
              <a:pPr/>
              <a:t>73</a:t>
            </a:fld>
            <a:endParaRPr lang="en-US"/>
          </a:p>
        </p:txBody>
      </p:sp>
      <p:sp>
        <p:nvSpPr>
          <p:cNvPr id="7" name="Title 1"/>
          <p:cNvSpPr txBox="1">
            <a:spLocks/>
          </p:cNvSpPr>
          <p:nvPr/>
        </p:nvSpPr>
        <p:spPr>
          <a:xfrm>
            <a:off x="2895600" y="2"/>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pPr>
              <a:defRPr/>
            </a:pPr>
            <a:endParaRPr lang="en-US" sz="2800" dirty="0"/>
          </a:p>
          <a:p>
            <a:pPr>
              <a:defRPr/>
            </a:pPr>
            <a:r>
              <a:rPr lang="en-US" sz="2800" dirty="0"/>
              <a:t>Daily Quiz</a:t>
            </a:r>
            <a:endParaRPr kumimoji="0" lang="en-US" sz="2800" b="0" i="0" u="none" strike="noStrike" kern="1200" cap="none" spc="0" normalizeH="0" baseline="0" noProof="0" dirty="0">
              <a:ln>
                <a:noFill/>
              </a:ln>
              <a:solidFill>
                <a:schemeClr val="dk1"/>
              </a:solidFill>
              <a:effectLst/>
              <a:uLnTx/>
              <a:uFillTx/>
            </a:endParaRPr>
          </a:p>
          <a:p>
            <a:pPr algn="ctr">
              <a:defRPr/>
            </a:pPr>
            <a:endParaRPr lang="en-US" sz="2800" dirty="0">
              <a:latin typeface="Times New Roman" pitchFamily="18" charset="0"/>
              <a:cs typeface="Times New Roman" pitchFamily="18" charset="0"/>
              <a:sym typeface="Arial" charset="0"/>
            </a:endParaRPr>
          </a:p>
        </p:txBody>
      </p:sp>
      <p:pic>
        <p:nvPicPr>
          <p:cNvPr id="2" name="Picture 1" descr="A black and red logo&#10;&#10;Description automatically generated">
            <a:extLst>
              <a:ext uri="{FF2B5EF4-FFF2-40B4-BE49-F238E27FC236}">
                <a16:creationId xmlns:a16="http://schemas.microsoft.com/office/drawing/2014/main" id="{8BDB0671-FC93-5C9E-75A2-ED46EE3FB8B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8" name="Content Placeholder 1">
            <a:extLst>
              <a:ext uri="{FF2B5EF4-FFF2-40B4-BE49-F238E27FC236}">
                <a16:creationId xmlns:a16="http://schemas.microsoft.com/office/drawing/2014/main" id="{1FF5ADF0-474C-251F-0E40-267B658E504A}"/>
              </a:ext>
            </a:extLst>
          </p:cNvPr>
          <p:cNvSpPr txBox="1">
            <a:spLocks noGrp="1"/>
          </p:cNvSpPr>
          <p:nvPr>
            <p:ph idx="1"/>
          </p:nvPr>
        </p:nvSpPr>
        <p:spPr>
          <a:xfrm>
            <a:off x="609600" y="1219200"/>
            <a:ext cx="10515600" cy="4449763"/>
          </a:xfrm>
        </p:spPr>
        <p:txBody>
          <a:bodyPr/>
          <a:lstStyle/>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lgn="ctr">
              <a:spcBef>
                <a:spcPts val="363"/>
              </a:spcBef>
              <a:spcAft>
                <a:spcPct val="0"/>
              </a:spcAft>
              <a:buClr>
                <a:srgbClr val="000000"/>
              </a:buClr>
              <a:buFont typeface="Arial" panose="020B0604020202020204" pitchFamily="34" charset="0"/>
              <a:buNone/>
            </a:pPr>
            <a:r>
              <a:rPr lang="en-IN" sz="2000" b="1" dirty="0">
                <a:latin typeface="Arial" panose="020B0604020202020204" pitchFamily="34" charset="0"/>
                <a:cs typeface="Arial" panose="020B0604020202020204" pitchFamily="34" charset="0"/>
              </a:rPr>
              <a:t> </a:t>
            </a:r>
          </a:p>
        </p:txBody>
      </p:sp>
      <p:sp>
        <p:nvSpPr>
          <p:cNvPr id="3" name="Content Placeholder 2">
            <a:extLst>
              <a:ext uri="{FF2B5EF4-FFF2-40B4-BE49-F238E27FC236}">
                <a16:creationId xmlns:a16="http://schemas.microsoft.com/office/drawing/2014/main" id="{03084B8E-5069-1327-52FC-4926535C41D4}"/>
              </a:ext>
            </a:extLst>
          </p:cNvPr>
          <p:cNvSpPr txBox="1">
            <a:spLocks/>
          </p:cNvSpPr>
          <p:nvPr/>
        </p:nvSpPr>
        <p:spPr>
          <a:xfrm>
            <a:off x="533400" y="838200"/>
            <a:ext cx="10287000" cy="5334000"/>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Arial" pitchFamily="34" charset="0"/>
              <a:buNone/>
            </a:pPr>
            <a:r>
              <a:rPr lang="en-US" sz="2200"/>
              <a:t>1) How to define a function in PHP?</a:t>
            </a:r>
          </a:p>
          <a:p>
            <a:pPr marL="0" indent="0">
              <a:buFont typeface="Arial" pitchFamily="34" charset="0"/>
              <a:buNone/>
            </a:pPr>
            <a:r>
              <a:rPr lang="en-US" sz="2200"/>
              <a:t>a) functionName(parameters) {function body}</a:t>
            </a:r>
          </a:p>
          <a:p>
            <a:pPr marL="0" indent="0">
              <a:buFont typeface="Arial" pitchFamily="34" charset="0"/>
              <a:buNone/>
            </a:pPr>
            <a:r>
              <a:rPr lang="en-US" sz="2200"/>
              <a:t>b) function {function body}</a:t>
            </a:r>
          </a:p>
          <a:p>
            <a:pPr marL="0" indent="0">
              <a:buFont typeface="Arial" pitchFamily="34" charset="0"/>
              <a:buNone/>
            </a:pPr>
            <a:r>
              <a:rPr lang="en-US" sz="2200"/>
              <a:t>c) function functionName(parameters) {function body}</a:t>
            </a:r>
          </a:p>
          <a:p>
            <a:pPr marL="0" indent="0">
              <a:buFont typeface="Arial" pitchFamily="34" charset="0"/>
              <a:buNone/>
            </a:pPr>
            <a:r>
              <a:rPr lang="en-US" sz="2200"/>
              <a:t>d) data type functionName(parameters) {function body}</a:t>
            </a:r>
          </a:p>
          <a:p>
            <a:pPr marL="0" indent="0">
              <a:buFont typeface="Arial" pitchFamily="34" charset="0"/>
              <a:buNone/>
            </a:pPr>
            <a:endParaRPr lang="en-US" sz="2200"/>
          </a:p>
          <a:p>
            <a:pPr marL="0" indent="0">
              <a:buFont typeface="Arial" pitchFamily="34" charset="0"/>
              <a:buNone/>
            </a:pPr>
            <a:r>
              <a:rPr lang="en-US" sz="2200"/>
              <a:t>2) Which is the right way of declaring a variable in PHP?</a:t>
            </a:r>
          </a:p>
          <a:p>
            <a:pPr marL="0" indent="0">
              <a:buFont typeface="Arial" pitchFamily="34" charset="0"/>
              <a:buNone/>
            </a:pPr>
            <a:r>
              <a:rPr lang="en-US" sz="2200"/>
              <a:t>a) $3hello</a:t>
            </a:r>
          </a:p>
          <a:p>
            <a:pPr marL="0" indent="0">
              <a:buFont typeface="Arial" pitchFamily="34" charset="0"/>
              <a:buNone/>
            </a:pPr>
            <a:r>
              <a:rPr lang="en-US" sz="2200"/>
              <a:t>b) $_hello</a:t>
            </a:r>
          </a:p>
          <a:p>
            <a:pPr marL="0" indent="0">
              <a:buFont typeface="Arial" pitchFamily="34" charset="0"/>
              <a:buNone/>
            </a:pPr>
            <a:r>
              <a:rPr lang="en-US" sz="2200"/>
              <a:t>c) $this</a:t>
            </a:r>
          </a:p>
          <a:p>
            <a:pPr marL="0" indent="0">
              <a:buFont typeface="Arial" pitchFamily="34" charset="0"/>
              <a:buNone/>
            </a:pPr>
            <a:r>
              <a:rPr lang="en-US" sz="2200"/>
              <a:t>d) $5_Hello</a:t>
            </a:r>
            <a:endParaRPr lang="en-US" sz="2200" dirty="0"/>
          </a:p>
        </p:txBody>
      </p:sp>
    </p:spTree>
    <p:extLst>
      <p:ext uri="{BB962C8B-B14F-4D97-AF65-F5344CB8AC3E}">
        <p14:creationId xmlns:p14="http://schemas.microsoft.com/office/powerpoint/2010/main" val="425652044"/>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E73A3019-CFE4-49DD-B6FD-2AFB2DD2DBB6}" type="datetime1">
              <a:rPr lang="en-US" smtClean="0"/>
              <a:t>11/7/2024</a:t>
            </a:fld>
            <a:endParaRPr lang="en-US"/>
          </a:p>
        </p:txBody>
      </p:sp>
      <p:sp>
        <p:nvSpPr>
          <p:cNvPr id="5" name="Footer Placeholder 4"/>
          <p:cNvSpPr>
            <a:spLocks noGrp="1"/>
          </p:cNvSpPr>
          <p:nvPr>
            <p:ph type="ftr" sz="quarter" idx="11"/>
          </p:nvPr>
        </p:nvSpPr>
        <p:spPr>
          <a:xfrm>
            <a:off x="4343400" y="6248401"/>
            <a:ext cx="4724400" cy="365125"/>
          </a:xfrm>
        </p:spPr>
        <p:txBody>
          <a:bodyPr/>
          <a:lstStyle/>
          <a:p>
            <a:r>
              <a:rPr lang="en-US" dirty="0"/>
              <a:t>Vaishali Mishra            ACSE0505 Web Technology                Unit 5</a:t>
            </a:r>
          </a:p>
        </p:txBody>
      </p:sp>
      <p:sp>
        <p:nvSpPr>
          <p:cNvPr id="6" name="Slide Number Placeholder 5"/>
          <p:cNvSpPr>
            <a:spLocks noGrp="1"/>
          </p:cNvSpPr>
          <p:nvPr>
            <p:ph type="sldNum" sz="quarter" idx="12"/>
          </p:nvPr>
        </p:nvSpPr>
        <p:spPr/>
        <p:txBody>
          <a:bodyPr/>
          <a:lstStyle/>
          <a:p>
            <a:fld id="{B6F15528-21DE-4FAA-801E-634DDDAF4B2B}" type="slidenum">
              <a:rPr lang="en-US" smtClean="0"/>
              <a:pPr/>
              <a:t>74</a:t>
            </a:fld>
            <a:endParaRPr lang="en-US"/>
          </a:p>
        </p:txBody>
      </p:sp>
      <p:sp>
        <p:nvSpPr>
          <p:cNvPr id="7" name="Title 1"/>
          <p:cNvSpPr txBox="1">
            <a:spLocks/>
          </p:cNvSpPr>
          <p:nvPr/>
        </p:nvSpPr>
        <p:spPr>
          <a:xfrm>
            <a:off x="2895600" y="2"/>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pPr>
              <a:defRPr/>
            </a:pPr>
            <a:endParaRPr lang="en-US" sz="2800" dirty="0"/>
          </a:p>
          <a:p>
            <a:pPr>
              <a:defRPr/>
            </a:pPr>
            <a:r>
              <a:rPr kumimoji="0" lang="en-US" sz="2800" b="0" i="0" u="none" strike="noStrike" kern="1200" cap="none" spc="0" normalizeH="0" baseline="0" noProof="0" dirty="0">
                <a:ln>
                  <a:noFill/>
                </a:ln>
                <a:solidFill>
                  <a:schemeClr val="dk1"/>
                </a:solidFill>
                <a:effectLst/>
                <a:uLnTx/>
                <a:uFillTx/>
                <a:latin typeface="+mn-lt"/>
                <a:ea typeface="+mn-ea"/>
                <a:cs typeface="+mn-cs"/>
              </a:rPr>
              <a:t>Topic</a:t>
            </a:r>
          </a:p>
          <a:p>
            <a:pPr algn="ctr">
              <a:defRPr/>
            </a:pPr>
            <a:endParaRPr lang="en-US" sz="2800" dirty="0">
              <a:latin typeface="Times New Roman" pitchFamily="18" charset="0"/>
              <a:cs typeface="Times New Roman" pitchFamily="18" charset="0"/>
              <a:sym typeface="Arial" charset="0"/>
            </a:endParaRPr>
          </a:p>
        </p:txBody>
      </p:sp>
      <p:pic>
        <p:nvPicPr>
          <p:cNvPr id="2" name="Picture 1" descr="A black and red logo&#10;&#10;Description automatically generated">
            <a:extLst>
              <a:ext uri="{FF2B5EF4-FFF2-40B4-BE49-F238E27FC236}">
                <a16:creationId xmlns:a16="http://schemas.microsoft.com/office/drawing/2014/main" id="{8BDB0671-FC93-5C9E-75A2-ED46EE3FB8B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8" name="Content Placeholder 1">
            <a:extLst>
              <a:ext uri="{FF2B5EF4-FFF2-40B4-BE49-F238E27FC236}">
                <a16:creationId xmlns:a16="http://schemas.microsoft.com/office/drawing/2014/main" id="{1FF5ADF0-474C-251F-0E40-267B658E504A}"/>
              </a:ext>
            </a:extLst>
          </p:cNvPr>
          <p:cNvSpPr txBox="1">
            <a:spLocks noGrp="1"/>
          </p:cNvSpPr>
          <p:nvPr>
            <p:ph idx="1"/>
          </p:nvPr>
        </p:nvSpPr>
        <p:spPr>
          <a:xfrm>
            <a:off x="609600" y="1219200"/>
            <a:ext cx="10515600" cy="4449763"/>
          </a:xfrm>
        </p:spPr>
        <p:txBody>
          <a:bodyPr/>
          <a:lstStyle/>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lgn="ctr">
              <a:spcBef>
                <a:spcPts val="363"/>
              </a:spcBef>
              <a:spcAft>
                <a:spcPct val="0"/>
              </a:spcAft>
              <a:buClr>
                <a:srgbClr val="000000"/>
              </a:buClr>
              <a:buFont typeface="Arial" panose="020B0604020202020204" pitchFamily="34" charset="0"/>
              <a:buNone/>
            </a:pPr>
            <a:r>
              <a:rPr lang="en-IN" sz="2000" b="1" dirty="0">
                <a:latin typeface="Arial" panose="020B0604020202020204" pitchFamily="34" charset="0"/>
                <a:cs typeface="Arial" panose="020B0604020202020204" pitchFamily="34" charset="0"/>
              </a:rPr>
              <a:t> </a:t>
            </a:r>
          </a:p>
        </p:txBody>
      </p:sp>
      <p:sp>
        <p:nvSpPr>
          <p:cNvPr id="3" name="Title 1">
            <a:extLst>
              <a:ext uri="{FF2B5EF4-FFF2-40B4-BE49-F238E27FC236}">
                <a16:creationId xmlns:a16="http://schemas.microsoft.com/office/drawing/2014/main" id="{74470DCE-8296-822F-C9D9-B66FA2FDFD68}"/>
              </a:ext>
            </a:extLst>
          </p:cNvPr>
          <p:cNvSpPr txBox="1">
            <a:spLocks/>
          </p:cNvSpPr>
          <p:nvPr/>
        </p:nvSpPr>
        <p:spPr>
          <a:xfrm>
            <a:off x="2867526" y="2362200"/>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pPr>
              <a:defRPr/>
            </a:pPr>
            <a:endParaRPr lang="en-US" sz="2800" dirty="0"/>
          </a:p>
          <a:p>
            <a:pPr>
              <a:defRPr/>
            </a:pPr>
            <a:r>
              <a:rPr kumimoji="0" lang="en-US" sz="2800" b="0" i="0" u="none" strike="noStrike" kern="1200" cap="none" spc="0" normalizeH="0" baseline="0" noProof="0" dirty="0">
                <a:ln>
                  <a:noFill/>
                </a:ln>
                <a:solidFill>
                  <a:schemeClr val="dk1"/>
                </a:solidFill>
                <a:effectLst/>
                <a:uLnTx/>
                <a:uFillTx/>
                <a:latin typeface="+mn-lt"/>
                <a:ea typeface="+mn-ea"/>
                <a:cs typeface="+mn-cs"/>
              </a:rPr>
              <a:t>Topic Objective</a:t>
            </a:r>
          </a:p>
          <a:p>
            <a:pPr algn="ctr">
              <a:defRPr/>
            </a:pPr>
            <a:endParaRPr lang="en-US" sz="2800" dirty="0">
              <a:latin typeface="Times New Roman" pitchFamily="18" charset="0"/>
              <a:cs typeface="Times New Roman" pitchFamily="18" charset="0"/>
              <a:sym typeface="Arial" charset="0"/>
            </a:endParaRPr>
          </a:p>
        </p:txBody>
      </p:sp>
      <p:sp>
        <p:nvSpPr>
          <p:cNvPr id="9" name="TextBox 8">
            <a:extLst>
              <a:ext uri="{FF2B5EF4-FFF2-40B4-BE49-F238E27FC236}">
                <a16:creationId xmlns:a16="http://schemas.microsoft.com/office/drawing/2014/main" id="{4DF4E124-7DEE-FB26-F9F3-45BCEC05E10A}"/>
              </a:ext>
            </a:extLst>
          </p:cNvPr>
          <p:cNvSpPr txBox="1"/>
          <p:nvPr/>
        </p:nvSpPr>
        <p:spPr>
          <a:xfrm>
            <a:off x="2209800" y="1111250"/>
            <a:ext cx="8458200" cy="400110"/>
          </a:xfrm>
          <a:prstGeom prst="rect">
            <a:avLst/>
          </a:prstGeom>
          <a:noFill/>
        </p:spPr>
        <p:txBody>
          <a:bodyPr wrap="square" rtlCol="0">
            <a:spAutoFit/>
          </a:bodyPr>
          <a:lstStyle/>
          <a:p>
            <a:pPr algn="ctr"/>
            <a:r>
              <a:rPr lang="en-US" sz="2000" dirty="0"/>
              <a:t>Overview of </a:t>
            </a:r>
            <a:r>
              <a:rPr lang="en-IN" sz="2000" dirty="0"/>
              <a:t>files and directories</a:t>
            </a:r>
          </a:p>
        </p:txBody>
      </p:sp>
      <p:sp>
        <p:nvSpPr>
          <p:cNvPr id="10" name="Content Placeholder 2">
            <a:extLst>
              <a:ext uri="{FF2B5EF4-FFF2-40B4-BE49-F238E27FC236}">
                <a16:creationId xmlns:a16="http://schemas.microsoft.com/office/drawing/2014/main" id="{199C352E-7FC1-FBB0-EBA9-59DE446FF3C5}"/>
              </a:ext>
            </a:extLst>
          </p:cNvPr>
          <p:cNvSpPr txBox="1">
            <a:spLocks/>
          </p:cNvSpPr>
          <p:nvPr/>
        </p:nvSpPr>
        <p:spPr>
          <a:xfrm>
            <a:off x="1600200" y="3581398"/>
            <a:ext cx="9525000" cy="1905002"/>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Font typeface="Arial" pitchFamily="34" charset="0"/>
              <a:buNone/>
            </a:pPr>
            <a:r>
              <a:rPr lang="en-US" sz="2000"/>
              <a:t>To discuss about Understanding file&amp; directory, Opening and closing, a file, Coping, renaming and deleting a file, working with directories, Creating and deleting folder, File Uploading &amp; Downloading in PHP </a:t>
            </a:r>
            <a:endParaRPr lang="en-IN" sz="2000" dirty="0"/>
          </a:p>
        </p:txBody>
      </p:sp>
    </p:spTree>
    <p:extLst>
      <p:ext uri="{BB962C8B-B14F-4D97-AF65-F5344CB8AC3E}">
        <p14:creationId xmlns:p14="http://schemas.microsoft.com/office/powerpoint/2010/main" val="2376712993"/>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E73A3019-CFE4-49DD-B6FD-2AFB2DD2DBB6}" type="datetime1">
              <a:rPr lang="en-US" smtClean="0"/>
              <a:t>11/7/2024</a:t>
            </a:fld>
            <a:endParaRPr lang="en-US"/>
          </a:p>
        </p:txBody>
      </p:sp>
      <p:sp>
        <p:nvSpPr>
          <p:cNvPr id="5" name="Footer Placeholder 4"/>
          <p:cNvSpPr>
            <a:spLocks noGrp="1"/>
          </p:cNvSpPr>
          <p:nvPr>
            <p:ph type="ftr" sz="quarter" idx="11"/>
          </p:nvPr>
        </p:nvSpPr>
        <p:spPr>
          <a:xfrm>
            <a:off x="4343400" y="6248401"/>
            <a:ext cx="4724400" cy="365125"/>
          </a:xfrm>
        </p:spPr>
        <p:txBody>
          <a:bodyPr/>
          <a:lstStyle/>
          <a:p>
            <a:r>
              <a:rPr lang="en-US" dirty="0"/>
              <a:t>Vaishali Mishra            ACSE0505 Web Technology                Unit 5</a:t>
            </a:r>
          </a:p>
        </p:txBody>
      </p:sp>
      <p:sp>
        <p:nvSpPr>
          <p:cNvPr id="6" name="Slide Number Placeholder 5"/>
          <p:cNvSpPr>
            <a:spLocks noGrp="1"/>
          </p:cNvSpPr>
          <p:nvPr>
            <p:ph type="sldNum" sz="quarter" idx="12"/>
          </p:nvPr>
        </p:nvSpPr>
        <p:spPr/>
        <p:txBody>
          <a:bodyPr/>
          <a:lstStyle/>
          <a:p>
            <a:fld id="{B6F15528-21DE-4FAA-801E-634DDDAF4B2B}" type="slidenum">
              <a:rPr lang="en-US" smtClean="0"/>
              <a:pPr/>
              <a:t>75</a:t>
            </a:fld>
            <a:endParaRPr lang="en-US"/>
          </a:p>
        </p:txBody>
      </p:sp>
      <p:sp>
        <p:nvSpPr>
          <p:cNvPr id="7" name="Title 1"/>
          <p:cNvSpPr txBox="1">
            <a:spLocks/>
          </p:cNvSpPr>
          <p:nvPr/>
        </p:nvSpPr>
        <p:spPr>
          <a:xfrm>
            <a:off x="2895600" y="2"/>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pPr lvl="0" algn="ctr">
              <a:spcBef>
                <a:spcPct val="0"/>
              </a:spcBef>
              <a:defRPr/>
            </a:pPr>
            <a:r>
              <a:rPr lang="en-IN" sz="2800"/>
              <a:t>Understanding file &amp; directory, working with directories </a:t>
            </a:r>
            <a:r>
              <a:rPr lang="en-US" sz="2800"/>
              <a:t>(CO5)</a:t>
            </a:r>
            <a:endParaRPr lang="en-US" sz="2800" dirty="0"/>
          </a:p>
        </p:txBody>
      </p:sp>
      <p:pic>
        <p:nvPicPr>
          <p:cNvPr id="2" name="Picture 1" descr="A black and red logo&#10;&#10;Description automatically generated">
            <a:extLst>
              <a:ext uri="{FF2B5EF4-FFF2-40B4-BE49-F238E27FC236}">
                <a16:creationId xmlns:a16="http://schemas.microsoft.com/office/drawing/2014/main" id="{8BDB0671-FC93-5C9E-75A2-ED46EE3FB8B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8" name="Content Placeholder 1">
            <a:extLst>
              <a:ext uri="{FF2B5EF4-FFF2-40B4-BE49-F238E27FC236}">
                <a16:creationId xmlns:a16="http://schemas.microsoft.com/office/drawing/2014/main" id="{1FF5ADF0-474C-251F-0E40-267B658E504A}"/>
              </a:ext>
            </a:extLst>
          </p:cNvPr>
          <p:cNvSpPr txBox="1">
            <a:spLocks noGrp="1"/>
          </p:cNvSpPr>
          <p:nvPr>
            <p:ph idx="1"/>
          </p:nvPr>
        </p:nvSpPr>
        <p:spPr>
          <a:xfrm>
            <a:off x="609600" y="1219200"/>
            <a:ext cx="10515600" cy="4449763"/>
          </a:xfrm>
        </p:spPr>
        <p:txBody>
          <a:bodyPr/>
          <a:lstStyle/>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lgn="ctr">
              <a:spcBef>
                <a:spcPts val="363"/>
              </a:spcBef>
              <a:spcAft>
                <a:spcPct val="0"/>
              </a:spcAft>
              <a:buClr>
                <a:srgbClr val="000000"/>
              </a:buClr>
              <a:buFont typeface="Arial" panose="020B0604020202020204" pitchFamily="34" charset="0"/>
              <a:buNone/>
            </a:pPr>
            <a:r>
              <a:rPr lang="en-IN" sz="2000" b="1" dirty="0">
                <a:latin typeface="Arial" panose="020B0604020202020204" pitchFamily="34" charset="0"/>
                <a:cs typeface="Arial" panose="020B0604020202020204" pitchFamily="34" charset="0"/>
              </a:rPr>
              <a:t> </a:t>
            </a:r>
          </a:p>
        </p:txBody>
      </p:sp>
      <p:sp>
        <p:nvSpPr>
          <p:cNvPr id="3" name="Content Placeholder 2">
            <a:extLst>
              <a:ext uri="{FF2B5EF4-FFF2-40B4-BE49-F238E27FC236}">
                <a16:creationId xmlns:a16="http://schemas.microsoft.com/office/drawing/2014/main" id="{C33F595C-37FA-877A-8BE8-2889C7DCBFDB}"/>
              </a:ext>
            </a:extLst>
          </p:cNvPr>
          <p:cNvSpPr txBox="1">
            <a:spLocks/>
          </p:cNvSpPr>
          <p:nvPr/>
        </p:nvSpPr>
        <p:spPr>
          <a:xfrm>
            <a:off x="304800" y="1055218"/>
            <a:ext cx="10515600" cy="5259346"/>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just"/>
            <a:r>
              <a:rPr lang="en-US" sz="2000"/>
              <a:t>Now that we have spent some time looking at how to work with files in PHP it is now time to look at how to work with file system directories. </a:t>
            </a:r>
          </a:p>
          <a:p>
            <a:pPr algn="just"/>
            <a:r>
              <a:rPr lang="en-US" sz="2000"/>
              <a:t>PHP provides a number of functions that can be used to perform tasks such as identifying and changing the current directory, creating new directories, deleting existing directories and listing the contents of a directory.</a:t>
            </a:r>
          </a:p>
          <a:p>
            <a:pPr marL="0" indent="0" algn="just">
              <a:buFont typeface="Arial" pitchFamily="34" charset="0"/>
              <a:buNone/>
            </a:pPr>
            <a:r>
              <a:rPr lang="en-US" sz="2000" b="1"/>
              <a:t>1 Creating Directories in PHP- </a:t>
            </a:r>
            <a:r>
              <a:rPr lang="en-US" sz="2000"/>
              <a:t>A new directory can be created in PHP using the mkdir() function. This function takes a path to the directory to be created. </a:t>
            </a:r>
          </a:p>
          <a:p>
            <a:pPr algn="just"/>
            <a:r>
              <a:rPr lang="en-US" sz="2000"/>
              <a:t>To create a directory in the same directory as your PHP script simply provide the directory name. To create a new directory in a different directory specify the full path when calling mkdir().</a:t>
            </a:r>
          </a:p>
          <a:p>
            <a:pPr algn="just"/>
            <a:r>
              <a:rPr lang="en-US" sz="2000"/>
              <a:t>A second, optional argument allows the specification of permissions on the directory (controlling such issues as whether the directory is writable):</a:t>
            </a:r>
          </a:p>
          <a:p>
            <a:pPr marL="0" indent="0" algn="just">
              <a:buFont typeface="Arial" pitchFamily="34" charset="0"/>
              <a:buNone/>
            </a:pPr>
            <a:r>
              <a:rPr lang="en-US" sz="2000"/>
              <a:t>&lt;?php</a:t>
            </a:r>
          </a:p>
          <a:p>
            <a:pPr marL="0" indent="0" algn="just">
              <a:buFont typeface="Arial" pitchFamily="34" charset="0"/>
              <a:buNone/>
            </a:pPr>
            <a:r>
              <a:rPr lang="en-US" sz="2000"/>
              <a:t>$result = mkdir ("/path/to/directory", "0777");</a:t>
            </a:r>
          </a:p>
          <a:p>
            <a:pPr marL="0" indent="0" algn="just">
              <a:buFont typeface="Arial" pitchFamily="34" charset="0"/>
              <a:buNone/>
            </a:pPr>
            <a:r>
              <a:rPr lang="en-US" sz="2000"/>
              <a:t>?&gt;</a:t>
            </a:r>
            <a:endParaRPr lang="en-US" sz="2000" dirty="0"/>
          </a:p>
        </p:txBody>
      </p:sp>
    </p:spTree>
    <p:extLst>
      <p:ext uri="{BB962C8B-B14F-4D97-AF65-F5344CB8AC3E}">
        <p14:creationId xmlns:p14="http://schemas.microsoft.com/office/powerpoint/2010/main" val="381160895"/>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E73A3019-CFE4-49DD-B6FD-2AFB2DD2DBB6}" type="datetime1">
              <a:rPr lang="en-US" smtClean="0"/>
              <a:t>11/7/2024</a:t>
            </a:fld>
            <a:endParaRPr lang="en-US"/>
          </a:p>
        </p:txBody>
      </p:sp>
      <p:sp>
        <p:nvSpPr>
          <p:cNvPr id="5" name="Footer Placeholder 4"/>
          <p:cNvSpPr>
            <a:spLocks noGrp="1"/>
          </p:cNvSpPr>
          <p:nvPr>
            <p:ph type="ftr" sz="quarter" idx="11"/>
          </p:nvPr>
        </p:nvSpPr>
        <p:spPr>
          <a:xfrm>
            <a:off x="4343400" y="6248401"/>
            <a:ext cx="4724400" cy="365125"/>
          </a:xfrm>
        </p:spPr>
        <p:txBody>
          <a:bodyPr/>
          <a:lstStyle/>
          <a:p>
            <a:r>
              <a:rPr lang="en-US" dirty="0"/>
              <a:t>Vaishali Mishra            ACSE0505 Web Technology                Unit 5</a:t>
            </a:r>
          </a:p>
        </p:txBody>
      </p:sp>
      <p:sp>
        <p:nvSpPr>
          <p:cNvPr id="6" name="Slide Number Placeholder 5"/>
          <p:cNvSpPr>
            <a:spLocks noGrp="1"/>
          </p:cNvSpPr>
          <p:nvPr>
            <p:ph type="sldNum" sz="quarter" idx="12"/>
          </p:nvPr>
        </p:nvSpPr>
        <p:spPr/>
        <p:txBody>
          <a:bodyPr/>
          <a:lstStyle/>
          <a:p>
            <a:fld id="{B6F15528-21DE-4FAA-801E-634DDDAF4B2B}" type="slidenum">
              <a:rPr lang="en-US" smtClean="0"/>
              <a:pPr/>
              <a:t>76</a:t>
            </a:fld>
            <a:endParaRPr lang="en-US"/>
          </a:p>
        </p:txBody>
      </p:sp>
      <p:sp>
        <p:nvSpPr>
          <p:cNvPr id="7" name="Title 1"/>
          <p:cNvSpPr txBox="1">
            <a:spLocks/>
          </p:cNvSpPr>
          <p:nvPr/>
        </p:nvSpPr>
        <p:spPr>
          <a:xfrm>
            <a:off x="2895600" y="2"/>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pPr lvl="0" algn="ctr">
              <a:spcBef>
                <a:spcPct val="0"/>
              </a:spcBef>
              <a:defRPr/>
            </a:pPr>
            <a:r>
              <a:rPr lang="en-IN" sz="2800"/>
              <a:t>Understanding file &amp; directory, working with directories </a:t>
            </a:r>
            <a:r>
              <a:rPr lang="en-US" sz="2800"/>
              <a:t>(CO5)</a:t>
            </a:r>
            <a:endParaRPr lang="en-US" sz="2800" dirty="0"/>
          </a:p>
        </p:txBody>
      </p:sp>
      <p:pic>
        <p:nvPicPr>
          <p:cNvPr id="2" name="Picture 1" descr="A black and red logo&#10;&#10;Description automatically generated">
            <a:extLst>
              <a:ext uri="{FF2B5EF4-FFF2-40B4-BE49-F238E27FC236}">
                <a16:creationId xmlns:a16="http://schemas.microsoft.com/office/drawing/2014/main" id="{8BDB0671-FC93-5C9E-75A2-ED46EE3FB8B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8" name="Content Placeholder 1">
            <a:extLst>
              <a:ext uri="{FF2B5EF4-FFF2-40B4-BE49-F238E27FC236}">
                <a16:creationId xmlns:a16="http://schemas.microsoft.com/office/drawing/2014/main" id="{1FF5ADF0-474C-251F-0E40-267B658E504A}"/>
              </a:ext>
            </a:extLst>
          </p:cNvPr>
          <p:cNvSpPr txBox="1">
            <a:spLocks noGrp="1"/>
          </p:cNvSpPr>
          <p:nvPr>
            <p:ph idx="1"/>
          </p:nvPr>
        </p:nvSpPr>
        <p:spPr>
          <a:xfrm>
            <a:off x="609600" y="1219200"/>
            <a:ext cx="10515600" cy="4449763"/>
          </a:xfrm>
        </p:spPr>
        <p:txBody>
          <a:bodyPr/>
          <a:lstStyle/>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lgn="ctr">
              <a:spcBef>
                <a:spcPts val="363"/>
              </a:spcBef>
              <a:spcAft>
                <a:spcPct val="0"/>
              </a:spcAft>
              <a:buClr>
                <a:srgbClr val="000000"/>
              </a:buClr>
              <a:buFont typeface="Arial" panose="020B0604020202020204" pitchFamily="34" charset="0"/>
              <a:buNone/>
            </a:pPr>
            <a:r>
              <a:rPr lang="en-IN" sz="2000" b="1" dirty="0">
                <a:latin typeface="Arial" panose="020B0604020202020204" pitchFamily="34" charset="0"/>
                <a:cs typeface="Arial" panose="020B0604020202020204" pitchFamily="34" charset="0"/>
              </a:rPr>
              <a:t> </a:t>
            </a:r>
          </a:p>
        </p:txBody>
      </p:sp>
      <p:sp>
        <p:nvSpPr>
          <p:cNvPr id="3" name="Content Placeholder 2">
            <a:extLst>
              <a:ext uri="{FF2B5EF4-FFF2-40B4-BE49-F238E27FC236}">
                <a16:creationId xmlns:a16="http://schemas.microsoft.com/office/drawing/2014/main" id="{B34A0AB6-8D72-897B-0C67-FC771D31B91B}"/>
              </a:ext>
            </a:extLst>
          </p:cNvPr>
          <p:cNvSpPr txBox="1">
            <a:spLocks/>
          </p:cNvSpPr>
          <p:nvPr/>
        </p:nvSpPr>
        <p:spPr>
          <a:xfrm>
            <a:off x="62681" y="838200"/>
            <a:ext cx="10910119" cy="5476364"/>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Font typeface="Arial" pitchFamily="34" charset="0"/>
              <a:buNone/>
            </a:pPr>
            <a:r>
              <a:rPr lang="en-US" sz="2000" b="1"/>
              <a:t>2 Deleting a directory- </a:t>
            </a:r>
            <a:r>
              <a:rPr lang="en-US" sz="2000"/>
              <a:t>Directories are deleted in PHP using the </a:t>
            </a:r>
            <a:r>
              <a:rPr lang="en-US" sz="2000" i="1"/>
              <a:t>rmdir()</a:t>
            </a:r>
            <a:r>
              <a:rPr lang="en-US" sz="2000"/>
              <a:t> function. </a:t>
            </a:r>
            <a:r>
              <a:rPr lang="en-US" sz="2000" i="1"/>
              <a:t>rmdir()</a:t>
            </a:r>
            <a:r>
              <a:rPr lang="en-US" sz="2000"/>
              <a:t> takes a single argument, the name of the directory to be deleted. </a:t>
            </a:r>
          </a:p>
          <a:p>
            <a:pPr algn="just"/>
            <a:r>
              <a:rPr lang="en-US" sz="2000"/>
              <a:t>The deletion will only be successful if the directory is empty. If the directory contains files or other sub-directories the deletion cannot be performed until those files and sub-directories are also deleted.</a:t>
            </a:r>
          </a:p>
          <a:p>
            <a:pPr marL="0" indent="0" algn="just">
              <a:buFont typeface="Arial" pitchFamily="34" charset="0"/>
              <a:buNone/>
            </a:pPr>
            <a:r>
              <a:rPr lang="en-US" sz="2000" b="1"/>
              <a:t>3 To Close a directory- </a:t>
            </a:r>
            <a:r>
              <a:rPr lang="en-US" sz="2000"/>
              <a:t>We use closedir() function in order to close a directory after reading its contents.</a:t>
            </a:r>
          </a:p>
          <a:p>
            <a:pPr marL="0" indent="0" algn="just">
              <a:buFont typeface="Arial" pitchFamily="34" charset="0"/>
              <a:buNone/>
            </a:pPr>
            <a:r>
              <a:rPr lang="en-US" sz="2000"/>
              <a:t>Syntax:</a:t>
            </a:r>
          </a:p>
          <a:p>
            <a:pPr marL="400050" lvl="1" indent="0" algn="just">
              <a:buFont typeface="Arial" pitchFamily="34" charset="0"/>
              <a:buNone/>
            </a:pPr>
            <a:r>
              <a:rPr lang="en-US" sz="2000"/>
              <a:t>$dir_handle = opendir($dir_path);</a:t>
            </a:r>
          </a:p>
          <a:p>
            <a:pPr marL="400050" lvl="1" indent="0" algn="just">
              <a:buFont typeface="Arial" pitchFamily="34" charset="0"/>
              <a:buNone/>
            </a:pPr>
            <a:r>
              <a:rPr lang="en-US" sz="2000"/>
              <a:t>...</a:t>
            </a:r>
          </a:p>
          <a:p>
            <a:pPr marL="400050" lvl="1" indent="0" algn="just">
              <a:buFont typeface="Arial" pitchFamily="34" charset="0"/>
              <a:buNone/>
            </a:pPr>
            <a:r>
              <a:rPr lang="en-US" sz="2000"/>
              <a:t>...</a:t>
            </a:r>
          </a:p>
          <a:p>
            <a:pPr marL="400050" lvl="1" indent="0" algn="just">
              <a:buFont typeface="Arial" pitchFamily="34" charset="0"/>
              <a:buNone/>
            </a:pPr>
            <a:r>
              <a:rPr lang="en-US" sz="2000"/>
              <a:t>closedir($dir_handle);</a:t>
            </a:r>
            <a:endParaRPr lang="en-US" sz="2000" dirty="0"/>
          </a:p>
        </p:txBody>
      </p:sp>
    </p:spTree>
    <p:extLst>
      <p:ext uri="{BB962C8B-B14F-4D97-AF65-F5344CB8AC3E}">
        <p14:creationId xmlns:p14="http://schemas.microsoft.com/office/powerpoint/2010/main" val="3345702839"/>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E73A3019-CFE4-49DD-B6FD-2AFB2DD2DBB6}" type="datetime1">
              <a:rPr lang="en-US" smtClean="0"/>
              <a:t>11/7/2024</a:t>
            </a:fld>
            <a:endParaRPr lang="en-US"/>
          </a:p>
        </p:txBody>
      </p:sp>
      <p:sp>
        <p:nvSpPr>
          <p:cNvPr id="5" name="Footer Placeholder 4"/>
          <p:cNvSpPr>
            <a:spLocks noGrp="1"/>
          </p:cNvSpPr>
          <p:nvPr>
            <p:ph type="ftr" sz="quarter" idx="11"/>
          </p:nvPr>
        </p:nvSpPr>
        <p:spPr>
          <a:xfrm>
            <a:off x="4343400" y="6248401"/>
            <a:ext cx="4724400" cy="365125"/>
          </a:xfrm>
        </p:spPr>
        <p:txBody>
          <a:bodyPr/>
          <a:lstStyle/>
          <a:p>
            <a:r>
              <a:rPr lang="en-US" dirty="0"/>
              <a:t>Vaishali Mishra            ACSE0505 Web Technology                Unit 5</a:t>
            </a:r>
          </a:p>
        </p:txBody>
      </p:sp>
      <p:sp>
        <p:nvSpPr>
          <p:cNvPr id="6" name="Slide Number Placeholder 5"/>
          <p:cNvSpPr>
            <a:spLocks noGrp="1"/>
          </p:cNvSpPr>
          <p:nvPr>
            <p:ph type="sldNum" sz="quarter" idx="12"/>
          </p:nvPr>
        </p:nvSpPr>
        <p:spPr/>
        <p:txBody>
          <a:bodyPr/>
          <a:lstStyle/>
          <a:p>
            <a:fld id="{B6F15528-21DE-4FAA-801E-634DDDAF4B2B}" type="slidenum">
              <a:rPr lang="en-US" smtClean="0"/>
              <a:pPr/>
              <a:t>77</a:t>
            </a:fld>
            <a:endParaRPr lang="en-US"/>
          </a:p>
        </p:txBody>
      </p:sp>
      <p:sp>
        <p:nvSpPr>
          <p:cNvPr id="7" name="Title 1"/>
          <p:cNvSpPr txBox="1">
            <a:spLocks/>
          </p:cNvSpPr>
          <p:nvPr/>
        </p:nvSpPr>
        <p:spPr>
          <a:xfrm>
            <a:off x="2895600" y="2"/>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pPr>
              <a:defRPr/>
            </a:pPr>
            <a:endParaRPr lang="en-IN" sz="2800" dirty="0"/>
          </a:p>
          <a:p>
            <a:pPr>
              <a:defRPr/>
            </a:pPr>
            <a:endParaRPr lang="en-IN" dirty="0"/>
          </a:p>
          <a:p>
            <a:pPr>
              <a:defRPr/>
            </a:pPr>
            <a:r>
              <a:rPr lang="en-IN" sz="2800" dirty="0"/>
              <a:t>Understanding file &amp; directory, working with directories </a:t>
            </a:r>
            <a:r>
              <a:rPr lang="en-US" sz="2800" dirty="0"/>
              <a:t>(CO5)</a:t>
            </a:r>
          </a:p>
          <a:p>
            <a:pPr>
              <a:defRPr/>
            </a:pPr>
            <a:endParaRPr lang="en-US" sz="2800" dirty="0"/>
          </a:p>
          <a:p>
            <a:pPr algn="ctr">
              <a:defRPr/>
            </a:pPr>
            <a:endParaRPr lang="en-US" sz="2800" dirty="0">
              <a:latin typeface="Times New Roman" pitchFamily="18" charset="0"/>
              <a:cs typeface="Times New Roman" pitchFamily="18" charset="0"/>
              <a:sym typeface="Arial" charset="0"/>
            </a:endParaRPr>
          </a:p>
        </p:txBody>
      </p:sp>
      <p:pic>
        <p:nvPicPr>
          <p:cNvPr id="2" name="Picture 1" descr="A black and red logo&#10;&#10;Description automatically generated">
            <a:extLst>
              <a:ext uri="{FF2B5EF4-FFF2-40B4-BE49-F238E27FC236}">
                <a16:creationId xmlns:a16="http://schemas.microsoft.com/office/drawing/2014/main" id="{8BDB0671-FC93-5C9E-75A2-ED46EE3FB8B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8" name="Content Placeholder 1">
            <a:extLst>
              <a:ext uri="{FF2B5EF4-FFF2-40B4-BE49-F238E27FC236}">
                <a16:creationId xmlns:a16="http://schemas.microsoft.com/office/drawing/2014/main" id="{1FF5ADF0-474C-251F-0E40-267B658E504A}"/>
              </a:ext>
            </a:extLst>
          </p:cNvPr>
          <p:cNvSpPr txBox="1">
            <a:spLocks noGrp="1"/>
          </p:cNvSpPr>
          <p:nvPr>
            <p:ph idx="1"/>
          </p:nvPr>
        </p:nvSpPr>
        <p:spPr>
          <a:xfrm>
            <a:off x="609600" y="1219200"/>
            <a:ext cx="10515600" cy="4449763"/>
          </a:xfrm>
        </p:spPr>
        <p:txBody>
          <a:bodyPr/>
          <a:lstStyle/>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lgn="ctr">
              <a:spcBef>
                <a:spcPts val="363"/>
              </a:spcBef>
              <a:spcAft>
                <a:spcPct val="0"/>
              </a:spcAft>
              <a:buClr>
                <a:srgbClr val="000000"/>
              </a:buClr>
              <a:buFont typeface="Arial" panose="020B0604020202020204" pitchFamily="34" charset="0"/>
              <a:buNone/>
            </a:pPr>
            <a:r>
              <a:rPr lang="en-IN" sz="2000" b="1" dirty="0">
                <a:latin typeface="Arial" panose="020B0604020202020204" pitchFamily="34" charset="0"/>
                <a:cs typeface="Arial" panose="020B0604020202020204" pitchFamily="34" charset="0"/>
              </a:rPr>
              <a:t> </a:t>
            </a:r>
          </a:p>
        </p:txBody>
      </p:sp>
      <p:sp>
        <p:nvSpPr>
          <p:cNvPr id="3" name="Content Placeholder 2">
            <a:extLst>
              <a:ext uri="{FF2B5EF4-FFF2-40B4-BE49-F238E27FC236}">
                <a16:creationId xmlns:a16="http://schemas.microsoft.com/office/drawing/2014/main" id="{1AFB0F3F-CEA5-2604-E63E-6262AD137145}"/>
              </a:ext>
            </a:extLst>
          </p:cNvPr>
          <p:cNvSpPr txBox="1">
            <a:spLocks/>
          </p:cNvSpPr>
          <p:nvPr/>
        </p:nvSpPr>
        <p:spPr>
          <a:xfrm>
            <a:off x="152400" y="1189036"/>
            <a:ext cx="10515600" cy="5125527"/>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Font typeface="Arial" pitchFamily="34" charset="0"/>
              <a:buNone/>
            </a:pPr>
            <a:r>
              <a:rPr lang="en-US" sz="2000" b="1" dirty="0"/>
              <a:t>4 To open a directory- </a:t>
            </a:r>
            <a:r>
              <a:rPr lang="en-US" sz="2000" dirty="0"/>
              <a:t>The </a:t>
            </a:r>
            <a:r>
              <a:rPr lang="en-US" sz="2000" dirty="0" err="1"/>
              <a:t>opendir</a:t>
            </a:r>
            <a:r>
              <a:rPr lang="en-US" sz="2000" dirty="0"/>
              <a:t>() function in PHP is an inbuilt function which is used to open a directory handle. The path of the directory to be opened is sent as a parameter to the </a:t>
            </a:r>
            <a:r>
              <a:rPr lang="en-US" sz="2000" dirty="0" err="1"/>
              <a:t>opendir</a:t>
            </a:r>
            <a:r>
              <a:rPr lang="en-US" sz="2000" dirty="0"/>
              <a:t>() function and it returns a directory handle resource on success, or FALSE on failure. The </a:t>
            </a:r>
            <a:r>
              <a:rPr lang="en-US" sz="2000" dirty="0" err="1"/>
              <a:t>opendir</a:t>
            </a:r>
            <a:r>
              <a:rPr lang="en-US" sz="2000" dirty="0"/>
              <a:t>() function is used to open up a directory handle to be used in subsequent with other directory functions such as </a:t>
            </a:r>
            <a:r>
              <a:rPr lang="en-US" sz="2000" dirty="0" err="1"/>
              <a:t>closedir</a:t>
            </a:r>
            <a:r>
              <a:rPr lang="en-US" sz="2000" dirty="0"/>
              <a:t>(), </a:t>
            </a:r>
            <a:r>
              <a:rPr lang="en-US" sz="2000" dirty="0" err="1"/>
              <a:t>readdir</a:t>
            </a:r>
            <a:r>
              <a:rPr lang="en-US" sz="2000" dirty="0"/>
              <a:t>(), and </a:t>
            </a:r>
            <a:r>
              <a:rPr lang="en-US" sz="2000" dirty="0" err="1"/>
              <a:t>rewinddir</a:t>
            </a:r>
            <a:r>
              <a:rPr lang="en-US" sz="2000" dirty="0"/>
              <a:t>().</a:t>
            </a:r>
          </a:p>
          <a:p>
            <a:pPr marL="0" indent="0" algn="just">
              <a:buFont typeface="Arial" pitchFamily="34" charset="0"/>
              <a:buNone/>
            </a:pPr>
            <a:r>
              <a:rPr lang="en-US" sz="2000" dirty="0"/>
              <a:t>Syntax:</a:t>
            </a:r>
          </a:p>
          <a:p>
            <a:pPr marL="400050" lvl="1" indent="0" algn="just">
              <a:buFont typeface="Arial" pitchFamily="34" charset="0"/>
              <a:buNone/>
            </a:pPr>
            <a:r>
              <a:rPr lang="en-US" sz="2000" dirty="0" err="1"/>
              <a:t>opendir</a:t>
            </a:r>
            <a:r>
              <a:rPr lang="en-US" sz="2000" dirty="0"/>
              <a:t>($path, $context)</a:t>
            </a:r>
          </a:p>
        </p:txBody>
      </p:sp>
    </p:spTree>
    <p:extLst>
      <p:ext uri="{BB962C8B-B14F-4D97-AF65-F5344CB8AC3E}">
        <p14:creationId xmlns:p14="http://schemas.microsoft.com/office/powerpoint/2010/main" val="2196539925"/>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E73A3019-CFE4-49DD-B6FD-2AFB2DD2DBB6}" type="datetime1">
              <a:rPr lang="en-US" smtClean="0"/>
              <a:t>11/7/2024</a:t>
            </a:fld>
            <a:endParaRPr lang="en-US"/>
          </a:p>
        </p:txBody>
      </p:sp>
      <p:sp>
        <p:nvSpPr>
          <p:cNvPr id="5" name="Footer Placeholder 4"/>
          <p:cNvSpPr>
            <a:spLocks noGrp="1"/>
          </p:cNvSpPr>
          <p:nvPr>
            <p:ph type="ftr" sz="quarter" idx="11"/>
          </p:nvPr>
        </p:nvSpPr>
        <p:spPr>
          <a:xfrm>
            <a:off x="4343400" y="6248401"/>
            <a:ext cx="4724400" cy="365125"/>
          </a:xfrm>
        </p:spPr>
        <p:txBody>
          <a:bodyPr/>
          <a:lstStyle/>
          <a:p>
            <a:r>
              <a:rPr lang="en-US" dirty="0"/>
              <a:t>Vaishali Mishra            ACSE0505 Web Technology                Unit 5</a:t>
            </a:r>
          </a:p>
        </p:txBody>
      </p:sp>
      <p:sp>
        <p:nvSpPr>
          <p:cNvPr id="6" name="Slide Number Placeholder 5"/>
          <p:cNvSpPr>
            <a:spLocks noGrp="1"/>
          </p:cNvSpPr>
          <p:nvPr>
            <p:ph type="sldNum" sz="quarter" idx="12"/>
          </p:nvPr>
        </p:nvSpPr>
        <p:spPr/>
        <p:txBody>
          <a:bodyPr/>
          <a:lstStyle/>
          <a:p>
            <a:fld id="{B6F15528-21DE-4FAA-801E-634DDDAF4B2B}" type="slidenum">
              <a:rPr lang="en-US" smtClean="0"/>
              <a:pPr/>
              <a:t>78</a:t>
            </a:fld>
            <a:endParaRPr lang="en-US"/>
          </a:p>
        </p:txBody>
      </p:sp>
      <p:sp>
        <p:nvSpPr>
          <p:cNvPr id="7" name="Title 1"/>
          <p:cNvSpPr txBox="1">
            <a:spLocks/>
          </p:cNvSpPr>
          <p:nvPr/>
        </p:nvSpPr>
        <p:spPr>
          <a:xfrm>
            <a:off x="2895600" y="2"/>
            <a:ext cx="7772400" cy="947265"/>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pPr>
              <a:defRPr/>
            </a:pPr>
            <a:endParaRPr lang="en-IN" sz="2800" dirty="0"/>
          </a:p>
          <a:p>
            <a:pPr>
              <a:defRPr/>
            </a:pPr>
            <a:endParaRPr lang="en-IN" dirty="0"/>
          </a:p>
          <a:p>
            <a:pPr>
              <a:defRPr/>
            </a:pPr>
            <a:r>
              <a:rPr lang="en-IN" sz="2800" dirty="0"/>
              <a:t>Understanding file &amp; directory, working with directories </a:t>
            </a:r>
            <a:r>
              <a:rPr lang="en-US" sz="2800" dirty="0"/>
              <a:t>(CO5)</a:t>
            </a:r>
          </a:p>
          <a:p>
            <a:pPr>
              <a:defRPr/>
            </a:pPr>
            <a:endParaRPr lang="en-US" sz="2800" dirty="0"/>
          </a:p>
          <a:p>
            <a:pPr algn="ctr">
              <a:defRPr/>
            </a:pPr>
            <a:endParaRPr lang="en-US" sz="2800" dirty="0">
              <a:latin typeface="Times New Roman" pitchFamily="18" charset="0"/>
              <a:cs typeface="Times New Roman" pitchFamily="18" charset="0"/>
              <a:sym typeface="Arial" charset="0"/>
            </a:endParaRPr>
          </a:p>
        </p:txBody>
      </p:sp>
      <p:pic>
        <p:nvPicPr>
          <p:cNvPr id="2" name="Picture 1" descr="A black and red logo&#10;&#10;Description automatically generated">
            <a:extLst>
              <a:ext uri="{FF2B5EF4-FFF2-40B4-BE49-F238E27FC236}">
                <a16:creationId xmlns:a16="http://schemas.microsoft.com/office/drawing/2014/main" id="{8BDB0671-FC93-5C9E-75A2-ED46EE3FB8B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8" name="Content Placeholder 1">
            <a:extLst>
              <a:ext uri="{FF2B5EF4-FFF2-40B4-BE49-F238E27FC236}">
                <a16:creationId xmlns:a16="http://schemas.microsoft.com/office/drawing/2014/main" id="{1FF5ADF0-474C-251F-0E40-267B658E504A}"/>
              </a:ext>
            </a:extLst>
          </p:cNvPr>
          <p:cNvSpPr txBox="1">
            <a:spLocks noGrp="1"/>
          </p:cNvSpPr>
          <p:nvPr>
            <p:ph idx="1"/>
          </p:nvPr>
        </p:nvSpPr>
        <p:spPr>
          <a:xfrm>
            <a:off x="609600" y="1219200"/>
            <a:ext cx="10515600" cy="4449763"/>
          </a:xfrm>
        </p:spPr>
        <p:txBody>
          <a:bodyPr/>
          <a:lstStyle/>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lgn="ctr">
              <a:spcBef>
                <a:spcPts val="363"/>
              </a:spcBef>
              <a:spcAft>
                <a:spcPct val="0"/>
              </a:spcAft>
              <a:buClr>
                <a:srgbClr val="000000"/>
              </a:buClr>
              <a:buFont typeface="Arial" panose="020B0604020202020204" pitchFamily="34" charset="0"/>
              <a:buNone/>
            </a:pPr>
            <a:r>
              <a:rPr lang="en-IN" sz="2000" b="1" dirty="0">
                <a:latin typeface="Arial" panose="020B0604020202020204" pitchFamily="34" charset="0"/>
                <a:cs typeface="Arial" panose="020B0604020202020204" pitchFamily="34" charset="0"/>
              </a:rPr>
              <a:t> </a:t>
            </a:r>
          </a:p>
        </p:txBody>
      </p:sp>
      <p:sp>
        <p:nvSpPr>
          <p:cNvPr id="3" name="Content Placeholder 2">
            <a:extLst>
              <a:ext uri="{FF2B5EF4-FFF2-40B4-BE49-F238E27FC236}">
                <a16:creationId xmlns:a16="http://schemas.microsoft.com/office/drawing/2014/main" id="{09A06388-0D7D-85EF-A8BE-CDA5A324476B}"/>
              </a:ext>
            </a:extLst>
          </p:cNvPr>
          <p:cNvSpPr txBox="1">
            <a:spLocks/>
          </p:cNvSpPr>
          <p:nvPr/>
        </p:nvSpPr>
        <p:spPr>
          <a:xfrm>
            <a:off x="228600" y="1055218"/>
            <a:ext cx="10591800" cy="5259346"/>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Font typeface="Arial" pitchFamily="34" charset="0"/>
              <a:buNone/>
            </a:pPr>
            <a:r>
              <a:rPr lang="en-US" sz="2000" b="1" dirty="0"/>
              <a:t>5 To copy a directory- </a:t>
            </a:r>
            <a:r>
              <a:rPr lang="en-US" sz="2000" dirty="0"/>
              <a:t>The copy() function is used to make a copy of a specified file. It makes a copy of the source file to the destination file and if the destination file already exists, it gets overwritten. The copy() function returns true on success and false on failure.</a:t>
            </a:r>
          </a:p>
          <a:p>
            <a:pPr marL="0" indent="0" algn="just">
              <a:buFont typeface="Arial" pitchFamily="34" charset="0"/>
              <a:buNone/>
            </a:pPr>
            <a:r>
              <a:rPr lang="en-US" sz="2000" dirty="0"/>
              <a:t>Syntax:</a:t>
            </a:r>
          </a:p>
          <a:p>
            <a:pPr marL="0" indent="0" algn="just">
              <a:buFont typeface="Arial" pitchFamily="34" charset="0"/>
              <a:buNone/>
            </a:pPr>
            <a:r>
              <a:rPr lang="en-US" sz="2000" dirty="0"/>
              <a:t>Bool copy($source, $</a:t>
            </a:r>
            <a:r>
              <a:rPr lang="en-US" sz="2000" dirty="0" err="1"/>
              <a:t>dest</a:t>
            </a:r>
            <a:r>
              <a:rPr lang="en-US" sz="2000" dirty="0"/>
              <a:t>)</a:t>
            </a:r>
          </a:p>
          <a:p>
            <a:pPr marL="0" indent="0" algn="just">
              <a:buFont typeface="Arial" pitchFamily="34" charset="0"/>
              <a:buNone/>
            </a:pPr>
            <a:endParaRPr lang="en-US" sz="2000" b="1" dirty="0"/>
          </a:p>
          <a:p>
            <a:pPr marL="0" indent="0" algn="just">
              <a:buFont typeface="Arial" pitchFamily="34" charset="0"/>
              <a:buNone/>
            </a:pPr>
            <a:r>
              <a:rPr lang="en-US" sz="2000" b="1" dirty="0"/>
              <a:t>6 To rename a directory- </a:t>
            </a:r>
            <a:r>
              <a:rPr lang="en-US" sz="2000" dirty="0"/>
              <a:t>The rename() function in PHP is an inbuilt function which is used to rename a file or directory. It makes an attempt to change an old name of a file or directory with a new name specified by the user and it may move between directories if necessary.</a:t>
            </a:r>
          </a:p>
        </p:txBody>
      </p:sp>
    </p:spTree>
    <p:extLst>
      <p:ext uri="{BB962C8B-B14F-4D97-AF65-F5344CB8AC3E}">
        <p14:creationId xmlns:p14="http://schemas.microsoft.com/office/powerpoint/2010/main" val="4121911682"/>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E73A3019-CFE4-49DD-B6FD-2AFB2DD2DBB6}" type="datetime1">
              <a:rPr lang="en-US" smtClean="0"/>
              <a:t>11/7/2024</a:t>
            </a:fld>
            <a:endParaRPr lang="en-US"/>
          </a:p>
        </p:txBody>
      </p:sp>
      <p:sp>
        <p:nvSpPr>
          <p:cNvPr id="5" name="Footer Placeholder 4"/>
          <p:cNvSpPr>
            <a:spLocks noGrp="1"/>
          </p:cNvSpPr>
          <p:nvPr>
            <p:ph type="ftr" sz="quarter" idx="11"/>
          </p:nvPr>
        </p:nvSpPr>
        <p:spPr>
          <a:xfrm>
            <a:off x="4343400" y="6248401"/>
            <a:ext cx="4724400" cy="365125"/>
          </a:xfrm>
        </p:spPr>
        <p:txBody>
          <a:bodyPr/>
          <a:lstStyle/>
          <a:p>
            <a:r>
              <a:rPr lang="en-US" dirty="0"/>
              <a:t>Vaishali Mishra            ACSE0505 Web Technology                Unit 5</a:t>
            </a:r>
          </a:p>
        </p:txBody>
      </p:sp>
      <p:sp>
        <p:nvSpPr>
          <p:cNvPr id="6" name="Slide Number Placeholder 5"/>
          <p:cNvSpPr>
            <a:spLocks noGrp="1"/>
          </p:cNvSpPr>
          <p:nvPr>
            <p:ph type="sldNum" sz="quarter" idx="12"/>
          </p:nvPr>
        </p:nvSpPr>
        <p:spPr/>
        <p:txBody>
          <a:bodyPr/>
          <a:lstStyle/>
          <a:p>
            <a:fld id="{B6F15528-21DE-4FAA-801E-634DDDAF4B2B}" type="slidenum">
              <a:rPr lang="en-US" smtClean="0"/>
              <a:pPr/>
              <a:t>79</a:t>
            </a:fld>
            <a:endParaRPr lang="en-US"/>
          </a:p>
        </p:txBody>
      </p:sp>
      <p:sp>
        <p:nvSpPr>
          <p:cNvPr id="7" name="Title 1"/>
          <p:cNvSpPr txBox="1">
            <a:spLocks/>
          </p:cNvSpPr>
          <p:nvPr/>
        </p:nvSpPr>
        <p:spPr>
          <a:xfrm>
            <a:off x="2895600" y="2"/>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pPr>
              <a:defRPr/>
            </a:pPr>
            <a:endParaRPr lang="en-US" sz="2800" dirty="0"/>
          </a:p>
          <a:p>
            <a:pPr algn="ctr">
              <a:defRPr/>
            </a:pPr>
            <a:endParaRPr lang="en-US" sz="2800" dirty="0">
              <a:latin typeface="Times New Roman" pitchFamily="18" charset="0"/>
              <a:cs typeface="Times New Roman" pitchFamily="18" charset="0"/>
              <a:sym typeface="Arial" charset="0"/>
            </a:endParaRPr>
          </a:p>
        </p:txBody>
      </p:sp>
      <p:pic>
        <p:nvPicPr>
          <p:cNvPr id="2" name="Picture 1" descr="A black and red logo&#10;&#10;Description automatically generated">
            <a:extLst>
              <a:ext uri="{FF2B5EF4-FFF2-40B4-BE49-F238E27FC236}">
                <a16:creationId xmlns:a16="http://schemas.microsoft.com/office/drawing/2014/main" id="{8BDB0671-FC93-5C9E-75A2-ED46EE3FB8B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8" name="Content Placeholder 1">
            <a:extLst>
              <a:ext uri="{FF2B5EF4-FFF2-40B4-BE49-F238E27FC236}">
                <a16:creationId xmlns:a16="http://schemas.microsoft.com/office/drawing/2014/main" id="{1FF5ADF0-474C-251F-0E40-267B658E504A}"/>
              </a:ext>
            </a:extLst>
          </p:cNvPr>
          <p:cNvSpPr txBox="1">
            <a:spLocks noGrp="1"/>
          </p:cNvSpPr>
          <p:nvPr>
            <p:ph idx="1"/>
          </p:nvPr>
        </p:nvSpPr>
        <p:spPr>
          <a:xfrm>
            <a:off x="609600" y="1219200"/>
            <a:ext cx="10515600" cy="4449763"/>
          </a:xfrm>
        </p:spPr>
        <p:txBody>
          <a:bodyPr/>
          <a:lstStyle/>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lgn="ctr">
              <a:spcBef>
                <a:spcPts val="363"/>
              </a:spcBef>
              <a:spcAft>
                <a:spcPct val="0"/>
              </a:spcAft>
              <a:buClr>
                <a:srgbClr val="000000"/>
              </a:buClr>
              <a:buFont typeface="Arial" panose="020B0604020202020204" pitchFamily="34" charset="0"/>
              <a:buNone/>
            </a:pPr>
            <a:r>
              <a:rPr lang="en-IN" sz="2000" b="1" dirty="0">
                <a:latin typeface="Arial" panose="020B0604020202020204" pitchFamily="34" charset="0"/>
                <a:cs typeface="Arial" panose="020B0604020202020204" pitchFamily="34" charset="0"/>
              </a:rPr>
              <a:t> </a:t>
            </a:r>
          </a:p>
        </p:txBody>
      </p:sp>
      <p:sp>
        <p:nvSpPr>
          <p:cNvPr id="3" name="Content Placeholder 2">
            <a:extLst>
              <a:ext uri="{FF2B5EF4-FFF2-40B4-BE49-F238E27FC236}">
                <a16:creationId xmlns:a16="http://schemas.microsoft.com/office/drawing/2014/main" id="{956C2630-60D0-D2CF-271D-6E45E5728F5C}"/>
              </a:ext>
            </a:extLst>
          </p:cNvPr>
          <p:cNvSpPr txBox="1">
            <a:spLocks/>
          </p:cNvSpPr>
          <p:nvPr/>
        </p:nvSpPr>
        <p:spPr>
          <a:xfrm>
            <a:off x="62681" y="1189036"/>
            <a:ext cx="11062519" cy="512552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Font typeface="Arial" pitchFamily="34" charset="0"/>
              <a:buNone/>
            </a:pPr>
            <a:r>
              <a:rPr lang="en-US" sz="2000"/>
              <a:t>If the new name specified by the user already exists, the rename() function overwrites it. The old name of the file and the new name specified by the user are sent as parameters to the rename() function and it returns True on success and a False on failure.</a:t>
            </a:r>
          </a:p>
          <a:p>
            <a:pPr marL="0" indent="0" algn="just">
              <a:buFont typeface="Arial" pitchFamily="34" charset="0"/>
              <a:buNone/>
            </a:pPr>
            <a:r>
              <a:rPr lang="en-US" sz="2000"/>
              <a:t>Syntax:</a:t>
            </a:r>
          </a:p>
          <a:p>
            <a:pPr marL="0" indent="0" algn="just">
              <a:buFont typeface="Arial" pitchFamily="34" charset="0"/>
              <a:buNone/>
            </a:pPr>
            <a:r>
              <a:rPr lang="en-US" sz="2000"/>
              <a:t>rename(oldname, newname, context)</a:t>
            </a:r>
            <a:endParaRPr lang="en-US" sz="2000" dirty="0"/>
          </a:p>
        </p:txBody>
      </p:sp>
    </p:spTree>
    <p:extLst>
      <p:ext uri="{BB962C8B-B14F-4D97-AF65-F5344CB8AC3E}">
        <p14:creationId xmlns:p14="http://schemas.microsoft.com/office/powerpoint/2010/main" val="2860858076"/>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E73A3019-CFE4-49DD-B6FD-2AFB2DD2DBB6}" type="datetime1">
              <a:rPr lang="en-US" smtClean="0"/>
              <a:t>11/7/2024</a:t>
            </a:fld>
            <a:endParaRPr lang="en-US"/>
          </a:p>
        </p:txBody>
      </p:sp>
      <p:sp>
        <p:nvSpPr>
          <p:cNvPr id="5" name="Footer Placeholder 4"/>
          <p:cNvSpPr>
            <a:spLocks noGrp="1"/>
          </p:cNvSpPr>
          <p:nvPr>
            <p:ph type="ftr" sz="quarter" idx="11"/>
          </p:nvPr>
        </p:nvSpPr>
        <p:spPr>
          <a:xfrm>
            <a:off x="4343400" y="6248401"/>
            <a:ext cx="4724400" cy="365125"/>
          </a:xfrm>
        </p:spPr>
        <p:txBody>
          <a:bodyPr/>
          <a:lstStyle/>
          <a:p>
            <a:r>
              <a:rPr lang="en-US" dirty="0"/>
              <a:t>Vaishali Mishra            ACSE0505 Web Technology                Unit 5</a:t>
            </a:r>
          </a:p>
        </p:txBody>
      </p:sp>
      <p:sp>
        <p:nvSpPr>
          <p:cNvPr id="6" name="Slide Number Placeholder 5"/>
          <p:cNvSpPr>
            <a:spLocks noGrp="1"/>
          </p:cNvSpPr>
          <p:nvPr>
            <p:ph type="sldNum" sz="quarter" idx="12"/>
          </p:nvPr>
        </p:nvSpPr>
        <p:spPr/>
        <p:txBody>
          <a:bodyPr/>
          <a:lstStyle/>
          <a:p>
            <a:fld id="{B6F15528-21DE-4FAA-801E-634DDDAF4B2B}" type="slidenum">
              <a:rPr lang="en-US" smtClean="0"/>
              <a:pPr/>
              <a:t>80</a:t>
            </a:fld>
            <a:endParaRPr lang="en-US"/>
          </a:p>
        </p:txBody>
      </p:sp>
      <p:sp>
        <p:nvSpPr>
          <p:cNvPr id="7" name="Title 1"/>
          <p:cNvSpPr txBox="1">
            <a:spLocks/>
          </p:cNvSpPr>
          <p:nvPr/>
        </p:nvSpPr>
        <p:spPr>
          <a:xfrm>
            <a:off x="2895600" y="2"/>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pPr>
              <a:defRPr/>
            </a:pPr>
            <a:endParaRPr lang="en-US" sz="2800" dirty="0"/>
          </a:p>
          <a:p>
            <a:pPr>
              <a:defRPr/>
            </a:pPr>
            <a:r>
              <a:rPr lang="en-IN" sz="2800" dirty="0"/>
              <a:t>Creating and deleting folder </a:t>
            </a:r>
            <a:r>
              <a:rPr lang="en-US" sz="2800" dirty="0"/>
              <a:t>(CO5)</a:t>
            </a:r>
          </a:p>
          <a:p>
            <a:pPr algn="ctr">
              <a:defRPr/>
            </a:pPr>
            <a:endParaRPr lang="en-US" sz="2800" dirty="0">
              <a:latin typeface="Times New Roman" pitchFamily="18" charset="0"/>
              <a:cs typeface="Times New Roman" pitchFamily="18" charset="0"/>
              <a:sym typeface="Arial" charset="0"/>
            </a:endParaRPr>
          </a:p>
        </p:txBody>
      </p:sp>
      <p:pic>
        <p:nvPicPr>
          <p:cNvPr id="2" name="Picture 1" descr="A black and red logo&#10;&#10;Description automatically generated">
            <a:extLst>
              <a:ext uri="{FF2B5EF4-FFF2-40B4-BE49-F238E27FC236}">
                <a16:creationId xmlns:a16="http://schemas.microsoft.com/office/drawing/2014/main" id="{8BDB0671-FC93-5C9E-75A2-ED46EE3FB8B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8" name="Content Placeholder 1">
            <a:extLst>
              <a:ext uri="{FF2B5EF4-FFF2-40B4-BE49-F238E27FC236}">
                <a16:creationId xmlns:a16="http://schemas.microsoft.com/office/drawing/2014/main" id="{1FF5ADF0-474C-251F-0E40-267B658E504A}"/>
              </a:ext>
            </a:extLst>
          </p:cNvPr>
          <p:cNvSpPr txBox="1">
            <a:spLocks noGrp="1"/>
          </p:cNvSpPr>
          <p:nvPr>
            <p:ph idx="1"/>
          </p:nvPr>
        </p:nvSpPr>
        <p:spPr>
          <a:xfrm>
            <a:off x="609600" y="1219200"/>
            <a:ext cx="10515600" cy="4449763"/>
          </a:xfrm>
        </p:spPr>
        <p:txBody>
          <a:bodyPr/>
          <a:lstStyle/>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lgn="ctr">
              <a:spcBef>
                <a:spcPts val="363"/>
              </a:spcBef>
              <a:spcAft>
                <a:spcPct val="0"/>
              </a:spcAft>
              <a:buClr>
                <a:srgbClr val="000000"/>
              </a:buClr>
              <a:buFont typeface="Arial" panose="020B0604020202020204" pitchFamily="34" charset="0"/>
              <a:buNone/>
            </a:pPr>
            <a:r>
              <a:rPr lang="en-IN" sz="2000" b="1" dirty="0">
                <a:latin typeface="Arial" panose="020B0604020202020204" pitchFamily="34" charset="0"/>
                <a:cs typeface="Arial" panose="020B0604020202020204" pitchFamily="34" charset="0"/>
              </a:rPr>
              <a:t> </a:t>
            </a:r>
          </a:p>
        </p:txBody>
      </p:sp>
      <p:sp>
        <p:nvSpPr>
          <p:cNvPr id="3" name="Content Placeholder 2">
            <a:extLst>
              <a:ext uri="{FF2B5EF4-FFF2-40B4-BE49-F238E27FC236}">
                <a16:creationId xmlns:a16="http://schemas.microsoft.com/office/drawing/2014/main" id="{4A9BA62A-9536-BBE3-7969-296F2F19EB32}"/>
              </a:ext>
            </a:extLst>
          </p:cNvPr>
          <p:cNvSpPr txBox="1">
            <a:spLocks/>
          </p:cNvSpPr>
          <p:nvPr/>
        </p:nvSpPr>
        <p:spPr>
          <a:xfrm>
            <a:off x="304800" y="1055218"/>
            <a:ext cx="10363200" cy="5259346"/>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just"/>
            <a:r>
              <a:rPr lang="en-US" sz="2000" dirty="0"/>
              <a:t>Earlier we have seen about deleting just files which are present in a directory. Now, What if you have sub directories with files inside the folder. </a:t>
            </a:r>
          </a:p>
          <a:p>
            <a:pPr algn="just"/>
            <a:r>
              <a:rPr lang="en-US" sz="2000" dirty="0"/>
              <a:t>In that case the above script won’t able to work. You’ll need to create recursive function to delete all files, sub-directories and parent directory altogether.</a:t>
            </a:r>
          </a:p>
          <a:p>
            <a:pPr algn="just"/>
            <a:r>
              <a:rPr lang="en-US" sz="2000" dirty="0"/>
              <a:t>Simply deleting a folder with using </a:t>
            </a:r>
            <a:r>
              <a:rPr lang="en-US" sz="2000" dirty="0" err="1"/>
              <a:t>php’s</a:t>
            </a:r>
            <a:r>
              <a:rPr lang="en-US" sz="2000" dirty="0"/>
              <a:t> function </a:t>
            </a:r>
            <a:r>
              <a:rPr lang="en-US" sz="2000" dirty="0" err="1"/>
              <a:t>rmdir</a:t>
            </a:r>
            <a:r>
              <a:rPr lang="en-US" sz="2000" dirty="0"/>
              <a:t>() won’t work. It will throw some exceptions if you attempt to remove folder directly with files in it. </a:t>
            </a:r>
          </a:p>
          <a:p>
            <a:pPr algn="just"/>
            <a:r>
              <a:rPr lang="en-US" sz="2000" dirty="0"/>
              <a:t>So first of all you have to delete files one by one from each sub folder and then delete folders by removing parent folder.</a:t>
            </a:r>
          </a:p>
        </p:txBody>
      </p:sp>
    </p:spTree>
    <p:extLst>
      <p:ext uri="{BB962C8B-B14F-4D97-AF65-F5344CB8AC3E}">
        <p14:creationId xmlns:p14="http://schemas.microsoft.com/office/powerpoint/2010/main" val="592421219"/>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E73A3019-CFE4-49DD-B6FD-2AFB2DD2DBB6}" type="datetime1">
              <a:rPr lang="en-US" smtClean="0"/>
              <a:t>11/7/2024</a:t>
            </a:fld>
            <a:endParaRPr lang="en-US"/>
          </a:p>
        </p:txBody>
      </p:sp>
      <p:sp>
        <p:nvSpPr>
          <p:cNvPr id="5" name="Footer Placeholder 4"/>
          <p:cNvSpPr>
            <a:spLocks noGrp="1"/>
          </p:cNvSpPr>
          <p:nvPr>
            <p:ph type="ftr" sz="quarter" idx="11"/>
          </p:nvPr>
        </p:nvSpPr>
        <p:spPr>
          <a:xfrm>
            <a:off x="4343400" y="6248401"/>
            <a:ext cx="4724400" cy="365125"/>
          </a:xfrm>
        </p:spPr>
        <p:txBody>
          <a:bodyPr/>
          <a:lstStyle/>
          <a:p>
            <a:r>
              <a:rPr lang="en-US" dirty="0"/>
              <a:t>Vaishali Mishra            ACSE0505 Web Technology                Unit 5</a:t>
            </a:r>
          </a:p>
        </p:txBody>
      </p:sp>
      <p:sp>
        <p:nvSpPr>
          <p:cNvPr id="6" name="Slide Number Placeholder 5"/>
          <p:cNvSpPr>
            <a:spLocks noGrp="1"/>
          </p:cNvSpPr>
          <p:nvPr>
            <p:ph type="sldNum" sz="quarter" idx="12"/>
          </p:nvPr>
        </p:nvSpPr>
        <p:spPr/>
        <p:txBody>
          <a:bodyPr/>
          <a:lstStyle/>
          <a:p>
            <a:fld id="{B6F15528-21DE-4FAA-801E-634DDDAF4B2B}" type="slidenum">
              <a:rPr lang="en-US" smtClean="0"/>
              <a:pPr/>
              <a:t>81</a:t>
            </a:fld>
            <a:endParaRPr lang="en-US"/>
          </a:p>
        </p:txBody>
      </p:sp>
      <p:sp>
        <p:nvSpPr>
          <p:cNvPr id="7" name="Title 1"/>
          <p:cNvSpPr txBox="1">
            <a:spLocks/>
          </p:cNvSpPr>
          <p:nvPr/>
        </p:nvSpPr>
        <p:spPr>
          <a:xfrm>
            <a:off x="2895600" y="2"/>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pPr lvl="0" algn="ctr">
              <a:spcBef>
                <a:spcPct val="0"/>
              </a:spcBef>
              <a:defRPr/>
            </a:pPr>
            <a:r>
              <a:rPr lang="en-IN" sz="2800"/>
              <a:t>Creating and deleting folder </a:t>
            </a:r>
            <a:r>
              <a:rPr lang="en-US" sz="2800"/>
              <a:t>(CO5)</a:t>
            </a:r>
            <a:endParaRPr lang="en-US" sz="2800" dirty="0"/>
          </a:p>
        </p:txBody>
      </p:sp>
      <p:pic>
        <p:nvPicPr>
          <p:cNvPr id="2" name="Picture 1" descr="A black and red logo&#10;&#10;Description automatically generated">
            <a:extLst>
              <a:ext uri="{FF2B5EF4-FFF2-40B4-BE49-F238E27FC236}">
                <a16:creationId xmlns:a16="http://schemas.microsoft.com/office/drawing/2014/main" id="{8BDB0671-FC93-5C9E-75A2-ED46EE3FB8B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8" name="Content Placeholder 1">
            <a:extLst>
              <a:ext uri="{FF2B5EF4-FFF2-40B4-BE49-F238E27FC236}">
                <a16:creationId xmlns:a16="http://schemas.microsoft.com/office/drawing/2014/main" id="{1FF5ADF0-474C-251F-0E40-267B658E504A}"/>
              </a:ext>
            </a:extLst>
          </p:cNvPr>
          <p:cNvSpPr txBox="1">
            <a:spLocks noGrp="1"/>
          </p:cNvSpPr>
          <p:nvPr>
            <p:ph idx="1"/>
          </p:nvPr>
        </p:nvSpPr>
        <p:spPr>
          <a:xfrm>
            <a:off x="609600" y="1219200"/>
            <a:ext cx="10515600" cy="4449763"/>
          </a:xfrm>
        </p:spPr>
        <p:txBody>
          <a:bodyPr/>
          <a:lstStyle/>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lgn="ctr">
              <a:spcBef>
                <a:spcPts val="363"/>
              </a:spcBef>
              <a:spcAft>
                <a:spcPct val="0"/>
              </a:spcAft>
              <a:buClr>
                <a:srgbClr val="000000"/>
              </a:buClr>
              <a:buFont typeface="Arial" panose="020B0604020202020204" pitchFamily="34" charset="0"/>
              <a:buNone/>
            </a:pPr>
            <a:r>
              <a:rPr lang="en-IN" sz="2000" b="1" dirty="0">
                <a:latin typeface="Arial" panose="020B0604020202020204" pitchFamily="34" charset="0"/>
                <a:cs typeface="Arial" panose="020B0604020202020204" pitchFamily="34" charset="0"/>
              </a:rPr>
              <a:t> </a:t>
            </a:r>
          </a:p>
        </p:txBody>
      </p:sp>
      <p:sp>
        <p:nvSpPr>
          <p:cNvPr id="3" name="Content Placeholder 2">
            <a:extLst>
              <a:ext uri="{FF2B5EF4-FFF2-40B4-BE49-F238E27FC236}">
                <a16:creationId xmlns:a16="http://schemas.microsoft.com/office/drawing/2014/main" id="{A20DC1C9-5443-663E-4740-4C70684705AF}"/>
              </a:ext>
            </a:extLst>
          </p:cNvPr>
          <p:cNvSpPr txBox="1">
            <a:spLocks/>
          </p:cNvSpPr>
          <p:nvPr/>
        </p:nvSpPr>
        <p:spPr>
          <a:xfrm>
            <a:off x="228600" y="947268"/>
            <a:ext cx="10134600" cy="5367296"/>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400050" lvl="1" indent="0" algn="just">
              <a:buFont typeface="Arial" pitchFamily="34" charset="0"/>
              <a:buNone/>
            </a:pPr>
            <a:r>
              <a:rPr lang="en-US" sz="2000"/>
              <a:t>&lt;?php</a:t>
            </a:r>
          </a:p>
          <a:p>
            <a:pPr marL="400050" lvl="1" indent="0" algn="just">
              <a:buFont typeface="Arial" pitchFamily="34" charset="0"/>
              <a:buNone/>
            </a:pPr>
            <a:r>
              <a:rPr lang="en-US" sz="2000"/>
              <a:t>// delete all files and sub-folders from a folder</a:t>
            </a:r>
          </a:p>
          <a:p>
            <a:pPr marL="400050" lvl="1" indent="0" algn="just">
              <a:buFont typeface="Arial" pitchFamily="34" charset="0"/>
              <a:buNone/>
            </a:pPr>
            <a:r>
              <a:rPr lang="en-US" sz="2000"/>
              <a:t>function deleteAll($dir) {</a:t>
            </a:r>
          </a:p>
          <a:p>
            <a:pPr marL="400050" lvl="1" indent="0" algn="just">
              <a:buFont typeface="Arial" pitchFamily="34" charset="0"/>
              <a:buNone/>
            </a:pPr>
            <a:r>
              <a:rPr lang="en-US" sz="2000"/>
              <a:t>foreach(glob($dir . '/*') as $file) {</a:t>
            </a:r>
          </a:p>
          <a:p>
            <a:pPr marL="400050" lvl="1" indent="0" algn="just">
              <a:buFont typeface="Arial" pitchFamily="34" charset="0"/>
              <a:buNone/>
            </a:pPr>
            <a:r>
              <a:rPr lang="en-US" sz="2000"/>
              <a:t>if(is_dir($file))</a:t>
            </a:r>
          </a:p>
          <a:p>
            <a:pPr marL="400050" lvl="1" indent="0" algn="just">
              <a:buFont typeface="Arial" pitchFamily="34" charset="0"/>
              <a:buNone/>
            </a:pPr>
            <a:r>
              <a:rPr lang="en-US" sz="2000"/>
              <a:t>deleteAll($file);</a:t>
            </a:r>
          </a:p>
          <a:p>
            <a:pPr marL="400050" lvl="1" indent="0" algn="just">
              <a:buFont typeface="Arial" pitchFamily="34" charset="0"/>
              <a:buNone/>
            </a:pPr>
            <a:r>
              <a:rPr lang="en-US" sz="2000"/>
              <a:t>else</a:t>
            </a:r>
          </a:p>
          <a:p>
            <a:pPr marL="400050" lvl="1" indent="0" algn="just">
              <a:buFont typeface="Arial" pitchFamily="34" charset="0"/>
              <a:buNone/>
            </a:pPr>
            <a:r>
              <a:rPr lang="en-US" sz="2000"/>
              <a:t>unlink($file);</a:t>
            </a:r>
          </a:p>
          <a:p>
            <a:pPr marL="400050" lvl="1" indent="0" algn="just">
              <a:buFont typeface="Arial" pitchFamily="34" charset="0"/>
              <a:buNone/>
            </a:pPr>
            <a:r>
              <a:rPr lang="en-US" sz="2000"/>
              <a:t>}</a:t>
            </a:r>
          </a:p>
          <a:p>
            <a:pPr marL="400050" lvl="1" indent="0" algn="just">
              <a:buFont typeface="Arial" pitchFamily="34" charset="0"/>
              <a:buNone/>
            </a:pPr>
            <a:r>
              <a:rPr lang="en-US" sz="2000"/>
              <a:t>rmdir($dir);</a:t>
            </a:r>
          </a:p>
          <a:p>
            <a:pPr marL="400050" lvl="1" indent="0" algn="just">
              <a:buFont typeface="Arial" pitchFamily="34" charset="0"/>
              <a:buNone/>
            </a:pPr>
            <a:r>
              <a:rPr lang="en-US" sz="2000"/>
              <a:t>}</a:t>
            </a:r>
          </a:p>
          <a:p>
            <a:pPr marL="400050" lvl="1" indent="0" algn="just">
              <a:buFont typeface="Arial" pitchFamily="34" charset="0"/>
              <a:buNone/>
            </a:pPr>
            <a:r>
              <a:rPr lang="en-US" sz="2000"/>
              <a:t>?&gt;</a:t>
            </a:r>
            <a:endParaRPr lang="en-US" sz="2000" dirty="0"/>
          </a:p>
        </p:txBody>
      </p:sp>
    </p:spTree>
    <p:extLst>
      <p:ext uri="{BB962C8B-B14F-4D97-AF65-F5344CB8AC3E}">
        <p14:creationId xmlns:p14="http://schemas.microsoft.com/office/powerpoint/2010/main" val="118161914"/>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E73A3019-CFE4-49DD-B6FD-2AFB2DD2DBB6}" type="datetime1">
              <a:rPr lang="en-US" smtClean="0"/>
              <a:t>11/7/2024</a:t>
            </a:fld>
            <a:endParaRPr lang="en-US"/>
          </a:p>
        </p:txBody>
      </p:sp>
      <p:sp>
        <p:nvSpPr>
          <p:cNvPr id="5" name="Footer Placeholder 4"/>
          <p:cNvSpPr>
            <a:spLocks noGrp="1"/>
          </p:cNvSpPr>
          <p:nvPr>
            <p:ph type="ftr" sz="quarter" idx="11"/>
          </p:nvPr>
        </p:nvSpPr>
        <p:spPr>
          <a:xfrm>
            <a:off x="4343400" y="6248401"/>
            <a:ext cx="4724400" cy="365125"/>
          </a:xfrm>
        </p:spPr>
        <p:txBody>
          <a:bodyPr/>
          <a:lstStyle/>
          <a:p>
            <a:r>
              <a:rPr lang="en-US" dirty="0"/>
              <a:t>Vaishali Mishra            ACSE0505 Web Technology                Unit 5</a:t>
            </a:r>
          </a:p>
        </p:txBody>
      </p:sp>
      <p:sp>
        <p:nvSpPr>
          <p:cNvPr id="6" name="Slide Number Placeholder 5"/>
          <p:cNvSpPr>
            <a:spLocks noGrp="1"/>
          </p:cNvSpPr>
          <p:nvPr>
            <p:ph type="sldNum" sz="quarter" idx="12"/>
          </p:nvPr>
        </p:nvSpPr>
        <p:spPr/>
        <p:txBody>
          <a:bodyPr/>
          <a:lstStyle/>
          <a:p>
            <a:fld id="{B6F15528-21DE-4FAA-801E-634DDDAF4B2B}" type="slidenum">
              <a:rPr lang="en-US" smtClean="0"/>
              <a:pPr/>
              <a:t>82</a:t>
            </a:fld>
            <a:endParaRPr lang="en-US"/>
          </a:p>
        </p:txBody>
      </p:sp>
      <p:sp>
        <p:nvSpPr>
          <p:cNvPr id="7" name="Title 1"/>
          <p:cNvSpPr txBox="1">
            <a:spLocks/>
          </p:cNvSpPr>
          <p:nvPr/>
        </p:nvSpPr>
        <p:spPr>
          <a:xfrm>
            <a:off x="2895600" y="2"/>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pPr lvl="0" algn="ctr">
              <a:spcBef>
                <a:spcPct val="0"/>
              </a:spcBef>
              <a:defRPr/>
            </a:pPr>
            <a:r>
              <a:rPr lang="en-IN" sz="2800"/>
              <a:t>File Uploading &amp; Downloading </a:t>
            </a:r>
            <a:r>
              <a:rPr lang="en-US" sz="2800"/>
              <a:t>(CO5)</a:t>
            </a:r>
            <a:endParaRPr lang="en-US" sz="2800" dirty="0"/>
          </a:p>
        </p:txBody>
      </p:sp>
      <p:pic>
        <p:nvPicPr>
          <p:cNvPr id="2" name="Picture 1" descr="A black and red logo&#10;&#10;Description automatically generated">
            <a:extLst>
              <a:ext uri="{FF2B5EF4-FFF2-40B4-BE49-F238E27FC236}">
                <a16:creationId xmlns:a16="http://schemas.microsoft.com/office/drawing/2014/main" id="{8BDB0671-FC93-5C9E-75A2-ED46EE3FB8B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8" name="Content Placeholder 1">
            <a:extLst>
              <a:ext uri="{FF2B5EF4-FFF2-40B4-BE49-F238E27FC236}">
                <a16:creationId xmlns:a16="http://schemas.microsoft.com/office/drawing/2014/main" id="{1FF5ADF0-474C-251F-0E40-267B658E504A}"/>
              </a:ext>
            </a:extLst>
          </p:cNvPr>
          <p:cNvSpPr txBox="1">
            <a:spLocks noGrp="1"/>
          </p:cNvSpPr>
          <p:nvPr>
            <p:ph idx="1"/>
          </p:nvPr>
        </p:nvSpPr>
        <p:spPr>
          <a:xfrm>
            <a:off x="609600" y="1219200"/>
            <a:ext cx="10515600" cy="4449763"/>
          </a:xfrm>
        </p:spPr>
        <p:txBody>
          <a:bodyPr/>
          <a:lstStyle/>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lgn="ctr">
              <a:spcBef>
                <a:spcPts val="363"/>
              </a:spcBef>
              <a:spcAft>
                <a:spcPct val="0"/>
              </a:spcAft>
              <a:buClr>
                <a:srgbClr val="000000"/>
              </a:buClr>
              <a:buFont typeface="Arial" panose="020B0604020202020204" pitchFamily="34" charset="0"/>
              <a:buNone/>
            </a:pPr>
            <a:r>
              <a:rPr lang="en-IN" sz="2000" b="1" dirty="0">
                <a:latin typeface="Arial" panose="020B0604020202020204" pitchFamily="34" charset="0"/>
                <a:cs typeface="Arial" panose="020B0604020202020204" pitchFamily="34" charset="0"/>
              </a:rPr>
              <a:t> </a:t>
            </a:r>
          </a:p>
        </p:txBody>
      </p:sp>
      <p:sp>
        <p:nvSpPr>
          <p:cNvPr id="3" name="Content Placeholder 2">
            <a:extLst>
              <a:ext uri="{FF2B5EF4-FFF2-40B4-BE49-F238E27FC236}">
                <a16:creationId xmlns:a16="http://schemas.microsoft.com/office/drawing/2014/main" id="{4D8CA2BB-896A-CA49-03D1-8A3F674453BA}"/>
              </a:ext>
            </a:extLst>
          </p:cNvPr>
          <p:cNvSpPr txBox="1">
            <a:spLocks/>
          </p:cNvSpPr>
          <p:nvPr/>
        </p:nvSpPr>
        <p:spPr>
          <a:xfrm>
            <a:off x="152400" y="947268"/>
            <a:ext cx="11125200" cy="5367296"/>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Font typeface="Arial" pitchFamily="34" charset="0"/>
              <a:buNone/>
            </a:pPr>
            <a:r>
              <a:rPr lang="en-US" sz="2000" b="1" dirty="0"/>
              <a:t>Uploading-</a:t>
            </a:r>
            <a:r>
              <a:rPr lang="en-US" sz="2000" dirty="0"/>
              <a:t> With PHP, it is easy to upload files to the server. However, with ease comes danger, so always be careful when allowing file uploads and follow these steps.</a:t>
            </a:r>
          </a:p>
          <a:p>
            <a:pPr marL="0" indent="0" algn="just">
              <a:buFont typeface="Arial" pitchFamily="34" charset="0"/>
              <a:buNone/>
            </a:pPr>
            <a:endParaRPr lang="en-US" sz="2000" dirty="0"/>
          </a:p>
          <a:p>
            <a:pPr marL="457200" indent="-457200" algn="just">
              <a:buFont typeface="+mj-lt"/>
              <a:buAutoNum type="arabicPeriod"/>
            </a:pPr>
            <a:r>
              <a:rPr lang="en-US" sz="2000" dirty="0"/>
              <a:t>Configure The "php.ini" File</a:t>
            </a:r>
          </a:p>
          <a:p>
            <a:pPr marL="457200" indent="-457200" algn="just">
              <a:buFont typeface="+mj-lt"/>
              <a:buAutoNum type="arabicPeriod"/>
            </a:pPr>
            <a:r>
              <a:rPr lang="en-IN" sz="2000" dirty="0"/>
              <a:t>Create The HTML Form</a:t>
            </a:r>
          </a:p>
          <a:p>
            <a:pPr marL="457200" indent="-457200" algn="just">
              <a:buFont typeface="+mj-lt"/>
              <a:buAutoNum type="arabicPeriod"/>
            </a:pPr>
            <a:r>
              <a:rPr lang="en-US" sz="2000" dirty="0"/>
              <a:t>Create The Upload File PHP Script</a:t>
            </a:r>
          </a:p>
          <a:p>
            <a:pPr marL="457200" indent="-457200" algn="just">
              <a:buFont typeface="+mj-lt"/>
              <a:buAutoNum type="arabicPeriod"/>
            </a:pPr>
            <a:r>
              <a:rPr lang="en-US" sz="2000" dirty="0"/>
              <a:t>Check if File Already Exists</a:t>
            </a:r>
          </a:p>
          <a:p>
            <a:pPr marL="457200" indent="-457200" algn="just">
              <a:buFont typeface="+mj-lt"/>
              <a:buAutoNum type="arabicPeriod"/>
            </a:pPr>
            <a:r>
              <a:rPr lang="en-IN" sz="2000" dirty="0"/>
              <a:t>Limit File Size</a:t>
            </a:r>
          </a:p>
          <a:p>
            <a:pPr marL="457200" indent="-457200" algn="just">
              <a:buFont typeface="+mj-lt"/>
              <a:buAutoNum type="arabicPeriod"/>
            </a:pPr>
            <a:r>
              <a:rPr lang="en-IN" sz="2000" dirty="0"/>
              <a:t>Limit File Type</a:t>
            </a:r>
          </a:p>
          <a:p>
            <a:pPr marL="457200" indent="-457200" algn="just">
              <a:buFont typeface="+mj-lt"/>
              <a:buAutoNum type="arabicPeriod"/>
            </a:pPr>
            <a:r>
              <a:rPr lang="en-US" sz="2000" dirty="0"/>
              <a:t>Complete Upload File PHP Script</a:t>
            </a:r>
          </a:p>
          <a:p>
            <a:pPr marL="0" indent="0" algn="just">
              <a:buFont typeface="Arial" pitchFamily="34" charset="0"/>
              <a:buNone/>
            </a:pPr>
            <a:endParaRPr lang="en-US" sz="2000" dirty="0">
              <a:latin typeface="Open Sans"/>
            </a:endParaRPr>
          </a:p>
        </p:txBody>
      </p:sp>
    </p:spTree>
    <p:extLst>
      <p:ext uri="{BB962C8B-B14F-4D97-AF65-F5344CB8AC3E}">
        <p14:creationId xmlns:p14="http://schemas.microsoft.com/office/powerpoint/2010/main" val="2122357339"/>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E73A3019-CFE4-49DD-B6FD-2AFB2DD2DBB6}" type="datetime1">
              <a:rPr lang="en-US" smtClean="0"/>
              <a:t>11/7/2024</a:t>
            </a:fld>
            <a:endParaRPr lang="en-US"/>
          </a:p>
        </p:txBody>
      </p:sp>
      <p:sp>
        <p:nvSpPr>
          <p:cNvPr id="5" name="Footer Placeholder 4"/>
          <p:cNvSpPr>
            <a:spLocks noGrp="1"/>
          </p:cNvSpPr>
          <p:nvPr>
            <p:ph type="ftr" sz="quarter" idx="11"/>
          </p:nvPr>
        </p:nvSpPr>
        <p:spPr>
          <a:xfrm>
            <a:off x="4343400" y="6248401"/>
            <a:ext cx="4724400" cy="365125"/>
          </a:xfrm>
        </p:spPr>
        <p:txBody>
          <a:bodyPr/>
          <a:lstStyle/>
          <a:p>
            <a:r>
              <a:rPr lang="en-US" dirty="0"/>
              <a:t>Vaishali Mishra            ACSE0505 Web Technology                Unit 5</a:t>
            </a:r>
          </a:p>
        </p:txBody>
      </p:sp>
      <p:sp>
        <p:nvSpPr>
          <p:cNvPr id="6" name="Slide Number Placeholder 5"/>
          <p:cNvSpPr>
            <a:spLocks noGrp="1"/>
          </p:cNvSpPr>
          <p:nvPr>
            <p:ph type="sldNum" sz="quarter" idx="12"/>
          </p:nvPr>
        </p:nvSpPr>
        <p:spPr/>
        <p:txBody>
          <a:bodyPr/>
          <a:lstStyle/>
          <a:p>
            <a:fld id="{B6F15528-21DE-4FAA-801E-634DDDAF4B2B}" type="slidenum">
              <a:rPr lang="en-US" smtClean="0"/>
              <a:pPr/>
              <a:t>83</a:t>
            </a:fld>
            <a:endParaRPr lang="en-US"/>
          </a:p>
        </p:txBody>
      </p:sp>
      <p:sp>
        <p:nvSpPr>
          <p:cNvPr id="7" name="Title 1"/>
          <p:cNvSpPr txBox="1">
            <a:spLocks/>
          </p:cNvSpPr>
          <p:nvPr/>
        </p:nvSpPr>
        <p:spPr>
          <a:xfrm>
            <a:off x="2895600" y="2"/>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pPr>
              <a:defRPr/>
            </a:pPr>
            <a:endParaRPr lang="en-IN" sz="2800" dirty="0"/>
          </a:p>
          <a:p>
            <a:pPr>
              <a:defRPr/>
            </a:pPr>
            <a:endParaRPr lang="en-IN" dirty="0"/>
          </a:p>
          <a:p>
            <a:pPr>
              <a:defRPr/>
            </a:pPr>
            <a:r>
              <a:rPr lang="en-IN" sz="2800" dirty="0"/>
              <a:t>File Uploading &amp; Downloading </a:t>
            </a:r>
            <a:r>
              <a:rPr lang="en-US" sz="2800" dirty="0"/>
              <a:t>(CO5)</a:t>
            </a:r>
          </a:p>
          <a:p>
            <a:pPr>
              <a:defRPr/>
            </a:pPr>
            <a:endParaRPr lang="en-US" sz="2800" dirty="0"/>
          </a:p>
          <a:p>
            <a:pPr algn="ctr">
              <a:defRPr/>
            </a:pPr>
            <a:endParaRPr lang="en-US" sz="2800" dirty="0">
              <a:latin typeface="Times New Roman" pitchFamily="18" charset="0"/>
              <a:cs typeface="Times New Roman" pitchFamily="18" charset="0"/>
              <a:sym typeface="Arial" charset="0"/>
            </a:endParaRPr>
          </a:p>
        </p:txBody>
      </p:sp>
      <p:pic>
        <p:nvPicPr>
          <p:cNvPr id="2" name="Picture 1" descr="A black and red logo&#10;&#10;Description automatically generated">
            <a:extLst>
              <a:ext uri="{FF2B5EF4-FFF2-40B4-BE49-F238E27FC236}">
                <a16:creationId xmlns:a16="http://schemas.microsoft.com/office/drawing/2014/main" id="{8BDB0671-FC93-5C9E-75A2-ED46EE3FB8B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8" name="Content Placeholder 1">
            <a:extLst>
              <a:ext uri="{FF2B5EF4-FFF2-40B4-BE49-F238E27FC236}">
                <a16:creationId xmlns:a16="http://schemas.microsoft.com/office/drawing/2014/main" id="{1FF5ADF0-474C-251F-0E40-267B658E504A}"/>
              </a:ext>
            </a:extLst>
          </p:cNvPr>
          <p:cNvSpPr txBox="1">
            <a:spLocks noGrp="1"/>
          </p:cNvSpPr>
          <p:nvPr>
            <p:ph idx="1"/>
          </p:nvPr>
        </p:nvSpPr>
        <p:spPr>
          <a:xfrm>
            <a:off x="609600" y="1219200"/>
            <a:ext cx="10515600" cy="4449763"/>
          </a:xfrm>
        </p:spPr>
        <p:txBody>
          <a:bodyPr/>
          <a:lstStyle/>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lgn="ctr">
              <a:spcBef>
                <a:spcPts val="363"/>
              </a:spcBef>
              <a:spcAft>
                <a:spcPct val="0"/>
              </a:spcAft>
              <a:buClr>
                <a:srgbClr val="000000"/>
              </a:buClr>
              <a:buFont typeface="Arial" panose="020B0604020202020204" pitchFamily="34" charset="0"/>
              <a:buNone/>
            </a:pPr>
            <a:r>
              <a:rPr lang="en-IN" sz="2000" b="1" dirty="0">
                <a:latin typeface="Arial" panose="020B0604020202020204" pitchFamily="34" charset="0"/>
                <a:cs typeface="Arial" panose="020B0604020202020204" pitchFamily="34" charset="0"/>
              </a:rPr>
              <a:t> </a:t>
            </a:r>
          </a:p>
        </p:txBody>
      </p:sp>
      <p:sp>
        <p:nvSpPr>
          <p:cNvPr id="3" name="Content Placeholder 2">
            <a:extLst>
              <a:ext uri="{FF2B5EF4-FFF2-40B4-BE49-F238E27FC236}">
                <a16:creationId xmlns:a16="http://schemas.microsoft.com/office/drawing/2014/main" id="{CBD68CBC-0107-6D37-3B74-4DB639D0815F}"/>
              </a:ext>
            </a:extLst>
          </p:cNvPr>
          <p:cNvSpPr txBox="1">
            <a:spLocks/>
          </p:cNvSpPr>
          <p:nvPr/>
        </p:nvSpPr>
        <p:spPr>
          <a:xfrm>
            <a:off x="62681" y="1055218"/>
            <a:ext cx="11062519" cy="5259346"/>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Font typeface="Arial" pitchFamily="34" charset="0"/>
              <a:buNone/>
            </a:pPr>
            <a:r>
              <a:rPr lang="en-US" sz="2000" b="1"/>
              <a:t>PHP Download File- </a:t>
            </a:r>
            <a:r>
              <a:rPr lang="en-US" sz="2000"/>
              <a:t>PHP enables you to download file easily using built-in readfile() function. The readfile() function reads a file and writes it to the output buffer.</a:t>
            </a:r>
          </a:p>
          <a:p>
            <a:pPr marL="0" indent="0" algn="just">
              <a:buFont typeface="Arial" pitchFamily="34" charset="0"/>
              <a:buNone/>
            </a:pPr>
            <a:r>
              <a:rPr lang="en-US" sz="2000"/>
              <a:t>Syntax</a:t>
            </a:r>
          </a:p>
          <a:p>
            <a:pPr marL="0" indent="0" algn="just">
              <a:buFont typeface="Arial" pitchFamily="34" charset="0"/>
              <a:buNone/>
            </a:pPr>
            <a:endParaRPr lang="en-US" sz="2000"/>
          </a:p>
          <a:p>
            <a:pPr marL="400050" lvl="1" indent="0" algn="just">
              <a:buFont typeface="Arial" pitchFamily="34" charset="0"/>
              <a:buNone/>
            </a:pPr>
            <a:r>
              <a:rPr lang="en-US" sz="2000"/>
              <a:t>int readfile ( string $filename [, bool $use_include_path = false [, resource $context ]] )  </a:t>
            </a:r>
          </a:p>
          <a:p>
            <a:pPr marL="0" indent="0" algn="just">
              <a:buFont typeface="Arial" pitchFamily="34" charset="0"/>
              <a:buNone/>
            </a:pPr>
            <a:endParaRPr lang="en-US" sz="2000"/>
          </a:p>
          <a:p>
            <a:pPr marL="0" indent="0" algn="just">
              <a:buFont typeface="Arial" pitchFamily="34" charset="0"/>
              <a:buNone/>
            </a:pPr>
            <a:r>
              <a:rPr lang="en-US" sz="2000"/>
              <a:t>$filename: represents the file name</a:t>
            </a:r>
          </a:p>
          <a:p>
            <a:pPr marL="0" indent="0" algn="just">
              <a:buFont typeface="Arial" pitchFamily="34" charset="0"/>
              <a:buNone/>
            </a:pPr>
            <a:r>
              <a:rPr lang="en-US" sz="2000"/>
              <a:t>$use_include_path: it is the optional parameter. It is by default false. You can set it to true to the search the file in the included_path.</a:t>
            </a:r>
          </a:p>
          <a:p>
            <a:pPr marL="0" indent="0" algn="just">
              <a:buFont typeface="Arial" pitchFamily="34" charset="0"/>
              <a:buNone/>
            </a:pPr>
            <a:r>
              <a:rPr lang="en-US" sz="2000"/>
              <a:t>$context: represents the context stream resource.</a:t>
            </a:r>
          </a:p>
          <a:p>
            <a:pPr marL="0" indent="0" algn="just">
              <a:buFont typeface="Arial" pitchFamily="34" charset="0"/>
              <a:buNone/>
            </a:pPr>
            <a:r>
              <a:rPr lang="en-US" sz="2000"/>
              <a:t>int: it returns the number of bytes read from the file.</a:t>
            </a:r>
            <a:endParaRPr lang="en-US" sz="2000" dirty="0"/>
          </a:p>
        </p:txBody>
      </p:sp>
    </p:spTree>
    <p:extLst>
      <p:ext uri="{BB962C8B-B14F-4D97-AF65-F5344CB8AC3E}">
        <p14:creationId xmlns:p14="http://schemas.microsoft.com/office/powerpoint/2010/main" val="120679315"/>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E73A3019-CFE4-49DD-B6FD-2AFB2DD2DBB6}" type="datetime1">
              <a:rPr lang="en-US" smtClean="0"/>
              <a:t>11/7/2024</a:t>
            </a:fld>
            <a:endParaRPr lang="en-US"/>
          </a:p>
        </p:txBody>
      </p:sp>
      <p:sp>
        <p:nvSpPr>
          <p:cNvPr id="5" name="Footer Placeholder 4"/>
          <p:cNvSpPr>
            <a:spLocks noGrp="1"/>
          </p:cNvSpPr>
          <p:nvPr>
            <p:ph type="ftr" sz="quarter" idx="11"/>
          </p:nvPr>
        </p:nvSpPr>
        <p:spPr>
          <a:xfrm>
            <a:off x="4343400" y="6248401"/>
            <a:ext cx="4724400" cy="365125"/>
          </a:xfrm>
        </p:spPr>
        <p:txBody>
          <a:bodyPr/>
          <a:lstStyle/>
          <a:p>
            <a:r>
              <a:rPr lang="en-US" dirty="0"/>
              <a:t>Vaishali Mishra            ACSE0505 Web Technology                Unit 5</a:t>
            </a:r>
          </a:p>
        </p:txBody>
      </p:sp>
      <p:sp>
        <p:nvSpPr>
          <p:cNvPr id="6" name="Slide Number Placeholder 5"/>
          <p:cNvSpPr>
            <a:spLocks noGrp="1"/>
          </p:cNvSpPr>
          <p:nvPr>
            <p:ph type="sldNum" sz="quarter" idx="12"/>
          </p:nvPr>
        </p:nvSpPr>
        <p:spPr/>
        <p:txBody>
          <a:bodyPr/>
          <a:lstStyle/>
          <a:p>
            <a:fld id="{B6F15528-21DE-4FAA-801E-634DDDAF4B2B}" type="slidenum">
              <a:rPr lang="en-US" smtClean="0"/>
              <a:pPr/>
              <a:t>84</a:t>
            </a:fld>
            <a:endParaRPr lang="en-US"/>
          </a:p>
        </p:txBody>
      </p:sp>
      <p:sp>
        <p:nvSpPr>
          <p:cNvPr id="7" name="Title 1"/>
          <p:cNvSpPr txBox="1">
            <a:spLocks/>
          </p:cNvSpPr>
          <p:nvPr/>
        </p:nvSpPr>
        <p:spPr>
          <a:xfrm>
            <a:off x="2895600" y="2"/>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pPr>
              <a:defRPr/>
            </a:pPr>
            <a:endParaRPr lang="en-IN" sz="2800" dirty="0"/>
          </a:p>
          <a:p>
            <a:pPr>
              <a:defRPr/>
            </a:pPr>
            <a:endParaRPr lang="en-IN" dirty="0"/>
          </a:p>
          <a:p>
            <a:pPr>
              <a:defRPr/>
            </a:pPr>
            <a:r>
              <a:rPr lang="en-IN" sz="2800" dirty="0"/>
              <a:t>Introduction to Session Control </a:t>
            </a:r>
            <a:r>
              <a:rPr lang="en-US" sz="2800" dirty="0"/>
              <a:t>(CO5)</a:t>
            </a:r>
          </a:p>
          <a:p>
            <a:pPr>
              <a:defRPr/>
            </a:pPr>
            <a:endParaRPr lang="en-US" sz="2800" dirty="0"/>
          </a:p>
          <a:p>
            <a:pPr algn="ctr">
              <a:defRPr/>
            </a:pPr>
            <a:endParaRPr lang="en-US" sz="2800" dirty="0">
              <a:latin typeface="Times New Roman" pitchFamily="18" charset="0"/>
              <a:cs typeface="Times New Roman" pitchFamily="18" charset="0"/>
              <a:sym typeface="Arial" charset="0"/>
            </a:endParaRPr>
          </a:p>
        </p:txBody>
      </p:sp>
      <p:pic>
        <p:nvPicPr>
          <p:cNvPr id="2" name="Picture 1" descr="A black and red logo&#10;&#10;Description automatically generated">
            <a:extLst>
              <a:ext uri="{FF2B5EF4-FFF2-40B4-BE49-F238E27FC236}">
                <a16:creationId xmlns:a16="http://schemas.microsoft.com/office/drawing/2014/main" id="{8BDB0671-FC93-5C9E-75A2-ED46EE3FB8B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8" name="Content Placeholder 1">
            <a:extLst>
              <a:ext uri="{FF2B5EF4-FFF2-40B4-BE49-F238E27FC236}">
                <a16:creationId xmlns:a16="http://schemas.microsoft.com/office/drawing/2014/main" id="{1FF5ADF0-474C-251F-0E40-267B658E504A}"/>
              </a:ext>
            </a:extLst>
          </p:cNvPr>
          <p:cNvSpPr txBox="1">
            <a:spLocks noGrp="1"/>
          </p:cNvSpPr>
          <p:nvPr>
            <p:ph idx="1"/>
          </p:nvPr>
        </p:nvSpPr>
        <p:spPr>
          <a:xfrm>
            <a:off x="609600" y="1219200"/>
            <a:ext cx="10515600" cy="4449763"/>
          </a:xfrm>
        </p:spPr>
        <p:txBody>
          <a:bodyPr/>
          <a:lstStyle/>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lgn="ctr">
              <a:spcBef>
                <a:spcPts val="363"/>
              </a:spcBef>
              <a:spcAft>
                <a:spcPct val="0"/>
              </a:spcAft>
              <a:buClr>
                <a:srgbClr val="000000"/>
              </a:buClr>
              <a:buFont typeface="Arial" panose="020B0604020202020204" pitchFamily="34" charset="0"/>
              <a:buNone/>
            </a:pPr>
            <a:r>
              <a:rPr lang="en-IN" sz="2000" b="1" dirty="0">
                <a:latin typeface="Arial" panose="020B0604020202020204" pitchFamily="34" charset="0"/>
                <a:cs typeface="Arial" panose="020B0604020202020204" pitchFamily="34" charset="0"/>
              </a:rPr>
              <a:t> </a:t>
            </a:r>
          </a:p>
        </p:txBody>
      </p:sp>
      <p:sp>
        <p:nvSpPr>
          <p:cNvPr id="3" name="Content Placeholder 2">
            <a:extLst>
              <a:ext uri="{FF2B5EF4-FFF2-40B4-BE49-F238E27FC236}">
                <a16:creationId xmlns:a16="http://schemas.microsoft.com/office/drawing/2014/main" id="{8E6E630A-9330-F9AD-EBEA-A0CCFD98C1DA}"/>
              </a:ext>
            </a:extLst>
          </p:cNvPr>
          <p:cNvSpPr txBox="1">
            <a:spLocks/>
          </p:cNvSpPr>
          <p:nvPr/>
        </p:nvSpPr>
        <p:spPr>
          <a:xfrm>
            <a:off x="609600" y="1265238"/>
            <a:ext cx="10058400" cy="5049325"/>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Font typeface="Arial" pitchFamily="34" charset="0"/>
              <a:buNone/>
            </a:pPr>
            <a:r>
              <a:rPr lang="en-US" sz="2000"/>
              <a:t>When you work with an application, you open it, do some changes, and then you close it. This is much like a Session. The computer knows who you are. It knows when you start the application and when you end. But on the internet there is one problem: the web server does not know who you are or what you do, because the HTTP address doesn't maintain state.</a:t>
            </a:r>
          </a:p>
          <a:p>
            <a:pPr marL="0" indent="0" algn="just">
              <a:buFont typeface="Arial" pitchFamily="34" charset="0"/>
              <a:buNone/>
            </a:pPr>
            <a:endParaRPr lang="en-US" sz="2000"/>
          </a:p>
          <a:p>
            <a:pPr marL="0" indent="0" algn="just">
              <a:buFont typeface="Arial" pitchFamily="34" charset="0"/>
              <a:buNone/>
            </a:pPr>
            <a:r>
              <a:rPr lang="en-US" sz="2000"/>
              <a:t>Session variables solve this problem by storing user information to be used across multiple pages (e.g. username, favorite color, etc). By default, session variables last until the user closes the browser.</a:t>
            </a:r>
          </a:p>
          <a:p>
            <a:pPr marL="0" indent="0" algn="just">
              <a:buFont typeface="Arial" pitchFamily="34" charset="0"/>
              <a:buNone/>
            </a:pPr>
            <a:endParaRPr lang="en-US" sz="2000"/>
          </a:p>
          <a:p>
            <a:pPr marL="0" indent="0" algn="just">
              <a:buFont typeface="Arial" pitchFamily="34" charset="0"/>
              <a:buNone/>
            </a:pPr>
            <a:r>
              <a:rPr lang="en-US" sz="2000"/>
              <a:t>So; Session variables hold information about one single user, and are available to all pages in one application.</a:t>
            </a:r>
            <a:endParaRPr lang="en-US" sz="2000" dirty="0"/>
          </a:p>
        </p:txBody>
      </p:sp>
    </p:spTree>
    <p:extLst>
      <p:ext uri="{BB962C8B-B14F-4D97-AF65-F5344CB8AC3E}">
        <p14:creationId xmlns:p14="http://schemas.microsoft.com/office/powerpoint/2010/main" val="68300248"/>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E73A3019-CFE4-49DD-B6FD-2AFB2DD2DBB6}" type="datetime1">
              <a:rPr lang="en-US" smtClean="0"/>
              <a:t>11/7/2024</a:t>
            </a:fld>
            <a:endParaRPr lang="en-US"/>
          </a:p>
        </p:txBody>
      </p:sp>
      <p:sp>
        <p:nvSpPr>
          <p:cNvPr id="5" name="Footer Placeholder 4"/>
          <p:cNvSpPr>
            <a:spLocks noGrp="1"/>
          </p:cNvSpPr>
          <p:nvPr>
            <p:ph type="ftr" sz="quarter" idx="11"/>
          </p:nvPr>
        </p:nvSpPr>
        <p:spPr>
          <a:xfrm>
            <a:off x="4343400" y="6248401"/>
            <a:ext cx="4724400" cy="365125"/>
          </a:xfrm>
        </p:spPr>
        <p:txBody>
          <a:bodyPr/>
          <a:lstStyle/>
          <a:p>
            <a:r>
              <a:rPr lang="en-US" dirty="0"/>
              <a:t>Vaishali Mishra            ACSE0505 Web Technology                Unit 5</a:t>
            </a:r>
          </a:p>
        </p:txBody>
      </p:sp>
      <p:sp>
        <p:nvSpPr>
          <p:cNvPr id="6" name="Slide Number Placeholder 5"/>
          <p:cNvSpPr>
            <a:spLocks noGrp="1"/>
          </p:cNvSpPr>
          <p:nvPr>
            <p:ph type="sldNum" sz="quarter" idx="12"/>
          </p:nvPr>
        </p:nvSpPr>
        <p:spPr/>
        <p:txBody>
          <a:bodyPr/>
          <a:lstStyle/>
          <a:p>
            <a:fld id="{B6F15528-21DE-4FAA-801E-634DDDAF4B2B}" type="slidenum">
              <a:rPr lang="en-US" smtClean="0"/>
              <a:pPr/>
              <a:t>85</a:t>
            </a:fld>
            <a:endParaRPr lang="en-US"/>
          </a:p>
        </p:txBody>
      </p:sp>
      <p:sp>
        <p:nvSpPr>
          <p:cNvPr id="7" name="Title 1"/>
          <p:cNvSpPr txBox="1">
            <a:spLocks/>
          </p:cNvSpPr>
          <p:nvPr/>
        </p:nvSpPr>
        <p:spPr>
          <a:xfrm>
            <a:off x="2895600" y="2"/>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pPr>
              <a:defRPr/>
            </a:pPr>
            <a:endParaRPr lang="en-IN" sz="2800" dirty="0"/>
          </a:p>
          <a:p>
            <a:pPr>
              <a:defRPr/>
            </a:pPr>
            <a:endParaRPr lang="en-IN" dirty="0"/>
          </a:p>
          <a:p>
            <a:pPr>
              <a:defRPr/>
            </a:pPr>
            <a:r>
              <a:rPr lang="en-IN" sz="2800" dirty="0"/>
              <a:t>Introduction to Session Control </a:t>
            </a:r>
            <a:r>
              <a:rPr lang="en-US" sz="2800" dirty="0"/>
              <a:t>(CO5)</a:t>
            </a:r>
          </a:p>
          <a:p>
            <a:pPr>
              <a:defRPr/>
            </a:pPr>
            <a:endParaRPr lang="en-US" sz="2800" dirty="0"/>
          </a:p>
          <a:p>
            <a:pPr algn="ctr">
              <a:defRPr/>
            </a:pPr>
            <a:endParaRPr lang="en-US" sz="2800" dirty="0">
              <a:latin typeface="Times New Roman" pitchFamily="18" charset="0"/>
              <a:cs typeface="Times New Roman" pitchFamily="18" charset="0"/>
              <a:sym typeface="Arial" charset="0"/>
            </a:endParaRPr>
          </a:p>
        </p:txBody>
      </p:sp>
      <p:pic>
        <p:nvPicPr>
          <p:cNvPr id="2" name="Picture 1" descr="A black and red logo&#10;&#10;Description automatically generated">
            <a:extLst>
              <a:ext uri="{FF2B5EF4-FFF2-40B4-BE49-F238E27FC236}">
                <a16:creationId xmlns:a16="http://schemas.microsoft.com/office/drawing/2014/main" id="{8BDB0671-FC93-5C9E-75A2-ED46EE3FB8B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8" name="Content Placeholder 1">
            <a:extLst>
              <a:ext uri="{FF2B5EF4-FFF2-40B4-BE49-F238E27FC236}">
                <a16:creationId xmlns:a16="http://schemas.microsoft.com/office/drawing/2014/main" id="{1FF5ADF0-474C-251F-0E40-267B658E504A}"/>
              </a:ext>
            </a:extLst>
          </p:cNvPr>
          <p:cNvSpPr txBox="1">
            <a:spLocks noGrp="1"/>
          </p:cNvSpPr>
          <p:nvPr>
            <p:ph idx="1"/>
          </p:nvPr>
        </p:nvSpPr>
        <p:spPr>
          <a:xfrm>
            <a:off x="609600" y="1219200"/>
            <a:ext cx="10515600" cy="4449763"/>
          </a:xfrm>
        </p:spPr>
        <p:txBody>
          <a:bodyPr/>
          <a:lstStyle/>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lgn="ctr">
              <a:spcBef>
                <a:spcPts val="363"/>
              </a:spcBef>
              <a:spcAft>
                <a:spcPct val="0"/>
              </a:spcAft>
              <a:buClr>
                <a:srgbClr val="000000"/>
              </a:buClr>
              <a:buFont typeface="Arial" panose="020B0604020202020204" pitchFamily="34" charset="0"/>
              <a:buNone/>
            </a:pPr>
            <a:r>
              <a:rPr lang="en-IN" sz="2000" b="1" dirty="0">
                <a:latin typeface="Arial" panose="020B0604020202020204" pitchFamily="34" charset="0"/>
                <a:cs typeface="Arial" panose="020B0604020202020204" pitchFamily="34" charset="0"/>
              </a:rPr>
              <a:t> </a:t>
            </a:r>
          </a:p>
        </p:txBody>
      </p:sp>
      <p:sp>
        <p:nvSpPr>
          <p:cNvPr id="3" name="Content Placeholder 2">
            <a:extLst>
              <a:ext uri="{FF2B5EF4-FFF2-40B4-BE49-F238E27FC236}">
                <a16:creationId xmlns:a16="http://schemas.microsoft.com/office/drawing/2014/main" id="{D62F8FA4-8F25-0863-D2D8-FBA3ECF4019C}"/>
              </a:ext>
            </a:extLst>
          </p:cNvPr>
          <p:cNvSpPr txBox="1">
            <a:spLocks/>
          </p:cNvSpPr>
          <p:nvPr/>
        </p:nvSpPr>
        <p:spPr>
          <a:xfrm>
            <a:off x="152400" y="947268"/>
            <a:ext cx="10515600" cy="5367296"/>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Font typeface="Arial" pitchFamily="34" charset="0"/>
              <a:buNone/>
            </a:pPr>
            <a:r>
              <a:rPr lang="en-US" sz="2000" dirty="0"/>
              <a:t>A session is started with the </a:t>
            </a:r>
            <a:r>
              <a:rPr lang="en-US" sz="2000" dirty="0" err="1"/>
              <a:t>session_start</a:t>
            </a:r>
            <a:r>
              <a:rPr lang="en-US" sz="2000" dirty="0"/>
              <a:t>() function. Session variables are set with the PHP global variable: $_SESSION. Now, let's create a new page called "demo_session1.php". In this page, we start a new PHP session and set some session variables:</a:t>
            </a:r>
          </a:p>
          <a:p>
            <a:pPr marL="0" indent="0" algn="just">
              <a:buFont typeface="Arial" pitchFamily="34" charset="0"/>
              <a:buNone/>
            </a:pPr>
            <a:endParaRPr lang="en-US" sz="2000" dirty="0"/>
          </a:p>
          <a:p>
            <a:pPr marL="0" indent="0" algn="just">
              <a:buFont typeface="Arial" pitchFamily="34" charset="0"/>
              <a:buNone/>
            </a:pPr>
            <a:r>
              <a:rPr lang="en-US" sz="2000" dirty="0"/>
              <a:t>Example</a:t>
            </a:r>
          </a:p>
          <a:p>
            <a:pPr marL="0" indent="0" algn="just">
              <a:buFont typeface="Arial" pitchFamily="34" charset="0"/>
              <a:buNone/>
            </a:pPr>
            <a:r>
              <a:rPr lang="en-US" sz="2000" dirty="0"/>
              <a:t>&lt;?</a:t>
            </a:r>
            <a:r>
              <a:rPr lang="en-US" sz="2000" dirty="0" err="1"/>
              <a:t>php</a:t>
            </a:r>
            <a:endParaRPr lang="en-US" sz="2000" dirty="0"/>
          </a:p>
          <a:p>
            <a:pPr marL="0" indent="0" algn="just">
              <a:buFont typeface="Arial" pitchFamily="34" charset="0"/>
              <a:buNone/>
            </a:pPr>
            <a:r>
              <a:rPr lang="en-US" sz="2000" dirty="0"/>
              <a:t>// Start the session</a:t>
            </a:r>
          </a:p>
          <a:p>
            <a:pPr marL="0" indent="0" algn="just">
              <a:buFont typeface="Arial" pitchFamily="34" charset="0"/>
              <a:buNone/>
            </a:pPr>
            <a:r>
              <a:rPr lang="en-US" sz="2000" dirty="0" err="1"/>
              <a:t>session_start</a:t>
            </a:r>
            <a:r>
              <a:rPr lang="en-US" sz="2000" dirty="0"/>
              <a:t>();</a:t>
            </a:r>
          </a:p>
          <a:p>
            <a:pPr marL="0" indent="0" algn="just">
              <a:buFont typeface="Arial" pitchFamily="34" charset="0"/>
              <a:buNone/>
            </a:pPr>
            <a:r>
              <a:rPr lang="en-US" sz="2000" dirty="0"/>
              <a:t>?&gt;</a:t>
            </a:r>
          </a:p>
          <a:p>
            <a:pPr marL="0" indent="0" algn="just">
              <a:buFont typeface="Arial" pitchFamily="34" charset="0"/>
              <a:buNone/>
            </a:pPr>
            <a:r>
              <a:rPr lang="en-US" sz="2000" dirty="0"/>
              <a:t>&lt;!DOCTYPE html&gt;</a:t>
            </a:r>
          </a:p>
          <a:p>
            <a:pPr marL="0" indent="0" algn="just">
              <a:buFont typeface="Arial" pitchFamily="34" charset="0"/>
              <a:buNone/>
            </a:pPr>
            <a:r>
              <a:rPr lang="en-US" sz="2000" dirty="0"/>
              <a:t>&lt;html&gt;</a:t>
            </a:r>
          </a:p>
          <a:p>
            <a:pPr marL="0" indent="0" algn="just">
              <a:buFont typeface="Arial" pitchFamily="34" charset="0"/>
              <a:buNone/>
            </a:pPr>
            <a:r>
              <a:rPr lang="en-US" sz="2000" dirty="0"/>
              <a:t>&lt;body&gt;</a:t>
            </a:r>
          </a:p>
        </p:txBody>
      </p:sp>
    </p:spTree>
    <p:extLst>
      <p:ext uri="{BB962C8B-B14F-4D97-AF65-F5344CB8AC3E}">
        <p14:creationId xmlns:p14="http://schemas.microsoft.com/office/powerpoint/2010/main" val="2523323042"/>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E73A3019-CFE4-49DD-B6FD-2AFB2DD2DBB6}" type="datetime1">
              <a:rPr lang="en-US" smtClean="0"/>
              <a:t>11/7/2024</a:t>
            </a:fld>
            <a:endParaRPr lang="en-US"/>
          </a:p>
        </p:txBody>
      </p:sp>
      <p:sp>
        <p:nvSpPr>
          <p:cNvPr id="5" name="Footer Placeholder 4"/>
          <p:cNvSpPr>
            <a:spLocks noGrp="1"/>
          </p:cNvSpPr>
          <p:nvPr>
            <p:ph type="ftr" sz="quarter" idx="11"/>
          </p:nvPr>
        </p:nvSpPr>
        <p:spPr>
          <a:xfrm>
            <a:off x="4343400" y="6248401"/>
            <a:ext cx="4724400" cy="365125"/>
          </a:xfrm>
        </p:spPr>
        <p:txBody>
          <a:bodyPr/>
          <a:lstStyle/>
          <a:p>
            <a:r>
              <a:rPr lang="en-US" dirty="0"/>
              <a:t>Vaishali Mishra            ACSE0505 Web Technology                Unit 5</a:t>
            </a:r>
          </a:p>
        </p:txBody>
      </p:sp>
      <p:sp>
        <p:nvSpPr>
          <p:cNvPr id="6" name="Slide Number Placeholder 5"/>
          <p:cNvSpPr>
            <a:spLocks noGrp="1"/>
          </p:cNvSpPr>
          <p:nvPr>
            <p:ph type="sldNum" sz="quarter" idx="12"/>
          </p:nvPr>
        </p:nvSpPr>
        <p:spPr/>
        <p:txBody>
          <a:bodyPr/>
          <a:lstStyle/>
          <a:p>
            <a:fld id="{B6F15528-21DE-4FAA-801E-634DDDAF4B2B}" type="slidenum">
              <a:rPr lang="en-US" smtClean="0"/>
              <a:pPr/>
              <a:t>86</a:t>
            </a:fld>
            <a:endParaRPr lang="en-US"/>
          </a:p>
        </p:txBody>
      </p:sp>
      <p:sp>
        <p:nvSpPr>
          <p:cNvPr id="7" name="Title 1"/>
          <p:cNvSpPr txBox="1">
            <a:spLocks/>
          </p:cNvSpPr>
          <p:nvPr/>
        </p:nvSpPr>
        <p:spPr>
          <a:xfrm>
            <a:off x="2895600" y="2"/>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pPr>
              <a:defRPr/>
            </a:pPr>
            <a:endParaRPr lang="en-IN" sz="2800" dirty="0"/>
          </a:p>
          <a:p>
            <a:pPr>
              <a:defRPr/>
            </a:pPr>
            <a:endParaRPr lang="en-IN" dirty="0"/>
          </a:p>
          <a:p>
            <a:pPr>
              <a:defRPr/>
            </a:pPr>
            <a:r>
              <a:rPr lang="en-IN" sz="2800" dirty="0"/>
              <a:t>Introduction to Session Control </a:t>
            </a:r>
            <a:r>
              <a:rPr lang="en-US" sz="2800" dirty="0"/>
              <a:t>(CO5)</a:t>
            </a:r>
          </a:p>
          <a:p>
            <a:pPr>
              <a:defRPr/>
            </a:pPr>
            <a:endParaRPr lang="en-US" sz="2800" dirty="0"/>
          </a:p>
          <a:p>
            <a:pPr algn="ctr">
              <a:defRPr/>
            </a:pPr>
            <a:endParaRPr lang="en-US" sz="2800" dirty="0">
              <a:latin typeface="Times New Roman" pitchFamily="18" charset="0"/>
              <a:cs typeface="Times New Roman" pitchFamily="18" charset="0"/>
              <a:sym typeface="Arial" charset="0"/>
            </a:endParaRPr>
          </a:p>
        </p:txBody>
      </p:sp>
      <p:pic>
        <p:nvPicPr>
          <p:cNvPr id="2" name="Picture 1" descr="A black and red logo&#10;&#10;Description automatically generated">
            <a:extLst>
              <a:ext uri="{FF2B5EF4-FFF2-40B4-BE49-F238E27FC236}">
                <a16:creationId xmlns:a16="http://schemas.microsoft.com/office/drawing/2014/main" id="{8BDB0671-FC93-5C9E-75A2-ED46EE3FB8B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8" name="Content Placeholder 1">
            <a:extLst>
              <a:ext uri="{FF2B5EF4-FFF2-40B4-BE49-F238E27FC236}">
                <a16:creationId xmlns:a16="http://schemas.microsoft.com/office/drawing/2014/main" id="{1FF5ADF0-474C-251F-0E40-267B658E504A}"/>
              </a:ext>
            </a:extLst>
          </p:cNvPr>
          <p:cNvSpPr txBox="1">
            <a:spLocks noGrp="1"/>
          </p:cNvSpPr>
          <p:nvPr>
            <p:ph idx="1"/>
          </p:nvPr>
        </p:nvSpPr>
        <p:spPr>
          <a:xfrm>
            <a:off x="609600" y="1219200"/>
            <a:ext cx="10515600" cy="4449763"/>
          </a:xfrm>
        </p:spPr>
        <p:txBody>
          <a:bodyPr/>
          <a:lstStyle/>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lgn="ctr">
              <a:spcBef>
                <a:spcPts val="363"/>
              </a:spcBef>
              <a:spcAft>
                <a:spcPct val="0"/>
              </a:spcAft>
              <a:buClr>
                <a:srgbClr val="000000"/>
              </a:buClr>
              <a:buFont typeface="Arial" panose="020B0604020202020204" pitchFamily="34" charset="0"/>
              <a:buNone/>
            </a:pPr>
            <a:r>
              <a:rPr lang="en-IN" sz="2000" b="1" dirty="0">
                <a:latin typeface="Arial" panose="020B0604020202020204" pitchFamily="34" charset="0"/>
                <a:cs typeface="Arial" panose="020B0604020202020204" pitchFamily="34" charset="0"/>
              </a:rPr>
              <a:t> </a:t>
            </a:r>
          </a:p>
        </p:txBody>
      </p:sp>
      <p:sp>
        <p:nvSpPr>
          <p:cNvPr id="9" name="Content Placeholder 2">
            <a:extLst>
              <a:ext uri="{FF2B5EF4-FFF2-40B4-BE49-F238E27FC236}">
                <a16:creationId xmlns:a16="http://schemas.microsoft.com/office/drawing/2014/main" id="{7AA7B41E-7C3F-7672-8EF5-9217BC432BE9}"/>
              </a:ext>
            </a:extLst>
          </p:cNvPr>
          <p:cNvSpPr txBox="1">
            <a:spLocks/>
          </p:cNvSpPr>
          <p:nvPr/>
        </p:nvSpPr>
        <p:spPr>
          <a:xfrm>
            <a:off x="304800" y="1189036"/>
            <a:ext cx="8763000" cy="512552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Font typeface="Arial" pitchFamily="34" charset="0"/>
              <a:buNone/>
            </a:pPr>
            <a:r>
              <a:rPr lang="en-US" sz="2000"/>
              <a:t>&lt;?php</a:t>
            </a:r>
          </a:p>
          <a:p>
            <a:pPr marL="0" indent="0" algn="just">
              <a:buFont typeface="Arial" pitchFamily="34" charset="0"/>
              <a:buNone/>
            </a:pPr>
            <a:r>
              <a:rPr lang="en-US" sz="2000"/>
              <a:t>// Set session variables</a:t>
            </a:r>
          </a:p>
          <a:p>
            <a:pPr marL="0" indent="0" algn="just">
              <a:buFont typeface="Arial" pitchFamily="34" charset="0"/>
              <a:buNone/>
            </a:pPr>
            <a:r>
              <a:rPr lang="en-US" sz="2000"/>
              <a:t>$_SESSION["favcolor"] = "green";</a:t>
            </a:r>
          </a:p>
          <a:p>
            <a:pPr marL="0" indent="0" algn="just">
              <a:buFont typeface="Arial" pitchFamily="34" charset="0"/>
              <a:buNone/>
            </a:pPr>
            <a:r>
              <a:rPr lang="en-US" sz="2000"/>
              <a:t>$_SESSION["favanimal"] = "cat";</a:t>
            </a:r>
          </a:p>
          <a:p>
            <a:pPr marL="0" indent="0" algn="just">
              <a:buFont typeface="Arial" pitchFamily="34" charset="0"/>
              <a:buNone/>
            </a:pPr>
            <a:r>
              <a:rPr lang="en-US" sz="2000"/>
              <a:t>echo "Session variables are set.";</a:t>
            </a:r>
          </a:p>
          <a:p>
            <a:pPr marL="0" indent="0" algn="just">
              <a:buFont typeface="Arial" pitchFamily="34" charset="0"/>
              <a:buNone/>
            </a:pPr>
            <a:r>
              <a:rPr lang="en-US" sz="2000"/>
              <a:t>?&gt;</a:t>
            </a:r>
          </a:p>
          <a:p>
            <a:pPr marL="0" indent="0" algn="just">
              <a:buFont typeface="Arial" pitchFamily="34" charset="0"/>
              <a:buNone/>
            </a:pPr>
            <a:r>
              <a:rPr lang="en-US" sz="2000"/>
              <a:t>&lt;/body&gt;</a:t>
            </a:r>
          </a:p>
          <a:p>
            <a:pPr marL="0" indent="0" algn="just">
              <a:buFont typeface="Arial" pitchFamily="34" charset="0"/>
              <a:buNone/>
            </a:pPr>
            <a:r>
              <a:rPr lang="en-US" sz="2000"/>
              <a:t>&lt;/html&gt;</a:t>
            </a:r>
            <a:endParaRPr lang="en-US" sz="2000" dirty="0"/>
          </a:p>
        </p:txBody>
      </p:sp>
    </p:spTree>
    <p:extLst>
      <p:ext uri="{BB962C8B-B14F-4D97-AF65-F5344CB8AC3E}">
        <p14:creationId xmlns:p14="http://schemas.microsoft.com/office/powerpoint/2010/main" val="2104156169"/>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E73A3019-CFE4-49DD-B6FD-2AFB2DD2DBB6}" type="datetime1">
              <a:rPr lang="en-US" smtClean="0"/>
              <a:t>11/7/2024</a:t>
            </a:fld>
            <a:endParaRPr lang="en-US"/>
          </a:p>
        </p:txBody>
      </p:sp>
      <p:sp>
        <p:nvSpPr>
          <p:cNvPr id="5" name="Footer Placeholder 4"/>
          <p:cNvSpPr>
            <a:spLocks noGrp="1"/>
          </p:cNvSpPr>
          <p:nvPr>
            <p:ph type="ftr" sz="quarter" idx="11"/>
          </p:nvPr>
        </p:nvSpPr>
        <p:spPr>
          <a:xfrm>
            <a:off x="4343400" y="6248401"/>
            <a:ext cx="4724400" cy="365125"/>
          </a:xfrm>
        </p:spPr>
        <p:txBody>
          <a:bodyPr/>
          <a:lstStyle/>
          <a:p>
            <a:r>
              <a:rPr lang="en-US" dirty="0"/>
              <a:t>Vaishali Mishra            ACSE0505 Web Technology                Unit 5</a:t>
            </a:r>
          </a:p>
        </p:txBody>
      </p:sp>
      <p:sp>
        <p:nvSpPr>
          <p:cNvPr id="6" name="Slide Number Placeholder 5"/>
          <p:cNvSpPr>
            <a:spLocks noGrp="1"/>
          </p:cNvSpPr>
          <p:nvPr>
            <p:ph type="sldNum" sz="quarter" idx="12"/>
          </p:nvPr>
        </p:nvSpPr>
        <p:spPr/>
        <p:txBody>
          <a:bodyPr/>
          <a:lstStyle/>
          <a:p>
            <a:fld id="{B6F15528-21DE-4FAA-801E-634DDDAF4B2B}" type="slidenum">
              <a:rPr lang="en-US" smtClean="0"/>
              <a:pPr/>
              <a:t>87</a:t>
            </a:fld>
            <a:endParaRPr lang="en-US"/>
          </a:p>
        </p:txBody>
      </p:sp>
      <p:sp>
        <p:nvSpPr>
          <p:cNvPr id="7" name="Title 1"/>
          <p:cNvSpPr txBox="1">
            <a:spLocks/>
          </p:cNvSpPr>
          <p:nvPr/>
        </p:nvSpPr>
        <p:spPr>
          <a:xfrm>
            <a:off x="2895600" y="2"/>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pPr>
              <a:defRPr/>
            </a:pPr>
            <a:endParaRPr lang="en-IN" sz="2800" dirty="0"/>
          </a:p>
          <a:p>
            <a:pPr>
              <a:defRPr/>
            </a:pPr>
            <a:endParaRPr lang="en-IN" dirty="0"/>
          </a:p>
          <a:p>
            <a:pPr>
              <a:defRPr/>
            </a:pPr>
            <a:r>
              <a:rPr lang="en-IN" sz="2800" dirty="0"/>
              <a:t>Session Functions and Functionality </a:t>
            </a:r>
            <a:r>
              <a:rPr lang="en-US" sz="2800" dirty="0"/>
              <a:t>(CO5)</a:t>
            </a:r>
          </a:p>
          <a:p>
            <a:pPr>
              <a:defRPr/>
            </a:pPr>
            <a:endParaRPr lang="en-US" sz="2800" dirty="0"/>
          </a:p>
          <a:p>
            <a:pPr algn="ctr">
              <a:defRPr/>
            </a:pPr>
            <a:endParaRPr lang="en-US" sz="2800" dirty="0">
              <a:latin typeface="Times New Roman" pitchFamily="18" charset="0"/>
              <a:cs typeface="Times New Roman" pitchFamily="18" charset="0"/>
              <a:sym typeface="Arial" charset="0"/>
            </a:endParaRPr>
          </a:p>
        </p:txBody>
      </p:sp>
      <p:pic>
        <p:nvPicPr>
          <p:cNvPr id="2" name="Picture 1" descr="A black and red logo&#10;&#10;Description automatically generated">
            <a:extLst>
              <a:ext uri="{FF2B5EF4-FFF2-40B4-BE49-F238E27FC236}">
                <a16:creationId xmlns:a16="http://schemas.microsoft.com/office/drawing/2014/main" id="{8BDB0671-FC93-5C9E-75A2-ED46EE3FB8B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8" name="Content Placeholder 1">
            <a:extLst>
              <a:ext uri="{FF2B5EF4-FFF2-40B4-BE49-F238E27FC236}">
                <a16:creationId xmlns:a16="http://schemas.microsoft.com/office/drawing/2014/main" id="{1FF5ADF0-474C-251F-0E40-267B658E504A}"/>
              </a:ext>
            </a:extLst>
          </p:cNvPr>
          <p:cNvSpPr txBox="1">
            <a:spLocks noGrp="1"/>
          </p:cNvSpPr>
          <p:nvPr>
            <p:ph idx="1"/>
          </p:nvPr>
        </p:nvSpPr>
        <p:spPr>
          <a:xfrm>
            <a:off x="609600" y="1219200"/>
            <a:ext cx="10515600" cy="4449763"/>
          </a:xfrm>
        </p:spPr>
        <p:txBody>
          <a:bodyPr/>
          <a:lstStyle/>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lgn="ctr">
              <a:spcBef>
                <a:spcPts val="363"/>
              </a:spcBef>
              <a:spcAft>
                <a:spcPct val="0"/>
              </a:spcAft>
              <a:buClr>
                <a:srgbClr val="000000"/>
              </a:buClr>
              <a:buFont typeface="Arial" panose="020B0604020202020204" pitchFamily="34" charset="0"/>
              <a:buNone/>
            </a:pPr>
            <a:r>
              <a:rPr lang="en-IN" sz="2000" b="1" dirty="0">
                <a:latin typeface="Arial" panose="020B0604020202020204" pitchFamily="34" charset="0"/>
                <a:cs typeface="Arial" panose="020B0604020202020204" pitchFamily="34" charset="0"/>
              </a:rPr>
              <a:t> </a:t>
            </a:r>
          </a:p>
        </p:txBody>
      </p:sp>
      <p:sp>
        <p:nvSpPr>
          <p:cNvPr id="9" name="Content Placeholder 2">
            <a:extLst>
              <a:ext uri="{FF2B5EF4-FFF2-40B4-BE49-F238E27FC236}">
                <a16:creationId xmlns:a16="http://schemas.microsoft.com/office/drawing/2014/main" id="{F3E5D5FA-FF3D-84D8-F8C0-B2EA85C4EC47}"/>
              </a:ext>
            </a:extLst>
          </p:cNvPr>
          <p:cNvSpPr txBox="1">
            <a:spLocks/>
          </p:cNvSpPr>
          <p:nvPr/>
        </p:nvSpPr>
        <p:spPr>
          <a:xfrm>
            <a:off x="228600" y="947268"/>
            <a:ext cx="10287000" cy="5367296"/>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just"/>
            <a:r>
              <a:rPr lang="en-US" sz="2000"/>
              <a:t>session_abort — Discard session array changes and finish session</a:t>
            </a:r>
          </a:p>
          <a:p>
            <a:pPr algn="just"/>
            <a:r>
              <a:rPr lang="en-US" sz="2000"/>
              <a:t>session_cache_expire — Get and/or set current cache expire</a:t>
            </a:r>
          </a:p>
          <a:p>
            <a:pPr algn="just"/>
            <a:r>
              <a:rPr lang="en-US" sz="2000"/>
              <a:t>session_cache_limiter — Get and/or set the current cache limiter</a:t>
            </a:r>
          </a:p>
          <a:p>
            <a:pPr algn="just"/>
            <a:r>
              <a:rPr lang="en-US" sz="2000"/>
              <a:t>session_commit — Alias of session_write_close</a:t>
            </a:r>
          </a:p>
          <a:p>
            <a:pPr algn="just"/>
            <a:r>
              <a:rPr lang="en-US" sz="2000"/>
              <a:t>session_create_id — Create new session id</a:t>
            </a:r>
          </a:p>
          <a:p>
            <a:pPr algn="just"/>
            <a:r>
              <a:rPr lang="en-US" sz="2000"/>
              <a:t>session_decode — Decodes session data from a session encoded string</a:t>
            </a:r>
          </a:p>
          <a:p>
            <a:pPr algn="just"/>
            <a:r>
              <a:rPr lang="en-US" sz="2000"/>
              <a:t>session_destroy — Destroys all data registered to a session</a:t>
            </a:r>
          </a:p>
          <a:p>
            <a:pPr algn="just"/>
            <a:r>
              <a:rPr lang="en-US" sz="2000"/>
              <a:t>session_encode — Encodes the current session data as a session encoded string</a:t>
            </a:r>
          </a:p>
          <a:p>
            <a:pPr algn="just"/>
            <a:r>
              <a:rPr lang="en-US" sz="2000"/>
              <a:t>session_gc — Perform session data garbage collection</a:t>
            </a:r>
          </a:p>
          <a:p>
            <a:pPr algn="just"/>
            <a:r>
              <a:rPr lang="en-US" sz="2000"/>
              <a:t>session_get_cookie_params — Get the session cookie parameters</a:t>
            </a:r>
          </a:p>
          <a:p>
            <a:pPr algn="just"/>
            <a:r>
              <a:rPr lang="en-US" sz="2000"/>
              <a:t>session_id — Get and/or set the current session id</a:t>
            </a:r>
          </a:p>
          <a:p>
            <a:pPr algn="just"/>
            <a:r>
              <a:rPr lang="en-US" sz="2000"/>
              <a:t>session_module_name — Get and/or set the current session module</a:t>
            </a:r>
          </a:p>
          <a:p>
            <a:pPr algn="just"/>
            <a:r>
              <a:rPr lang="en-US" sz="2000"/>
              <a:t>session_name — Get and/or set the current session name</a:t>
            </a:r>
            <a:endParaRPr lang="en-US" sz="2000" dirty="0"/>
          </a:p>
        </p:txBody>
      </p:sp>
    </p:spTree>
    <p:extLst>
      <p:ext uri="{BB962C8B-B14F-4D97-AF65-F5344CB8AC3E}">
        <p14:creationId xmlns:p14="http://schemas.microsoft.com/office/powerpoint/2010/main" val="2343050642"/>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E73A3019-CFE4-49DD-B6FD-2AFB2DD2DBB6}" type="datetime1">
              <a:rPr lang="en-US" smtClean="0"/>
              <a:t>11/7/2024</a:t>
            </a:fld>
            <a:endParaRPr lang="en-US"/>
          </a:p>
        </p:txBody>
      </p:sp>
      <p:sp>
        <p:nvSpPr>
          <p:cNvPr id="5" name="Footer Placeholder 4"/>
          <p:cNvSpPr>
            <a:spLocks noGrp="1"/>
          </p:cNvSpPr>
          <p:nvPr>
            <p:ph type="ftr" sz="quarter" idx="11"/>
          </p:nvPr>
        </p:nvSpPr>
        <p:spPr>
          <a:xfrm>
            <a:off x="4343400" y="6248401"/>
            <a:ext cx="4724400" cy="365125"/>
          </a:xfrm>
        </p:spPr>
        <p:txBody>
          <a:bodyPr/>
          <a:lstStyle/>
          <a:p>
            <a:r>
              <a:rPr lang="en-US" dirty="0"/>
              <a:t>Vaishali Mishra            ACSE0505 Web Technology                Unit 5</a:t>
            </a:r>
          </a:p>
        </p:txBody>
      </p:sp>
      <p:sp>
        <p:nvSpPr>
          <p:cNvPr id="6" name="Slide Number Placeholder 5"/>
          <p:cNvSpPr>
            <a:spLocks noGrp="1"/>
          </p:cNvSpPr>
          <p:nvPr>
            <p:ph type="sldNum" sz="quarter" idx="12"/>
          </p:nvPr>
        </p:nvSpPr>
        <p:spPr/>
        <p:txBody>
          <a:bodyPr/>
          <a:lstStyle/>
          <a:p>
            <a:fld id="{B6F15528-21DE-4FAA-801E-634DDDAF4B2B}" type="slidenum">
              <a:rPr lang="en-US" smtClean="0"/>
              <a:pPr/>
              <a:t>88</a:t>
            </a:fld>
            <a:endParaRPr lang="en-US"/>
          </a:p>
        </p:txBody>
      </p:sp>
      <p:sp>
        <p:nvSpPr>
          <p:cNvPr id="7" name="Title 1"/>
          <p:cNvSpPr txBox="1">
            <a:spLocks/>
          </p:cNvSpPr>
          <p:nvPr/>
        </p:nvSpPr>
        <p:spPr>
          <a:xfrm>
            <a:off x="2895600" y="2"/>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pPr lvl="0" algn="ctr">
              <a:spcBef>
                <a:spcPct val="0"/>
              </a:spcBef>
              <a:defRPr/>
            </a:pPr>
            <a:r>
              <a:rPr lang="en-IN" sz="2800"/>
              <a:t>Session Functions and Functionality </a:t>
            </a:r>
            <a:r>
              <a:rPr lang="en-US" sz="2800"/>
              <a:t>(CO5)</a:t>
            </a:r>
            <a:endParaRPr lang="en-US" sz="2800" dirty="0"/>
          </a:p>
        </p:txBody>
      </p:sp>
      <p:pic>
        <p:nvPicPr>
          <p:cNvPr id="2" name="Picture 1" descr="A black and red logo&#10;&#10;Description automatically generated">
            <a:extLst>
              <a:ext uri="{FF2B5EF4-FFF2-40B4-BE49-F238E27FC236}">
                <a16:creationId xmlns:a16="http://schemas.microsoft.com/office/drawing/2014/main" id="{8BDB0671-FC93-5C9E-75A2-ED46EE3FB8B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8" name="Content Placeholder 1">
            <a:extLst>
              <a:ext uri="{FF2B5EF4-FFF2-40B4-BE49-F238E27FC236}">
                <a16:creationId xmlns:a16="http://schemas.microsoft.com/office/drawing/2014/main" id="{1FF5ADF0-474C-251F-0E40-267B658E504A}"/>
              </a:ext>
            </a:extLst>
          </p:cNvPr>
          <p:cNvSpPr txBox="1">
            <a:spLocks noGrp="1"/>
          </p:cNvSpPr>
          <p:nvPr>
            <p:ph idx="1"/>
          </p:nvPr>
        </p:nvSpPr>
        <p:spPr>
          <a:xfrm>
            <a:off x="609600" y="1219200"/>
            <a:ext cx="10515600" cy="4449763"/>
          </a:xfrm>
        </p:spPr>
        <p:txBody>
          <a:bodyPr/>
          <a:lstStyle/>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lgn="ctr">
              <a:spcBef>
                <a:spcPts val="363"/>
              </a:spcBef>
              <a:spcAft>
                <a:spcPct val="0"/>
              </a:spcAft>
              <a:buClr>
                <a:srgbClr val="000000"/>
              </a:buClr>
              <a:buFont typeface="Arial" panose="020B0604020202020204" pitchFamily="34" charset="0"/>
              <a:buNone/>
            </a:pPr>
            <a:r>
              <a:rPr lang="en-IN" sz="2000" b="1" dirty="0">
                <a:latin typeface="Arial" panose="020B0604020202020204" pitchFamily="34" charset="0"/>
                <a:cs typeface="Arial" panose="020B0604020202020204" pitchFamily="34" charset="0"/>
              </a:rPr>
              <a:t> </a:t>
            </a:r>
          </a:p>
        </p:txBody>
      </p:sp>
      <p:sp>
        <p:nvSpPr>
          <p:cNvPr id="3" name="Content Placeholder 2">
            <a:extLst>
              <a:ext uri="{FF2B5EF4-FFF2-40B4-BE49-F238E27FC236}">
                <a16:creationId xmlns:a16="http://schemas.microsoft.com/office/drawing/2014/main" id="{B5A2257C-5EFD-B669-5ACE-BA7EE7970037}"/>
              </a:ext>
            </a:extLst>
          </p:cNvPr>
          <p:cNvSpPr txBox="1">
            <a:spLocks/>
          </p:cNvSpPr>
          <p:nvPr/>
        </p:nvSpPr>
        <p:spPr>
          <a:xfrm>
            <a:off x="381000" y="1055218"/>
            <a:ext cx="10515600" cy="5259346"/>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just"/>
            <a:r>
              <a:rPr lang="en-US" sz="2000"/>
              <a:t>session_name — Get and/or set the current session name</a:t>
            </a:r>
          </a:p>
          <a:p>
            <a:pPr algn="just"/>
            <a:r>
              <a:rPr lang="en-US" sz="2000"/>
              <a:t>session_regenerate_id — Update the current session id with a newly generated one</a:t>
            </a:r>
          </a:p>
          <a:p>
            <a:pPr algn="just"/>
            <a:r>
              <a:rPr lang="en-US" sz="2000"/>
              <a:t>session_register_shutdown — Session shutdown function</a:t>
            </a:r>
          </a:p>
          <a:p>
            <a:pPr algn="just"/>
            <a:r>
              <a:rPr lang="en-US" sz="2000"/>
              <a:t>session_reset — Re-initialize session array with original values</a:t>
            </a:r>
          </a:p>
          <a:p>
            <a:pPr algn="just"/>
            <a:r>
              <a:rPr lang="en-US" sz="2000"/>
              <a:t>session_save_path — Get and/or set the current session save path</a:t>
            </a:r>
          </a:p>
          <a:p>
            <a:pPr algn="just"/>
            <a:r>
              <a:rPr lang="en-US" sz="2000"/>
              <a:t>session_set_cookie_params — Set the session cookie parameters</a:t>
            </a:r>
          </a:p>
          <a:p>
            <a:pPr algn="just"/>
            <a:r>
              <a:rPr lang="en-US" sz="2000"/>
              <a:t>session_set_save_handler — Sets user-level session storage functions</a:t>
            </a:r>
          </a:p>
          <a:p>
            <a:pPr algn="just"/>
            <a:r>
              <a:rPr lang="en-US" sz="2000"/>
              <a:t>session_start — Start new or resume existing session</a:t>
            </a:r>
          </a:p>
          <a:p>
            <a:pPr algn="just"/>
            <a:r>
              <a:rPr lang="en-US" sz="2000"/>
              <a:t>session_status — Returns the current session status</a:t>
            </a:r>
          </a:p>
          <a:p>
            <a:pPr algn="just"/>
            <a:r>
              <a:rPr lang="en-US" sz="2000"/>
              <a:t>session_unset — Free all session variables</a:t>
            </a:r>
          </a:p>
          <a:p>
            <a:pPr algn="just"/>
            <a:r>
              <a:rPr lang="en-US" sz="2000"/>
              <a:t>session_write_close — Write session data and end session</a:t>
            </a:r>
            <a:endParaRPr lang="en-US" sz="2000" b="1" dirty="0"/>
          </a:p>
        </p:txBody>
      </p:sp>
    </p:spTree>
    <p:extLst>
      <p:ext uri="{BB962C8B-B14F-4D97-AF65-F5344CB8AC3E}">
        <p14:creationId xmlns:p14="http://schemas.microsoft.com/office/powerpoint/2010/main" val="3849603692"/>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E73A3019-CFE4-49DD-B6FD-2AFB2DD2DBB6}" type="datetime1">
              <a:rPr lang="en-US" smtClean="0"/>
              <a:t>11/7/2024</a:t>
            </a:fld>
            <a:endParaRPr lang="en-US"/>
          </a:p>
        </p:txBody>
      </p:sp>
      <p:sp>
        <p:nvSpPr>
          <p:cNvPr id="5" name="Footer Placeholder 4"/>
          <p:cNvSpPr>
            <a:spLocks noGrp="1"/>
          </p:cNvSpPr>
          <p:nvPr>
            <p:ph type="ftr" sz="quarter" idx="11"/>
          </p:nvPr>
        </p:nvSpPr>
        <p:spPr>
          <a:xfrm>
            <a:off x="4343400" y="6248401"/>
            <a:ext cx="4724400" cy="365125"/>
          </a:xfrm>
        </p:spPr>
        <p:txBody>
          <a:bodyPr/>
          <a:lstStyle/>
          <a:p>
            <a:r>
              <a:rPr lang="en-US" dirty="0"/>
              <a:t>Vaishali Mishra            ACSE0505 Web Technology                Unit 5</a:t>
            </a:r>
          </a:p>
        </p:txBody>
      </p:sp>
      <p:sp>
        <p:nvSpPr>
          <p:cNvPr id="6" name="Slide Number Placeholder 5"/>
          <p:cNvSpPr>
            <a:spLocks noGrp="1"/>
          </p:cNvSpPr>
          <p:nvPr>
            <p:ph type="sldNum" sz="quarter" idx="12"/>
          </p:nvPr>
        </p:nvSpPr>
        <p:spPr/>
        <p:txBody>
          <a:bodyPr/>
          <a:lstStyle/>
          <a:p>
            <a:fld id="{B6F15528-21DE-4FAA-801E-634DDDAF4B2B}" type="slidenum">
              <a:rPr lang="en-US" smtClean="0"/>
              <a:pPr/>
              <a:t>89</a:t>
            </a:fld>
            <a:endParaRPr lang="en-US"/>
          </a:p>
        </p:txBody>
      </p:sp>
      <p:sp>
        <p:nvSpPr>
          <p:cNvPr id="7" name="Title 1"/>
          <p:cNvSpPr txBox="1">
            <a:spLocks/>
          </p:cNvSpPr>
          <p:nvPr/>
        </p:nvSpPr>
        <p:spPr>
          <a:xfrm>
            <a:off x="2895600" y="2"/>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pPr>
              <a:defRPr/>
            </a:pPr>
            <a:endParaRPr lang="en-IN" sz="2800" dirty="0"/>
          </a:p>
          <a:p>
            <a:pPr>
              <a:defRPr/>
            </a:pPr>
            <a:endParaRPr lang="en-IN" dirty="0"/>
          </a:p>
          <a:p>
            <a:pPr>
              <a:defRPr/>
            </a:pPr>
            <a:r>
              <a:rPr lang="en-US" sz="2800" dirty="0"/>
              <a:t>Cookie (CO5)</a:t>
            </a:r>
          </a:p>
          <a:p>
            <a:pPr>
              <a:defRPr/>
            </a:pPr>
            <a:endParaRPr lang="en-US" sz="2800" dirty="0"/>
          </a:p>
          <a:p>
            <a:pPr algn="ctr">
              <a:defRPr/>
            </a:pPr>
            <a:endParaRPr lang="en-US" sz="2800" dirty="0">
              <a:latin typeface="Times New Roman" pitchFamily="18" charset="0"/>
              <a:cs typeface="Times New Roman" pitchFamily="18" charset="0"/>
              <a:sym typeface="Arial" charset="0"/>
            </a:endParaRPr>
          </a:p>
        </p:txBody>
      </p:sp>
      <p:pic>
        <p:nvPicPr>
          <p:cNvPr id="2" name="Picture 1" descr="A black and red logo&#10;&#10;Description automatically generated">
            <a:extLst>
              <a:ext uri="{FF2B5EF4-FFF2-40B4-BE49-F238E27FC236}">
                <a16:creationId xmlns:a16="http://schemas.microsoft.com/office/drawing/2014/main" id="{8BDB0671-FC93-5C9E-75A2-ED46EE3FB8B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8" name="Content Placeholder 1">
            <a:extLst>
              <a:ext uri="{FF2B5EF4-FFF2-40B4-BE49-F238E27FC236}">
                <a16:creationId xmlns:a16="http://schemas.microsoft.com/office/drawing/2014/main" id="{1FF5ADF0-474C-251F-0E40-267B658E504A}"/>
              </a:ext>
            </a:extLst>
          </p:cNvPr>
          <p:cNvSpPr txBox="1">
            <a:spLocks noGrp="1"/>
          </p:cNvSpPr>
          <p:nvPr>
            <p:ph idx="1"/>
          </p:nvPr>
        </p:nvSpPr>
        <p:spPr>
          <a:xfrm>
            <a:off x="609600" y="1219200"/>
            <a:ext cx="10515600" cy="4449763"/>
          </a:xfrm>
        </p:spPr>
        <p:txBody>
          <a:bodyPr/>
          <a:lstStyle/>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lgn="ctr">
              <a:spcBef>
                <a:spcPts val="363"/>
              </a:spcBef>
              <a:spcAft>
                <a:spcPct val="0"/>
              </a:spcAft>
              <a:buClr>
                <a:srgbClr val="000000"/>
              </a:buClr>
              <a:buFont typeface="Arial" panose="020B0604020202020204" pitchFamily="34" charset="0"/>
              <a:buNone/>
            </a:pPr>
            <a:r>
              <a:rPr lang="en-IN" sz="2000" b="1" dirty="0">
                <a:latin typeface="Arial" panose="020B0604020202020204" pitchFamily="34" charset="0"/>
                <a:cs typeface="Arial" panose="020B0604020202020204" pitchFamily="34" charset="0"/>
              </a:rPr>
              <a:t> </a:t>
            </a:r>
          </a:p>
        </p:txBody>
      </p:sp>
      <p:sp>
        <p:nvSpPr>
          <p:cNvPr id="3" name="Content Placeholder 2">
            <a:extLst>
              <a:ext uri="{FF2B5EF4-FFF2-40B4-BE49-F238E27FC236}">
                <a16:creationId xmlns:a16="http://schemas.microsoft.com/office/drawing/2014/main" id="{3A343AC3-E0CC-3964-50EE-7D6C46C931E0}"/>
              </a:ext>
            </a:extLst>
          </p:cNvPr>
          <p:cNvSpPr txBox="1">
            <a:spLocks/>
          </p:cNvSpPr>
          <p:nvPr/>
        </p:nvSpPr>
        <p:spPr>
          <a:xfrm>
            <a:off x="62681" y="1055218"/>
            <a:ext cx="11062519" cy="5259346"/>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Font typeface="Arial" pitchFamily="34" charset="0"/>
              <a:buNone/>
            </a:pPr>
            <a:r>
              <a:rPr lang="en-US" sz="2000"/>
              <a:t>A cookie is often used to identify a user. A cookie is a small file that the server embeds on the user's computer. Each time the same computer requests a page with a browser, it will send the cookie too. With PHP, you can both create and retrieve cookie values.</a:t>
            </a:r>
          </a:p>
          <a:p>
            <a:pPr marL="0" indent="0" algn="just">
              <a:buFont typeface="Arial" pitchFamily="34" charset="0"/>
              <a:buNone/>
            </a:pPr>
            <a:endParaRPr lang="en-US" sz="2000"/>
          </a:p>
          <a:p>
            <a:pPr marL="0" indent="0" algn="just">
              <a:buFont typeface="Arial" pitchFamily="34" charset="0"/>
              <a:buNone/>
            </a:pPr>
            <a:r>
              <a:rPr lang="en-US" sz="2000"/>
              <a:t>Create Cookies With PHP</a:t>
            </a:r>
          </a:p>
          <a:p>
            <a:pPr marL="0" indent="0" algn="just">
              <a:buFont typeface="Arial" pitchFamily="34" charset="0"/>
              <a:buNone/>
            </a:pPr>
            <a:r>
              <a:rPr lang="en-US" sz="2000"/>
              <a:t>A cookie is created with the setcookie() function.</a:t>
            </a:r>
          </a:p>
          <a:p>
            <a:pPr marL="0" indent="0" algn="just">
              <a:buFont typeface="Arial" pitchFamily="34" charset="0"/>
              <a:buNone/>
            </a:pPr>
            <a:endParaRPr lang="en-US" sz="2000"/>
          </a:p>
          <a:p>
            <a:pPr marL="0" indent="0" algn="just">
              <a:buFont typeface="Arial" pitchFamily="34" charset="0"/>
              <a:buNone/>
            </a:pPr>
            <a:r>
              <a:rPr lang="en-US" sz="2000"/>
              <a:t>Syntax</a:t>
            </a:r>
          </a:p>
          <a:p>
            <a:pPr marL="0" indent="0" algn="just">
              <a:buFont typeface="Arial" pitchFamily="34" charset="0"/>
              <a:buNone/>
            </a:pPr>
            <a:r>
              <a:rPr lang="en-US" sz="2000"/>
              <a:t>setcookie(name, value, expire, path, domain, secure, httponly);</a:t>
            </a:r>
            <a:endParaRPr lang="en-US" sz="2000" dirty="0"/>
          </a:p>
        </p:txBody>
      </p:sp>
    </p:spTree>
    <p:extLst>
      <p:ext uri="{BB962C8B-B14F-4D97-AF65-F5344CB8AC3E}">
        <p14:creationId xmlns:p14="http://schemas.microsoft.com/office/powerpoint/2010/main" val="2958600468"/>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E73A3019-CFE4-49DD-B6FD-2AFB2DD2DBB6}" type="datetime1">
              <a:rPr lang="en-US" smtClean="0"/>
              <a:t>11/7/2024</a:t>
            </a:fld>
            <a:endParaRPr lang="en-US"/>
          </a:p>
        </p:txBody>
      </p:sp>
      <p:sp>
        <p:nvSpPr>
          <p:cNvPr id="5" name="Footer Placeholder 4"/>
          <p:cNvSpPr>
            <a:spLocks noGrp="1"/>
          </p:cNvSpPr>
          <p:nvPr>
            <p:ph type="ftr" sz="quarter" idx="11"/>
          </p:nvPr>
        </p:nvSpPr>
        <p:spPr>
          <a:xfrm>
            <a:off x="4343400" y="6248401"/>
            <a:ext cx="4724400" cy="365125"/>
          </a:xfrm>
        </p:spPr>
        <p:txBody>
          <a:bodyPr/>
          <a:lstStyle/>
          <a:p>
            <a:r>
              <a:rPr lang="en-US" dirty="0"/>
              <a:t>Vaishali Mishra            ACSE0505 Web Technology                Unit 5</a:t>
            </a:r>
          </a:p>
        </p:txBody>
      </p:sp>
      <p:sp>
        <p:nvSpPr>
          <p:cNvPr id="6" name="Slide Number Placeholder 5"/>
          <p:cNvSpPr>
            <a:spLocks noGrp="1"/>
          </p:cNvSpPr>
          <p:nvPr>
            <p:ph type="sldNum" sz="quarter" idx="12"/>
          </p:nvPr>
        </p:nvSpPr>
        <p:spPr/>
        <p:txBody>
          <a:bodyPr/>
          <a:lstStyle/>
          <a:p>
            <a:fld id="{B6F15528-21DE-4FAA-801E-634DDDAF4B2B}" type="slidenum">
              <a:rPr lang="en-US" smtClean="0"/>
              <a:pPr/>
              <a:t>90</a:t>
            </a:fld>
            <a:endParaRPr lang="en-US"/>
          </a:p>
        </p:txBody>
      </p:sp>
      <p:sp>
        <p:nvSpPr>
          <p:cNvPr id="7" name="Title 1"/>
          <p:cNvSpPr txBox="1">
            <a:spLocks/>
          </p:cNvSpPr>
          <p:nvPr/>
        </p:nvSpPr>
        <p:spPr>
          <a:xfrm>
            <a:off x="2895600" y="2"/>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pPr>
              <a:defRPr/>
            </a:pPr>
            <a:endParaRPr lang="en-IN" sz="2800" dirty="0"/>
          </a:p>
          <a:p>
            <a:pPr>
              <a:defRPr/>
            </a:pPr>
            <a:endParaRPr lang="en-IN" dirty="0"/>
          </a:p>
          <a:p>
            <a:pPr>
              <a:defRPr/>
            </a:pPr>
            <a:r>
              <a:rPr lang="en-US" sz="2800" dirty="0"/>
              <a:t>Setting Cookie with PHP (CO5)</a:t>
            </a:r>
          </a:p>
          <a:p>
            <a:pPr>
              <a:defRPr/>
            </a:pPr>
            <a:endParaRPr lang="en-US" sz="2800" dirty="0"/>
          </a:p>
          <a:p>
            <a:pPr algn="ctr">
              <a:defRPr/>
            </a:pPr>
            <a:endParaRPr lang="en-US" sz="2800" dirty="0">
              <a:latin typeface="Times New Roman" pitchFamily="18" charset="0"/>
              <a:cs typeface="Times New Roman" pitchFamily="18" charset="0"/>
              <a:sym typeface="Arial" charset="0"/>
            </a:endParaRPr>
          </a:p>
        </p:txBody>
      </p:sp>
      <p:pic>
        <p:nvPicPr>
          <p:cNvPr id="2" name="Picture 1" descr="A black and red logo&#10;&#10;Description automatically generated">
            <a:extLst>
              <a:ext uri="{FF2B5EF4-FFF2-40B4-BE49-F238E27FC236}">
                <a16:creationId xmlns:a16="http://schemas.microsoft.com/office/drawing/2014/main" id="{8BDB0671-FC93-5C9E-75A2-ED46EE3FB8B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8" name="Content Placeholder 1">
            <a:extLst>
              <a:ext uri="{FF2B5EF4-FFF2-40B4-BE49-F238E27FC236}">
                <a16:creationId xmlns:a16="http://schemas.microsoft.com/office/drawing/2014/main" id="{1FF5ADF0-474C-251F-0E40-267B658E504A}"/>
              </a:ext>
            </a:extLst>
          </p:cNvPr>
          <p:cNvSpPr txBox="1">
            <a:spLocks noGrp="1"/>
          </p:cNvSpPr>
          <p:nvPr>
            <p:ph idx="1"/>
          </p:nvPr>
        </p:nvSpPr>
        <p:spPr>
          <a:xfrm>
            <a:off x="609600" y="1219200"/>
            <a:ext cx="10515600" cy="4449763"/>
          </a:xfrm>
        </p:spPr>
        <p:txBody>
          <a:bodyPr/>
          <a:lstStyle/>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lgn="ctr">
              <a:spcBef>
                <a:spcPts val="363"/>
              </a:spcBef>
              <a:spcAft>
                <a:spcPct val="0"/>
              </a:spcAft>
              <a:buClr>
                <a:srgbClr val="000000"/>
              </a:buClr>
              <a:buFont typeface="Arial" panose="020B0604020202020204" pitchFamily="34" charset="0"/>
              <a:buNone/>
            </a:pPr>
            <a:r>
              <a:rPr lang="en-IN" sz="2000" b="1" dirty="0">
                <a:latin typeface="Arial" panose="020B0604020202020204" pitchFamily="34" charset="0"/>
                <a:cs typeface="Arial" panose="020B0604020202020204" pitchFamily="34" charset="0"/>
              </a:rPr>
              <a:t> </a:t>
            </a:r>
          </a:p>
        </p:txBody>
      </p:sp>
      <p:sp>
        <p:nvSpPr>
          <p:cNvPr id="3" name="Content Placeholder 2">
            <a:extLst>
              <a:ext uri="{FF2B5EF4-FFF2-40B4-BE49-F238E27FC236}">
                <a16:creationId xmlns:a16="http://schemas.microsoft.com/office/drawing/2014/main" id="{B238EC8F-6369-127D-C36B-A23489FCA906}"/>
              </a:ext>
            </a:extLst>
          </p:cNvPr>
          <p:cNvSpPr txBox="1">
            <a:spLocks/>
          </p:cNvSpPr>
          <p:nvPr/>
        </p:nvSpPr>
        <p:spPr>
          <a:xfrm>
            <a:off x="62681" y="1189036"/>
            <a:ext cx="10757719" cy="512552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Font typeface="Arial" pitchFamily="34" charset="0"/>
              <a:buNone/>
            </a:pPr>
            <a:r>
              <a:rPr lang="en-US" sz="2000"/>
              <a:t>Setting Cookie In PHP: To set a cookie in PHP, the setcookie() function is used. The setcookie() function needs to be called prior to any output generated by the script otherwise the cookie will not be set.</a:t>
            </a:r>
          </a:p>
          <a:p>
            <a:pPr marL="0" indent="0" algn="just">
              <a:buFont typeface="Arial" pitchFamily="34" charset="0"/>
              <a:buNone/>
            </a:pPr>
            <a:endParaRPr lang="en-US" sz="2000"/>
          </a:p>
          <a:p>
            <a:pPr marL="0" indent="0" algn="just">
              <a:buFont typeface="Arial" pitchFamily="34" charset="0"/>
              <a:buNone/>
            </a:pPr>
            <a:r>
              <a:rPr lang="en-US" sz="2000"/>
              <a:t>Syntax:</a:t>
            </a:r>
          </a:p>
          <a:p>
            <a:pPr marL="0" indent="0" algn="just">
              <a:buFont typeface="Arial" pitchFamily="34" charset="0"/>
              <a:buNone/>
            </a:pPr>
            <a:endParaRPr lang="en-US" sz="2000"/>
          </a:p>
          <a:p>
            <a:pPr marL="0" indent="0" algn="just">
              <a:buFont typeface="Arial" pitchFamily="34" charset="0"/>
              <a:buNone/>
            </a:pPr>
            <a:r>
              <a:rPr lang="en-US" sz="2000"/>
              <a:t>setcookie(name, value, expire, path, domain, security);</a:t>
            </a:r>
          </a:p>
          <a:p>
            <a:pPr marL="0" indent="0" algn="just">
              <a:buFont typeface="Arial" pitchFamily="34" charset="0"/>
              <a:buNone/>
            </a:pPr>
            <a:r>
              <a:rPr lang="en-US" sz="2000"/>
              <a:t>Parameters: The setcookie() function requires six arguments in general which are: </a:t>
            </a:r>
          </a:p>
          <a:p>
            <a:pPr marL="0" indent="0" algn="just">
              <a:buFont typeface="Arial" pitchFamily="34" charset="0"/>
              <a:buNone/>
            </a:pPr>
            <a:endParaRPr lang="en-US" sz="2000"/>
          </a:p>
          <a:p>
            <a:pPr marL="0" indent="0" algn="just">
              <a:buFont typeface="Arial" pitchFamily="34" charset="0"/>
              <a:buNone/>
            </a:pPr>
            <a:r>
              <a:rPr lang="en-US" sz="2000"/>
              <a:t>Name: It is used to set the name of the cookie.</a:t>
            </a:r>
          </a:p>
          <a:p>
            <a:pPr marL="0" indent="0" algn="just">
              <a:buFont typeface="Arial" pitchFamily="34" charset="0"/>
              <a:buNone/>
            </a:pPr>
            <a:r>
              <a:rPr lang="en-US" sz="2000"/>
              <a:t>Value: It is used to set the value of the cookie.</a:t>
            </a:r>
            <a:endParaRPr lang="en-US" sz="2000" dirty="0"/>
          </a:p>
        </p:txBody>
      </p:sp>
    </p:spTree>
    <p:extLst>
      <p:ext uri="{BB962C8B-B14F-4D97-AF65-F5344CB8AC3E}">
        <p14:creationId xmlns:p14="http://schemas.microsoft.com/office/powerpoint/2010/main" val="3966659914"/>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E73A3019-CFE4-49DD-B6FD-2AFB2DD2DBB6}" type="datetime1">
              <a:rPr lang="en-US" smtClean="0"/>
              <a:t>11/7/2024</a:t>
            </a:fld>
            <a:endParaRPr lang="en-US"/>
          </a:p>
        </p:txBody>
      </p:sp>
      <p:sp>
        <p:nvSpPr>
          <p:cNvPr id="5" name="Footer Placeholder 4"/>
          <p:cNvSpPr>
            <a:spLocks noGrp="1"/>
          </p:cNvSpPr>
          <p:nvPr>
            <p:ph type="ftr" sz="quarter" idx="11"/>
          </p:nvPr>
        </p:nvSpPr>
        <p:spPr>
          <a:xfrm>
            <a:off x="4343400" y="6248401"/>
            <a:ext cx="4724400" cy="365125"/>
          </a:xfrm>
        </p:spPr>
        <p:txBody>
          <a:bodyPr/>
          <a:lstStyle/>
          <a:p>
            <a:r>
              <a:rPr lang="en-US" dirty="0"/>
              <a:t>Vaishali Mishra            ACSE0505 Web Technology                Unit 5</a:t>
            </a:r>
          </a:p>
        </p:txBody>
      </p:sp>
      <p:sp>
        <p:nvSpPr>
          <p:cNvPr id="6" name="Slide Number Placeholder 5"/>
          <p:cNvSpPr>
            <a:spLocks noGrp="1"/>
          </p:cNvSpPr>
          <p:nvPr>
            <p:ph type="sldNum" sz="quarter" idx="12"/>
          </p:nvPr>
        </p:nvSpPr>
        <p:spPr/>
        <p:txBody>
          <a:bodyPr/>
          <a:lstStyle/>
          <a:p>
            <a:fld id="{B6F15528-21DE-4FAA-801E-634DDDAF4B2B}" type="slidenum">
              <a:rPr lang="en-US" smtClean="0"/>
              <a:pPr/>
              <a:t>91</a:t>
            </a:fld>
            <a:endParaRPr lang="en-US"/>
          </a:p>
        </p:txBody>
      </p:sp>
      <p:sp>
        <p:nvSpPr>
          <p:cNvPr id="7" name="Title 1"/>
          <p:cNvSpPr txBox="1">
            <a:spLocks/>
          </p:cNvSpPr>
          <p:nvPr/>
        </p:nvSpPr>
        <p:spPr>
          <a:xfrm>
            <a:off x="2895600" y="2"/>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pPr>
              <a:defRPr/>
            </a:pPr>
            <a:endParaRPr lang="en-IN" sz="2800" dirty="0"/>
          </a:p>
          <a:p>
            <a:pPr>
              <a:defRPr/>
            </a:pPr>
            <a:endParaRPr lang="en-US" sz="2800" dirty="0"/>
          </a:p>
          <a:p>
            <a:pPr>
              <a:defRPr/>
            </a:pPr>
            <a:endParaRPr lang="en-US" dirty="0"/>
          </a:p>
          <a:p>
            <a:pPr>
              <a:defRPr/>
            </a:pPr>
            <a:r>
              <a:rPr lang="en-US" sz="2800" dirty="0"/>
              <a:t>Setting Cookie with PHP (CO5)</a:t>
            </a:r>
          </a:p>
          <a:p>
            <a:pPr>
              <a:defRPr/>
            </a:pPr>
            <a:endParaRPr lang="en-IN" dirty="0"/>
          </a:p>
          <a:p>
            <a:pPr>
              <a:defRPr/>
            </a:pPr>
            <a:endParaRPr lang="en-US" sz="2800" dirty="0"/>
          </a:p>
          <a:p>
            <a:pPr algn="ctr">
              <a:defRPr/>
            </a:pPr>
            <a:endParaRPr lang="en-US" sz="2800" dirty="0">
              <a:latin typeface="Times New Roman" pitchFamily="18" charset="0"/>
              <a:cs typeface="Times New Roman" pitchFamily="18" charset="0"/>
              <a:sym typeface="Arial" charset="0"/>
            </a:endParaRPr>
          </a:p>
        </p:txBody>
      </p:sp>
      <p:pic>
        <p:nvPicPr>
          <p:cNvPr id="2" name="Picture 1" descr="A black and red logo&#10;&#10;Description automatically generated">
            <a:extLst>
              <a:ext uri="{FF2B5EF4-FFF2-40B4-BE49-F238E27FC236}">
                <a16:creationId xmlns:a16="http://schemas.microsoft.com/office/drawing/2014/main" id="{8BDB0671-FC93-5C9E-75A2-ED46EE3FB8B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8" name="Content Placeholder 1">
            <a:extLst>
              <a:ext uri="{FF2B5EF4-FFF2-40B4-BE49-F238E27FC236}">
                <a16:creationId xmlns:a16="http://schemas.microsoft.com/office/drawing/2014/main" id="{1FF5ADF0-474C-251F-0E40-267B658E504A}"/>
              </a:ext>
            </a:extLst>
          </p:cNvPr>
          <p:cNvSpPr txBox="1">
            <a:spLocks noGrp="1"/>
          </p:cNvSpPr>
          <p:nvPr>
            <p:ph idx="1"/>
          </p:nvPr>
        </p:nvSpPr>
        <p:spPr>
          <a:xfrm>
            <a:off x="609600" y="1219200"/>
            <a:ext cx="10515600" cy="4449763"/>
          </a:xfrm>
        </p:spPr>
        <p:txBody>
          <a:bodyPr/>
          <a:lstStyle/>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lgn="ctr">
              <a:spcBef>
                <a:spcPts val="363"/>
              </a:spcBef>
              <a:spcAft>
                <a:spcPct val="0"/>
              </a:spcAft>
              <a:buClr>
                <a:srgbClr val="000000"/>
              </a:buClr>
              <a:buFont typeface="Arial" panose="020B0604020202020204" pitchFamily="34" charset="0"/>
              <a:buNone/>
            </a:pPr>
            <a:r>
              <a:rPr lang="en-IN" sz="2000" b="1" dirty="0">
                <a:latin typeface="Arial" panose="020B0604020202020204" pitchFamily="34" charset="0"/>
                <a:cs typeface="Arial" panose="020B0604020202020204" pitchFamily="34" charset="0"/>
              </a:rPr>
              <a:t> </a:t>
            </a:r>
          </a:p>
        </p:txBody>
      </p:sp>
      <p:sp>
        <p:nvSpPr>
          <p:cNvPr id="3" name="Content Placeholder 2">
            <a:extLst>
              <a:ext uri="{FF2B5EF4-FFF2-40B4-BE49-F238E27FC236}">
                <a16:creationId xmlns:a16="http://schemas.microsoft.com/office/drawing/2014/main" id="{8BE2F252-3912-7885-955A-6D0941887992}"/>
              </a:ext>
            </a:extLst>
          </p:cNvPr>
          <p:cNvSpPr txBox="1">
            <a:spLocks/>
          </p:cNvSpPr>
          <p:nvPr/>
        </p:nvSpPr>
        <p:spPr>
          <a:xfrm>
            <a:off x="533400" y="1055218"/>
            <a:ext cx="10515600" cy="5259346"/>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Font typeface="Arial" pitchFamily="34" charset="0"/>
              <a:buNone/>
            </a:pPr>
            <a:r>
              <a:rPr lang="en-US" sz="2000"/>
              <a:t>Expire: It is used to set the expiry timestamp of the cookie after which the cookie can’t be accessed.</a:t>
            </a:r>
          </a:p>
          <a:p>
            <a:pPr marL="0" indent="0" algn="just">
              <a:buFont typeface="Arial" pitchFamily="34" charset="0"/>
              <a:buNone/>
            </a:pPr>
            <a:r>
              <a:rPr lang="en-US" sz="2000"/>
              <a:t>Path: It is used to specify the path on the server for which the cookie will be available.</a:t>
            </a:r>
          </a:p>
          <a:p>
            <a:pPr marL="0" indent="0" algn="just">
              <a:buFont typeface="Arial" pitchFamily="34" charset="0"/>
              <a:buNone/>
            </a:pPr>
            <a:r>
              <a:rPr lang="en-US" sz="2000"/>
              <a:t>Domain: It is used to specify the domain for which the cookie is available.</a:t>
            </a:r>
          </a:p>
          <a:p>
            <a:pPr marL="0" indent="0" algn="just">
              <a:buFont typeface="Arial" pitchFamily="34" charset="0"/>
              <a:buNone/>
            </a:pPr>
            <a:r>
              <a:rPr lang="en-US" sz="2000"/>
              <a:t>Security: It is used to indicate that the cookie should be sent only if a secure HTTPS connection exists.</a:t>
            </a:r>
            <a:endParaRPr lang="en-US" sz="2000" dirty="0"/>
          </a:p>
        </p:txBody>
      </p:sp>
    </p:spTree>
    <p:extLst>
      <p:ext uri="{BB962C8B-B14F-4D97-AF65-F5344CB8AC3E}">
        <p14:creationId xmlns:p14="http://schemas.microsoft.com/office/powerpoint/2010/main" val="3604397655"/>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E73A3019-CFE4-49DD-B6FD-2AFB2DD2DBB6}" type="datetime1">
              <a:rPr lang="en-US" smtClean="0"/>
              <a:t>11/7/2024</a:t>
            </a:fld>
            <a:endParaRPr lang="en-US"/>
          </a:p>
        </p:txBody>
      </p:sp>
      <p:sp>
        <p:nvSpPr>
          <p:cNvPr id="5" name="Footer Placeholder 4"/>
          <p:cNvSpPr>
            <a:spLocks noGrp="1"/>
          </p:cNvSpPr>
          <p:nvPr>
            <p:ph type="ftr" sz="quarter" idx="11"/>
          </p:nvPr>
        </p:nvSpPr>
        <p:spPr>
          <a:xfrm>
            <a:off x="4343400" y="6248401"/>
            <a:ext cx="4724400" cy="365125"/>
          </a:xfrm>
        </p:spPr>
        <p:txBody>
          <a:bodyPr/>
          <a:lstStyle/>
          <a:p>
            <a:r>
              <a:rPr lang="en-US" dirty="0"/>
              <a:t>Vaishali Mishra            ACSE0505 Web Technology                Unit 5</a:t>
            </a:r>
          </a:p>
        </p:txBody>
      </p:sp>
      <p:sp>
        <p:nvSpPr>
          <p:cNvPr id="6" name="Slide Number Placeholder 5"/>
          <p:cNvSpPr>
            <a:spLocks noGrp="1"/>
          </p:cNvSpPr>
          <p:nvPr>
            <p:ph type="sldNum" sz="quarter" idx="12"/>
          </p:nvPr>
        </p:nvSpPr>
        <p:spPr/>
        <p:txBody>
          <a:bodyPr/>
          <a:lstStyle/>
          <a:p>
            <a:fld id="{B6F15528-21DE-4FAA-801E-634DDDAF4B2B}" type="slidenum">
              <a:rPr lang="en-US" smtClean="0"/>
              <a:pPr/>
              <a:t>92</a:t>
            </a:fld>
            <a:endParaRPr lang="en-US"/>
          </a:p>
        </p:txBody>
      </p:sp>
      <p:sp>
        <p:nvSpPr>
          <p:cNvPr id="7" name="Title 1"/>
          <p:cNvSpPr txBox="1">
            <a:spLocks/>
          </p:cNvSpPr>
          <p:nvPr/>
        </p:nvSpPr>
        <p:spPr>
          <a:xfrm>
            <a:off x="2895600" y="2"/>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pPr>
              <a:defRPr/>
            </a:pPr>
            <a:endParaRPr lang="en-IN" sz="2800" dirty="0"/>
          </a:p>
          <a:p>
            <a:pPr>
              <a:defRPr/>
            </a:pPr>
            <a:endParaRPr lang="en-US" sz="2800" dirty="0"/>
          </a:p>
          <a:p>
            <a:pPr>
              <a:defRPr/>
            </a:pPr>
            <a:endParaRPr lang="en-US" dirty="0"/>
          </a:p>
          <a:p>
            <a:pPr>
              <a:defRPr/>
            </a:pPr>
            <a:r>
              <a:rPr lang="en-US" sz="2800" dirty="0"/>
              <a:t>Setting Cookie with PHP (CO5)</a:t>
            </a:r>
          </a:p>
          <a:p>
            <a:pPr>
              <a:defRPr/>
            </a:pPr>
            <a:endParaRPr lang="en-IN" dirty="0"/>
          </a:p>
          <a:p>
            <a:pPr>
              <a:defRPr/>
            </a:pPr>
            <a:endParaRPr lang="en-US" sz="2800" dirty="0"/>
          </a:p>
          <a:p>
            <a:pPr algn="ctr">
              <a:defRPr/>
            </a:pPr>
            <a:endParaRPr lang="en-US" sz="2800" dirty="0">
              <a:latin typeface="Times New Roman" pitchFamily="18" charset="0"/>
              <a:cs typeface="Times New Roman" pitchFamily="18" charset="0"/>
              <a:sym typeface="Arial" charset="0"/>
            </a:endParaRPr>
          </a:p>
        </p:txBody>
      </p:sp>
      <p:pic>
        <p:nvPicPr>
          <p:cNvPr id="2" name="Picture 1" descr="A black and red logo&#10;&#10;Description automatically generated">
            <a:extLst>
              <a:ext uri="{FF2B5EF4-FFF2-40B4-BE49-F238E27FC236}">
                <a16:creationId xmlns:a16="http://schemas.microsoft.com/office/drawing/2014/main" id="{8BDB0671-FC93-5C9E-75A2-ED46EE3FB8B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8" name="Content Placeholder 1">
            <a:extLst>
              <a:ext uri="{FF2B5EF4-FFF2-40B4-BE49-F238E27FC236}">
                <a16:creationId xmlns:a16="http://schemas.microsoft.com/office/drawing/2014/main" id="{1FF5ADF0-474C-251F-0E40-267B658E504A}"/>
              </a:ext>
            </a:extLst>
          </p:cNvPr>
          <p:cNvSpPr txBox="1">
            <a:spLocks noGrp="1"/>
          </p:cNvSpPr>
          <p:nvPr>
            <p:ph idx="1"/>
          </p:nvPr>
        </p:nvSpPr>
        <p:spPr>
          <a:xfrm>
            <a:off x="609600" y="1219200"/>
            <a:ext cx="10515600" cy="4449763"/>
          </a:xfrm>
        </p:spPr>
        <p:txBody>
          <a:bodyPr/>
          <a:lstStyle/>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lgn="ctr">
              <a:spcBef>
                <a:spcPts val="363"/>
              </a:spcBef>
              <a:spcAft>
                <a:spcPct val="0"/>
              </a:spcAft>
              <a:buClr>
                <a:srgbClr val="000000"/>
              </a:buClr>
              <a:buFont typeface="Arial" panose="020B0604020202020204" pitchFamily="34" charset="0"/>
              <a:buNone/>
            </a:pPr>
            <a:r>
              <a:rPr lang="en-IN" sz="2000" b="1" dirty="0">
                <a:latin typeface="Arial" panose="020B0604020202020204" pitchFamily="34" charset="0"/>
                <a:cs typeface="Arial" panose="020B0604020202020204" pitchFamily="34" charset="0"/>
              </a:rPr>
              <a:t> </a:t>
            </a:r>
          </a:p>
        </p:txBody>
      </p:sp>
      <p:sp>
        <p:nvSpPr>
          <p:cNvPr id="3" name="Content Placeholder 2">
            <a:extLst>
              <a:ext uri="{FF2B5EF4-FFF2-40B4-BE49-F238E27FC236}">
                <a16:creationId xmlns:a16="http://schemas.microsoft.com/office/drawing/2014/main" id="{770B983B-B973-1AF1-55E2-D7420B341082}"/>
              </a:ext>
            </a:extLst>
          </p:cNvPr>
          <p:cNvSpPr txBox="1">
            <a:spLocks/>
          </p:cNvSpPr>
          <p:nvPr/>
        </p:nvSpPr>
        <p:spPr>
          <a:xfrm>
            <a:off x="304800" y="1055218"/>
            <a:ext cx="10515600" cy="5259346"/>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Font typeface="Arial" pitchFamily="34" charset="0"/>
              <a:buNone/>
            </a:pPr>
            <a:r>
              <a:rPr lang="en-US" sz="2000"/>
              <a:t>PHP sessions can use cookies depending on how you configure them. Have a look at these settings:</a:t>
            </a:r>
          </a:p>
          <a:p>
            <a:pPr marL="0" indent="0" algn="just">
              <a:buFont typeface="Arial" pitchFamily="34" charset="0"/>
              <a:buNone/>
            </a:pPr>
            <a:endParaRPr lang="en-US" sz="2000"/>
          </a:p>
          <a:p>
            <a:pPr algn="just"/>
            <a:r>
              <a:rPr lang="en-US" sz="2000"/>
              <a:t>session.use_cookies (boolean): specifies whether the module will use cookies to store the session id on the client side. Defaults to 1 (enabled).</a:t>
            </a:r>
          </a:p>
          <a:p>
            <a:pPr algn="just"/>
            <a:r>
              <a:rPr lang="en-US" sz="2000"/>
              <a:t>session.use_only_cookies (boolean): specifies whether the module will only use cookies to store the session id on the client side. Enabling this setting prevents attacks involved passing session ids in URLs. This setting was added in PHP 4.3.0. Defaults to 1 (enabled) since PHP 5.3.0.</a:t>
            </a:r>
          </a:p>
          <a:p>
            <a:pPr marL="0" indent="0" algn="just">
              <a:buFont typeface="Arial" pitchFamily="34" charset="0"/>
              <a:buNone/>
            </a:pPr>
            <a:r>
              <a:rPr lang="en-US" sz="2000"/>
              <a:t>If you disable session cookies, a GET parameter is used instead.</a:t>
            </a:r>
            <a:endParaRPr lang="en-US" sz="2000" dirty="0"/>
          </a:p>
        </p:txBody>
      </p:sp>
    </p:spTree>
    <p:extLst>
      <p:ext uri="{BB962C8B-B14F-4D97-AF65-F5344CB8AC3E}">
        <p14:creationId xmlns:p14="http://schemas.microsoft.com/office/powerpoint/2010/main" val="577695927"/>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E73A3019-CFE4-49DD-B6FD-2AFB2DD2DBB6}" type="datetime1">
              <a:rPr lang="en-US" smtClean="0"/>
              <a:t>11/7/2024</a:t>
            </a:fld>
            <a:endParaRPr lang="en-US"/>
          </a:p>
        </p:txBody>
      </p:sp>
      <p:sp>
        <p:nvSpPr>
          <p:cNvPr id="5" name="Footer Placeholder 4"/>
          <p:cNvSpPr>
            <a:spLocks noGrp="1"/>
          </p:cNvSpPr>
          <p:nvPr>
            <p:ph type="ftr" sz="quarter" idx="11"/>
          </p:nvPr>
        </p:nvSpPr>
        <p:spPr>
          <a:xfrm>
            <a:off x="4343400" y="6248401"/>
            <a:ext cx="4724400" cy="365125"/>
          </a:xfrm>
        </p:spPr>
        <p:txBody>
          <a:bodyPr/>
          <a:lstStyle/>
          <a:p>
            <a:r>
              <a:rPr lang="en-US" dirty="0"/>
              <a:t>Vaishali Mishra            ACSE0505 Web Technology                Unit 5</a:t>
            </a:r>
          </a:p>
        </p:txBody>
      </p:sp>
      <p:sp>
        <p:nvSpPr>
          <p:cNvPr id="6" name="Slide Number Placeholder 5"/>
          <p:cNvSpPr>
            <a:spLocks noGrp="1"/>
          </p:cNvSpPr>
          <p:nvPr>
            <p:ph type="sldNum" sz="quarter" idx="12"/>
          </p:nvPr>
        </p:nvSpPr>
        <p:spPr/>
        <p:txBody>
          <a:bodyPr/>
          <a:lstStyle/>
          <a:p>
            <a:fld id="{B6F15528-21DE-4FAA-801E-634DDDAF4B2B}" type="slidenum">
              <a:rPr lang="en-US" smtClean="0"/>
              <a:pPr/>
              <a:t>93</a:t>
            </a:fld>
            <a:endParaRPr lang="en-US"/>
          </a:p>
        </p:txBody>
      </p:sp>
      <p:sp>
        <p:nvSpPr>
          <p:cNvPr id="7" name="Title 1"/>
          <p:cNvSpPr txBox="1">
            <a:spLocks/>
          </p:cNvSpPr>
          <p:nvPr/>
        </p:nvSpPr>
        <p:spPr>
          <a:xfrm>
            <a:off x="2895600" y="2"/>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pPr lvl="0" algn="ctr">
              <a:spcBef>
                <a:spcPct val="0"/>
              </a:spcBef>
              <a:defRPr/>
            </a:pPr>
            <a:r>
              <a:rPr lang="en-IN" sz="2800"/>
              <a:t>Deleting Cookies</a:t>
            </a:r>
            <a:r>
              <a:rPr lang="en-US" sz="2800"/>
              <a:t> (CO5)</a:t>
            </a:r>
            <a:endParaRPr lang="en-US" sz="2800" dirty="0"/>
          </a:p>
        </p:txBody>
      </p:sp>
      <p:pic>
        <p:nvPicPr>
          <p:cNvPr id="2" name="Picture 1" descr="A black and red logo&#10;&#10;Description automatically generated">
            <a:extLst>
              <a:ext uri="{FF2B5EF4-FFF2-40B4-BE49-F238E27FC236}">
                <a16:creationId xmlns:a16="http://schemas.microsoft.com/office/drawing/2014/main" id="{8BDB0671-FC93-5C9E-75A2-ED46EE3FB8B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8" name="Content Placeholder 1">
            <a:extLst>
              <a:ext uri="{FF2B5EF4-FFF2-40B4-BE49-F238E27FC236}">
                <a16:creationId xmlns:a16="http://schemas.microsoft.com/office/drawing/2014/main" id="{1FF5ADF0-474C-251F-0E40-267B658E504A}"/>
              </a:ext>
            </a:extLst>
          </p:cNvPr>
          <p:cNvSpPr txBox="1">
            <a:spLocks noGrp="1"/>
          </p:cNvSpPr>
          <p:nvPr>
            <p:ph idx="1"/>
          </p:nvPr>
        </p:nvSpPr>
        <p:spPr>
          <a:xfrm>
            <a:off x="609600" y="1219200"/>
            <a:ext cx="10515600" cy="4449763"/>
          </a:xfrm>
        </p:spPr>
        <p:txBody>
          <a:bodyPr/>
          <a:lstStyle/>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lgn="ctr">
              <a:spcBef>
                <a:spcPts val="363"/>
              </a:spcBef>
              <a:spcAft>
                <a:spcPct val="0"/>
              </a:spcAft>
              <a:buClr>
                <a:srgbClr val="000000"/>
              </a:buClr>
              <a:buFont typeface="Arial" panose="020B0604020202020204" pitchFamily="34" charset="0"/>
              <a:buNone/>
            </a:pPr>
            <a:r>
              <a:rPr lang="en-IN" sz="2000" b="1" dirty="0">
                <a:latin typeface="Arial" panose="020B0604020202020204" pitchFamily="34" charset="0"/>
                <a:cs typeface="Arial" panose="020B0604020202020204" pitchFamily="34" charset="0"/>
              </a:rPr>
              <a:t> </a:t>
            </a:r>
          </a:p>
        </p:txBody>
      </p:sp>
      <p:sp>
        <p:nvSpPr>
          <p:cNvPr id="3" name="Content Placeholder 2">
            <a:extLst>
              <a:ext uri="{FF2B5EF4-FFF2-40B4-BE49-F238E27FC236}">
                <a16:creationId xmlns:a16="http://schemas.microsoft.com/office/drawing/2014/main" id="{5F807B9E-9D77-EB48-5F76-51EFDF941558}"/>
              </a:ext>
            </a:extLst>
          </p:cNvPr>
          <p:cNvSpPr txBox="1">
            <a:spLocks/>
          </p:cNvSpPr>
          <p:nvPr/>
        </p:nvSpPr>
        <p:spPr>
          <a:xfrm>
            <a:off x="304800" y="1265238"/>
            <a:ext cx="10820400" cy="5049325"/>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Font typeface="Arial" pitchFamily="34" charset="0"/>
              <a:buNone/>
            </a:pPr>
            <a:r>
              <a:rPr lang="en-US" sz="2000"/>
              <a:t>PHP sessions can use cookies depending on how you configure them. Have a look at these settings:</a:t>
            </a:r>
          </a:p>
          <a:p>
            <a:pPr marL="0" indent="0" algn="just">
              <a:buFont typeface="Arial" pitchFamily="34" charset="0"/>
              <a:buNone/>
            </a:pPr>
            <a:endParaRPr lang="en-US" sz="2000"/>
          </a:p>
          <a:p>
            <a:pPr algn="just"/>
            <a:r>
              <a:rPr lang="en-US" sz="2000"/>
              <a:t>session.use_cookies (boolean): specifies whether the module will use cookies to store the session id on the client side. Defaults to 1 (enabled).</a:t>
            </a:r>
          </a:p>
          <a:p>
            <a:pPr algn="just"/>
            <a:r>
              <a:rPr lang="en-US" sz="2000"/>
              <a:t>session.use_only_cookies (boolean): specifies whether the module will only use cookies to store the session id on the client side. Enabling this setting prevents attacks involved passing session ids in URLs. This setting was added in PHP 4.3.0. Defaults to 1 (enabled) since PHP 5.3.0.</a:t>
            </a:r>
          </a:p>
          <a:p>
            <a:pPr marL="0" indent="0" algn="just">
              <a:buFont typeface="Arial" pitchFamily="34" charset="0"/>
              <a:buNone/>
            </a:pPr>
            <a:r>
              <a:rPr lang="en-US" sz="2000"/>
              <a:t>If you disable session cookies, a GET parameter is used instead.</a:t>
            </a:r>
            <a:endParaRPr lang="en-US" sz="2000" dirty="0"/>
          </a:p>
        </p:txBody>
      </p:sp>
    </p:spTree>
    <p:extLst>
      <p:ext uri="{BB962C8B-B14F-4D97-AF65-F5344CB8AC3E}">
        <p14:creationId xmlns:p14="http://schemas.microsoft.com/office/powerpoint/2010/main" val="260054191"/>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E73A3019-CFE4-49DD-B6FD-2AFB2DD2DBB6}" type="datetime1">
              <a:rPr lang="en-US" smtClean="0"/>
              <a:t>11/7/2024</a:t>
            </a:fld>
            <a:endParaRPr lang="en-US"/>
          </a:p>
        </p:txBody>
      </p:sp>
      <p:sp>
        <p:nvSpPr>
          <p:cNvPr id="5" name="Footer Placeholder 4"/>
          <p:cNvSpPr>
            <a:spLocks noGrp="1"/>
          </p:cNvSpPr>
          <p:nvPr>
            <p:ph type="ftr" sz="quarter" idx="11"/>
          </p:nvPr>
        </p:nvSpPr>
        <p:spPr>
          <a:xfrm>
            <a:off x="4343400" y="6248401"/>
            <a:ext cx="4724400" cy="365125"/>
          </a:xfrm>
        </p:spPr>
        <p:txBody>
          <a:bodyPr/>
          <a:lstStyle/>
          <a:p>
            <a:r>
              <a:rPr lang="en-US" dirty="0"/>
              <a:t>Vaishali Mishra            ACSE0505 Web Technology                Unit 5</a:t>
            </a:r>
          </a:p>
        </p:txBody>
      </p:sp>
      <p:sp>
        <p:nvSpPr>
          <p:cNvPr id="6" name="Slide Number Placeholder 5"/>
          <p:cNvSpPr>
            <a:spLocks noGrp="1"/>
          </p:cNvSpPr>
          <p:nvPr>
            <p:ph type="sldNum" sz="quarter" idx="12"/>
          </p:nvPr>
        </p:nvSpPr>
        <p:spPr/>
        <p:txBody>
          <a:bodyPr/>
          <a:lstStyle/>
          <a:p>
            <a:fld id="{B6F15528-21DE-4FAA-801E-634DDDAF4B2B}" type="slidenum">
              <a:rPr lang="en-US" smtClean="0"/>
              <a:pPr/>
              <a:t>94</a:t>
            </a:fld>
            <a:endParaRPr lang="en-US"/>
          </a:p>
        </p:txBody>
      </p:sp>
      <p:sp>
        <p:nvSpPr>
          <p:cNvPr id="7" name="Title 1"/>
          <p:cNvSpPr txBox="1">
            <a:spLocks/>
          </p:cNvSpPr>
          <p:nvPr/>
        </p:nvSpPr>
        <p:spPr>
          <a:xfrm>
            <a:off x="2895600" y="2"/>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pPr lvl="0" algn="ctr">
              <a:spcBef>
                <a:spcPct val="0"/>
              </a:spcBef>
              <a:defRPr/>
            </a:pPr>
            <a:r>
              <a:rPr lang="en-IN" sz="2800"/>
              <a:t>Deleting Cookies</a:t>
            </a:r>
            <a:r>
              <a:rPr lang="en-US" sz="2800"/>
              <a:t> (CO5)</a:t>
            </a:r>
            <a:endParaRPr lang="en-US" sz="2800" dirty="0"/>
          </a:p>
        </p:txBody>
      </p:sp>
      <p:pic>
        <p:nvPicPr>
          <p:cNvPr id="2" name="Picture 1" descr="A black and red logo&#10;&#10;Description automatically generated">
            <a:extLst>
              <a:ext uri="{FF2B5EF4-FFF2-40B4-BE49-F238E27FC236}">
                <a16:creationId xmlns:a16="http://schemas.microsoft.com/office/drawing/2014/main" id="{8BDB0671-FC93-5C9E-75A2-ED46EE3FB8B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8" name="Content Placeholder 1">
            <a:extLst>
              <a:ext uri="{FF2B5EF4-FFF2-40B4-BE49-F238E27FC236}">
                <a16:creationId xmlns:a16="http://schemas.microsoft.com/office/drawing/2014/main" id="{1FF5ADF0-474C-251F-0E40-267B658E504A}"/>
              </a:ext>
            </a:extLst>
          </p:cNvPr>
          <p:cNvSpPr txBox="1">
            <a:spLocks noGrp="1"/>
          </p:cNvSpPr>
          <p:nvPr>
            <p:ph idx="1"/>
          </p:nvPr>
        </p:nvSpPr>
        <p:spPr>
          <a:xfrm>
            <a:off x="609600" y="1219200"/>
            <a:ext cx="10515600" cy="4449763"/>
          </a:xfrm>
        </p:spPr>
        <p:txBody>
          <a:bodyPr/>
          <a:lstStyle/>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lgn="ctr">
              <a:spcBef>
                <a:spcPts val="363"/>
              </a:spcBef>
              <a:spcAft>
                <a:spcPct val="0"/>
              </a:spcAft>
              <a:buClr>
                <a:srgbClr val="000000"/>
              </a:buClr>
              <a:buFont typeface="Arial" panose="020B0604020202020204" pitchFamily="34" charset="0"/>
              <a:buNone/>
            </a:pPr>
            <a:r>
              <a:rPr lang="en-IN" sz="2000" b="1" dirty="0">
                <a:latin typeface="Arial" panose="020B0604020202020204" pitchFamily="34" charset="0"/>
                <a:cs typeface="Arial" panose="020B0604020202020204" pitchFamily="34" charset="0"/>
              </a:rPr>
              <a:t> </a:t>
            </a:r>
          </a:p>
        </p:txBody>
      </p:sp>
      <p:sp>
        <p:nvSpPr>
          <p:cNvPr id="3" name="Content Placeholder 2">
            <a:extLst>
              <a:ext uri="{FF2B5EF4-FFF2-40B4-BE49-F238E27FC236}">
                <a16:creationId xmlns:a16="http://schemas.microsoft.com/office/drawing/2014/main" id="{3DD2828A-E21A-70DF-7DB2-D723BAE5531D}"/>
              </a:ext>
            </a:extLst>
          </p:cNvPr>
          <p:cNvSpPr txBox="1">
            <a:spLocks/>
          </p:cNvSpPr>
          <p:nvPr/>
        </p:nvSpPr>
        <p:spPr>
          <a:xfrm>
            <a:off x="228600" y="793750"/>
            <a:ext cx="10896600" cy="5520813"/>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Font typeface="Arial" pitchFamily="34" charset="0"/>
              <a:buNone/>
            </a:pPr>
            <a:r>
              <a:rPr lang="en-US" sz="2000"/>
              <a:t>Use the setcookie() method to delete the cookies. For that, we need to keep the expiry date of the past. We can use the isset() function to check if the cookie has been set before deleting the cookie.</a:t>
            </a:r>
          </a:p>
          <a:p>
            <a:pPr marL="0" indent="0" algn="just">
              <a:buFont typeface="Arial" pitchFamily="34" charset="0"/>
              <a:buNone/>
            </a:pPr>
            <a:endParaRPr lang="en-US" sz="2000"/>
          </a:p>
          <a:p>
            <a:pPr marL="0" indent="0" algn="just">
              <a:buFont typeface="Arial" pitchFamily="34" charset="0"/>
              <a:buNone/>
            </a:pPr>
            <a:r>
              <a:rPr lang="en-US" sz="2000"/>
              <a:t>For example, use the $_COOKI[$cookie_name] variable in the isset() function to check if the above created cookie exist.</a:t>
            </a:r>
          </a:p>
          <a:p>
            <a:pPr marL="0" indent="0" algn="just">
              <a:buFont typeface="Arial" pitchFamily="34" charset="0"/>
              <a:buNone/>
            </a:pPr>
            <a:r>
              <a:rPr lang="en-US" sz="2000"/>
              <a:t>In the if block, use the setcookie() function. Inside the function, set $cookie_name as the first parameter.</a:t>
            </a:r>
          </a:p>
          <a:p>
            <a:pPr marL="0" indent="0" algn="just">
              <a:buFont typeface="Arial" pitchFamily="34" charset="0"/>
              <a:buNone/>
            </a:pPr>
            <a:endParaRPr lang="en-US" sz="2000"/>
          </a:p>
          <a:p>
            <a:pPr marL="400050" lvl="1" indent="0" algn="just">
              <a:buFont typeface="Arial" pitchFamily="34" charset="0"/>
              <a:buNone/>
            </a:pPr>
            <a:r>
              <a:rPr lang="en-US" sz="2000"/>
              <a:t>if(isset($_COOKIE[$cookie_name])) {</a:t>
            </a:r>
          </a:p>
          <a:p>
            <a:pPr marL="400050" lvl="1" indent="0" algn="just">
              <a:buFont typeface="Arial" pitchFamily="34" charset="0"/>
              <a:buNone/>
            </a:pPr>
            <a:r>
              <a:rPr lang="en-US" sz="2000"/>
              <a:t> setcookie($cookie_name, "", time()-3600);</a:t>
            </a:r>
          </a:p>
          <a:p>
            <a:pPr marL="400050" lvl="1" indent="0" algn="just">
              <a:buFont typeface="Arial" pitchFamily="34" charset="0"/>
              <a:buNone/>
            </a:pPr>
            <a:r>
              <a:rPr lang="en-US" sz="2000"/>
              <a:t>}</a:t>
            </a:r>
          </a:p>
          <a:p>
            <a:pPr marL="0" indent="0" algn="just">
              <a:buFont typeface="Arial" pitchFamily="34" charset="0"/>
              <a:buNone/>
            </a:pPr>
            <a:endParaRPr lang="en-US" sz="2000" dirty="0">
              <a:latin typeface="Open Sans"/>
            </a:endParaRPr>
          </a:p>
        </p:txBody>
      </p:sp>
    </p:spTree>
    <p:extLst>
      <p:ext uri="{BB962C8B-B14F-4D97-AF65-F5344CB8AC3E}">
        <p14:creationId xmlns:p14="http://schemas.microsoft.com/office/powerpoint/2010/main" val="779731274"/>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E73A3019-CFE4-49DD-B6FD-2AFB2DD2DBB6}" type="datetime1">
              <a:rPr lang="en-US" smtClean="0"/>
              <a:t>11/7/2024</a:t>
            </a:fld>
            <a:endParaRPr lang="en-US"/>
          </a:p>
        </p:txBody>
      </p:sp>
      <p:sp>
        <p:nvSpPr>
          <p:cNvPr id="5" name="Footer Placeholder 4"/>
          <p:cNvSpPr>
            <a:spLocks noGrp="1"/>
          </p:cNvSpPr>
          <p:nvPr>
            <p:ph type="ftr" sz="quarter" idx="11"/>
          </p:nvPr>
        </p:nvSpPr>
        <p:spPr>
          <a:xfrm>
            <a:off x="4343400" y="6248401"/>
            <a:ext cx="4724400" cy="365125"/>
          </a:xfrm>
        </p:spPr>
        <p:txBody>
          <a:bodyPr/>
          <a:lstStyle/>
          <a:p>
            <a:r>
              <a:rPr lang="en-US" dirty="0"/>
              <a:t>Vaishali Mishra            ACSE0505 Web Technology                Unit 5</a:t>
            </a:r>
          </a:p>
        </p:txBody>
      </p:sp>
      <p:sp>
        <p:nvSpPr>
          <p:cNvPr id="6" name="Slide Number Placeholder 5"/>
          <p:cNvSpPr>
            <a:spLocks noGrp="1"/>
          </p:cNvSpPr>
          <p:nvPr>
            <p:ph type="sldNum" sz="quarter" idx="12"/>
          </p:nvPr>
        </p:nvSpPr>
        <p:spPr/>
        <p:txBody>
          <a:bodyPr/>
          <a:lstStyle/>
          <a:p>
            <a:fld id="{B6F15528-21DE-4FAA-801E-634DDDAF4B2B}" type="slidenum">
              <a:rPr lang="en-US" smtClean="0"/>
              <a:pPr/>
              <a:t>95</a:t>
            </a:fld>
            <a:endParaRPr lang="en-US"/>
          </a:p>
        </p:txBody>
      </p:sp>
      <p:sp>
        <p:nvSpPr>
          <p:cNvPr id="7" name="Title 1"/>
          <p:cNvSpPr txBox="1">
            <a:spLocks/>
          </p:cNvSpPr>
          <p:nvPr/>
        </p:nvSpPr>
        <p:spPr>
          <a:xfrm>
            <a:off x="2895600" y="2"/>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pPr lvl="0" algn="ctr">
              <a:spcBef>
                <a:spcPct val="0"/>
              </a:spcBef>
              <a:defRPr/>
            </a:pPr>
            <a:r>
              <a:rPr lang="en-IN" sz="2800"/>
              <a:t>Deleting Cookies</a:t>
            </a:r>
            <a:r>
              <a:rPr lang="en-US" sz="2800"/>
              <a:t> (CO5)</a:t>
            </a:r>
            <a:endParaRPr lang="en-US" sz="2800" dirty="0"/>
          </a:p>
        </p:txBody>
      </p:sp>
      <p:pic>
        <p:nvPicPr>
          <p:cNvPr id="2" name="Picture 1" descr="A black and red logo&#10;&#10;Description automatically generated">
            <a:extLst>
              <a:ext uri="{FF2B5EF4-FFF2-40B4-BE49-F238E27FC236}">
                <a16:creationId xmlns:a16="http://schemas.microsoft.com/office/drawing/2014/main" id="{8BDB0671-FC93-5C9E-75A2-ED46EE3FB8B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8" name="Content Placeholder 1">
            <a:extLst>
              <a:ext uri="{FF2B5EF4-FFF2-40B4-BE49-F238E27FC236}">
                <a16:creationId xmlns:a16="http://schemas.microsoft.com/office/drawing/2014/main" id="{1FF5ADF0-474C-251F-0E40-267B658E504A}"/>
              </a:ext>
            </a:extLst>
          </p:cNvPr>
          <p:cNvSpPr txBox="1">
            <a:spLocks noGrp="1"/>
          </p:cNvSpPr>
          <p:nvPr>
            <p:ph idx="1"/>
          </p:nvPr>
        </p:nvSpPr>
        <p:spPr>
          <a:xfrm>
            <a:off x="609600" y="1219200"/>
            <a:ext cx="10515600" cy="4449763"/>
          </a:xfrm>
        </p:spPr>
        <p:txBody>
          <a:bodyPr/>
          <a:lstStyle/>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lgn="ctr">
              <a:spcBef>
                <a:spcPts val="363"/>
              </a:spcBef>
              <a:spcAft>
                <a:spcPct val="0"/>
              </a:spcAft>
              <a:buClr>
                <a:srgbClr val="000000"/>
              </a:buClr>
              <a:buFont typeface="Arial" panose="020B0604020202020204" pitchFamily="34" charset="0"/>
              <a:buNone/>
            </a:pPr>
            <a:r>
              <a:rPr lang="en-IN" sz="2000" b="1" dirty="0">
                <a:latin typeface="Arial" panose="020B0604020202020204" pitchFamily="34" charset="0"/>
                <a:cs typeface="Arial" panose="020B0604020202020204" pitchFamily="34" charset="0"/>
              </a:rPr>
              <a:t> </a:t>
            </a:r>
          </a:p>
        </p:txBody>
      </p:sp>
      <p:sp>
        <p:nvSpPr>
          <p:cNvPr id="3" name="Content Placeholder 2">
            <a:extLst>
              <a:ext uri="{FF2B5EF4-FFF2-40B4-BE49-F238E27FC236}">
                <a16:creationId xmlns:a16="http://schemas.microsoft.com/office/drawing/2014/main" id="{FFA959C1-FA36-ADAD-EF21-8D26EBD034B4}"/>
              </a:ext>
            </a:extLst>
          </p:cNvPr>
          <p:cNvSpPr txBox="1">
            <a:spLocks/>
          </p:cNvSpPr>
          <p:nvPr/>
        </p:nvSpPr>
        <p:spPr>
          <a:xfrm>
            <a:off x="152400" y="1189036"/>
            <a:ext cx="10820400" cy="5125527"/>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Font typeface="Arial" pitchFamily="34" charset="0"/>
              <a:buNone/>
            </a:pPr>
            <a:r>
              <a:rPr lang="en-US" sz="2000"/>
              <a:t>We wrote an empty string and time()-3600 for the expiry time for the second parameter.</a:t>
            </a:r>
          </a:p>
          <a:p>
            <a:pPr marL="0" indent="0" algn="just">
              <a:buFont typeface="Arial" pitchFamily="34" charset="0"/>
              <a:buNone/>
            </a:pPr>
            <a:endParaRPr lang="en-US" sz="2000"/>
          </a:p>
          <a:p>
            <a:pPr marL="0" indent="0" algn="just">
              <a:buFont typeface="Arial" pitchFamily="34" charset="0"/>
              <a:buNone/>
            </a:pPr>
            <a:r>
              <a:rPr lang="en-US" sz="2000"/>
              <a:t>As the time() function returns the current time in seconds since Epoch, 3600 subtracted from it will return the past time. Finally, the cookie with the $cookie_name is deleted. We can also use $cookie_name and null value in the setcookie() function to delete the cookies.</a:t>
            </a:r>
          </a:p>
          <a:p>
            <a:pPr marL="0" indent="0" algn="just">
              <a:buFont typeface="Arial" pitchFamily="34" charset="0"/>
              <a:buNone/>
            </a:pPr>
            <a:r>
              <a:rPr lang="en-US" sz="2000"/>
              <a:t>if(isset($_COOKIE[$cookie_name])) {</a:t>
            </a:r>
          </a:p>
          <a:p>
            <a:pPr marL="0" indent="0" algn="just">
              <a:buFont typeface="Arial" pitchFamily="34" charset="0"/>
              <a:buNone/>
            </a:pPr>
            <a:r>
              <a:rPr lang="en-US" sz="2000"/>
              <a:t> setcookie($cookie_name, null);</a:t>
            </a:r>
          </a:p>
          <a:p>
            <a:pPr marL="0" indent="0" algn="just">
              <a:buFont typeface="Arial" pitchFamily="34" charset="0"/>
              <a:buNone/>
            </a:pPr>
            <a:r>
              <a:rPr lang="en-US" sz="2000"/>
              <a:t>}</a:t>
            </a:r>
          </a:p>
          <a:p>
            <a:pPr marL="0" indent="0" algn="just">
              <a:buFont typeface="Arial" pitchFamily="34" charset="0"/>
              <a:buNone/>
            </a:pPr>
            <a:r>
              <a:rPr lang="en-US" sz="2000"/>
              <a:t>Thus, we can use the setcookie() function to delete cookies in PHP.</a:t>
            </a:r>
          </a:p>
          <a:p>
            <a:pPr marL="0" indent="0" algn="just">
              <a:buFont typeface="Arial" pitchFamily="34" charset="0"/>
              <a:buNone/>
            </a:pPr>
            <a:endParaRPr lang="en-US" sz="2000" dirty="0">
              <a:latin typeface="Open Sans"/>
            </a:endParaRPr>
          </a:p>
        </p:txBody>
      </p:sp>
    </p:spTree>
    <p:extLst>
      <p:ext uri="{BB962C8B-B14F-4D97-AF65-F5344CB8AC3E}">
        <p14:creationId xmlns:p14="http://schemas.microsoft.com/office/powerpoint/2010/main" val="3107856436"/>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E73A3019-CFE4-49DD-B6FD-2AFB2DD2DBB6}" type="datetime1">
              <a:rPr lang="en-US" smtClean="0"/>
              <a:t>11/7/2024</a:t>
            </a:fld>
            <a:endParaRPr lang="en-US"/>
          </a:p>
        </p:txBody>
      </p:sp>
      <p:sp>
        <p:nvSpPr>
          <p:cNvPr id="5" name="Footer Placeholder 4"/>
          <p:cNvSpPr>
            <a:spLocks noGrp="1"/>
          </p:cNvSpPr>
          <p:nvPr>
            <p:ph type="ftr" sz="quarter" idx="11"/>
          </p:nvPr>
        </p:nvSpPr>
        <p:spPr>
          <a:xfrm>
            <a:off x="4343400" y="6248401"/>
            <a:ext cx="4724400" cy="365125"/>
          </a:xfrm>
        </p:spPr>
        <p:txBody>
          <a:bodyPr/>
          <a:lstStyle/>
          <a:p>
            <a:r>
              <a:rPr lang="en-US" dirty="0"/>
              <a:t>Vaishali Mishra            ACSE0505 Web Technology                Unit 5</a:t>
            </a:r>
          </a:p>
        </p:txBody>
      </p:sp>
      <p:sp>
        <p:nvSpPr>
          <p:cNvPr id="6" name="Slide Number Placeholder 5"/>
          <p:cNvSpPr>
            <a:spLocks noGrp="1"/>
          </p:cNvSpPr>
          <p:nvPr>
            <p:ph type="sldNum" sz="quarter" idx="12"/>
          </p:nvPr>
        </p:nvSpPr>
        <p:spPr/>
        <p:txBody>
          <a:bodyPr/>
          <a:lstStyle/>
          <a:p>
            <a:fld id="{B6F15528-21DE-4FAA-801E-634DDDAF4B2B}" type="slidenum">
              <a:rPr lang="en-US" smtClean="0"/>
              <a:pPr/>
              <a:t>96</a:t>
            </a:fld>
            <a:endParaRPr lang="en-US"/>
          </a:p>
        </p:txBody>
      </p:sp>
      <p:sp>
        <p:nvSpPr>
          <p:cNvPr id="7" name="Title 1"/>
          <p:cNvSpPr txBox="1">
            <a:spLocks/>
          </p:cNvSpPr>
          <p:nvPr/>
        </p:nvSpPr>
        <p:spPr>
          <a:xfrm>
            <a:off x="2895600" y="2"/>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pPr>
              <a:defRPr/>
            </a:pPr>
            <a:endParaRPr lang="en-IN" sz="2800" dirty="0"/>
          </a:p>
          <a:p>
            <a:pPr>
              <a:defRPr/>
            </a:pPr>
            <a:endParaRPr lang="en-IN" dirty="0"/>
          </a:p>
          <a:p>
            <a:pPr>
              <a:defRPr/>
            </a:pPr>
            <a:r>
              <a:rPr lang="en-IN" sz="2800" dirty="0"/>
              <a:t>Registering Session variables</a:t>
            </a:r>
            <a:r>
              <a:rPr lang="en-US" sz="2800" dirty="0"/>
              <a:t> (CO5)</a:t>
            </a:r>
          </a:p>
          <a:p>
            <a:pPr>
              <a:defRPr/>
            </a:pPr>
            <a:endParaRPr lang="en-US" sz="2800" dirty="0"/>
          </a:p>
          <a:p>
            <a:pPr algn="ctr">
              <a:defRPr/>
            </a:pPr>
            <a:endParaRPr lang="en-US" sz="2800" dirty="0">
              <a:latin typeface="Times New Roman" pitchFamily="18" charset="0"/>
              <a:cs typeface="Times New Roman" pitchFamily="18" charset="0"/>
              <a:sym typeface="Arial" charset="0"/>
            </a:endParaRPr>
          </a:p>
        </p:txBody>
      </p:sp>
      <p:pic>
        <p:nvPicPr>
          <p:cNvPr id="2" name="Picture 1" descr="A black and red logo&#10;&#10;Description automatically generated">
            <a:extLst>
              <a:ext uri="{FF2B5EF4-FFF2-40B4-BE49-F238E27FC236}">
                <a16:creationId xmlns:a16="http://schemas.microsoft.com/office/drawing/2014/main" id="{8BDB0671-FC93-5C9E-75A2-ED46EE3FB8B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8" name="Content Placeholder 1">
            <a:extLst>
              <a:ext uri="{FF2B5EF4-FFF2-40B4-BE49-F238E27FC236}">
                <a16:creationId xmlns:a16="http://schemas.microsoft.com/office/drawing/2014/main" id="{1FF5ADF0-474C-251F-0E40-267B658E504A}"/>
              </a:ext>
            </a:extLst>
          </p:cNvPr>
          <p:cNvSpPr txBox="1">
            <a:spLocks noGrp="1"/>
          </p:cNvSpPr>
          <p:nvPr>
            <p:ph idx="1"/>
          </p:nvPr>
        </p:nvSpPr>
        <p:spPr>
          <a:xfrm>
            <a:off x="609600" y="1219200"/>
            <a:ext cx="10515600" cy="4449763"/>
          </a:xfrm>
        </p:spPr>
        <p:txBody>
          <a:bodyPr/>
          <a:lstStyle/>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lgn="ctr">
              <a:spcBef>
                <a:spcPts val="363"/>
              </a:spcBef>
              <a:spcAft>
                <a:spcPct val="0"/>
              </a:spcAft>
              <a:buClr>
                <a:srgbClr val="000000"/>
              </a:buClr>
              <a:buFont typeface="Arial" panose="020B0604020202020204" pitchFamily="34" charset="0"/>
              <a:buNone/>
            </a:pPr>
            <a:r>
              <a:rPr lang="en-IN" sz="2000" b="1" dirty="0">
                <a:latin typeface="Arial" panose="020B0604020202020204" pitchFamily="34" charset="0"/>
                <a:cs typeface="Arial" panose="020B0604020202020204" pitchFamily="34" charset="0"/>
              </a:rPr>
              <a:t> </a:t>
            </a:r>
          </a:p>
        </p:txBody>
      </p:sp>
      <p:sp>
        <p:nvSpPr>
          <p:cNvPr id="3" name="Content Placeholder 2">
            <a:extLst>
              <a:ext uri="{FF2B5EF4-FFF2-40B4-BE49-F238E27FC236}">
                <a16:creationId xmlns:a16="http://schemas.microsoft.com/office/drawing/2014/main" id="{FDDBE381-1B1D-C13D-DE2E-DC3212116DE4}"/>
              </a:ext>
            </a:extLst>
          </p:cNvPr>
          <p:cNvSpPr txBox="1">
            <a:spLocks/>
          </p:cNvSpPr>
          <p:nvPr/>
        </p:nvSpPr>
        <p:spPr>
          <a:xfrm>
            <a:off x="62681" y="1189036"/>
            <a:ext cx="11062519" cy="5125527"/>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just" fontAlgn="base"/>
            <a:r>
              <a:rPr lang="en-US" sz="2000"/>
              <a:t>The PHP session is required so that you can store the user information and use it on different pages of the browser. </a:t>
            </a:r>
          </a:p>
          <a:p>
            <a:pPr algn="just" fontAlgn="base"/>
            <a:r>
              <a:rPr lang="en-US" sz="2000"/>
              <a:t>It creates a session with the name or any other useful information you want to store and access on different pages. </a:t>
            </a:r>
          </a:p>
          <a:p>
            <a:pPr algn="just" fontAlgn="base"/>
            <a:r>
              <a:rPr lang="en-US" sz="2000"/>
              <a:t>Even after your page is closed you can access the information until the browser does not close. </a:t>
            </a:r>
          </a:p>
          <a:p>
            <a:pPr algn="just" fontAlgn="base"/>
            <a:r>
              <a:rPr lang="en-US" sz="2000"/>
              <a:t>This is an important thing to understand if a browser is closed then the session is automatically destroyed. </a:t>
            </a:r>
            <a:endParaRPr lang="en-US" sz="2000" dirty="0"/>
          </a:p>
        </p:txBody>
      </p:sp>
    </p:spTree>
    <p:extLst>
      <p:ext uri="{BB962C8B-B14F-4D97-AF65-F5344CB8AC3E}">
        <p14:creationId xmlns:p14="http://schemas.microsoft.com/office/powerpoint/2010/main" val="1164720730"/>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E73A3019-CFE4-49DD-B6FD-2AFB2DD2DBB6}" type="datetime1">
              <a:rPr lang="en-US" smtClean="0"/>
              <a:t>11/7/2024</a:t>
            </a:fld>
            <a:endParaRPr lang="en-US"/>
          </a:p>
        </p:txBody>
      </p:sp>
      <p:sp>
        <p:nvSpPr>
          <p:cNvPr id="5" name="Footer Placeholder 4"/>
          <p:cNvSpPr>
            <a:spLocks noGrp="1"/>
          </p:cNvSpPr>
          <p:nvPr>
            <p:ph type="ftr" sz="quarter" idx="11"/>
          </p:nvPr>
        </p:nvSpPr>
        <p:spPr>
          <a:xfrm>
            <a:off x="4343400" y="6248401"/>
            <a:ext cx="4724400" cy="365125"/>
          </a:xfrm>
        </p:spPr>
        <p:txBody>
          <a:bodyPr/>
          <a:lstStyle/>
          <a:p>
            <a:r>
              <a:rPr lang="en-US" dirty="0"/>
              <a:t>Vaishali Mishra            ACSE0505 Web Technology                Unit 5</a:t>
            </a:r>
          </a:p>
        </p:txBody>
      </p:sp>
      <p:sp>
        <p:nvSpPr>
          <p:cNvPr id="6" name="Slide Number Placeholder 5"/>
          <p:cNvSpPr>
            <a:spLocks noGrp="1"/>
          </p:cNvSpPr>
          <p:nvPr>
            <p:ph type="sldNum" sz="quarter" idx="12"/>
          </p:nvPr>
        </p:nvSpPr>
        <p:spPr/>
        <p:txBody>
          <a:bodyPr/>
          <a:lstStyle/>
          <a:p>
            <a:fld id="{B6F15528-21DE-4FAA-801E-634DDDAF4B2B}" type="slidenum">
              <a:rPr lang="en-US" smtClean="0"/>
              <a:pPr/>
              <a:t>97</a:t>
            </a:fld>
            <a:endParaRPr lang="en-US"/>
          </a:p>
        </p:txBody>
      </p:sp>
      <p:sp>
        <p:nvSpPr>
          <p:cNvPr id="7" name="Title 1"/>
          <p:cNvSpPr txBox="1">
            <a:spLocks/>
          </p:cNvSpPr>
          <p:nvPr/>
        </p:nvSpPr>
        <p:spPr>
          <a:xfrm>
            <a:off x="2895600" y="2"/>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pPr lvl="0" algn="ctr">
              <a:spcBef>
                <a:spcPct val="0"/>
              </a:spcBef>
              <a:defRPr/>
            </a:pPr>
            <a:r>
              <a:rPr lang="en-IN" sz="2800"/>
              <a:t>Registering Session variables</a:t>
            </a:r>
            <a:r>
              <a:rPr lang="en-US" sz="2800"/>
              <a:t> (CO5)</a:t>
            </a:r>
            <a:endParaRPr lang="en-US" sz="2800" dirty="0"/>
          </a:p>
        </p:txBody>
      </p:sp>
      <p:pic>
        <p:nvPicPr>
          <p:cNvPr id="2" name="Picture 1" descr="A black and red logo&#10;&#10;Description automatically generated">
            <a:extLst>
              <a:ext uri="{FF2B5EF4-FFF2-40B4-BE49-F238E27FC236}">
                <a16:creationId xmlns:a16="http://schemas.microsoft.com/office/drawing/2014/main" id="{8BDB0671-FC93-5C9E-75A2-ED46EE3FB8B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8" name="Content Placeholder 1">
            <a:extLst>
              <a:ext uri="{FF2B5EF4-FFF2-40B4-BE49-F238E27FC236}">
                <a16:creationId xmlns:a16="http://schemas.microsoft.com/office/drawing/2014/main" id="{1FF5ADF0-474C-251F-0E40-267B658E504A}"/>
              </a:ext>
            </a:extLst>
          </p:cNvPr>
          <p:cNvSpPr txBox="1">
            <a:spLocks noGrp="1"/>
          </p:cNvSpPr>
          <p:nvPr>
            <p:ph idx="1"/>
          </p:nvPr>
        </p:nvSpPr>
        <p:spPr>
          <a:xfrm>
            <a:off x="609600" y="1219200"/>
            <a:ext cx="10515600" cy="4449763"/>
          </a:xfrm>
        </p:spPr>
        <p:txBody>
          <a:bodyPr/>
          <a:lstStyle/>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lgn="ctr">
              <a:spcBef>
                <a:spcPts val="363"/>
              </a:spcBef>
              <a:spcAft>
                <a:spcPct val="0"/>
              </a:spcAft>
              <a:buClr>
                <a:srgbClr val="000000"/>
              </a:buClr>
              <a:buFont typeface="Arial" panose="020B0604020202020204" pitchFamily="34" charset="0"/>
              <a:buNone/>
            </a:pPr>
            <a:r>
              <a:rPr lang="en-IN" sz="2000" b="1" dirty="0">
                <a:latin typeface="Arial" panose="020B0604020202020204" pitchFamily="34" charset="0"/>
                <a:cs typeface="Arial" panose="020B0604020202020204" pitchFamily="34" charset="0"/>
              </a:rPr>
              <a:t> </a:t>
            </a:r>
          </a:p>
        </p:txBody>
      </p:sp>
      <p:sp>
        <p:nvSpPr>
          <p:cNvPr id="3" name="Content Placeholder 2">
            <a:extLst>
              <a:ext uri="{FF2B5EF4-FFF2-40B4-BE49-F238E27FC236}">
                <a16:creationId xmlns:a16="http://schemas.microsoft.com/office/drawing/2014/main" id="{86A10DF6-D428-1B04-476F-02683BD79443}"/>
              </a:ext>
            </a:extLst>
          </p:cNvPr>
          <p:cNvSpPr txBox="1">
            <a:spLocks/>
          </p:cNvSpPr>
          <p:nvPr/>
        </p:nvSpPr>
        <p:spPr>
          <a:xfrm>
            <a:off x="62681" y="947268"/>
            <a:ext cx="11062519" cy="5367296"/>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just" fontAlgn="base"/>
            <a:r>
              <a:rPr lang="en-US" sz="2000"/>
              <a:t>We can create the session by writing session_start()</a:t>
            </a:r>
            <a:r>
              <a:rPr lang="en-US" sz="2000" b="1" u="sng"/>
              <a:t> </a:t>
            </a:r>
            <a:r>
              <a:rPr lang="en-US" sz="2000"/>
              <a:t>and destroy the session by using session_destroy(). You can access the session variable by writing $_session[“name”].</a:t>
            </a:r>
          </a:p>
          <a:p>
            <a:pPr marL="0" indent="0" algn="just">
              <a:buFont typeface="Arial" pitchFamily="34" charset="0"/>
              <a:buNone/>
            </a:pPr>
            <a:r>
              <a:rPr lang="en-US" sz="2000"/>
              <a:t>&lt;?php</a:t>
            </a:r>
          </a:p>
          <a:p>
            <a:pPr marL="0" indent="0" algn="just">
              <a:buFont typeface="Arial" pitchFamily="34" charset="0"/>
              <a:buNone/>
            </a:pPr>
            <a:r>
              <a:rPr lang="en-US" sz="2000"/>
              <a:t>   // Starting session</a:t>
            </a:r>
          </a:p>
          <a:p>
            <a:pPr marL="0" indent="0" algn="just">
              <a:buFont typeface="Arial" pitchFamily="34" charset="0"/>
              <a:buNone/>
            </a:pPr>
            <a:r>
              <a:rPr lang="en-US" sz="2000"/>
              <a:t>    session_start();</a:t>
            </a:r>
          </a:p>
          <a:p>
            <a:pPr marL="0" indent="0" algn="just">
              <a:buFont typeface="Arial" pitchFamily="34" charset="0"/>
              <a:buNone/>
            </a:pPr>
            <a:r>
              <a:rPr lang="en-US" sz="2000"/>
              <a:t>   // Use of session_register() is deprecated</a:t>
            </a:r>
          </a:p>
          <a:p>
            <a:pPr marL="0" indent="0" algn="just">
              <a:buFont typeface="Arial" pitchFamily="34" charset="0"/>
              <a:buNone/>
            </a:pPr>
            <a:r>
              <a:rPr lang="en-US" sz="2000"/>
              <a:t>    $username = "PhpScots";</a:t>
            </a:r>
          </a:p>
          <a:p>
            <a:pPr marL="0" indent="0" algn="just">
              <a:buFont typeface="Arial" pitchFamily="34" charset="0"/>
              <a:buNone/>
            </a:pPr>
            <a:r>
              <a:rPr lang="en-US" sz="2000"/>
              <a:t>    session_register("username");</a:t>
            </a:r>
          </a:p>
          <a:p>
            <a:pPr marL="0" indent="0" algn="just">
              <a:buFont typeface="Arial" pitchFamily="34" charset="0"/>
              <a:buNone/>
            </a:pPr>
            <a:r>
              <a:rPr lang="en-US" sz="2000"/>
              <a:t>   // Use of $_SESSION is preferred</a:t>
            </a:r>
          </a:p>
          <a:p>
            <a:pPr marL="0" indent="0" algn="just">
              <a:buFont typeface="Arial" pitchFamily="34" charset="0"/>
              <a:buNone/>
            </a:pPr>
            <a:r>
              <a:rPr lang="en-US" sz="2000"/>
              <a:t>    $_SESSION["username"] = "PhpScots";</a:t>
            </a:r>
          </a:p>
          <a:p>
            <a:pPr marL="0" indent="0" algn="just">
              <a:buFont typeface="Arial" pitchFamily="34" charset="0"/>
              <a:buNone/>
            </a:pPr>
            <a:r>
              <a:rPr lang="en-US" sz="2000"/>
              <a:t>?&gt;</a:t>
            </a:r>
            <a:endParaRPr lang="en-US" sz="2000" dirty="0"/>
          </a:p>
        </p:txBody>
      </p:sp>
    </p:spTree>
    <p:extLst>
      <p:ext uri="{BB962C8B-B14F-4D97-AF65-F5344CB8AC3E}">
        <p14:creationId xmlns:p14="http://schemas.microsoft.com/office/powerpoint/2010/main" val="3920006436"/>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E73A3019-CFE4-49DD-B6FD-2AFB2DD2DBB6}" type="datetime1">
              <a:rPr lang="en-US" smtClean="0"/>
              <a:t>11/7/2024</a:t>
            </a:fld>
            <a:endParaRPr lang="en-US"/>
          </a:p>
        </p:txBody>
      </p:sp>
      <p:sp>
        <p:nvSpPr>
          <p:cNvPr id="5" name="Footer Placeholder 4"/>
          <p:cNvSpPr>
            <a:spLocks noGrp="1"/>
          </p:cNvSpPr>
          <p:nvPr>
            <p:ph type="ftr" sz="quarter" idx="11"/>
          </p:nvPr>
        </p:nvSpPr>
        <p:spPr>
          <a:xfrm>
            <a:off x="4343400" y="6248401"/>
            <a:ext cx="4724400" cy="365125"/>
          </a:xfrm>
        </p:spPr>
        <p:txBody>
          <a:bodyPr/>
          <a:lstStyle/>
          <a:p>
            <a:r>
              <a:rPr lang="en-US" dirty="0"/>
              <a:t>Vaishali Mishra            ACSE0505 Web Technology                Unit 5</a:t>
            </a:r>
          </a:p>
        </p:txBody>
      </p:sp>
      <p:sp>
        <p:nvSpPr>
          <p:cNvPr id="6" name="Slide Number Placeholder 5"/>
          <p:cNvSpPr>
            <a:spLocks noGrp="1"/>
          </p:cNvSpPr>
          <p:nvPr>
            <p:ph type="sldNum" sz="quarter" idx="12"/>
          </p:nvPr>
        </p:nvSpPr>
        <p:spPr/>
        <p:txBody>
          <a:bodyPr/>
          <a:lstStyle/>
          <a:p>
            <a:fld id="{B6F15528-21DE-4FAA-801E-634DDDAF4B2B}" type="slidenum">
              <a:rPr lang="en-US" smtClean="0"/>
              <a:pPr/>
              <a:t>98</a:t>
            </a:fld>
            <a:endParaRPr lang="en-US"/>
          </a:p>
        </p:txBody>
      </p:sp>
      <p:sp>
        <p:nvSpPr>
          <p:cNvPr id="7" name="Title 1"/>
          <p:cNvSpPr txBox="1">
            <a:spLocks/>
          </p:cNvSpPr>
          <p:nvPr/>
        </p:nvSpPr>
        <p:spPr>
          <a:xfrm>
            <a:off x="2895600" y="2"/>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pPr>
              <a:defRPr/>
            </a:pPr>
            <a:endParaRPr lang="en-IN" sz="2800" dirty="0"/>
          </a:p>
          <a:p>
            <a:pPr>
              <a:defRPr/>
            </a:pPr>
            <a:endParaRPr lang="en-IN" dirty="0"/>
          </a:p>
          <a:p>
            <a:pPr>
              <a:defRPr/>
            </a:pPr>
            <a:r>
              <a:rPr lang="en-IN" sz="2800" dirty="0"/>
              <a:t>Destroying the variables and Session</a:t>
            </a:r>
            <a:r>
              <a:rPr lang="en-US" sz="2800" b="1" dirty="0"/>
              <a:t> (CO5)</a:t>
            </a:r>
          </a:p>
          <a:p>
            <a:pPr>
              <a:defRPr/>
            </a:pPr>
            <a:endParaRPr lang="en-US" sz="2800" dirty="0"/>
          </a:p>
          <a:p>
            <a:pPr algn="ctr">
              <a:defRPr/>
            </a:pPr>
            <a:endParaRPr lang="en-US" sz="2800" dirty="0">
              <a:latin typeface="Times New Roman" pitchFamily="18" charset="0"/>
              <a:cs typeface="Times New Roman" pitchFamily="18" charset="0"/>
              <a:sym typeface="Arial" charset="0"/>
            </a:endParaRPr>
          </a:p>
        </p:txBody>
      </p:sp>
      <p:pic>
        <p:nvPicPr>
          <p:cNvPr id="2" name="Picture 1" descr="A black and red logo&#10;&#10;Description automatically generated">
            <a:extLst>
              <a:ext uri="{FF2B5EF4-FFF2-40B4-BE49-F238E27FC236}">
                <a16:creationId xmlns:a16="http://schemas.microsoft.com/office/drawing/2014/main" id="{8BDB0671-FC93-5C9E-75A2-ED46EE3FB8B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8" name="Content Placeholder 1">
            <a:extLst>
              <a:ext uri="{FF2B5EF4-FFF2-40B4-BE49-F238E27FC236}">
                <a16:creationId xmlns:a16="http://schemas.microsoft.com/office/drawing/2014/main" id="{1FF5ADF0-474C-251F-0E40-267B658E504A}"/>
              </a:ext>
            </a:extLst>
          </p:cNvPr>
          <p:cNvSpPr txBox="1">
            <a:spLocks noGrp="1"/>
          </p:cNvSpPr>
          <p:nvPr>
            <p:ph idx="1"/>
          </p:nvPr>
        </p:nvSpPr>
        <p:spPr>
          <a:xfrm>
            <a:off x="609600" y="1219200"/>
            <a:ext cx="10515600" cy="4449763"/>
          </a:xfrm>
        </p:spPr>
        <p:txBody>
          <a:bodyPr/>
          <a:lstStyle/>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lgn="ctr">
              <a:spcBef>
                <a:spcPts val="363"/>
              </a:spcBef>
              <a:spcAft>
                <a:spcPct val="0"/>
              </a:spcAft>
              <a:buClr>
                <a:srgbClr val="000000"/>
              </a:buClr>
              <a:buFont typeface="Arial" panose="020B0604020202020204" pitchFamily="34" charset="0"/>
              <a:buNone/>
            </a:pPr>
            <a:r>
              <a:rPr lang="en-IN" sz="2000" b="1" dirty="0">
                <a:latin typeface="Arial" panose="020B0604020202020204" pitchFamily="34" charset="0"/>
                <a:cs typeface="Arial" panose="020B0604020202020204" pitchFamily="34" charset="0"/>
              </a:rPr>
              <a:t> </a:t>
            </a:r>
          </a:p>
        </p:txBody>
      </p:sp>
      <p:sp>
        <p:nvSpPr>
          <p:cNvPr id="3" name="Content Placeholder 2">
            <a:extLst>
              <a:ext uri="{FF2B5EF4-FFF2-40B4-BE49-F238E27FC236}">
                <a16:creationId xmlns:a16="http://schemas.microsoft.com/office/drawing/2014/main" id="{EF10FA81-584E-0612-0827-9AD8C3895246}"/>
              </a:ext>
            </a:extLst>
          </p:cNvPr>
          <p:cNvSpPr txBox="1">
            <a:spLocks/>
          </p:cNvSpPr>
          <p:nvPr/>
        </p:nvSpPr>
        <p:spPr>
          <a:xfrm>
            <a:off x="685800" y="1055218"/>
            <a:ext cx="9677400" cy="5259346"/>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fontAlgn="base">
              <a:buFont typeface="Arial" pitchFamily="34" charset="0"/>
              <a:buNone/>
            </a:pPr>
            <a:r>
              <a:rPr lang="en-US" sz="2000" b="1"/>
              <a:t>Destroying the Variable-</a:t>
            </a:r>
            <a:r>
              <a:rPr lang="en-US" sz="2000"/>
              <a:t> The unset() function in PHP resets any variable. If unset() is called inside a user-defined function, it unsets the local variables. </a:t>
            </a:r>
          </a:p>
          <a:p>
            <a:pPr marL="0" indent="0" algn="just" fontAlgn="base">
              <a:buFont typeface="Arial" pitchFamily="34" charset="0"/>
              <a:buNone/>
            </a:pPr>
            <a:r>
              <a:rPr lang="en-US" sz="2000"/>
              <a:t>If a user wants to unset the global variable inside the function, then he/she has to use $GLOBALS array to do so. The unset() function has no return value.</a:t>
            </a:r>
          </a:p>
          <a:p>
            <a:pPr marL="0" indent="0" algn="just" fontAlgn="base">
              <a:buFont typeface="Arial" pitchFamily="34" charset="0"/>
              <a:buNone/>
            </a:pPr>
            <a:endParaRPr lang="en-US" sz="2000" dirty="0">
              <a:latin typeface="Open Sans"/>
            </a:endParaRPr>
          </a:p>
        </p:txBody>
      </p:sp>
    </p:spTree>
    <p:extLst>
      <p:ext uri="{BB962C8B-B14F-4D97-AF65-F5344CB8AC3E}">
        <p14:creationId xmlns:p14="http://schemas.microsoft.com/office/powerpoint/2010/main" val="3165845107"/>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E73A3019-CFE4-49DD-B6FD-2AFB2DD2DBB6}" type="datetime1">
              <a:rPr lang="en-US" smtClean="0"/>
              <a:t>11/7/2024</a:t>
            </a:fld>
            <a:endParaRPr lang="en-US"/>
          </a:p>
        </p:txBody>
      </p:sp>
      <p:sp>
        <p:nvSpPr>
          <p:cNvPr id="5" name="Footer Placeholder 4"/>
          <p:cNvSpPr>
            <a:spLocks noGrp="1"/>
          </p:cNvSpPr>
          <p:nvPr>
            <p:ph type="ftr" sz="quarter" idx="11"/>
          </p:nvPr>
        </p:nvSpPr>
        <p:spPr>
          <a:xfrm>
            <a:off x="4343400" y="6248401"/>
            <a:ext cx="4724400" cy="365125"/>
          </a:xfrm>
        </p:spPr>
        <p:txBody>
          <a:bodyPr/>
          <a:lstStyle/>
          <a:p>
            <a:r>
              <a:rPr lang="en-US" dirty="0"/>
              <a:t>Vaishali Mishra            ACSE0505 Web Technology                Unit 5</a:t>
            </a:r>
          </a:p>
        </p:txBody>
      </p:sp>
      <p:sp>
        <p:nvSpPr>
          <p:cNvPr id="6" name="Slide Number Placeholder 5"/>
          <p:cNvSpPr>
            <a:spLocks noGrp="1"/>
          </p:cNvSpPr>
          <p:nvPr>
            <p:ph type="sldNum" sz="quarter" idx="12"/>
          </p:nvPr>
        </p:nvSpPr>
        <p:spPr/>
        <p:txBody>
          <a:bodyPr/>
          <a:lstStyle/>
          <a:p>
            <a:fld id="{B6F15528-21DE-4FAA-801E-634DDDAF4B2B}" type="slidenum">
              <a:rPr lang="en-US" smtClean="0"/>
              <a:pPr/>
              <a:t>99</a:t>
            </a:fld>
            <a:endParaRPr lang="en-US"/>
          </a:p>
        </p:txBody>
      </p:sp>
      <p:sp>
        <p:nvSpPr>
          <p:cNvPr id="7" name="Title 1"/>
          <p:cNvSpPr txBox="1">
            <a:spLocks/>
          </p:cNvSpPr>
          <p:nvPr/>
        </p:nvSpPr>
        <p:spPr>
          <a:xfrm>
            <a:off x="2895600" y="2"/>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pPr>
              <a:defRPr/>
            </a:pPr>
            <a:endParaRPr lang="en-IN" sz="2800" dirty="0"/>
          </a:p>
          <a:p>
            <a:pPr>
              <a:defRPr/>
            </a:pPr>
            <a:endParaRPr lang="en-IN" dirty="0"/>
          </a:p>
          <a:p>
            <a:pPr>
              <a:defRPr/>
            </a:pPr>
            <a:r>
              <a:rPr lang="en-IN" sz="2800" dirty="0"/>
              <a:t>Destroying the variables and Session</a:t>
            </a:r>
            <a:r>
              <a:rPr lang="en-US" sz="2800" b="1" dirty="0"/>
              <a:t> (CO5)</a:t>
            </a:r>
          </a:p>
          <a:p>
            <a:pPr>
              <a:defRPr/>
            </a:pPr>
            <a:endParaRPr lang="en-US" sz="2800" dirty="0"/>
          </a:p>
          <a:p>
            <a:pPr algn="ctr">
              <a:defRPr/>
            </a:pPr>
            <a:endParaRPr lang="en-US" sz="2800" dirty="0">
              <a:latin typeface="Times New Roman" pitchFamily="18" charset="0"/>
              <a:cs typeface="Times New Roman" pitchFamily="18" charset="0"/>
              <a:sym typeface="Arial" charset="0"/>
            </a:endParaRPr>
          </a:p>
        </p:txBody>
      </p:sp>
      <p:pic>
        <p:nvPicPr>
          <p:cNvPr id="2" name="Picture 1" descr="A black and red logo&#10;&#10;Description automatically generated">
            <a:extLst>
              <a:ext uri="{FF2B5EF4-FFF2-40B4-BE49-F238E27FC236}">
                <a16:creationId xmlns:a16="http://schemas.microsoft.com/office/drawing/2014/main" id="{8BDB0671-FC93-5C9E-75A2-ED46EE3FB8B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8" name="Content Placeholder 1">
            <a:extLst>
              <a:ext uri="{FF2B5EF4-FFF2-40B4-BE49-F238E27FC236}">
                <a16:creationId xmlns:a16="http://schemas.microsoft.com/office/drawing/2014/main" id="{1FF5ADF0-474C-251F-0E40-267B658E504A}"/>
              </a:ext>
            </a:extLst>
          </p:cNvPr>
          <p:cNvSpPr txBox="1">
            <a:spLocks noGrp="1"/>
          </p:cNvSpPr>
          <p:nvPr>
            <p:ph idx="1"/>
          </p:nvPr>
        </p:nvSpPr>
        <p:spPr>
          <a:xfrm>
            <a:off x="609600" y="1219200"/>
            <a:ext cx="10515600" cy="4449763"/>
          </a:xfrm>
        </p:spPr>
        <p:txBody>
          <a:bodyPr/>
          <a:lstStyle/>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lgn="ctr">
              <a:spcBef>
                <a:spcPts val="363"/>
              </a:spcBef>
              <a:spcAft>
                <a:spcPct val="0"/>
              </a:spcAft>
              <a:buClr>
                <a:srgbClr val="000000"/>
              </a:buClr>
              <a:buFont typeface="Arial" panose="020B0604020202020204" pitchFamily="34" charset="0"/>
              <a:buNone/>
            </a:pPr>
            <a:r>
              <a:rPr lang="en-IN" sz="2000" b="1" dirty="0">
                <a:latin typeface="Arial" panose="020B0604020202020204" pitchFamily="34" charset="0"/>
                <a:cs typeface="Arial" panose="020B0604020202020204" pitchFamily="34" charset="0"/>
              </a:rPr>
              <a:t> </a:t>
            </a:r>
          </a:p>
        </p:txBody>
      </p:sp>
      <p:sp>
        <p:nvSpPr>
          <p:cNvPr id="3" name="Content Placeholder 2">
            <a:extLst>
              <a:ext uri="{FF2B5EF4-FFF2-40B4-BE49-F238E27FC236}">
                <a16:creationId xmlns:a16="http://schemas.microsoft.com/office/drawing/2014/main" id="{7AEBE161-8FC3-AF5A-994D-9ABA5F9B704F}"/>
              </a:ext>
            </a:extLst>
          </p:cNvPr>
          <p:cNvSpPr txBox="1">
            <a:spLocks/>
          </p:cNvSpPr>
          <p:nvPr/>
        </p:nvSpPr>
        <p:spPr>
          <a:xfrm>
            <a:off x="381000" y="1055218"/>
            <a:ext cx="10896600" cy="5259346"/>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fontAlgn="base">
              <a:buFont typeface="Arial" pitchFamily="34" charset="0"/>
              <a:buNone/>
            </a:pPr>
            <a:r>
              <a:rPr lang="en-US" sz="2000" b="1"/>
              <a:t>Destroying the Session-</a:t>
            </a:r>
            <a:r>
              <a:rPr lang="en-US" sz="2000"/>
              <a:t> A PHP session can be destroyed by session_destroy() function. This function does not need any argument and a single call can destroy all the session variables. If you want to destroy a single session variable then you can use unset() function to unset a session variable. Here is the example to unset a single variable −</a:t>
            </a:r>
          </a:p>
          <a:p>
            <a:pPr lvl="1" algn="just" fontAlgn="base"/>
            <a:r>
              <a:rPr lang="en-US" sz="2000"/>
              <a:t>&lt;?php</a:t>
            </a:r>
          </a:p>
          <a:p>
            <a:pPr lvl="1" algn="just" fontAlgn="base"/>
            <a:r>
              <a:rPr lang="en-US" sz="2000"/>
              <a:t>   unset($_SESSION['counter']);</a:t>
            </a:r>
          </a:p>
          <a:p>
            <a:pPr lvl="1" algn="just" fontAlgn="base"/>
            <a:r>
              <a:rPr lang="en-US" sz="2000"/>
              <a:t>?&gt;</a:t>
            </a:r>
          </a:p>
          <a:p>
            <a:pPr lvl="1" algn="just" fontAlgn="base"/>
            <a:r>
              <a:rPr lang="en-US" sz="2000"/>
              <a:t>Here is the call which will destroy all the session variables −</a:t>
            </a:r>
          </a:p>
          <a:p>
            <a:pPr lvl="1" algn="just" fontAlgn="base"/>
            <a:endParaRPr lang="en-US" sz="2000"/>
          </a:p>
          <a:p>
            <a:pPr lvl="1" algn="just" fontAlgn="base"/>
            <a:r>
              <a:rPr lang="en-US" sz="2000"/>
              <a:t>&lt;?php</a:t>
            </a:r>
          </a:p>
          <a:p>
            <a:pPr lvl="1" algn="just" fontAlgn="base"/>
            <a:r>
              <a:rPr lang="en-US" sz="2000"/>
              <a:t>   session_destroy();</a:t>
            </a:r>
          </a:p>
          <a:p>
            <a:pPr lvl="1" algn="just" fontAlgn="base"/>
            <a:r>
              <a:rPr lang="en-US" sz="2000"/>
              <a:t>?&gt;</a:t>
            </a:r>
            <a:endParaRPr lang="en-US" sz="2000" dirty="0">
              <a:latin typeface="Open Sans"/>
            </a:endParaRPr>
          </a:p>
        </p:txBody>
      </p:sp>
    </p:spTree>
    <p:extLst>
      <p:ext uri="{BB962C8B-B14F-4D97-AF65-F5344CB8AC3E}">
        <p14:creationId xmlns:p14="http://schemas.microsoft.com/office/powerpoint/2010/main" val="3753649489"/>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E73A3019-CFE4-49DD-B6FD-2AFB2DD2DBB6}" type="datetime1">
              <a:rPr lang="en-US" smtClean="0"/>
              <a:t>11/7/2024</a:t>
            </a:fld>
            <a:endParaRPr lang="en-US"/>
          </a:p>
        </p:txBody>
      </p:sp>
      <p:sp>
        <p:nvSpPr>
          <p:cNvPr id="5" name="Footer Placeholder 4"/>
          <p:cNvSpPr>
            <a:spLocks noGrp="1"/>
          </p:cNvSpPr>
          <p:nvPr>
            <p:ph type="ftr" sz="quarter" idx="11"/>
          </p:nvPr>
        </p:nvSpPr>
        <p:spPr>
          <a:xfrm>
            <a:off x="4343400" y="6248401"/>
            <a:ext cx="4724400" cy="365125"/>
          </a:xfrm>
        </p:spPr>
        <p:txBody>
          <a:bodyPr/>
          <a:lstStyle/>
          <a:p>
            <a:r>
              <a:rPr lang="en-US" dirty="0"/>
              <a:t>Vaishali Mishra            ACSE0505 Web Technology                Unit 5</a:t>
            </a:r>
          </a:p>
        </p:txBody>
      </p:sp>
      <p:sp>
        <p:nvSpPr>
          <p:cNvPr id="6" name="Slide Number Placeholder 5"/>
          <p:cNvSpPr>
            <a:spLocks noGrp="1"/>
          </p:cNvSpPr>
          <p:nvPr>
            <p:ph type="sldNum" sz="quarter" idx="12"/>
          </p:nvPr>
        </p:nvSpPr>
        <p:spPr/>
        <p:txBody>
          <a:bodyPr/>
          <a:lstStyle/>
          <a:p>
            <a:fld id="{B6F15528-21DE-4FAA-801E-634DDDAF4B2B}" type="slidenum">
              <a:rPr lang="en-US" smtClean="0"/>
              <a:pPr/>
              <a:t>100</a:t>
            </a:fld>
            <a:endParaRPr lang="en-US"/>
          </a:p>
        </p:txBody>
      </p:sp>
      <p:sp>
        <p:nvSpPr>
          <p:cNvPr id="7" name="Title 1"/>
          <p:cNvSpPr txBox="1">
            <a:spLocks/>
          </p:cNvSpPr>
          <p:nvPr/>
        </p:nvSpPr>
        <p:spPr>
          <a:xfrm>
            <a:off x="2895600" y="2"/>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2800"/>
              <a:t>Daily Quiz</a:t>
            </a:r>
            <a:endParaRPr kumimoji="0" lang="en-US" sz="2800" b="0" i="0" u="none" strike="noStrike" kern="1200" cap="none" spc="0" normalizeH="0" baseline="0" noProof="0" dirty="0">
              <a:ln>
                <a:noFill/>
              </a:ln>
              <a:solidFill>
                <a:schemeClr val="dk1"/>
              </a:solidFill>
              <a:effectLst/>
              <a:uLnTx/>
              <a:uFillTx/>
            </a:endParaRPr>
          </a:p>
        </p:txBody>
      </p:sp>
      <p:pic>
        <p:nvPicPr>
          <p:cNvPr id="2" name="Picture 1" descr="A black and red logo&#10;&#10;Description automatically generated">
            <a:extLst>
              <a:ext uri="{FF2B5EF4-FFF2-40B4-BE49-F238E27FC236}">
                <a16:creationId xmlns:a16="http://schemas.microsoft.com/office/drawing/2014/main" id="{8BDB0671-FC93-5C9E-75A2-ED46EE3FB8B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8" name="Content Placeholder 1">
            <a:extLst>
              <a:ext uri="{FF2B5EF4-FFF2-40B4-BE49-F238E27FC236}">
                <a16:creationId xmlns:a16="http://schemas.microsoft.com/office/drawing/2014/main" id="{1FF5ADF0-474C-251F-0E40-267B658E504A}"/>
              </a:ext>
            </a:extLst>
          </p:cNvPr>
          <p:cNvSpPr txBox="1">
            <a:spLocks noGrp="1"/>
          </p:cNvSpPr>
          <p:nvPr>
            <p:ph idx="1"/>
          </p:nvPr>
        </p:nvSpPr>
        <p:spPr>
          <a:xfrm>
            <a:off x="609600" y="1219200"/>
            <a:ext cx="10515600" cy="4449763"/>
          </a:xfrm>
        </p:spPr>
        <p:txBody>
          <a:bodyPr/>
          <a:lstStyle/>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lgn="ctr">
              <a:spcBef>
                <a:spcPts val="363"/>
              </a:spcBef>
              <a:spcAft>
                <a:spcPct val="0"/>
              </a:spcAft>
              <a:buClr>
                <a:srgbClr val="000000"/>
              </a:buClr>
              <a:buFont typeface="Arial" panose="020B0604020202020204" pitchFamily="34" charset="0"/>
              <a:buNone/>
            </a:pPr>
            <a:r>
              <a:rPr lang="en-IN" sz="2000" b="1" dirty="0">
                <a:latin typeface="Arial" panose="020B0604020202020204" pitchFamily="34" charset="0"/>
                <a:cs typeface="Arial" panose="020B0604020202020204" pitchFamily="34" charset="0"/>
              </a:rPr>
              <a:t> </a:t>
            </a:r>
          </a:p>
        </p:txBody>
      </p:sp>
      <p:sp>
        <p:nvSpPr>
          <p:cNvPr id="9" name="Content Placeholder 2">
            <a:extLst>
              <a:ext uri="{FF2B5EF4-FFF2-40B4-BE49-F238E27FC236}">
                <a16:creationId xmlns:a16="http://schemas.microsoft.com/office/drawing/2014/main" id="{2DDE609C-0E02-47A6-A275-C87B00CC86E0}"/>
              </a:ext>
            </a:extLst>
          </p:cNvPr>
          <p:cNvSpPr txBox="1">
            <a:spLocks/>
          </p:cNvSpPr>
          <p:nvPr/>
        </p:nvSpPr>
        <p:spPr>
          <a:xfrm>
            <a:off x="152400" y="838200"/>
            <a:ext cx="10972800" cy="5334000"/>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514350" indent="-514350">
              <a:buFont typeface="Arial" pitchFamily="34" charset="0"/>
              <a:buNone/>
            </a:pPr>
            <a:r>
              <a:rPr lang="en-US" sz="2000">
                <a:latin typeface="+mj-lt"/>
              </a:rPr>
              <a:t>1) Which of the following is used to display the output in PHP?</a:t>
            </a:r>
          </a:p>
          <a:p>
            <a:pPr marL="514350" indent="-514350">
              <a:buFont typeface="Arial" pitchFamily="34" charset="0"/>
              <a:buNone/>
            </a:pPr>
            <a:r>
              <a:rPr lang="en-US" sz="2000">
                <a:latin typeface="+mj-lt"/>
              </a:rPr>
              <a:t>A)echo</a:t>
            </a:r>
          </a:p>
          <a:p>
            <a:pPr marL="514350" indent="-514350">
              <a:buFont typeface="Arial" pitchFamily="34" charset="0"/>
              <a:buNone/>
            </a:pPr>
            <a:r>
              <a:rPr lang="en-US" sz="2000">
                <a:latin typeface="+mj-lt"/>
              </a:rPr>
              <a:t>B)write</a:t>
            </a:r>
          </a:p>
          <a:p>
            <a:pPr marL="514350" indent="-514350">
              <a:buFont typeface="Arial" pitchFamily="34" charset="0"/>
              <a:buNone/>
            </a:pPr>
            <a:r>
              <a:rPr lang="en-US" sz="2000">
                <a:latin typeface="+mj-lt"/>
              </a:rPr>
              <a:t>C)print</a:t>
            </a:r>
          </a:p>
          <a:p>
            <a:pPr marL="514350" indent="-514350">
              <a:buFont typeface="Arial" pitchFamily="34" charset="0"/>
              <a:buNone/>
            </a:pPr>
            <a:r>
              <a:rPr lang="en-US" sz="2000">
                <a:latin typeface="+mj-lt"/>
              </a:rPr>
              <a:t>D)Both (a) and (c)</a:t>
            </a:r>
          </a:p>
          <a:p>
            <a:pPr marL="514350" indent="-514350">
              <a:buFont typeface="Arial" pitchFamily="34" charset="0"/>
              <a:buNone/>
            </a:pPr>
            <a:endParaRPr lang="en-US" sz="2000">
              <a:latin typeface="+mj-lt"/>
            </a:endParaRPr>
          </a:p>
          <a:p>
            <a:pPr marL="514350" indent="-514350">
              <a:buFont typeface="Arial" pitchFamily="34" charset="0"/>
              <a:buNone/>
            </a:pPr>
            <a:r>
              <a:rPr lang="en-US" sz="2000">
                <a:latin typeface="+mj-lt"/>
              </a:rPr>
              <a:t>2) Which of the following is the use of strlen() function in PHP?</a:t>
            </a:r>
          </a:p>
          <a:p>
            <a:pPr marL="514350" indent="-514350">
              <a:buFont typeface="Arial" pitchFamily="34" charset="0"/>
              <a:buNone/>
            </a:pPr>
            <a:r>
              <a:rPr lang="en-US" sz="2000">
                <a:latin typeface="+mj-lt"/>
              </a:rPr>
              <a:t>A)The strlen() function returns the type of string</a:t>
            </a:r>
          </a:p>
          <a:p>
            <a:pPr marL="514350" indent="-514350">
              <a:buFont typeface="Arial" pitchFamily="34" charset="0"/>
              <a:buNone/>
            </a:pPr>
            <a:r>
              <a:rPr lang="en-US" sz="2000">
                <a:latin typeface="+mj-lt"/>
              </a:rPr>
              <a:t>B)The strlen() function returns the length of string</a:t>
            </a:r>
          </a:p>
          <a:p>
            <a:pPr marL="514350" indent="-514350">
              <a:buFont typeface="Arial" pitchFamily="34" charset="0"/>
              <a:buNone/>
            </a:pPr>
            <a:r>
              <a:rPr lang="en-US" sz="2000">
                <a:latin typeface="+mj-lt"/>
              </a:rPr>
              <a:t>C)The strlen() function returns the value of string</a:t>
            </a:r>
          </a:p>
          <a:p>
            <a:pPr marL="514350" indent="-514350">
              <a:buFont typeface="Arial" pitchFamily="34" charset="0"/>
              <a:buNone/>
            </a:pPr>
            <a:r>
              <a:rPr lang="en-US" sz="2000">
                <a:latin typeface="+mj-lt"/>
              </a:rPr>
              <a:t>D)The strlen() function returns both value and type of string</a:t>
            </a:r>
            <a:endParaRPr lang="en-US" sz="2200" dirty="0">
              <a:solidFill>
                <a:srgbClr val="FF0000"/>
              </a:solidFill>
            </a:endParaRPr>
          </a:p>
        </p:txBody>
      </p:sp>
    </p:spTree>
    <p:extLst>
      <p:ext uri="{BB962C8B-B14F-4D97-AF65-F5344CB8AC3E}">
        <p14:creationId xmlns:p14="http://schemas.microsoft.com/office/powerpoint/2010/main" val="1144511651"/>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E73A3019-CFE4-49DD-B6FD-2AFB2DD2DBB6}" type="datetime1">
              <a:rPr lang="en-US" smtClean="0"/>
              <a:t>11/7/2024</a:t>
            </a:fld>
            <a:endParaRPr lang="en-US"/>
          </a:p>
        </p:txBody>
      </p:sp>
      <p:sp>
        <p:nvSpPr>
          <p:cNvPr id="5" name="Footer Placeholder 4"/>
          <p:cNvSpPr>
            <a:spLocks noGrp="1"/>
          </p:cNvSpPr>
          <p:nvPr>
            <p:ph type="ftr" sz="quarter" idx="11"/>
          </p:nvPr>
        </p:nvSpPr>
        <p:spPr>
          <a:xfrm>
            <a:off x="4343400" y="6248401"/>
            <a:ext cx="4724400" cy="365125"/>
          </a:xfrm>
        </p:spPr>
        <p:txBody>
          <a:bodyPr/>
          <a:lstStyle/>
          <a:p>
            <a:r>
              <a:rPr lang="en-US" dirty="0"/>
              <a:t>Vaishali Mishra            ACSE0505 Web Technology                Unit 5</a:t>
            </a:r>
          </a:p>
        </p:txBody>
      </p:sp>
      <p:sp>
        <p:nvSpPr>
          <p:cNvPr id="6" name="Slide Number Placeholder 5"/>
          <p:cNvSpPr>
            <a:spLocks noGrp="1"/>
          </p:cNvSpPr>
          <p:nvPr>
            <p:ph type="sldNum" sz="quarter" idx="12"/>
          </p:nvPr>
        </p:nvSpPr>
        <p:spPr/>
        <p:txBody>
          <a:bodyPr/>
          <a:lstStyle/>
          <a:p>
            <a:fld id="{B6F15528-21DE-4FAA-801E-634DDDAF4B2B}" type="slidenum">
              <a:rPr lang="en-US" smtClean="0"/>
              <a:pPr/>
              <a:t>101</a:t>
            </a:fld>
            <a:endParaRPr lang="en-US"/>
          </a:p>
        </p:txBody>
      </p:sp>
      <p:sp>
        <p:nvSpPr>
          <p:cNvPr id="7" name="Title 1"/>
          <p:cNvSpPr txBox="1">
            <a:spLocks/>
          </p:cNvSpPr>
          <p:nvPr/>
        </p:nvSpPr>
        <p:spPr>
          <a:xfrm>
            <a:off x="2895600" y="2"/>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pPr>
              <a:defRPr/>
            </a:pPr>
            <a:endParaRPr lang="en-IN" sz="2800" dirty="0"/>
          </a:p>
          <a:p>
            <a:pPr>
              <a:defRPr/>
            </a:pPr>
            <a:endParaRPr lang="en-US" sz="2800" noProof="0" dirty="0"/>
          </a:p>
          <a:p>
            <a:pPr>
              <a:defRPr/>
            </a:pPr>
            <a:r>
              <a:rPr lang="en-US" sz="2800" noProof="0" dirty="0"/>
              <a:t>MCQ</a:t>
            </a:r>
            <a:endParaRPr kumimoji="0" lang="en-US" sz="2800" b="0" i="0" u="none" strike="noStrike" kern="1200" cap="none" spc="0" normalizeH="0" baseline="0" noProof="0" dirty="0">
              <a:ln>
                <a:noFill/>
              </a:ln>
              <a:solidFill>
                <a:schemeClr val="dk1"/>
              </a:solidFill>
              <a:effectLst/>
              <a:uLnTx/>
              <a:uFillTx/>
            </a:endParaRPr>
          </a:p>
          <a:p>
            <a:pPr>
              <a:defRPr/>
            </a:pPr>
            <a:endParaRPr lang="en-IN" dirty="0"/>
          </a:p>
          <a:p>
            <a:pPr algn="ctr">
              <a:defRPr/>
            </a:pPr>
            <a:endParaRPr lang="en-US" sz="2800" dirty="0">
              <a:latin typeface="Times New Roman" pitchFamily="18" charset="0"/>
              <a:cs typeface="Times New Roman" pitchFamily="18" charset="0"/>
              <a:sym typeface="Arial" charset="0"/>
            </a:endParaRPr>
          </a:p>
        </p:txBody>
      </p:sp>
      <p:pic>
        <p:nvPicPr>
          <p:cNvPr id="2" name="Picture 1" descr="A black and red logo&#10;&#10;Description automatically generated">
            <a:extLst>
              <a:ext uri="{FF2B5EF4-FFF2-40B4-BE49-F238E27FC236}">
                <a16:creationId xmlns:a16="http://schemas.microsoft.com/office/drawing/2014/main" id="{8BDB0671-FC93-5C9E-75A2-ED46EE3FB8B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8" name="Content Placeholder 1">
            <a:extLst>
              <a:ext uri="{FF2B5EF4-FFF2-40B4-BE49-F238E27FC236}">
                <a16:creationId xmlns:a16="http://schemas.microsoft.com/office/drawing/2014/main" id="{1FF5ADF0-474C-251F-0E40-267B658E504A}"/>
              </a:ext>
            </a:extLst>
          </p:cNvPr>
          <p:cNvSpPr txBox="1">
            <a:spLocks noGrp="1"/>
          </p:cNvSpPr>
          <p:nvPr>
            <p:ph idx="1"/>
          </p:nvPr>
        </p:nvSpPr>
        <p:spPr>
          <a:xfrm>
            <a:off x="609600" y="1219200"/>
            <a:ext cx="10515600" cy="4449763"/>
          </a:xfrm>
        </p:spPr>
        <p:txBody>
          <a:bodyPr/>
          <a:lstStyle/>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lgn="ctr">
              <a:spcBef>
                <a:spcPts val="363"/>
              </a:spcBef>
              <a:spcAft>
                <a:spcPct val="0"/>
              </a:spcAft>
              <a:buClr>
                <a:srgbClr val="000000"/>
              </a:buClr>
              <a:buFont typeface="Arial" panose="020B0604020202020204" pitchFamily="34" charset="0"/>
              <a:buNone/>
            </a:pPr>
            <a:r>
              <a:rPr lang="en-IN" sz="2000" b="1" dirty="0">
                <a:latin typeface="Arial" panose="020B0604020202020204" pitchFamily="34" charset="0"/>
                <a:cs typeface="Arial" panose="020B0604020202020204" pitchFamily="34" charset="0"/>
              </a:rPr>
              <a:t> </a:t>
            </a:r>
          </a:p>
        </p:txBody>
      </p:sp>
      <p:sp>
        <p:nvSpPr>
          <p:cNvPr id="3" name="Content Placeholder 2">
            <a:extLst>
              <a:ext uri="{FF2B5EF4-FFF2-40B4-BE49-F238E27FC236}">
                <a16:creationId xmlns:a16="http://schemas.microsoft.com/office/drawing/2014/main" id="{53EB4720-49CD-7665-DBB3-031E88344368}"/>
              </a:ext>
            </a:extLst>
          </p:cNvPr>
          <p:cNvSpPr txBox="1">
            <a:spLocks/>
          </p:cNvSpPr>
          <p:nvPr/>
        </p:nvSpPr>
        <p:spPr>
          <a:xfrm>
            <a:off x="381000" y="947268"/>
            <a:ext cx="10515600" cy="5224932"/>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514350" indent="-514350">
              <a:buFont typeface="Arial" pitchFamily="34" charset="0"/>
              <a:buNone/>
            </a:pPr>
            <a:r>
              <a:rPr lang="en-US" sz="2000">
                <a:latin typeface="+mj-lt"/>
              </a:rPr>
              <a:t>3)Which of the following is used for concatenation in PHP?</a:t>
            </a:r>
          </a:p>
          <a:p>
            <a:pPr marL="514350" indent="-514350">
              <a:buFont typeface="Arial" pitchFamily="34" charset="0"/>
              <a:buNone/>
            </a:pPr>
            <a:r>
              <a:rPr lang="en-US" sz="2000">
                <a:latin typeface="+mj-lt"/>
              </a:rPr>
              <a:t>A)+ (plus)</a:t>
            </a:r>
          </a:p>
          <a:p>
            <a:pPr marL="514350" indent="-514350">
              <a:buFont typeface="Arial" pitchFamily="34" charset="0"/>
              <a:buNone/>
            </a:pPr>
            <a:r>
              <a:rPr lang="en-US" sz="2000">
                <a:latin typeface="+mj-lt"/>
              </a:rPr>
              <a:t>B)* (Asterisk)</a:t>
            </a:r>
          </a:p>
          <a:p>
            <a:pPr marL="514350" indent="-514350">
              <a:buFont typeface="Arial" pitchFamily="34" charset="0"/>
              <a:buNone/>
            </a:pPr>
            <a:r>
              <a:rPr lang="en-US" sz="2000">
                <a:latin typeface="+mj-lt"/>
              </a:rPr>
              <a:t>C). (dot)</a:t>
            </a:r>
          </a:p>
          <a:p>
            <a:pPr marL="514350" indent="-514350">
              <a:buFont typeface="Arial" pitchFamily="34" charset="0"/>
              <a:buNone/>
            </a:pPr>
            <a:r>
              <a:rPr lang="en-US" sz="2000">
                <a:latin typeface="+mj-lt"/>
              </a:rPr>
              <a:t>D)append()</a:t>
            </a:r>
          </a:p>
          <a:p>
            <a:pPr marL="514350" indent="-514350">
              <a:buFont typeface="Arial" pitchFamily="34" charset="0"/>
              <a:buNone/>
            </a:pPr>
            <a:endParaRPr lang="en-US" sz="2000">
              <a:latin typeface="+mj-lt"/>
            </a:endParaRPr>
          </a:p>
          <a:p>
            <a:pPr marL="514350" indent="-514350">
              <a:buFont typeface="Arial" pitchFamily="34" charset="0"/>
              <a:buNone/>
            </a:pPr>
            <a:r>
              <a:rPr lang="en-US" sz="2000">
                <a:latin typeface="+mj-lt"/>
              </a:rPr>
              <a:t>4)Which of the following starts with __ (double underscore) in PHP?</a:t>
            </a:r>
          </a:p>
          <a:p>
            <a:pPr marL="514350" indent="-514350">
              <a:buFont typeface="Arial" pitchFamily="34" charset="0"/>
              <a:buNone/>
            </a:pPr>
            <a:r>
              <a:rPr lang="en-US" sz="2000">
                <a:latin typeface="+mj-lt"/>
              </a:rPr>
              <a:t>A)Inbuilt constants</a:t>
            </a:r>
          </a:p>
          <a:p>
            <a:pPr marL="514350" indent="-514350">
              <a:buFont typeface="Arial" pitchFamily="34" charset="0"/>
              <a:buNone/>
            </a:pPr>
            <a:r>
              <a:rPr lang="en-US" sz="2000">
                <a:latin typeface="+mj-lt"/>
              </a:rPr>
              <a:t>B)User-defined constants</a:t>
            </a:r>
          </a:p>
          <a:p>
            <a:pPr marL="514350" indent="-514350">
              <a:buFont typeface="Arial" pitchFamily="34" charset="0"/>
              <a:buNone/>
            </a:pPr>
            <a:r>
              <a:rPr lang="en-US" sz="2000">
                <a:latin typeface="+mj-lt"/>
              </a:rPr>
              <a:t>C)Magic constants</a:t>
            </a:r>
          </a:p>
          <a:p>
            <a:pPr marL="514350" indent="-514350">
              <a:buFont typeface="Arial" pitchFamily="34" charset="0"/>
              <a:buNone/>
            </a:pPr>
            <a:r>
              <a:rPr lang="en-US" sz="2000">
                <a:latin typeface="+mj-lt"/>
              </a:rPr>
              <a:t>D)Default constants</a:t>
            </a:r>
          </a:p>
          <a:p>
            <a:pPr marL="514350" indent="-514350">
              <a:buFont typeface="Arial" pitchFamily="34" charset="0"/>
              <a:buNone/>
            </a:pPr>
            <a:endParaRPr lang="en-US" sz="2000" dirty="0">
              <a:latin typeface="+mj-lt"/>
            </a:endParaRPr>
          </a:p>
        </p:txBody>
      </p:sp>
    </p:spTree>
    <p:extLst>
      <p:ext uri="{BB962C8B-B14F-4D97-AF65-F5344CB8AC3E}">
        <p14:creationId xmlns:p14="http://schemas.microsoft.com/office/powerpoint/2010/main" val="1278702995"/>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E73A3019-CFE4-49DD-B6FD-2AFB2DD2DBB6}" type="datetime1">
              <a:rPr lang="en-US" smtClean="0"/>
              <a:t>11/7/2024</a:t>
            </a:fld>
            <a:endParaRPr lang="en-US"/>
          </a:p>
        </p:txBody>
      </p:sp>
      <p:sp>
        <p:nvSpPr>
          <p:cNvPr id="5" name="Footer Placeholder 4"/>
          <p:cNvSpPr>
            <a:spLocks noGrp="1"/>
          </p:cNvSpPr>
          <p:nvPr>
            <p:ph type="ftr" sz="quarter" idx="11"/>
          </p:nvPr>
        </p:nvSpPr>
        <p:spPr>
          <a:xfrm>
            <a:off x="4343400" y="6248401"/>
            <a:ext cx="4724400" cy="365125"/>
          </a:xfrm>
        </p:spPr>
        <p:txBody>
          <a:bodyPr/>
          <a:lstStyle/>
          <a:p>
            <a:r>
              <a:rPr lang="en-US" dirty="0"/>
              <a:t>Vaishali Mishra            ACSE0505 Web Technology                Unit 5</a:t>
            </a:r>
          </a:p>
        </p:txBody>
      </p:sp>
      <p:sp>
        <p:nvSpPr>
          <p:cNvPr id="6" name="Slide Number Placeholder 5"/>
          <p:cNvSpPr>
            <a:spLocks noGrp="1"/>
          </p:cNvSpPr>
          <p:nvPr>
            <p:ph type="sldNum" sz="quarter" idx="12"/>
          </p:nvPr>
        </p:nvSpPr>
        <p:spPr/>
        <p:txBody>
          <a:bodyPr/>
          <a:lstStyle/>
          <a:p>
            <a:fld id="{B6F15528-21DE-4FAA-801E-634DDDAF4B2B}" type="slidenum">
              <a:rPr lang="en-US" smtClean="0"/>
              <a:pPr/>
              <a:t>102</a:t>
            </a:fld>
            <a:endParaRPr lang="en-US"/>
          </a:p>
        </p:txBody>
      </p:sp>
      <p:sp>
        <p:nvSpPr>
          <p:cNvPr id="7" name="Title 1"/>
          <p:cNvSpPr txBox="1">
            <a:spLocks/>
          </p:cNvSpPr>
          <p:nvPr/>
        </p:nvSpPr>
        <p:spPr>
          <a:xfrm>
            <a:off x="2895600" y="2"/>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2800" noProof="0"/>
              <a:t>MCQ</a:t>
            </a:r>
            <a:endParaRPr kumimoji="0" lang="en-US" sz="2800" b="0" i="0" u="none" strike="noStrike" kern="1200" cap="none" spc="0" normalizeH="0" baseline="0" noProof="0" dirty="0">
              <a:ln>
                <a:noFill/>
              </a:ln>
              <a:solidFill>
                <a:schemeClr val="dk1"/>
              </a:solidFill>
              <a:effectLst/>
              <a:uLnTx/>
              <a:uFillTx/>
            </a:endParaRPr>
          </a:p>
        </p:txBody>
      </p:sp>
      <p:pic>
        <p:nvPicPr>
          <p:cNvPr id="2" name="Picture 1" descr="A black and red logo&#10;&#10;Description automatically generated">
            <a:extLst>
              <a:ext uri="{FF2B5EF4-FFF2-40B4-BE49-F238E27FC236}">
                <a16:creationId xmlns:a16="http://schemas.microsoft.com/office/drawing/2014/main" id="{8BDB0671-FC93-5C9E-75A2-ED46EE3FB8B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8" name="Content Placeholder 1">
            <a:extLst>
              <a:ext uri="{FF2B5EF4-FFF2-40B4-BE49-F238E27FC236}">
                <a16:creationId xmlns:a16="http://schemas.microsoft.com/office/drawing/2014/main" id="{1FF5ADF0-474C-251F-0E40-267B658E504A}"/>
              </a:ext>
            </a:extLst>
          </p:cNvPr>
          <p:cNvSpPr txBox="1">
            <a:spLocks noGrp="1"/>
          </p:cNvSpPr>
          <p:nvPr>
            <p:ph idx="1"/>
          </p:nvPr>
        </p:nvSpPr>
        <p:spPr>
          <a:xfrm>
            <a:off x="609600" y="1219200"/>
            <a:ext cx="10515600" cy="4449763"/>
          </a:xfrm>
        </p:spPr>
        <p:txBody>
          <a:bodyPr/>
          <a:lstStyle/>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lgn="ctr">
              <a:spcBef>
                <a:spcPts val="363"/>
              </a:spcBef>
              <a:spcAft>
                <a:spcPct val="0"/>
              </a:spcAft>
              <a:buClr>
                <a:srgbClr val="000000"/>
              </a:buClr>
              <a:buFont typeface="Arial" panose="020B0604020202020204" pitchFamily="34" charset="0"/>
              <a:buNone/>
            </a:pPr>
            <a:r>
              <a:rPr lang="en-IN" sz="2000" b="1" dirty="0">
                <a:latin typeface="Arial" panose="020B0604020202020204" pitchFamily="34" charset="0"/>
                <a:cs typeface="Arial" panose="020B0604020202020204" pitchFamily="34" charset="0"/>
              </a:rPr>
              <a:t> </a:t>
            </a:r>
          </a:p>
        </p:txBody>
      </p:sp>
      <p:sp>
        <p:nvSpPr>
          <p:cNvPr id="3" name="Content Placeholder 2">
            <a:extLst>
              <a:ext uri="{FF2B5EF4-FFF2-40B4-BE49-F238E27FC236}">
                <a16:creationId xmlns:a16="http://schemas.microsoft.com/office/drawing/2014/main" id="{ED31B1D5-EAF0-8850-FF2F-CAA8F6672A50}"/>
              </a:ext>
            </a:extLst>
          </p:cNvPr>
          <p:cNvSpPr txBox="1">
            <a:spLocks/>
          </p:cNvSpPr>
          <p:nvPr/>
        </p:nvSpPr>
        <p:spPr>
          <a:xfrm>
            <a:off x="381000" y="1055218"/>
            <a:ext cx="10515600" cy="5116982"/>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514350" indent="-514350">
              <a:buFont typeface="Arial" pitchFamily="34" charset="0"/>
              <a:buNone/>
            </a:pPr>
            <a:r>
              <a:rPr lang="en-US" sz="2000">
                <a:latin typeface="+mj-lt"/>
              </a:rPr>
              <a:t>5)Which of the following is the use of strpos() function in PHP?</a:t>
            </a:r>
          </a:p>
          <a:p>
            <a:pPr marL="514350" indent="-514350">
              <a:buFont typeface="Arial" pitchFamily="34" charset="0"/>
              <a:buNone/>
            </a:pPr>
            <a:r>
              <a:rPr lang="en-US" sz="2000">
                <a:latin typeface="+mj-lt"/>
              </a:rPr>
              <a:t>A)The strpos() function is used to search for the spaces in a string</a:t>
            </a:r>
          </a:p>
          <a:p>
            <a:pPr marL="514350" indent="-514350">
              <a:buFont typeface="Arial" pitchFamily="34" charset="0"/>
              <a:buNone/>
            </a:pPr>
            <a:r>
              <a:rPr lang="en-US" sz="2000">
                <a:latin typeface="+mj-lt"/>
              </a:rPr>
              <a:t>B)The strpos() function is used to search for a number in a string</a:t>
            </a:r>
          </a:p>
          <a:p>
            <a:pPr marL="514350" indent="-514350">
              <a:buFont typeface="Arial" pitchFamily="34" charset="0"/>
              <a:buNone/>
            </a:pPr>
            <a:r>
              <a:rPr lang="en-US" sz="2000">
                <a:latin typeface="+mj-lt"/>
              </a:rPr>
              <a:t>C)The strpos() function is used to search for a character/text in a string</a:t>
            </a:r>
          </a:p>
          <a:p>
            <a:pPr marL="514350" indent="-514350">
              <a:buFont typeface="Arial" pitchFamily="34" charset="0"/>
              <a:buNone/>
            </a:pPr>
            <a:r>
              <a:rPr lang="en-US" sz="2000">
                <a:latin typeface="+mj-lt"/>
              </a:rPr>
              <a:t>D)The strpos() function is used to search for a capitalize character in a string</a:t>
            </a:r>
          </a:p>
          <a:p>
            <a:pPr marL="514350" indent="-514350">
              <a:buFont typeface="Arial" pitchFamily="34" charset="0"/>
              <a:buNone/>
            </a:pPr>
            <a:endParaRPr lang="en-US" sz="2000">
              <a:solidFill>
                <a:srgbClr val="FF0000"/>
              </a:solidFill>
              <a:latin typeface="+mj-lt"/>
            </a:endParaRPr>
          </a:p>
          <a:p>
            <a:pPr marL="514350" indent="-514350">
              <a:buFont typeface="Arial" pitchFamily="34" charset="0"/>
              <a:buNone/>
            </a:pPr>
            <a:r>
              <a:rPr lang="en-US" sz="2000">
                <a:latin typeface="+mj-lt"/>
              </a:rPr>
              <a:t>6)How many ways can a session data be stored?</a:t>
            </a:r>
          </a:p>
          <a:p>
            <a:pPr marL="514350" indent="-514350">
              <a:buFont typeface="Arial" pitchFamily="34" charset="0"/>
              <a:buNone/>
            </a:pPr>
            <a:r>
              <a:rPr lang="en-US" sz="2000">
                <a:latin typeface="+mj-lt"/>
              </a:rPr>
              <a:t>A)3</a:t>
            </a:r>
          </a:p>
          <a:p>
            <a:pPr marL="514350" indent="-514350">
              <a:buFont typeface="Arial" pitchFamily="34" charset="0"/>
              <a:buNone/>
            </a:pPr>
            <a:r>
              <a:rPr lang="en-US" sz="2000">
                <a:latin typeface="+mj-lt"/>
              </a:rPr>
              <a:t>B)4</a:t>
            </a:r>
          </a:p>
          <a:p>
            <a:pPr marL="514350" indent="-514350">
              <a:buFont typeface="Arial" pitchFamily="34" charset="0"/>
              <a:buNone/>
            </a:pPr>
            <a:r>
              <a:rPr lang="en-US" sz="2000">
                <a:latin typeface="+mj-lt"/>
              </a:rPr>
              <a:t>C)5</a:t>
            </a:r>
          </a:p>
          <a:p>
            <a:pPr marL="514350" indent="-514350">
              <a:buFont typeface="Arial" pitchFamily="34" charset="0"/>
              <a:buNone/>
            </a:pPr>
            <a:r>
              <a:rPr lang="en-US" sz="2000">
                <a:latin typeface="+mj-lt"/>
              </a:rPr>
              <a:t>D)6</a:t>
            </a:r>
            <a:endParaRPr lang="en-US" sz="2000" dirty="0">
              <a:latin typeface="+mj-lt"/>
            </a:endParaRPr>
          </a:p>
        </p:txBody>
      </p:sp>
    </p:spTree>
    <p:extLst>
      <p:ext uri="{BB962C8B-B14F-4D97-AF65-F5344CB8AC3E}">
        <p14:creationId xmlns:p14="http://schemas.microsoft.com/office/powerpoint/2010/main" val="2536987537"/>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E73A3019-CFE4-49DD-B6FD-2AFB2DD2DBB6}" type="datetime1">
              <a:rPr lang="en-US" smtClean="0"/>
              <a:t>11/7/2024</a:t>
            </a:fld>
            <a:endParaRPr lang="en-US"/>
          </a:p>
        </p:txBody>
      </p:sp>
      <p:sp>
        <p:nvSpPr>
          <p:cNvPr id="5" name="Footer Placeholder 4"/>
          <p:cNvSpPr>
            <a:spLocks noGrp="1"/>
          </p:cNvSpPr>
          <p:nvPr>
            <p:ph type="ftr" sz="quarter" idx="11"/>
          </p:nvPr>
        </p:nvSpPr>
        <p:spPr>
          <a:xfrm>
            <a:off x="4343400" y="6248401"/>
            <a:ext cx="4724400" cy="365125"/>
          </a:xfrm>
        </p:spPr>
        <p:txBody>
          <a:bodyPr/>
          <a:lstStyle/>
          <a:p>
            <a:r>
              <a:rPr lang="en-US" dirty="0"/>
              <a:t>Vaishali Mishra            ACSE0505 Web Technology                Unit 5</a:t>
            </a:r>
          </a:p>
        </p:txBody>
      </p:sp>
      <p:sp>
        <p:nvSpPr>
          <p:cNvPr id="6" name="Slide Number Placeholder 5"/>
          <p:cNvSpPr>
            <a:spLocks noGrp="1"/>
          </p:cNvSpPr>
          <p:nvPr>
            <p:ph type="sldNum" sz="quarter" idx="12"/>
          </p:nvPr>
        </p:nvSpPr>
        <p:spPr/>
        <p:txBody>
          <a:bodyPr/>
          <a:lstStyle/>
          <a:p>
            <a:fld id="{B6F15528-21DE-4FAA-801E-634DDDAF4B2B}" type="slidenum">
              <a:rPr lang="en-US" smtClean="0"/>
              <a:pPr/>
              <a:t>103</a:t>
            </a:fld>
            <a:endParaRPr lang="en-US"/>
          </a:p>
        </p:txBody>
      </p:sp>
      <p:sp>
        <p:nvSpPr>
          <p:cNvPr id="7" name="Title 1"/>
          <p:cNvSpPr txBox="1">
            <a:spLocks/>
          </p:cNvSpPr>
          <p:nvPr/>
        </p:nvSpPr>
        <p:spPr>
          <a:xfrm>
            <a:off x="2895600" y="2"/>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pPr>
              <a:defRPr/>
            </a:pPr>
            <a:endParaRPr lang="en-IN" sz="2800" dirty="0"/>
          </a:p>
          <a:p>
            <a:pPr>
              <a:defRPr/>
            </a:pPr>
            <a:endParaRPr lang="en-US" sz="2800" noProof="0" dirty="0"/>
          </a:p>
          <a:p>
            <a:pPr>
              <a:defRPr/>
            </a:pPr>
            <a:r>
              <a:rPr lang="en-US" sz="2800" noProof="0" dirty="0"/>
              <a:t>MCQ</a:t>
            </a:r>
            <a:endParaRPr kumimoji="0" lang="en-US" sz="2800" b="0" i="0" u="none" strike="noStrike" kern="1200" cap="none" spc="0" normalizeH="0" baseline="0" noProof="0" dirty="0">
              <a:ln>
                <a:noFill/>
              </a:ln>
              <a:solidFill>
                <a:schemeClr val="dk1"/>
              </a:solidFill>
              <a:effectLst/>
              <a:uLnTx/>
              <a:uFillTx/>
            </a:endParaRPr>
          </a:p>
          <a:p>
            <a:pPr>
              <a:defRPr/>
            </a:pPr>
            <a:endParaRPr lang="en-IN" dirty="0"/>
          </a:p>
          <a:p>
            <a:pPr algn="ctr">
              <a:defRPr/>
            </a:pPr>
            <a:endParaRPr lang="en-US" sz="2800" dirty="0">
              <a:latin typeface="Times New Roman" pitchFamily="18" charset="0"/>
              <a:cs typeface="Times New Roman" pitchFamily="18" charset="0"/>
              <a:sym typeface="Arial" charset="0"/>
            </a:endParaRPr>
          </a:p>
        </p:txBody>
      </p:sp>
      <p:pic>
        <p:nvPicPr>
          <p:cNvPr id="2" name="Picture 1" descr="A black and red logo&#10;&#10;Description automatically generated">
            <a:extLst>
              <a:ext uri="{FF2B5EF4-FFF2-40B4-BE49-F238E27FC236}">
                <a16:creationId xmlns:a16="http://schemas.microsoft.com/office/drawing/2014/main" id="{8BDB0671-FC93-5C9E-75A2-ED46EE3FB8B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8" name="Content Placeholder 1">
            <a:extLst>
              <a:ext uri="{FF2B5EF4-FFF2-40B4-BE49-F238E27FC236}">
                <a16:creationId xmlns:a16="http://schemas.microsoft.com/office/drawing/2014/main" id="{1FF5ADF0-474C-251F-0E40-267B658E504A}"/>
              </a:ext>
            </a:extLst>
          </p:cNvPr>
          <p:cNvSpPr txBox="1">
            <a:spLocks noGrp="1"/>
          </p:cNvSpPr>
          <p:nvPr>
            <p:ph idx="1"/>
          </p:nvPr>
        </p:nvSpPr>
        <p:spPr>
          <a:xfrm>
            <a:off x="609600" y="1219200"/>
            <a:ext cx="10515600" cy="4449763"/>
          </a:xfrm>
        </p:spPr>
        <p:txBody>
          <a:bodyPr/>
          <a:lstStyle/>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lgn="ctr">
              <a:spcBef>
                <a:spcPts val="363"/>
              </a:spcBef>
              <a:spcAft>
                <a:spcPct val="0"/>
              </a:spcAft>
              <a:buClr>
                <a:srgbClr val="000000"/>
              </a:buClr>
              <a:buFont typeface="Arial" panose="020B0604020202020204" pitchFamily="34" charset="0"/>
              <a:buNone/>
            </a:pPr>
            <a:r>
              <a:rPr lang="en-IN" sz="2000" b="1" dirty="0">
                <a:latin typeface="Arial" panose="020B0604020202020204" pitchFamily="34" charset="0"/>
                <a:cs typeface="Arial" panose="020B0604020202020204" pitchFamily="34" charset="0"/>
              </a:rPr>
              <a:t> </a:t>
            </a:r>
          </a:p>
        </p:txBody>
      </p:sp>
      <p:sp>
        <p:nvSpPr>
          <p:cNvPr id="3" name="Content Placeholder 2">
            <a:extLst>
              <a:ext uri="{FF2B5EF4-FFF2-40B4-BE49-F238E27FC236}">
                <a16:creationId xmlns:a16="http://schemas.microsoft.com/office/drawing/2014/main" id="{B02149F2-755D-7165-2CB4-C8BAFCF16117}"/>
              </a:ext>
            </a:extLst>
          </p:cNvPr>
          <p:cNvSpPr txBox="1">
            <a:spLocks/>
          </p:cNvSpPr>
          <p:nvPr/>
        </p:nvSpPr>
        <p:spPr>
          <a:xfrm>
            <a:off x="457200" y="1189036"/>
            <a:ext cx="10972800" cy="5105195"/>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514350" indent="-514350">
              <a:buFont typeface="Arial" pitchFamily="34" charset="0"/>
              <a:buNone/>
            </a:pPr>
            <a:r>
              <a:rPr lang="en-US" sz="2000">
                <a:latin typeface="+mj-lt"/>
              </a:rPr>
              <a:t>7)What does PEAR stands for?</a:t>
            </a:r>
          </a:p>
          <a:p>
            <a:pPr marL="514350" indent="-514350">
              <a:buFont typeface="Arial" pitchFamily="34" charset="0"/>
              <a:buNone/>
            </a:pPr>
            <a:r>
              <a:rPr lang="en-US" sz="2000">
                <a:latin typeface="+mj-lt"/>
              </a:rPr>
              <a:t>A)PHP extension and application repository</a:t>
            </a:r>
          </a:p>
          <a:p>
            <a:pPr marL="514350" indent="-514350">
              <a:buFont typeface="Arial" pitchFamily="34" charset="0"/>
              <a:buNone/>
            </a:pPr>
            <a:r>
              <a:rPr lang="en-US" sz="2000">
                <a:latin typeface="+mj-lt"/>
              </a:rPr>
              <a:t>B)PHP enhancement and application reduce</a:t>
            </a:r>
          </a:p>
          <a:p>
            <a:pPr marL="514350" indent="-514350">
              <a:buFont typeface="Arial" pitchFamily="34" charset="0"/>
              <a:buNone/>
            </a:pPr>
            <a:r>
              <a:rPr lang="en-US" sz="2000">
                <a:latin typeface="+mj-lt"/>
              </a:rPr>
              <a:t>C)PHP event and application repository</a:t>
            </a:r>
          </a:p>
          <a:p>
            <a:pPr marL="514350" indent="-514350">
              <a:buFont typeface="Arial" pitchFamily="34" charset="0"/>
              <a:buNone/>
            </a:pPr>
            <a:r>
              <a:rPr lang="en-US" sz="2000">
                <a:latin typeface="+mj-lt"/>
              </a:rPr>
              <a:t>D)None of the above</a:t>
            </a:r>
          </a:p>
          <a:p>
            <a:pPr marL="514350" indent="-514350">
              <a:buFont typeface="Arial" pitchFamily="34" charset="0"/>
              <a:buNone/>
            </a:pPr>
            <a:endParaRPr lang="en-US" sz="2000">
              <a:latin typeface="+mj-lt"/>
            </a:endParaRPr>
          </a:p>
          <a:p>
            <a:pPr marL="514350" indent="-514350">
              <a:buFont typeface="Arial" pitchFamily="34" charset="0"/>
              <a:buNone/>
            </a:pPr>
            <a:r>
              <a:rPr lang="en-US" sz="2000">
                <a:latin typeface="+mj-lt"/>
              </a:rPr>
              <a:t>8)Which of the following is the correct way to create a function in PHP?</a:t>
            </a:r>
          </a:p>
          <a:p>
            <a:pPr marL="514350" indent="-514350">
              <a:buFont typeface="Arial" pitchFamily="34" charset="0"/>
              <a:buNone/>
            </a:pPr>
            <a:r>
              <a:rPr lang="en-US" sz="2000">
                <a:latin typeface="+mj-lt"/>
              </a:rPr>
              <a:t>A)Create myFunction()</a:t>
            </a:r>
          </a:p>
          <a:p>
            <a:pPr marL="514350" indent="-514350">
              <a:buFont typeface="Arial" pitchFamily="34" charset="0"/>
              <a:buNone/>
            </a:pPr>
            <a:r>
              <a:rPr lang="en-US" sz="2000">
                <a:latin typeface="+mj-lt"/>
              </a:rPr>
              <a:t>B)New_function myFunction()</a:t>
            </a:r>
          </a:p>
          <a:p>
            <a:pPr marL="514350" indent="-514350">
              <a:buFont typeface="Arial" pitchFamily="34" charset="0"/>
              <a:buNone/>
            </a:pPr>
            <a:r>
              <a:rPr lang="en-US" sz="2000">
                <a:latin typeface="+mj-lt"/>
              </a:rPr>
              <a:t>C)function myFunction()</a:t>
            </a:r>
          </a:p>
          <a:p>
            <a:pPr marL="514350" indent="-514350">
              <a:buFont typeface="Arial" pitchFamily="34" charset="0"/>
              <a:buNone/>
            </a:pPr>
            <a:r>
              <a:rPr lang="en-US" sz="2000">
                <a:latin typeface="+mj-lt"/>
              </a:rPr>
              <a:t>D)None of the above</a:t>
            </a:r>
            <a:endParaRPr lang="en-US" sz="2200" dirty="0">
              <a:solidFill>
                <a:srgbClr val="FF0000"/>
              </a:solidFill>
            </a:endParaRPr>
          </a:p>
        </p:txBody>
      </p:sp>
    </p:spTree>
    <p:extLst>
      <p:ext uri="{BB962C8B-B14F-4D97-AF65-F5344CB8AC3E}">
        <p14:creationId xmlns:p14="http://schemas.microsoft.com/office/powerpoint/2010/main" val="1863450270"/>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E73A3019-CFE4-49DD-B6FD-2AFB2DD2DBB6}" type="datetime1">
              <a:rPr lang="en-US" smtClean="0"/>
              <a:t>11/7/2024</a:t>
            </a:fld>
            <a:endParaRPr lang="en-US"/>
          </a:p>
        </p:txBody>
      </p:sp>
      <p:sp>
        <p:nvSpPr>
          <p:cNvPr id="5" name="Footer Placeholder 4"/>
          <p:cNvSpPr>
            <a:spLocks noGrp="1"/>
          </p:cNvSpPr>
          <p:nvPr>
            <p:ph type="ftr" sz="quarter" idx="11"/>
          </p:nvPr>
        </p:nvSpPr>
        <p:spPr>
          <a:xfrm>
            <a:off x="4343400" y="6248401"/>
            <a:ext cx="4724400" cy="365125"/>
          </a:xfrm>
        </p:spPr>
        <p:txBody>
          <a:bodyPr/>
          <a:lstStyle/>
          <a:p>
            <a:r>
              <a:rPr lang="en-US" dirty="0"/>
              <a:t>Vaishali Mishra            ACSE0505 Web Technology                Unit 5</a:t>
            </a:r>
          </a:p>
        </p:txBody>
      </p:sp>
      <p:sp>
        <p:nvSpPr>
          <p:cNvPr id="6" name="Slide Number Placeholder 5"/>
          <p:cNvSpPr>
            <a:spLocks noGrp="1"/>
          </p:cNvSpPr>
          <p:nvPr>
            <p:ph type="sldNum" sz="quarter" idx="12"/>
          </p:nvPr>
        </p:nvSpPr>
        <p:spPr/>
        <p:txBody>
          <a:bodyPr/>
          <a:lstStyle/>
          <a:p>
            <a:fld id="{B6F15528-21DE-4FAA-801E-634DDDAF4B2B}" type="slidenum">
              <a:rPr lang="en-US" smtClean="0"/>
              <a:pPr/>
              <a:t>104</a:t>
            </a:fld>
            <a:endParaRPr lang="en-US"/>
          </a:p>
        </p:txBody>
      </p:sp>
      <p:sp>
        <p:nvSpPr>
          <p:cNvPr id="7" name="Title 1"/>
          <p:cNvSpPr txBox="1">
            <a:spLocks/>
          </p:cNvSpPr>
          <p:nvPr/>
        </p:nvSpPr>
        <p:spPr>
          <a:xfrm>
            <a:off x="2895600" y="2"/>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2800" noProof="0"/>
              <a:t>MCQ</a:t>
            </a:r>
            <a:endParaRPr kumimoji="0" lang="en-US" sz="2800" b="0" i="0" u="none" strike="noStrike" kern="1200" cap="none" spc="0" normalizeH="0" baseline="0" noProof="0" dirty="0">
              <a:ln>
                <a:noFill/>
              </a:ln>
              <a:solidFill>
                <a:schemeClr val="dk1"/>
              </a:solidFill>
              <a:effectLst/>
              <a:uLnTx/>
              <a:uFillTx/>
            </a:endParaRPr>
          </a:p>
        </p:txBody>
      </p:sp>
      <p:pic>
        <p:nvPicPr>
          <p:cNvPr id="2" name="Picture 1" descr="A black and red logo&#10;&#10;Description automatically generated">
            <a:extLst>
              <a:ext uri="{FF2B5EF4-FFF2-40B4-BE49-F238E27FC236}">
                <a16:creationId xmlns:a16="http://schemas.microsoft.com/office/drawing/2014/main" id="{8BDB0671-FC93-5C9E-75A2-ED46EE3FB8B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8" name="Content Placeholder 1">
            <a:extLst>
              <a:ext uri="{FF2B5EF4-FFF2-40B4-BE49-F238E27FC236}">
                <a16:creationId xmlns:a16="http://schemas.microsoft.com/office/drawing/2014/main" id="{1FF5ADF0-474C-251F-0E40-267B658E504A}"/>
              </a:ext>
            </a:extLst>
          </p:cNvPr>
          <p:cNvSpPr txBox="1">
            <a:spLocks noGrp="1"/>
          </p:cNvSpPr>
          <p:nvPr>
            <p:ph idx="1"/>
          </p:nvPr>
        </p:nvSpPr>
        <p:spPr>
          <a:xfrm>
            <a:off x="609600" y="1219200"/>
            <a:ext cx="10515600" cy="4449763"/>
          </a:xfrm>
        </p:spPr>
        <p:txBody>
          <a:bodyPr/>
          <a:lstStyle/>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lgn="ctr">
              <a:spcBef>
                <a:spcPts val="363"/>
              </a:spcBef>
              <a:spcAft>
                <a:spcPct val="0"/>
              </a:spcAft>
              <a:buClr>
                <a:srgbClr val="000000"/>
              </a:buClr>
              <a:buFont typeface="Arial" panose="020B0604020202020204" pitchFamily="34" charset="0"/>
              <a:buNone/>
            </a:pPr>
            <a:r>
              <a:rPr lang="en-IN" sz="2000" b="1" dirty="0">
                <a:latin typeface="Arial" panose="020B0604020202020204" pitchFamily="34" charset="0"/>
                <a:cs typeface="Arial" panose="020B0604020202020204" pitchFamily="34" charset="0"/>
              </a:rPr>
              <a:t> </a:t>
            </a:r>
          </a:p>
        </p:txBody>
      </p:sp>
      <p:sp>
        <p:nvSpPr>
          <p:cNvPr id="3" name="Content Placeholder 2">
            <a:extLst>
              <a:ext uri="{FF2B5EF4-FFF2-40B4-BE49-F238E27FC236}">
                <a16:creationId xmlns:a16="http://schemas.microsoft.com/office/drawing/2014/main" id="{C9322546-FCAD-6F84-228E-697D6C08C54F}"/>
              </a:ext>
            </a:extLst>
          </p:cNvPr>
          <p:cNvSpPr txBox="1">
            <a:spLocks/>
          </p:cNvSpPr>
          <p:nvPr/>
        </p:nvSpPr>
        <p:spPr>
          <a:xfrm>
            <a:off x="0" y="838200"/>
            <a:ext cx="10591800" cy="5334000"/>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514350" indent="-514350">
              <a:buFont typeface="Arial" pitchFamily="34" charset="0"/>
              <a:buNone/>
            </a:pPr>
            <a:r>
              <a:rPr lang="en-US" sz="2000">
                <a:latin typeface="+mj-lt"/>
              </a:rPr>
              <a:t>9)Which of the following PHP function is used to generate unique id?</a:t>
            </a:r>
          </a:p>
          <a:p>
            <a:pPr marL="514350" indent="-514350">
              <a:buFont typeface="Arial" pitchFamily="34" charset="0"/>
              <a:buNone/>
            </a:pPr>
            <a:r>
              <a:rPr lang="en-US" sz="2000">
                <a:latin typeface="+mj-lt"/>
              </a:rPr>
              <a:t>A)id()</a:t>
            </a:r>
          </a:p>
          <a:p>
            <a:pPr marL="514350" indent="-514350">
              <a:buFont typeface="Arial" pitchFamily="34" charset="0"/>
              <a:buNone/>
            </a:pPr>
            <a:r>
              <a:rPr lang="en-US" sz="2000">
                <a:latin typeface="+mj-lt"/>
              </a:rPr>
              <a:t>B)mdid()</a:t>
            </a:r>
          </a:p>
          <a:p>
            <a:pPr marL="514350" indent="-514350">
              <a:buFont typeface="Arial" pitchFamily="34" charset="0"/>
              <a:buNone/>
            </a:pPr>
            <a:r>
              <a:rPr lang="en-US" sz="2000">
                <a:latin typeface="+mj-lt"/>
              </a:rPr>
              <a:t>C)uniqueid()</a:t>
            </a:r>
          </a:p>
          <a:p>
            <a:pPr marL="514350" indent="-514350">
              <a:buFont typeface="Arial" pitchFamily="34" charset="0"/>
              <a:buNone/>
            </a:pPr>
            <a:r>
              <a:rPr lang="en-US" sz="2000">
                <a:latin typeface="+mj-lt"/>
              </a:rPr>
              <a:t>D)None of the above</a:t>
            </a:r>
          </a:p>
          <a:p>
            <a:pPr marL="514350" indent="-514350">
              <a:buFont typeface="Arial" pitchFamily="34" charset="0"/>
              <a:buNone/>
            </a:pPr>
            <a:endParaRPr lang="en-US" sz="2000">
              <a:latin typeface="+mj-lt"/>
            </a:endParaRPr>
          </a:p>
          <a:p>
            <a:pPr marL="514350" indent="-514350">
              <a:buFont typeface="Arial" pitchFamily="34" charset="0"/>
              <a:buNone/>
            </a:pPr>
            <a:r>
              <a:rPr lang="en-US" sz="2000">
                <a:latin typeface="+mj-lt"/>
              </a:rPr>
              <a:t>10)Which of the following is the correct way of defining a variable in PHP?</a:t>
            </a:r>
          </a:p>
          <a:p>
            <a:pPr marL="514350" indent="-514350">
              <a:buFont typeface="Arial" pitchFamily="34" charset="0"/>
              <a:buNone/>
            </a:pPr>
            <a:r>
              <a:rPr lang="en-US" sz="2000">
                <a:latin typeface="+mj-lt"/>
              </a:rPr>
              <a:t>A)$variable name = value;</a:t>
            </a:r>
          </a:p>
          <a:p>
            <a:pPr marL="514350" indent="-514350">
              <a:buFont typeface="Arial" pitchFamily="34" charset="0"/>
              <a:buNone/>
            </a:pPr>
            <a:r>
              <a:rPr lang="en-US" sz="2000">
                <a:latin typeface="+mj-lt"/>
              </a:rPr>
              <a:t>B)$variable_name = value;</a:t>
            </a:r>
          </a:p>
          <a:p>
            <a:pPr marL="514350" indent="-514350">
              <a:buFont typeface="Arial" pitchFamily="34" charset="0"/>
              <a:buNone/>
            </a:pPr>
            <a:r>
              <a:rPr lang="en-US" sz="2000">
                <a:latin typeface="+mj-lt"/>
              </a:rPr>
              <a:t>C)$variable_name = value</a:t>
            </a:r>
          </a:p>
          <a:p>
            <a:pPr marL="514350" indent="-514350">
              <a:buFont typeface="Arial" pitchFamily="34" charset="0"/>
              <a:buNone/>
            </a:pPr>
            <a:r>
              <a:rPr lang="en-US" sz="2000">
                <a:latin typeface="+mj-lt"/>
              </a:rPr>
              <a:t>D)variable name as value;</a:t>
            </a:r>
            <a:endParaRPr lang="en-US" sz="2200" dirty="0"/>
          </a:p>
        </p:txBody>
      </p:sp>
    </p:spTree>
    <p:extLst>
      <p:ext uri="{BB962C8B-B14F-4D97-AF65-F5344CB8AC3E}">
        <p14:creationId xmlns:p14="http://schemas.microsoft.com/office/powerpoint/2010/main" val="164218403"/>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E73A3019-CFE4-49DD-B6FD-2AFB2DD2DBB6}" type="datetime1">
              <a:rPr lang="en-US" smtClean="0"/>
              <a:t>11/7/2024</a:t>
            </a:fld>
            <a:endParaRPr lang="en-US"/>
          </a:p>
        </p:txBody>
      </p:sp>
      <p:sp>
        <p:nvSpPr>
          <p:cNvPr id="5" name="Footer Placeholder 4"/>
          <p:cNvSpPr>
            <a:spLocks noGrp="1"/>
          </p:cNvSpPr>
          <p:nvPr>
            <p:ph type="ftr" sz="quarter" idx="11"/>
          </p:nvPr>
        </p:nvSpPr>
        <p:spPr>
          <a:xfrm>
            <a:off x="4343400" y="6248401"/>
            <a:ext cx="4724400" cy="365125"/>
          </a:xfrm>
        </p:spPr>
        <p:txBody>
          <a:bodyPr/>
          <a:lstStyle/>
          <a:p>
            <a:r>
              <a:rPr lang="en-US" dirty="0"/>
              <a:t>Vaishali Mishra            ACSE0505 Web Technology                Unit 5</a:t>
            </a:r>
          </a:p>
        </p:txBody>
      </p:sp>
      <p:sp>
        <p:nvSpPr>
          <p:cNvPr id="6" name="Slide Number Placeholder 5"/>
          <p:cNvSpPr>
            <a:spLocks noGrp="1"/>
          </p:cNvSpPr>
          <p:nvPr>
            <p:ph type="sldNum" sz="quarter" idx="12"/>
          </p:nvPr>
        </p:nvSpPr>
        <p:spPr/>
        <p:txBody>
          <a:bodyPr/>
          <a:lstStyle/>
          <a:p>
            <a:fld id="{B6F15528-21DE-4FAA-801E-634DDDAF4B2B}" type="slidenum">
              <a:rPr lang="en-US" smtClean="0"/>
              <a:pPr/>
              <a:t>105</a:t>
            </a:fld>
            <a:endParaRPr lang="en-US"/>
          </a:p>
        </p:txBody>
      </p:sp>
      <p:sp>
        <p:nvSpPr>
          <p:cNvPr id="7" name="Title 1"/>
          <p:cNvSpPr txBox="1">
            <a:spLocks/>
          </p:cNvSpPr>
          <p:nvPr/>
        </p:nvSpPr>
        <p:spPr>
          <a:xfrm>
            <a:off x="2895600" y="2"/>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pPr>
              <a:defRPr/>
            </a:pPr>
            <a:endParaRPr lang="en-IN" sz="2800" dirty="0"/>
          </a:p>
          <a:p>
            <a:pPr>
              <a:defRPr/>
            </a:pPr>
            <a:endParaRPr lang="en-US" sz="2800" noProof="0" dirty="0"/>
          </a:p>
          <a:p>
            <a:pPr>
              <a:defRPr/>
            </a:pPr>
            <a:r>
              <a:rPr lang="en-US" sz="2800" noProof="0" dirty="0"/>
              <a:t>MCQ</a:t>
            </a:r>
            <a:endParaRPr kumimoji="0" lang="en-US" sz="2800" b="0" i="0" u="none" strike="noStrike" kern="1200" cap="none" spc="0" normalizeH="0" baseline="0" noProof="0" dirty="0">
              <a:ln>
                <a:noFill/>
              </a:ln>
              <a:solidFill>
                <a:schemeClr val="dk1"/>
              </a:solidFill>
              <a:effectLst/>
              <a:uLnTx/>
              <a:uFillTx/>
            </a:endParaRPr>
          </a:p>
          <a:p>
            <a:pPr>
              <a:defRPr/>
            </a:pPr>
            <a:endParaRPr lang="en-IN" dirty="0"/>
          </a:p>
          <a:p>
            <a:pPr algn="ctr">
              <a:defRPr/>
            </a:pPr>
            <a:endParaRPr lang="en-US" sz="2800" dirty="0">
              <a:latin typeface="Times New Roman" pitchFamily="18" charset="0"/>
              <a:cs typeface="Times New Roman" pitchFamily="18" charset="0"/>
              <a:sym typeface="Arial" charset="0"/>
            </a:endParaRPr>
          </a:p>
        </p:txBody>
      </p:sp>
      <p:pic>
        <p:nvPicPr>
          <p:cNvPr id="2" name="Picture 1" descr="A black and red logo&#10;&#10;Description automatically generated">
            <a:extLst>
              <a:ext uri="{FF2B5EF4-FFF2-40B4-BE49-F238E27FC236}">
                <a16:creationId xmlns:a16="http://schemas.microsoft.com/office/drawing/2014/main" id="{8BDB0671-FC93-5C9E-75A2-ED46EE3FB8B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8" name="Content Placeholder 1">
            <a:extLst>
              <a:ext uri="{FF2B5EF4-FFF2-40B4-BE49-F238E27FC236}">
                <a16:creationId xmlns:a16="http://schemas.microsoft.com/office/drawing/2014/main" id="{1FF5ADF0-474C-251F-0E40-267B658E504A}"/>
              </a:ext>
            </a:extLst>
          </p:cNvPr>
          <p:cNvSpPr txBox="1">
            <a:spLocks noGrp="1"/>
          </p:cNvSpPr>
          <p:nvPr>
            <p:ph idx="1"/>
          </p:nvPr>
        </p:nvSpPr>
        <p:spPr>
          <a:xfrm>
            <a:off x="609600" y="1219200"/>
            <a:ext cx="10515600" cy="4449763"/>
          </a:xfrm>
        </p:spPr>
        <p:txBody>
          <a:bodyPr/>
          <a:lstStyle/>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lgn="ctr">
              <a:spcBef>
                <a:spcPts val="363"/>
              </a:spcBef>
              <a:spcAft>
                <a:spcPct val="0"/>
              </a:spcAft>
              <a:buClr>
                <a:srgbClr val="000000"/>
              </a:buClr>
              <a:buFont typeface="Arial" panose="020B0604020202020204" pitchFamily="34" charset="0"/>
              <a:buNone/>
            </a:pPr>
            <a:r>
              <a:rPr lang="en-IN" sz="2000" b="1" dirty="0">
                <a:latin typeface="Arial" panose="020B0604020202020204" pitchFamily="34" charset="0"/>
                <a:cs typeface="Arial" panose="020B0604020202020204" pitchFamily="34" charset="0"/>
              </a:rPr>
              <a:t> </a:t>
            </a:r>
          </a:p>
        </p:txBody>
      </p:sp>
      <p:sp>
        <p:nvSpPr>
          <p:cNvPr id="9" name="Content Placeholder 2">
            <a:extLst>
              <a:ext uri="{FF2B5EF4-FFF2-40B4-BE49-F238E27FC236}">
                <a16:creationId xmlns:a16="http://schemas.microsoft.com/office/drawing/2014/main" id="{F83C6FF1-9E2A-FCD3-741D-D7E9F4E0B576}"/>
              </a:ext>
            </a:extLst>
          </p:cNvPr>
          <p:cNvSpPr txBox="1">
            <a:spLocks/>
          </p:cNvSpPr>
          <p:nvPr/>
        </p:nvSpPr>
        <p:spPr>
          <a:xfrm>
            <a:off x="609600" y="1189036"/>
            <a:ext cx="9220200" cy="4983163"/>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514350" indent="-514350">
              <a:buFont typeface="Arial" pitchFamily="34" charset="0"/>
              <a:buNone/>
            </a:pPr>
            <a:r>
              <a:rPr lang="en-US" sz="2000">
                <a:latin typeface="+mj-lt"/>
              </a:rPr>
              <a:t>11)Which of the following is the correct use of the strcmp() function in PHP?</a:t>
            </a:r>
          </a:p>
          <a:p>
            <a:pPr marL="514350" indent="-514350">
              <a:buFont typeface="Arial" pitchFamily="34" charset="0"/>
              <a:buNone/>
            </a:pPr>
            <a:r>
              <a:rPr lang="en-US" sz="2000">
                <a:latin typeface="+mj-lt"/>
              </a:rPr>
              <a:t>A)The strcmp() function is used to compare the strings excluding case</a:t>
            </a:r>
          </a:p>
          <a:p>
            <a:pPr marL="514350" indent="-514350">
              <a:buFont typeface="Arial" pitchFamily="34" charset="0"/>
              <a:buNone/>
            </a:pPr>
            <a:r>
              <a:rPr lang="en-US" sz="2000">
                <a:latin typeface="+mj-lt"/>
              </a:rPr>
              <a:t>B)The strcmp() function is used to compare the uppercase strings</a:t>
            </a:r>
          </a:p>
          <a:p>
            <a:pPr marL="514350" indent="-514350">
              <a:buFont typeface="Arial" pitchFamily="34" charset="0"/>
              <a:buNone/>
            </a:pPr>
            <a:r>
              <a:rPr lang="en-US" sz="2000">
                <a:latin typeface="+mj-lt"/>
              </a:rPr>
              <a:t>C)The strcmp() function is used to compare the lowercase strings</a:t>
            </a:r>
          </a:p>
          <a:p>
            <a:pPr marL="514350" indent="-514350">
              <a:buFont typeface="Arial" pitchFamily="34" charset="0"/>
              <a:buNone/>
            </a:pPr>
            <a:r>
              <a:rPr lang="en-US" sz="2000">
                <a:latin typeface="+mj-lt"/>
              </a:rPr>
              <a:t>D)The strcmp() function is used to compare the strings including case</a:t>
            </a:r>
          </a:p>
          <a:p>
            <a:pPr marL="514350" indent="-514350">
              <a:buFont typeface="Arial" pitchFamily="34" charset="0"/>
              <a:buNone/>
            </a:pPr>
            <a:endParaRPr lang="en-US" sz="2000">
              <a:latin typeface="+mj-lt"/>
            </a:endParaRPr>
          </a:p>
          <a:p>
            <a:pPr marL="514350" indent="-514350">
              <a:buFont typeface="Arial" pitchFamily="34" charset="0"/>
              <a:buNone/>
            </a:pPr>
            <a:r>
              <a:rPr lang="en-US" sz="2000">
                <a:latin typeface="+mj-lt"/>
              </a:rPr>
              <a:t>12)What is the use of fopen() function in PHP?</a:t>
            </a:r>
          </a:p>
          <a:p>
            <a:pPr marL="514350" indent="-514350">
              <a:buFont typeface="Arial" pitchFamily="34" charset="0"/>
              <a:buNone/>
            </a:pPr>
            <a:r>
              <a:rPr lang="en-US" sz="2000">
                <a:latin typeface="+mj-lt"/>
              </a:rPr>
              <a:t>A)The fopen() function is used to open folders in PHP</a:t>
            </a:r>
          </a:p>
          <a:p>
            <a:pPr marL="514350" indent="-514350">
              <a:buFont typeface="Arial" pitchFamily="34" charset="0"/>
              <a:buNone/>
            </a:pPr>
            <a:r>
              <a:rPr lang="en-US" sz="2000">
                <a:latin typeface="+mj-lt"/>
              </a:rPr>
              <a:t>B)The fopen() function is used to open remote server</a:t>
            </a:r>
          </a:p>
          <a:p>
            <a:pPr marL="514350" indent="-514350">
              <a:buFont typeface="Arial" pitchFamily="34" charset="0"/>
              <a:buNone/>
            </a:pPr>
            <a:r>
              <a:rPr lang="en-US" sz="2000">
                <a:latin typeface="+mj-lt"/>
              </a:rPr>
              <a:t>C)The fopen() function is used to open files in PHP</a:t>
            </a:r>
          </a:p>
          <a:p>
            <a:pPr marL="514350" indent="-514350">
              <a:buFont typeface="Arial" pitchFamily="34" charset="0"/>
              <a:buNone/>
            </a:pPr>
            <a:r>
              <a:rPr lang="en-US" sz="2000">
                <a:latin typeface="+mj-lt"/>
              </a:rPr>
              <a:t>D) None of the above</a:t>
            </a:r>
            <a:endParaRPr lang="en-US" sz="2000" dirty="0">
              <a:latin typeface="+mj-lt"/>
            </a:endParaRPr>
          </a:p>
        </p:txBody>
      </p:sp>
    </p:spTree>
    <p:extLst>
      <p:ext uri="{BB962C8B-B14F-4D97-AF65-F5344CB8AC3E}">
        <p14:creationId xmlns:p14="http://schemas.microsoft.com/office/powerpoint/2010/main" val="1339224737"/>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E73A3019-CFE4-49DD-B6FD-2AFB2DD2DBB6}" type="datetime1">
              <a:rPr lang="en-US" smtClean="0"/>
              <a:t>11/7/2024</a:t>
            </a:fld>
            <a:endParaRPr lang="en-US"/>
          </a:p>
        </p:txBody>
      </p:sp>
      <p:sp>
        <p:nvSpPr>
          <p:cNvPr id="5" name="Footer Placeholder 4"/>
          <p:cNvSpPr>
            <a:spLocks noGrp="1"/>
          </p:cNvSpPr>
          <p:nvPr>
            <p:ph type="ftr" sz="quarter" idx="11"/>
          </p:nvPr>
        </p:nvSpPr>
        <p:spPr>
          <a:xfrm>
            <a:off x="4343400" y="6248401"/>
            <a:ext cx="4724400" cy="365125"/>
          </a:xfrm>
        </p:spPr>
        <p:txBody>
          <a:bodyPr/>
          <a:lstStyle/>
          <a:p>
            <a:r>
              <a:rPr lang="en-US" dirty="0"/>
              <a:t>Vaishali Mishra            ACSE0505 Web Technology                Unit 5</a:t>
            </a:r>
          </a:p>
        </p:txBody>
      </p:sp>
      <p:sp>
        <p:nvSpPr>
          <p:cNvPr id="6" name="Slide Number Placeholder 5"/>
          <p:cNvSpPr>
            <a:spLocks noGrp="1"/>
          </p:cNvSpPr>
          <p:nvPr>
            <p:ph type="sldNum" sz="quarter" idx="12"/>
          </p:nvPr>
        </p:nvSpPr>
        <p:spPr/>
        <p:txBody>
          <a:bodyPr/>
          <a:lstStyle/>
          <a:p>
            <a:fld id="{B6F15528-21DE-4FAA-801E-634DDDAF4B2B}" type="slidenum">
              <a:rPr lang="en-US" smtClean="0"/>
              <a:pPr/>
              <a:t>106</a:t>
            </a:fld>
            <a:endParaRPr lang="en-US"/>
          </a:p>
        </p:txBody>
      </p:sp>
      <p:sp>
        <p:nvSpPr>
          <p:cNvPr id="7" name="Title 1"/>
          <p:cNvSpPr txBox="1">
            <a:spLocks/>
          </p:cNvSpPr>
          <p:nvPr/>
        </p:nvSpPr>
        <p:spPr>
          <a:xfrm>
            <a:off x="2895600" y="2"/>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pPr>
              <a:defRPr/>
            </a:pPr>
            <a:endParaRPr lang="en-IN" sz="2800" dirty="0"/>
          </a:p>
          <a:p>
            <a:pPr>
              <a:defRPr/>
            </a:pPr>
            <a:endParaRPr lang="en-US" sz="2800" noProof="0" dirty="0"/>
          </a:p>
          <a:p>
            <a:pPr>
              <a:defRPr/>
            </a:pPr>
            <a:r>
              <a:rPr lang="en-US" sz="2800" noProof="0" dirty="0"/>
              <a:t>Glossary</a:t>
            </a:r>
            <a:endParaRPr kumimoji="0" lang="en-US" sz="2800" b="0" i="0" u="none" strike="noStrike" kern="1200" cap="none" spc="0" normalizeH="0" baseline="0" noProof="0" dirty="0">
              <a:ln>
                <a:noFill/>
              </a:ln>
              <a:solidFill>
                <a:schemeClr val="dk1"/>
              </a:solidFill>
              <a:effectLst/>
              <a:uLnTx/>
              <a:uFillTx/>
            </a:endParaRPr>
          </a:p>
          <a:p>
            <a:pPr>
              <a:defRPr/>
            </a:pPr>
            <a:endParaRPr lang="en-IN" dirty="0"/>
          </a:p>
          <a:p>
            <a:pPr algn="ctr">
              <a:defRPr/>
            </a:pPr>
            <a:endParaRPr lang="en-US" sz="2800" dirty="0">
              <a:latin typeface="Times New Roman" pitchFamily="18" charset="0"/>
              <a:cs typeface="Times New Roman" pitchFamily="18" charset="0"/>
              <a:sym typeface="Arial" charset="0"/>
            </a:endParaRPr>
          </a:p>
        </p:txBody>
      </p:sp>
      <p:pic>
        <p:nvPicPr>
          <p:cNvPr id="2" name="Picture 1" descr="A black and red logo&#10;&#10;Description automatically generated">
            <a:extLst>
              <a:ext uri="{FF2B5EF4-FFF2-40B4-BE49-F238E27FC236}">
                <a16:creationId xmlns:a16="http://schemas.microsoft.com/office/drawing/2014/main" id="{8BDB0671-FC93-5C9E-75A2-ED46EE3FB8B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8" name="Content Placeholder 1">
            <a:extLst>
              <a:ext uri="{FF2B5EF4-FFF2-40B4-BE49-F238E27FC236}">
                <a16:creationId xmlns:a16="http://schemas.microsoft.com/office/drawing/2014/main" id="{1FF5ADF0-474C-251F-0E40-267B658E504A}"/>
              </a:ext>
            </a:extLst>
          </p:cNvPr>
          <p:cNvSpPr txBox="1">
            <a:spLocks noGrp="1"/>
          </p:cNvSpPr>
          <p:nvPr>
            <p:ph idx="1"/>
          </p:nvPr>
        </p:nvSpPr>
        <p:spPr>
          <a:xfrm>
            <a:off x="609600" y="1219200"/>
            <a:ext cx="10515600" cy="4449763"/>
          </a:xfrm>
        </p:spPr>
        <p:txBody>
          <a:bodyPr/>
          <a:lstStyle/>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lgn="ctr">
              <a:spcBef>
                <a:spcPts val="363"/>
              </a:spcBef>
              <a:spcAft>
                <a:spcPct val="0"/>
              </a:spcAft>
              <a:buClr>
                <a:srgbClr val="000000"/>
              </a:buClr>
              <a:buFont typeface="Arial" panose="020B0604020202020204" pitchFamily="34" charset="0"/>
              <a:buNone/>
            </a:pPr>
            <a:r>
              <a:rPr lang="en-IN" sz="2000" b="1" dirty="0">
                <a:latin typeface="Arial" panose="020B0604020202020204" pitchFamily="34" charset="0"/>
                <a:cs typeface="Arial" panose="020B0604020202020204" pitchFamily="34" charset="0"/>
              </a:rPr>
              <a:t> </a:t>
            </a:r>
          </a:p>
        </p:txBody>
      </p:sp>
      <p:sp>
        <p:nvSpPr>
          <p:cNvPr id="10" name="Content Placeholder 2">
            <a:extLst>
              <a:ext uri="{FF2B5EF4-FFF2-40B4-BE49-F238E27FC236}">
                <a16:creationId xmlns:a16="http://schemas.microsoft.com/office/drawing/2014/main" id="{C98F5941-5E71-E63F-5E53-CE71F040BBED}"/>
              </a:ext>
            </a:extLst>
          </p:cNvPr>
          <p:cNvSpPr txBox="1">
            <a:spLocks/>
          </p:cNvSpPr>
          <p:nvPr/>
        </p:nvSpPr>
        <p:spPr>
          <a:xfrm>
            <a:off x="533400" y="1143000"/>
            <a:ext cx="9677400" cy="4525963"/>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just"/>
            <a:r>
              <a:rPr lang="en-US" sz="2000"/>
              <a:t>The filesize() function returns the file size in ___________</a:t>
            </a:r>
          </a:p>
          <a:p>
            <a:pPr algn="just"/>
            <a:r>
              <a:rPr lang="en-US" sz="2000"/>
              <a:t>_______function is used to determine a file’s last access time.</a:t>
            </a:r>
          </a:p>
          <a:p>
            <a:pPr algn="just"/>
            <a:r>
              <a:rPr lang="en-US" sz="2000"/>
              <a:t>_______function is useful when you want to output the executed command result.</a:t>
            </a:r>
          </a:p>
          <a:p>
            <a:pPr algn="just"/>
            <a:r>
              <a:rPr lang="en-US" sz="2000"/>
              <a:t>_______ function is capable of reading a file into an array </a:t>
            </a:r>
          </a:p>
          <a:p>
            <a:pPr algn="just"/>
            <a:r>
              <a:rPr lang="en-US" sz="2000"/>
              <a:t>String values in PHP must be enclosed within________ </a:t>
            </a:r>
            <a:endParaRPr lang="en-US" sz="2000" dirty="0"/>
          </a:p>
        </p:txBody>
      </p:sp>
    </p:spTree>
    <p:extLst>
      <p:ext uri="{BB962C8B-B14F-4D97-AF65-F5344CB8AC3E}">
        <p14:creationId xmlns:p14="http://schemas.microsoft.com/office/powerpoint/2010/main" val="800644630"/>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E73A3019-CFE4-49DD-B6FD-2AFB2DD2DBB6}" type="datetime1">
              <a:rPr lang="en-US" smtClean="0"/>
              <a:t>11/7/2024</a:t>
            </a:fld>
            <a:endParaRPr lang="en-US"/>
          </a:p>
        </p:txBody>
      </p:sp>
      <p:sp>
        <p:nvSpPr>
          <p:cNvPr id="5" name="Footer Placeholder 4"/>
          <p:cNvSpPr>
            <a:spLocks noGrp="1"/>
          </p:cNvSpPr>
          <p:nvPr>
            <p:ph type="ftr" sz="quarter" idx="11"/>
          </p:nvPr>
        </p:nvSpPr>
        <p:spPr>
          <a:xfrm>
            <a:off x="4343400" y="6248401"/>
            <a:ext cx="4724400" cy="365125"/>
          </a:xfrm>
        </p:spPr>
        <p:txBody>
          <a:bodyPr/>
          <a:lstStyle/>
          <a:p>
            <a:r>
              <a:rPr lang="en-US" dirty="0"/>
              <a:t>Vaishali Mishra            ACSE0505 Web Technology                Unit 5</a:t>
            </a:r>
          </a:p>
        </p:txBody>
      </p:sp>
      <p:sp>
        <p:nvSpPr>
          <p:cNvPr id="6" name="Slide Number Placeholder 5"/>
          <p:cNvSpPr>
            <a:spLocks noGrp="1"/>
          </p:cNvSpPr>
          <p:nvPr>
            <p:ph type="sldNum" sz="quarter" idx="12"/>
          </p:nvPr>
        </p:nvSpPr>
        <p:spPr/>
        <p:txBody>
          <a:bodyPr/>
          <a:lstStyle/>
          <a:p>
            <a:fld id="{B6F15528-21DE-4FAA-801E-634DDDAF4B2B}" type="slidenum">
              <a:rPr lang="en-US" smtClean="0"/>
              <a:pPr/>
              <a:t>107</a:t>
            </a:fld>
            <a:endParaRPr lang="en-US"/>
          </a:p>
        </p:txBody>
      </p:sp>
      <p:sp>
        <p:nvSpPr>
          <p:cNvPr id="7" name="Title 1"/>
          <p:cNvSpPr txBox="1">
            <a:spLocks/>
          </p:cNvSpPr>
          <p:nvPr/>
        </p:nvSpPr>
        <p:spPr>
          <a:xfrm>
            <a:off x="2895600" y="2"/>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pPr>
              <a:defRPr/>
            </a:pPr>
            <a:endParaRPr lang="en-IN" sz="2800" dirty="0"/>
          </a:p>
          <a:p>
            <a:pPr>
              <a:defRPr/>
            </a:pPr>
            <a:endParaRPr kumimoji="0" lang="en-US" sz="2800" b="0" i="0" u="none" strike="noStrike" kern="1200" cap="none" spc="0" normalizeH="0" baseline="0" noProof="0" dirty="0">
              <a:ln>
                <a:noFill/>
              </a:ln>
              <a:solidFill>
                <a:schemeClr val="dk1"/>
              </a:solidFill>
              <a:effectLst/>
              <a:uLnTx/>
              <a:uFillTx/>
              <a:latin typeface="+mn-lt"/>
              <a:ea typeface="+mn-ea"/>
              <a:cs typeface="+mn-cs"/>
            </a:endParaRPr>
          </a:p>
          <a:p>
            <a:pPr>
              <a:defRPr/>
            </a:pPr>
            <a:r>
              <a:rPr kumimoji="0" lang="en-US" sz="2800" b="0" i="0" u="none" strike="noStrike" kern="1200" cap="none" spc="0" normalizeH="0" baseline="0" noProof="0" dirty="0">
                <a:ln>
                  <a:noFill/>
                </a:ln>
                <a:solidFill>
                  <a:schemeClr val="dk1"/>
                </a:solidFill>
                <a:effectLst/>
                <a:uLnTx/>
                <a:uFillTx/>
                <a:latin typeface="+mn-lt"/>
                <a:ea typeface="+mn-ea"/>
                <a:cs typeface="+mn-cs"/>
              </a:rPr>
              <a:t>Weekly</a:t>
            </a:r>
            <a:r>
              <a:rPr kumimoji="0" lang="en-US" sz="2800" b="0" i="0" u="none" strike="noStrike" kern="1200" cap="none" spc="0" normalizeH="0" noProof="0" dirty="0">
                <a:ln>
                  <a:noFill/>
                </a:ln>
                <a:solidFill>
                  <a:schemeClr val="dk1"/>
                </a:solidFill>
                <a:effectLst/>
                <a:uLnTx/>
                <a:uFillTx/>
                <a:latin typeface="+mn-lt"/>
                <a:ea typeface="+mn-ea"/>
                <a:cs typeface="+mn-cs"/>
              </a:rPr>
              <a:t> Assignment</a:t>
            </a:r>
            <a:endParaRPr kumimoji="0" lang="en-US" sz="2800" b="0" i="0" u="none" strike="noStrike" kern="1200" cap="none" spc="0" normalizeH="0" baseline="0" noProof="0" dirty="0">
              <a:ln>
                <a:noFill/>
              </a:ln>
              <a:solidFill>
                <a:schemeClr val="dk1"/>
              </a:solidFill>
              <a:effectLst/>
              <a:uLnTx/>
              <a:uFillTx/>
              <a:latin typeface="+mn-lt"/>
              <a:ea typeface="+mn-ea"/>
              <a:cs typeface="+mn-cs"/>
            </a:endParaRPr>
          </a:p>
          <a:p>
            <a:pPr>
              <a:defRPr/>
            </a:pPr>
            <a:endParaRPr lang="en-IN" dirty="0"/>
          </a:p>
          <a:p>
            <a:pPr algn="ctr">
              <a:defRPr/>
            </a:pPr>
            <a:endParaRPr lang="en-US" sz="2800" dirty="0">
              <a:latin typeface="Times New Roman" pitchFamily="18" charset="0"/>
              <a:cs typeface="Times New Roman" pitchFamily="18" charset="0"/>
              <a:sym typeface="Arial" charset="0"/>
            </a:endParaRPr>
          </a:p>
        </p:txBody>
      </p:sp>
      <p:pic>
        <p:nvPicPr>
          <p:cNvPr id="2" name="Picture 1" descr="A black and red logo&#10;&#10;Description automatically generated">
            <a:extLst>
              <a:ext uri="{FF2B5EF4-FFF2-40B4-BE49-F238E27FC236}">
                <a16:creationId xmlns:a16="http://schemas.microsoft.com/office/drawing/2014/main" id="{8BDB0671-FC93-5C9E-75A2-ED46EE3FB8B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8" name="Content Placeholder 1">
            <a:extLst>
              <a:ext uri="{FF2B5EF4-FFF2-40B4-BE49-F238E27FC236}">
                <a16:creationId xmlns:a16="http://schemas.microsoft.com/office/drawing/2014/main" id="{1FF5ADF0-474C-251F-0E40-267B658E504A}"/>
              </a:ext>
            </a:extLst>
          </p:cNvPr>
          <p:cNvSpPr txBox="1">
            <a:spLocks noGrp="1"/>
          </p:cNvSpPr>
          <p:nvPr>
            <p:ph idx="1"/>
          </p:nvPr>
        </p:nvSpPr>
        <p:spPr>
          <a:xfrm>
            <a:off x="609600" y="1219200"/>
            <a:ext cx="10515600" cy="4449763"/>
          </a:xfrm>
        </p:spPr>
        <p:txBody>
          <a:bodyPr/>
          <a:lstStyle/>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lgn="ctr">
              <a:spcBef>
                <a:spcPts val="363"/>
              </a:spcBef>
              <a:spcAft>
                <a:spcPct val="0"/>
              </a:spcAft>
              <a:buClr>
                <a:srgbClr val="000000"/>
              </a:buClr>
              <a:buFont typeface="Arial" panose="020B0604020202020204" pitchFamily="34" charset="0"/>
              <a:buNone/>
            </a:pPr>
            <a:r>
              <a:rPr lang="en-IN" sz="2000" b="1" dirty="0">
                <a:latin typeface="Arial" panose="020B0604020202020204" pitchFamily="34" charset="0"/>
                <a:cs typeface="Arial" panose="020B0604020202020204" pitchFamily="34" charset="0"/>
              </a:rPr>
              <a:t> </a:t>
            </a:r>
          </a:p>
        </p:txBody>
      </p:sp>
      <p:sp>
        <p:nvSpPr>
          <p:cNvPr id="3" name="Content Placeholder 8">
            <a:extLst>
              <a:ext uri="{FF2B5EF4-FFF2-40B4-BE49-F238E27FC236}">
                <a16:creationId xmlns:a16="http://schemas.microsoft.com/office/drawing/2014/main" id="{AB34C0E6-E3F3-19DC-BC6C-0A8418A948DF}"/>
              </a:ext>
            </a:extLst>
          </p:cNvPr>
          <p:cNvSpPr txBox="1">
            <a:spLocks/>
          </p:cNvSpPr>
          <p:nvPr/>
        </p:nvSpPr>
        <p:spPr>
          <a:xfrm>
            <a:off x="457200" y="1055218"/>
            <a:ext cx="10210800" cy="5070946"/>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just"/>
            <a:r>
              <a:rPr lang="en-US" sz="2000"/>
              <a:t>Define PHP with its syntax.</a:t>
            </a:r>
          </a:p>
          <a:p>
            <a:pPr algn="just"/>
            <a:r>
              <a:rPr lang="en-US" sz="2000"/>
              <a:t>Explain variables &amp; constants with example and code.</a:t>
            </a:r>
          </a:p>
          <a:p>
            <a:pPr algn="just"/>
            <a:r>
              <a:rPr lang="en-US" sz="2000"/>
              <a:t>What do you mean by data type, operator &amp; expressions.</a:t>
            </a:r>
          </a:p>
          <a:p>
            <a:pPr algn="just"/>
            <a:r>
              <a:rPr lang="en-US" sz="2000"/>
              <a:t>Define control flow and decision making statements.</a:t>
            </a:r>
          </a:p>
          <a:p>
            <a:pPr algn="just"/>
            <a:r>
              <a:rPr lang="en-US" sz="2000"/>
              <a:t>What do you mean by functions, strings and arrays.</a:t>
            </a:r>
            <a:endParaRPr lang="en-IN" sz="2000"/>
          </a:p>
          <a:p>
            <a:pPr algn="just"/>
            <a:r>
              <a:rPr lang="en-US" sz="2000"/>
              <a:t>Explain</a:t>
            </a:r>
            <a:r>
              <a:rPr lang="en-US" sz="2000" b="1"/>
              <a:t> </a:t>
            </a:r>
            <a:r>
              <a:rPr lang="en-US" sz="2000"/>
              <a:t>file &amp; directory, and give commands for opening, closing, coping, renaming and deleting a file.</a:t>
            </a:r>
          </a:p>
          <a:p>
            <a:pPr algn="just"/>
            <a:r>
              <a:rPr lang="en-US" sz="2000"/>
              <a:t>Give commands for creating or deleting folder, file uploading &amp; downloading.</a:t>
            </a:r>
            <a:endParaRPr lang="en-IN" sz="2000"/>
          </a:p>
          <a:p>
            <a:pPr algn="just"/>
            <a:r>
              <a:rPr lang="en-IN" sz="2000"/>
              <a:t>Introduce the session control with session functionality. </a:t>
            </a:r>
          </a:p>
          <a:p>
            <a:pPr algn="just"/>
            <a:r>
              <a:rPr lang="en-IN" sz="2000"/>
              <a:t>What is a Cookie? Explain setting cookies with PHP. </a:t>
            </a:r>
            <a:endParaRPr lang="en-US" sz="2000"/>
          </a:p>
          <a:p>
            <a:endParaRPr lang="en-US" dirty="0"/>
          </a:p>
        </p:txBody>
      </p:sp>
    </p:spTree>
    <p:extLst>
      <p:ext uri="{BB962C8B-B14F-4D97-AF65-F5344CB8AC3E}">
        <p14:creationId xmlns:p14="http://schemas.microsoft.com/office/powerpoint/2010/main" val="1210811821"/>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E73A3019-CFE4-49DD-B6FD-2AFB2DD2DBB6}" type="datetime1">
              <a:rPr lang="en-US" smtClean="0"/>
              <a:t>11/7/2024</a:t>
            </a:fld>
            <a:endParaRPr lang="en-US"/>
          </a:p>
        </p:txBody>
      </p:sp>
      <p:sp>
        <p:nvSpPr>
          <p:cNvPr id="5" name="Footer Placeholder 4"/>
          <p:cNvSpPr>
            <a:spLocks noGrp="1"/>
          </p:cNvSpPr>
          <p:nvPr>
            <p:ph type="ftr" sz="quarter" idx="11"/>
          </p:nvPr>
        </p:nvSpPr>
        <p:spPr>
          <a:xfrm>
            <a:off x="4343400" y="6248401"/>
            <a:ext cx="4724400" cy="365125"/>
          </a:xfrm>
        </p:spPr>
        <p:txBody>
          <a:bodyPr/>
          <a:lstStyle/>
          <a:p>
            <a:r>
              <a:rPr lang="en-US" dirty="0"/>
              <a:t>Vaishali Mishra            ACSE0505 Web Technology                Unit 5</a:t>
            </a:r>
          </a:p>
        </p:txBody>
      </p:sp>
      <p:sp>
        <p:nvSpPr>
          <p:cNvPr id="6" name="Slide Number Placeholder 5"/>
          <p:cNvSpPr>
            <a:spLocks noGrp="1"/>
          </p:cNvSpPr>
          <p:nvPr>
            <p:ph type="sldNum" sz="quarter" idx="12"/>
          </p:nvPr>
        </p:nvSpPr>
        <p:spPr/>
        <p:txBody>
          <a:bodyPr/>
          <a:lstStyle/>
          <a:p>
            <a:fld id="{B6F15528-21DE-4FAA-801E-634DDDAF4B2B}" type="slidenum">
              <a:rPr lang="en-US" smtClean="0"/>
              <a:pPr/>
              <a:t>108</a:t>
            </a:fld>
            <a:endParaRPr lang="en-US"/>
          </a:p>
        </p:txBody>
      </p:sp>
      <p:sp>
        <p:nvSpPr>
          <p:cNvPr id="7" name="Title 1"/>
          <p:cNvSpPr txBox="1">
            <a:spLocks/>
          </p:cNvSpPr>
          <p:nvPr/>
        </p:nvSpPr>
        <p:spPr>
          <a:xfrm>
            <a:off x="2895600" y="2"/>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pPr algn="ctr" eaLnBrk="1" hangingPunct="1">
              <a:defRPr/>
            </a:pPr>
            <a:r>
              <a:rPr lang="en-US" sz="2800"/>
              <a:t>Recap of Unit 5</a:t>
            </a:r>
            <a:endParaRPr lang="en-US" sz="2800" dirty="0"/>
          </a:p>
        </p:txBody>
      </p:sp>
      <p:pic>
        <p:nvPicPr>
          <p:cNvPr id="2" name="Picture 1" descr="A black and red logo&#10;&#10;Description automatically generated">
            <a:extLst>
              <a:ext uri="{FF2B5EF4-FFF2-40B4-BE49-F238E27FC236}">
                <a16:creationId xmlns:a16="http://schemas.microsoft.com/office/drawing/2014/main" id="{8BDB0671-FC93-5C9E-75A2-ED46EE3FB8B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8" name="Content Placeholder 1">
            <a:extLst>
              <a:ext uri="{FF2B5EF4-FFF2-40B4-BE49-F238E27FC236}">
                <a16:creationId xmlns:a16="http://schemas.microsoft.com/office/drawing/2014/main" id="{1FF5ADF0-474C-251F-0E40-267B658E504A}"/>
              </a:ext>
            </a:extLst>
          </p:cNvPr>
          <p:cNvSpPr txBox="1">
            <a:spLocks noGrp="1"/>
          </p:cNvSpPr>
          <p:nvPr>
            <p:ph idx="1"/>
          </p:nvPr>
        </p:nvSpPr>
        <p:spPr>
          <a:xfrm>
            <a:off x="609600" y="1219200"/>
            <a:ext cx="10515600" cy="4449763"/>
          </a:xfrm>
        </p:spPr>
        <p:txBody>
          <a:bodyPr/>
          <a:lstStyle/>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lgn="ctr">
              <a:spcBef>
                <a:spcPts val="363"/>
              </a:spcBef>
              <a:spcAft>
                <a:spcPct val="0"/>
              </a:spcAft>
              <a:buClr>
                <a:srgbClr val="000000"/>
              </a:buClr>
              <a:buFont typeface="Arial" panose="020B0604020202020204" pitchFamily="34" charset="0"/>
              <a:buNone/>
            </a:pPr>
            <a:r>
              <a:rPr lang="en-IN" sz="2000" b="1" dirty="0">
                <a:latin typeface="Arial" panose="020B0604020202020204" pitchFamily="34" charset="0"/>
                <a:cs typeface="Arial" panose="020B0604020202020204" pitchFamily="34" charset="0"/>
              </a:rPr>
              <a:t> </a:t>
            </a:r>
          </a:p>
        </p:txBody>
      </p:sp>
      <p:sp>
        <p:nvSpPr>
          <p:cNvPr id="3" name="Text Placeholder 8">
            <a:extLst>
              <a:ext uri="{FF2B5EF4-FFF2-40B4-BE49-F238E27FC236}">
                <a16:creationId xmlns:a16="http://schemas.microsoft.com/office/drawing/2014/main" id="{1379DC17-A6C2-3884-8C9C-AA2DA44B6A97}"/>
              </a:ext>
            </a:extLst>
          </p:cNvPr>
          <p:cNvSpPr txBox="1">
            <a:spLocks/>
          </p:cNvSpPr>
          <p:nvPr/>
        </p:nvSpPr>
        <p:spPr>
          <a:xfrm>
            <a:off x="461962" y="1004888"/>
            <a:ext cx="10663237" cy="4808537"/>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just">
              <a:spcBef>
                <a:spcPts val="363"/>
              </a:spcBef>
              <a:spcAft>
                <a:spcPct val="0"/>
              </a:spcAft>
              <a:buClr>
                <a:srgbClr val="000000"/>
              </a:buClr>
            </a:pPr>
            <a:r>
              <a:rPr lang="en-US" altLang="en-US" sz="2200">
                <a:latin typeface="Times New Roman" panose="02020603050405020304" pitchFamily="18" charset="0"/>
                <a:cs typeface="Times New Roman" panose="02020603050405020304" pitchFamily="18" charset="0"/>
              </a:rPr>
              <a:t>Discussed about  the history of PHP language</a:t>
            </a:r>
          </a:p>
          <a:p>
            <a:pPr algn="just">
              <a:spcBef>
                <a:spcPts val="363"/>
              </a:spcBef>
              <a:spcAft>
                <a:spcPct val="0"/>
              </a:spcAft>
              <a:buClr>
                <a:srgbClr val="000000"/>
              </a:buClr>
            </a:pPr>
            <a:r>
              <a:rPr lang="en-US" altLang="en-US" sz="2200">
                <a:latin typeface="Times New Roman" panose="02020603050405020304" pitchFamily="18" charset="0"/>
                <a:cs typeface="Times New Roman" panose="02020603050405020304" pitchFamily="18" charset="0"/>
              </a:rPr>
              <a:t>Discussed about various methods and function for file and directory.</a:t>
            </a:r>
          </a:p>
          <a:p>
            <a:pPr algn="just">
              <a:spcBef>
                <a:spcPts val="363"/>
              </a:spcBef>
              <a:spcAft>
                <a:spcPct val="0"/>
              </a:spcAft>
              <a:buClr>
                <a:srgbClr val="000000"/>
              </a:buClr>
            </a:pPr>
            <a:r>
              <a:rPr lang="en-US" altLang="en-US" sz="2200">
                <a:latin typeface="Times New Roman" panose="02020603050405020304" pitchFamily="18" charset="0"/>
                <a:cs typeface="Times New Roman" panose="02020603050405020304" pitchFamily="18" charset="0"/>
              </a:rPr>
              <a:t>Discussed the cookies in PHP.</a:t>
            </a:r>
          </a:p>
          <a:p>
            <a:pPr algn="just">
              <a:spcBef>
                <a:spcPts val="363"/>
              </a:spcBef>
              <a:spcAft>
                <a:spcPct val="0"/>
              </a:spcAft>
              <a:buClr>
                <a:srgbClr val="000000"/>
              </a:buClr>
            </a:pPr>
            <a:r>
              <a:rPr lang="en-US" altLang="en-US" sz="2200">
                <a:latin typeface="Times New Roman" panose="02020603050405020304" pitchFamily="18" charset="0"/>
                <a:cs typeface="Times New Roman" panose="02020603050405020304" pitchFamily="18" charset="0"/>
              </a:rPr>
              <a:t>Discussed about session in PHP</a:t>
            </a:r>
          </a:p>
          <a:p>
            <a:pPr>
              <a:spcBef>
                <a:spcPts val="363"/>
              </a:spcBef>
              <a:spcAft>
                <a:spcPct val="0"/>
              </a:spcAft>
              <a:buClr>
                <a:srgbClr val="000000"/>
              </a:buClr>
              <a:buFont typeface="Arial" pitchFamily="34" charset="0"/>
              <a:buNone/>
            </a:pPr>
            <a:endParaRPr lang="en-US" altLang="en-US" sz="2200">
              <a:latin typeface="Times New Roman" panose="02020603050405020304" pitchFamily="18" charset="0"/>
              <a:cs typeface="Times New Roman" panose="02020603050405020304" pitchFamily="18" charset="0"/>
            </a:endParaRPr>
          </a:p>
          <a:p>
            <a:pPr>
              <a:spcBef>
                <a:spcPts val="363"/>
              </a:spcBef>
              <a:spcAft>
                <a:spcPct val="0"/>
              </a:spcAft>
              <a:buClr>
                <a:srgbClr val="000000"/>
              </a:buClr>
            </a:pPr>
            <a:endParaRPr lang="en-US" altLang="en-US" sz="2200">
              <a:latin typeface="Times New Roman" panose="02020603050405020304" pitchFamily="18" charset="0"/>
              <a:cs typeface="Times New Roman" panose="02020603050405020304" pitchFamily="18" charset="0"/>
            </a:endParaRPr>
          </a:p>
          <a:p>
            <a:pPr>
              <a:spcBef>
                <a:spcPts val="363"/>
              </a:spcBef>
              <a:spcAft>
                <a:spcPct val="0"/>
              </a:spcAft>
              <a:buClr>
                <a:srgbClr val="000000"/>
              </a:buClr>
            </a:pPr>
            <a:endParaRPr lang="en-US" altLang="en-US" sz="2200">
              <a:latin typeface="Times New Roman" panose="02020603050405020304" pitchFamily="18" charset="0"/>
              <a:cs typeface="Times New Roman" panose="02020603050405020304" pitchFamily="18" charset="0"/>
            </a:endParaRPr>
          </a:p>
          <a:p>
            <a:pPr>
              <a:spcBef>
                <a:spcPts val="363"/>
              </a:spcBef>
              <a:spcAft>
                <a:spcPct val="0"/>
              </a:spcAft>
              <a:buClr>
                <a:srgbClr val="000000"/>
              </a:buClr>
            </a:pPr>
            <a:endParaRPr lang="en-US" altLang="en-US" sz="2200">
              <a:latin typeface="Times New Roman" panose="02020603050405020304" pitchFamily="18" charset="0"/>
              <a:cs typeface="Times New Roman" panose="02020603050405020304" pitchFamily="18" charset="0"/>
            </a:endParaRPr>
          </a:p>
          <a:p>
            <a:pPr>
              <a:spcBef>
                <a:spcPts val="363"/>
              </a:spcBef>
              <a:spcAft>
                <a:spcPct val="0"/>
              </a:spcAft>
              <a:buClr>
                <a:srgbClr val="000000"/>
              </a:buClr>
            </a:pPr>
            <a:endParaRPr lang="en-US" altLang="en-US" sz="2200">
              <a:latin typeface="Times New Roman" panose="02020603050405020304" pitchFamily="18" charset="0"/>
              <a:cs typeface="Times New Roman" panose="02020603050405020304" pitchFamily="18" charset="0"/>
            </a:endParaRPr>
          </a:p>
          <a:p>
            <a:pPr>
              <a:spcBef>
                <a:spcPts val="363"/>
              </a:spcBef>
              <a:spcAft>
                <a:spcPct val="0"/>
              </a:spcAft>
              <a:buClr>
                <a:srgbClr val="000000"/>
              </a:buClr>
            </a:pPr>
            <a:endParaRPr lang="en-US" altLang="en-US"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55577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E73A3019-CFE4-49DD-B6FD-2AFB2DD2DBB6}" type="datetime1">
              <a:rPr lang="en-US" smtClean="0"/>
              <a:t>11/7/2024</a:t>
            </a:fld>
            <a:endParaRPr lang="en-US"/>
          </a:p>
        </p:txBody>
      </p:sp>
      <p:sp>
        <p:nvSpPr>
          <p:cNvPr id="5" name="Footer Placeholder 4"/>
          <p:cNvSpPr>
            <a:spLocks noGrp="1"/>
          </p:cNvSpPr>
          <p:nvPr>
            <p:ph type="ftr" sz="quarter" idx="11"/>
          </p:nvPr>
        </p:nvSpPr>
        <p:spPr>
          <a:xfrm>
            <a:off x="4343400" y="6248401"/>
            <a:ext cx="4724400" cy="365125"/>
          </a:xfrm>
        </p:spPr>
        <p:txBody>
          <a:bodyPr/>
          <a:lstStyle/>
          <a:p>
            <a:r>
              <a:rPr lang="en-US" dirty="0"/>
              <a:t>Vaishali Mishra            ACSE0505 Web Technology                Unit 5</a:t>
            </a:r>
          </a:p>
        </p:txBody>
      </p:sp>
      <p:sp>
        <p:nvSpPr>
          <p:cNvPr id="6" name="Slide Number Placeholder 5"/>
          <p:cNvSpPr>
            <a:spLocks noGrp="1"/>
          </p:cNvSpPr>
          <p:nvPr>
            <p:ph type="sldNum" sz="quarter" idx="12"/>
          </p:nvPr>
        </p:nvSpPr>
        <p:spPr/>
        <p:txBody>
          <a:bodyPr/>
          <a:lstStyle/>
          <a:p>
            <a:fld id="{B6F15528-21DE-4FAA-801E-634DDDAF4B2B}" type="slidenum">
              <a:rPr lang="en-US" smtClean="0"/>
              <a:pPr/>
              <a:t>109</a:t>
            </a:fld>
            <a:endParaRPr lang="en-US"/>
          </a:p>
        </p:txBody>
      </p:sp>
      <p:sp>
        <p:nvSpPr>
          <p:cNvPr id="7" name="Title 1"/>
          <p:cNvSpPr txBox="1">
            <a:spLocks/>
          </p:cNvSpPr>
          <p:nvPr/>
        </p:nvSpPr>
        <p:spPr>
          <a:xfrm>
            <a:off x="2895600" y="2"/>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pPr>
              <a:defRPr/>
            </a:pPr>
            <a:endParaRPr lang="en-IN" sz="2800" dirty="0"/>
          </a:p>
          <a:p>
            <a:pPr>
              <a:defRPr/>
            </a:pPr>
            <a:endParaRPr lang="en-US" sz="2800" dirty="0"/>
          </a:p>
          <a:p>
            <a:pPr>
              <a:defRPr/>
            </a:pPr>
            <a:r>
              <a:rPr lang="en-US" sz="2800" dirty="0"/>
              <a:t>Sessional Paper</a:t>
            </a:r>
          </a:p>
          <a:p>
            <a:pPr>
              <a:defRPr/>
            </a:pPr>
            <a:endParaRPr lang="en-IN" dirty="0"/>
          </a:p>
          <a:p>
            <a:pPr algn="ctr">
              <a:defRPr/>
            </a:pPr>
            <a:endParaRPr lang="en-US" sz="2800" dirty="0">
              <a:latin typeface="Times New Roman" pitchFamily="18" charset="0"/>
              <a:cs typeface="Times New Roman" pitchFamily="18" charset="0"/>
              <a:sym typeface="Arial" charset="0"/>
            </a:endParaRPr>
          </a:p>
        </p:txBody>
      </p:sp>
      <p:pic>
        <p:nvPicPr>
          <p:cNvPr id="2" name="Picture 1" descr="A black and red logo&#10;&#10;Description automatically generated">
            <a:extLst>
              <a:ext uri="{FF2B5EF4-FFF2-40B4-BE49-F238E27FC236}">
                <a16:creationId xmlns:a16="http://schemas.microsoft.com/office/drawing/2014/main" id="{8BDB0671-FC93-5C9E-75A2-ED46EE3FB8B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8" name="Content Placeholder 1">
            <a:extLst>
              <a:ext uri="{FF2B5EF4-FFF2-40B4-BE49-F238E27FC236}">
                <a16:creationId xmlns:a16="http://schemas.microsoft.com/office/drawing/2014/main" id="{1FF5ADF0-474C-251F-0E40-267B658E504A}"/>
              </a:ext>
            </a:extLst>
          </p:cNvPr>
          <p:cNvSpPr txBox="1">
            <a:spLocks noGrp="1"/>
          </p:cNvSpPr>
          <p:nvPr>
            <p:ph idx="1"/>
          </p:nvPr>
        </p:nvSpPr>
        <p:spPr>
          <a:xfrm>
            <a:off x="609600" y="1219200"/>
            <a:ext cx="10515600" cy="4449763"/>
          </a:xfrm>
        </p:spPr>
        <p:txBody>
          <a:bodyPr/>
          <a:lstStyle/>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lgn="ctr">
              <a:spcBef>
                <a:spcPts val="363"/>
              </a:spcBef>
              <a:spcAft>
                <a:spcPct val="0"/>
              </a:spcAft>
              <a:buClr>
                <a:srgbClr val="000000"/>
              </a:buClr>
              <a:buFont typeface="Arial" panose="020B0604020202020204" pitchFamily="34" charset="0"/>
              <a:buNone/>
            </a:pPr>
            <a:r>
              <a:rPr lang="en-IN" sz="2000" b="1" dirty="0">
                <a:latin typeface="Arial" panose="020B0604020202020204" pitchFamily="34" charset="0"/>
                <a:cs typeface="Arial" panose="020B0604020202020204" pitchFamily="34" charset="0"/>
              </a:rPr>
              <a:t> </a:t>
            </a:r>
          </a:p>
        </p:txBody>
      </p:sp>
      <p:pic>
        <p:nvPicPr>
          <p:cNvPr id="3" name="Picture 1">
            <a:extLst>
              <a:ext uri="{FF2B5EF4-FFF2-40B4-BE49-F238E27FC236}">
                <a16:creationId xmlns:a16="http://schemas.microsoft.com/office/drawing/2014/main" id="{870531B1-7A02-BE25-F8A7-3A5104FF148C}"/>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57200" y="1152525"/>
            <a:ext cx="11125200" cy="5141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994690916"/>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E73A3019-CFE4-49DD-B6FD-2AFB2DD2DBB6}" type="datetime1">
              <a:rPr lang="en-US" smtClean="0"/>
              <a:t>11/7/2024</a:t>
            </a:fld>
            <a:endParaRPr lang="en-US"/>
          </a:p>
        </p:txBody>
      </p:sp>
      <p:sp>
        <p:nvSpPr>
          <p:cNvPr id="5" name="Footer Placeholder 4"/>
          <p:cNvSpPr>
            <a:spLocks noGrp="1"/>
          </p:cNvSpPr>
          <p:nvPr>
            <p:ph type="ftr" sz="quarter" idx="11"/>
          </p:nvPr>
        </p:nvSpPr>
        <p:spPr>
          <a:xfrm>
            <a:off x="4343400" y="6248401"/>
            <a:ext cx="4724400" cy="365125"/>
          </a:xfrm>
        </p:spPr>
        <p:txBody>
          <a:bodyPr/>
          <a:lstStyle/>
          <a:p>
            <a:r>
              <a:rPr lang="en-US" dirty="0"/>
              <a:t>Vaishali Mishra            ACSE0505 Web Technology                Unit 5</a:t>
            </a:r>
          </a:p>
        </p:txBody>
      </p:sp>
      <p:sp>
        <p:nvSpPr>
          <p:cNvPr id="6" name="Slide Number Placeholder 5"/>
          <p:cNvSpPr>
            <a:spLocks noGrp="1"/>
          </p:cNvSpPr>
          <p:nvPr>
            <p:ph type="sldNum" sz="quarter" idx="12"/>
          </p:nvPr>
        </p:nvSpPr>
        <p:spPr/>
        <p:txBody>
          <a:bodyPr/>
          <a:lstStyle/>
          <a:p>
            <a:fld id="{B6F15528-21DE-4FAA-801E-634DDDAF4B2B}" type="slidenum">
              <a:rPr lang="en-US" smtClean="0"/>
              <a:pPr/>
              <a:t>110</a:t>
            </a:fld>
            <a:endParaRPr lang="en-US"/>
          </a:p>
        </p:txBody>
      </p:sp>
      <p:sp>
        <p:nvSpPr>
          <p:cNvPr id="7" name="Title 1"/>
          <p:cNvSpPr txBox="1">
            <a:spLocks/>
          </p:cNvSpPr>
          <p:nvPr/>
        </p:nvSpPr>
        <p:spPr>
          <a:xfrm>
            <a:off x="2895600" y="2"/>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pPr algn="ctr" eaLnBrk="1" hangingPunct="1">
              <a:defRPr/>
            </a:pPr>
            <a:r>
              <a:rPr lang="en-US" sz="2800"/>
              <a:t>Sessional Paper</a:t>
            </a:r>
            <a:endParaRPr lang="en-US" sz="2800" dirty="0"/>
          </a:p>
        </p:txBody>
      </p:sp>
      <p:pic>
        <p:nvPicPr>
          <p:cNvPr id="2" name="Picture 1" descr="A black and red logo&#10;&#10;Description automatically generated">
            <a:extLst>
              <a:ext uri="{FF2B5EF4-FFF2-40B4-BE49-F238E27FC236}">
                <a16:creationId xmlns:a16="http://schemas.microsoft.com/office/drawing/2014/main" id="{8BDB0671-FC93-5C9E-75A2-ED46EE3FB8B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8" name="Content Placeholder 1">
            <a:extLst>
              <a:ext uri="{FF2B5EF4-FFF2-40B4-BE49-F238E27FC236}">
                <a16:creationId xmlns:a16="http://schemas.microsoft.com/office/drawing/2014/main" id="{1FF5ADF0-474C-251F-0E40-267B658E504A}"/>
              </a:ext>
            </a:extLst>
          </p:cNvPr>
          <p:cNvSpPr txBox="1">
            <a:spLocks noGrp="1"/>
          </p:cNvSpPr>
          <p:nvPr>
            <p:ph idx="1"/>
          </p:nvPr>
        </p:nvSpPr>
        <p:spPr>
          <a:xfrm>
            <a:off x="609600" y="1219200"/>
            <a:ext cx="10515600" cy="4449763"/>
          </a:xfrm>
        </p:spPr>
        <p:txBody>
          <a:bodyPr/>
          <a:lstStyle/>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lgn="ctr">
              <a:spcBef>
                <a:spcPts val="363"/>
              </a:spcBef>
              <a:spcAft>
                <a:spcPct val="0"/>
              </a:spcAft>
              <a:buClr>
                <a:srgbClr val="000000"/>
              </a:buClr>
              <a:buFont typeface="Arial" panose="020B0604020202020204" pitchFamily="34" charset="0"/>
              <a:buNone/>
            </a:pPr>
            <a:r>
              <a:rPr lang="en-IN" sz="2000" b="1" dirty="0">
                <a:latin typeface="Arial" panose="020B0604020202020204" pitchFamily="34" charset="0"/>
                <a:cs typeface="Arial" panose="020B0604020202020204" pitchFamily="34" charset="0"/>
              </a:rPr>
              <a:t> </a:t>
            </a:r>
          </a:p>
        </p:txBody>
      </p:sp>
      <p:pic>
        <p:nvPicPr>
          <p:cNvPr id="3" name="Picture 2">
            <a:extLst>
              <a:ext uri="{FF2B5EF4-FFF2-40B4-BE49-F238E27FC236}">
                <a16:creationId xmlns:a16="http://schemas.microsoft.com/office/drawing/2014/main" id="{F19E26F3-EEFC-EB89-EA76-4B21E2166D3B}"/>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31775" y="1004888"/>
            <a:ext cx="10893425" cy="4824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662583550"/>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E73A3019-CFE4-49DD-B6FD-2AFB2DD2DBB6}" type="datetime1">
              <a:rPr lang="en-US" smtClean="0"/>
              <a:t>11/7/2024</a:t>
            </a:fld>
            <a:endParaRPr lang="en-US"/>
          </a:p>
        </p:txBody>
      </p:sp>
      <p:sp>
        <p:nvSpPr>
          <p:cNvPr id="5" name="Footer Placeholder 4"/>
          <p:cNvSpPr>
            <a:spLocks noGrp="1"/>
          </p:cNvSpPr>
          <p:nvPr>
            <p:ph type="ftr" sz="quarter" idx="11"/>
          </p:nvPr>
        </p:nvSpPr>
        <p:spPr>
          <a:xfrm>
            <a:off x="4343400" y="6248401"/>
            <a:ext cx="4724400" cy="365125"/>
          </a:xfrm>
        </p:spPr>
        <p:txBody>
          <a:bodyPr/>
          <a:lstStyle/>
          <a:p>
            <a:r>
              <a:rPr lang="en-US" dirty="0"/>
              <a:t>Vaishali Mishra            ACSE0505 Web Technology                Unit 5</a:t>
            </a:r>
          </a:p>
        </p:txBody>
      </p:sp>
      <p:sp>
        <p:nvSpPr>
          <p:cNvPr id="6" name="Slide Number Placeholder 5"/>
          <p:cNvSpPr>
            <a:spLocks noGrp="1"/>
          </p:cNvSpPr>
          <p:nvPr>
            <p:ph type="sldNum" sz="quarter" idx="12"/>
          </p:nvPr>
        </p:nvSpPr>
        <p:spPr/>
        <p:txBody>
          <a:bodyPr/>
          <a:lstStyle/>
          <a:p>
            <a:fld id="{B6F15528-21DE-4FAA-801E-634DDDAF4B2B}" type="slidenum">
              <a:rPr lang="en-US" smtClean="0"/>
              <a:pPr/>
              <a:t>111</a:t>
            </a:fld>
            <a:endParaRPr lang="en-US"/>
          </a:p>
        </p:txBody>
      </p:sp>
      <p:sp>
        <p:nvSpPr>
          <p:cNvPr id="7" name="Title 1"/>
          <p:cNvSpPr txBox="1">
            <a:spLocks/>
          </p:cNvSpPr>
          <p:nvPr/>
        </p:nvSpPr>
        <p:spPr>
          <a:xfrm>
            <a:off x="2895600" y="2"/>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pPr>
              <a:defRPr/>
            </a:pPr>
            <a:endParaRPr lang="en-IN" sz="2800" dirty="0"/>
          </a:p>
          <a:p>
            <a:pPr>
              <a:defRPr/>
            </a:pPr>
            <a:endParaRPr lang="en-US" sz="2800" dirty="0"/>
          </a:p>
          <a:p>
            <a:pPr>
              <a:defRPr/>
            </a:pPr>
            <a:r>
              <a:rPr lang="en-US" sz="2800" dirty="0"/>
              <a:t>Sessional Paper</a:t>
            </a:r>
          </a:p>
          <a:p>
            <a:pPr>
              <a:defRPr/>
            </a:pPr>
            <a:endParaRPr lang="en-IN" dirty="0"/>
          </a:p>
          <a:p>
            <a:pPr algn="ctr">
              <a:defRPr/>
            </a:pPr>
            <a:endParaRPr lang="en-US" sz="2800" dirty="0">
              <a:latin typeface="Times New Roman" pitchFamily="18" charset="0"/>
              <a:cs typeface="Times New Roman" pitchFamily="18" charset="0"/>
              <a:sym typeface="Arial" charset="0"/>
            </a:endParaRPr>
          </a:p>
        </p:txBody>
      </p:sp>
      <p:pic>
        <p:nvPicPr>
          <p:cNvPr id="2" name="Picture 1" descr="A black and red logo&#10;&#10;Description automatically generated">
            <a:extLst>
              <a:ext uri="{FF2B5EF4-FFF2-40B4-BE49-F238E27FC236}">
                <a16:creationId xmlns:a16="http://schemas.microsoft.com/office/drawing/2014/main" id="{8BDB0671-FC93-5C9E-75A2-ED46EE3FB8B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8" name="Content Placeholder 1">
            <a:extLst>
              <a:ext uri="{FF2B5EF4-FFF2-40B4-BE49-F238E27FC236}">
                <a16:creationId xmlns:a16="http://schemas.microsoft.com/office/drawing/2014/main" id="{1FF5ADF0-474C-251F-0E40-267B658E504A}"/>
              </a:ext>
            </a:extLst>
          </p:cNvPr>
          <p:cNvSpPr txBox="1">
            <a:spLocks noGrp="1"/>
          </p:cNvSpPr>
          <p:nvPr>
            <p:ph idx="1"/>
          </p:nvPr>
        </p:nvSpPr>
        <p:spPr>
          <a:xfrm>
            <a:off x="609600" y="1219200"/>
            <a:ext cx="10515600" cy="4449763"/>
          </a:xfrm>
        </p:spPr>
        <p:txBody>
          <a:bodyPr/>
          <a:lstStyle/>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lgn="ctr">
              <a:spcBef>
                <a:spcPts val="363"/>
              </a:spcBef>
              <a:spcAft>
                <a:spcPct val="0"/>
              </a:spcAft>
              <a:buClr>
                <a:srgbClr val="000000"/>
              </a:buClr>
              <a:buFont typeface="Arial" panose="020B0604020202020204" pitchFamily="34" charset="0"/>
              <a:buNone/>
            </a:pPr>
            <a:r>
              <a:rPr lang="en-IN" sz="2000" b="1" dirty="0">
                <a:latin typeface="Arial" panose="020B0604020202020204" pitchFamily="34" charset="0"/>
                <a:cs typeface="Arial" panose="020B0604020202020204" pitchFamily="34" charset="0"/>
              </a:rPr>
              <a:t> </a:t>
            </a:r>
          </a:p>
        </p:txBody>
      </p:sp>
      <p:pic>
        <p:nvPicPr>
          <p:cNvPr id="3" name="Picture 1">
            <a:extLst>
              <a:ext uri="{FF2B5EF4-FFF2-40B4-BE49-F238E27FC236}">
                <a16:creationId xmlns:a16="http://schemas.microsoft.com/office/drawing/2014/main" id="{1F740565-11BE-BE56-5C89-E657D4B5A762}"/>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57200" y="1004888"/>
            <a:ext cx="10668000" cy="4857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774042241"/>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E73A3019-CFE4-49DD-B6FD-2AFB2DD2DBB6}" type="datetime1">
              <a:rPr lang="en-US" smtClean="0"/>
              <a:t>11/7/2024</a:t>
            </a:fld>
            <a:endParaRPr lang="en-US"/>
          </a:p>
        </p:txBody>
      </p:sp>
      <p:sp>
        <p:nvSpPr>
          <p:cNvPr id="5" name="Footer Placeholder 4"/>
          <p:cNvSpPr>
            <a:spLocks noGrp="1"/>
          </p:cNvSpPr>
          <p:nvPr>
            <p:ph type="ftr" sz="quarter" idx="11"/>
          </p:nvPr>
        </p:nvSpPr>
        <p:spPr>
          <a:xfrm>
            <a:off x="4343400" y="6248401"/>
            <a:ext cx="4724400" cy="365125"/>
          </a:xfrm>
        </p:spPr>
        <p:txBody>
          <a:bodyPr/>
          <a:lstStyle/>
          <a:p>
            <a:r>
              <a:rPr lang="en-US" dirty="0"/>
              <a:t>Vaishali Mishra            ACSE0505 Web Technology                Unit 5</a:t>
            </a:r>
          </a:p>
        </p:txBody>
      </p:sp>
      <p:sp>
        <p:nvSpPr>
          <p:cNvPr id="6" name="Slide Number Placeholder 5"/>
          <p:cNvSpPr>
            <a:spLocks noGrp="1"/>
          </p:cNvSpPr>
          <p:nvPr>
            <p:ph type="sldNum" sz="quarter" idx="12"/>
          </p:nvPr>
        </p:nvSpPr>
        <p:spPr/>
        <p:txBody>
          <a:bodyPr/>
          <a:lstStyle/>
          <a:p>
            <a:fld id="{B6F15528-21DE-4FAA-801E-634DDDAF4B2B}" type="slidenum">
              <a:rPr lang="en-US" smtClean="0"/>
              <a:pPr/>
              <a:t>112</a:t>
            </a:fld>
            <a:endParaRPr lang="en-US"/>
          </a:p>
        </p:txBody>
      </p:sp>
      <p:sp>
        <p:nvSpPr>
          <p:cNvPr id="7" name="Title 1"/>
          <p:cNvSpPr txBox="1">
            <a:spLocks/>
          </p:cNvSpPr>
          <p:nvPr/>
        </p:nvSpPr>
        <p:spPr>
          <a:xfrm>
            <a:off x="2895600" y="2"/>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pPr>
              <a:defRPr/>
            </a:pPr>
            <a:endParaRPr lang="en-IN" sz="2800" dirty="0"/>
          </a:p>
          <a:p>
            <a:pPr>
              <a:defRPr/>
            </a:pPr>
            <a:endParaRPr lang="en-US" sz="2800" dirty="0"/>
          </a:p>
          <a:p>
            <a:pPr>
              <a:defRPr/>
            </a:pPr>
            <a:r>
              <a:rPr lang="en-US" sz="2800" dirty="0"/>
              <a:t>Sessional Paper</a:t>
            </a:r>
          </a:p>
          <a:p>
            <a:pPr>
              <a:defRPr/>
            </a:pPr>
            <a:endParaRPr lang="en-IN" dirty="0"/>
          </a:p>
          <a:p>
            <a:pPr algn="ctr">
              <a:defRPr/>
            </a:pPr>
            <a:endParaRPr lang="en-US" sz="2800" dirty="0">
              <a:latin typeface="Times New Roman" pitchFamily="18" charset="0"/>
              <a:cs typeface="Times New Roman" pitchFamily="18" charset="0"/>
              <a:sym typeface="Arial" charset="0"/>
            </a:endParaRPr>
          </a:p>
        </p:txBody>
      </p:sp>
      <p:pic>
        <p:nvPicPr>
          <p:cNvPr id="2" name="Picture 1" descr="A black and red logo&#10;&#10;Description automatically generated">
            <a:extLst>
              <a:ext uri="{FF2B5EF4-FFF2-40B4-BE49-F238E27FC236}">
                <a16:creationId xmlns:a16="http://schemas.microsoft.com/office/drawing/2014/main" id="{8BDB0671-FC93-5C9E-75A2-ED46EE3FB8B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8" name="Content Placeholder 1">
            <a:extLst>
              <a:ext uri="{FF2B5EF4-FFF2-40B4-BE49-F238E27FC236}">
                <a16:creationId xmlns:a16="http://schemas.microsoft.com/office/drawing/2014/main" id="{1FF5ADF0-474C-251F-0E40-267B658E504A}"/>
              </a:ext>
            </a:extLst>
          </p:cNvPr>
          <p:cNvSpPr txBox="1">
            <a:spLocks noGrp="1"/>
          </p:cNvSpPr>
          <p:nvPr>
            <p:ph idx="1"/>
          </p:nvPr>
        </p:nvSpPr>
        <p:spPr>
          <a:xfrm>
            <a:off x="609600" y="1219200"/>
            <a:ext cx="10515600" cy="4449763"/>
          </a:xfrm>
        </p:spPr>
        <p:txBody>
          <a:bodyPr/>
          <a:lstStyle/>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lgn="ctr">
              <a:spcBef>
                <a:spcPts val="363"/>
              </a:spcBef>
              <a:spcAft>
                <a:spcPct val="0"/>
              </a:spcAft>
              <a:buClr>
                <a:srgbClr val="000000"/>
              </a:buClr>
              <a:buFont typeface="Arial" panose="020B0604020202020204" pitchFamily="34" charset="0"/>
              <a:buNone/>
            </a:pPr>
            <a:r>
              <a:rPr lang="en-IN" sz="2000" b="1" dirty="0">
                <a:latin typeface="Arial" panose="020B0604020202020204" pitchFamily="34" charset="0"/>
                <a:cs typeface="Arial" panose="020B0604020202020204" pitchFamily="34" charset="0"/>
              </a:rPr>
              <a:t> </a:t>
            </a:r>
          </a:p>
        </p:txBody>
      </p:sp>
      <p:pic>
        <p:nvPicPr>
          <p:cNvPr id="3" name="Picture 2">
            <a:extLst>
              <a:ext uri="{FF2B5EF4-FFF2-40B4-BE49-F238E27FC236}">
                <a16:creationId xmlns:a16="http://schemas.microsoft.com/office/drawing/2014/main" id="{29D97451-BF3E-6FD5-FFB3-FBDE868EBA7D}"/>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57200" y="1004888"/>
            <a:ext cx="10515600" cy="5164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218886167"/>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E73A3019-CFE4-49DD-B6FD-2AFB2DD2DBB6}" type="datetime1">
              <a:rPr lang="en-US" smtClean="0"/>
              <a:t>11/7/2024</a:t>
            </a:fld>
            <a:endParaRPr lang="en-US"/>
          </a:p>
        </p:txBody>
      </p:sp>
      <p:sp>
        <p:nvSpPr>
          <p:cNvPr id="5" name="Footer Placeholder 4"/>
          <p:cNvSpPr>
            <a:spLocks noGrp="1"/>
          </p:cNvSpPr>
          <p:nvPr>
            <p:ph type="ftr" sz="quarter" idx="11"/>
          </p:nvPr>
        </p:nvSpPr>
        <p:spPr>
          <a:xfrm>
            <a:off x="4343400" y="6248401"/>
            <a:ext cx="4724400" cy="365125"/>
          </a:xfrm>
        </p:spPr>
        <p:txBody>
          <a:bodyPr/>
          <a:lstStyle/>
          <a:p>
            <a:r>
              <a:rPr lang="en-US" dirty="0"/>
              <a:t>Vaishali Mishra            ACSE0505 Web Technology                Unit 5</a:t>
            </a:r>
          </a:p>
        </p:txBody>
      </p:sp>
      <p:sp>
        <p:nvSpPr>
          <p:cNvPr id="6" name="Slide Number Placeholder 5"/>
          <p:cNvSpPr>
            <a:spLocks noGrp="1"/>
          </p:cNvSpPr>
          <p:nvPr>
            <p:ph type="sldNum" sz="quarter" idx="12"/>
          </p:nvPr>
        </p:nvSpPr>
        <p:spPr/>
        <p:txBody>
          <a:bodyPr/>
          <a:lstStyle/>
          <a:p>
            <a:fld id="{B6F15528-21DE-4FAA-801E-634DDDAF4B2B}" type="slidenum">
              <a:rPr lang="en-US" smtClean="0"/>
              <a:pPr/>
              <a:t>113</a:t>
            </a:fld>
            <a:endParaRPr lang="en-US"/>
          </a:p>
        </p:txBody>
      </p:sp>
      <p:sp>
        <p:nvSpPr>
          <p:cNvPr id="7" name="Title 1"/>
          <p:cNvSpPr txBox="1">
            <a:spLocks/>
          </p:cNvSpPr>
          <p:nvPr/>
        </p:nvSpPr>
        <p:spPr>
          <a:xfrm>
            <a:off x="2895600" y="2"/>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pPr algn="ctr" fontAlgn="auto">
              <a:spcAft>
                <a:spcPts val="0"/>
              </a:spcAft>
              <a:defRPr/>
            </a:pPr>
            <a:r>
              <a:rPr lang="en-US" sz="2800"/>
              <a:t>Old Question Paper </a:t>
            </a:r>
            <a:endParaRPr lang="en-US" sz="2800" dirty="0"/>
          </a:p>
        </p:txBody>
      </p:sp>
      <p:pic>
        <p:nvPicPr>
          <p:cNvPr id="2" name="Picture 1" descr="A black and red logo&#10;&#10;Description automatically generated">
            <a:extLst>
              <a:ext uri="{FF2B5EF4-FFF2-40B4-BE49-F238E27FC236}">
                <a16:creationId xmlns:a16="http://schemas.microsoft.com/office/drawing/2014/main" id="{8BDB0671-FC93-5C9E-75A2-ED46EE3FB8B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8" name="Content Placeholder 1">
            <a:extLst>
              <a:ext uri="{FF2B5EF4-FFF2-40B4-BE49-F238E27FC236}">
                <a16:creationId xmlns:a16="http://schemas.microsoft.com/office/drawing/2014/main" id="{1FF5ADF0-474C-251F-0E40-267B658E504A}"/>
              </a:ext>
            </a:extLst>
          </p:cNvPr>
          <p:cNvSpPr txBox="1">
            <a:spLocks noGrp="1"/>
          </p:cNvSpPr>
          <p:nvPr>
            <p:ph idx="1"/>
          </p:nvPr>
        </p:nvSpPr>
        <p:spPr>
          <a:xfrm>
            <a:off x="609600" y="1219200"/>
            <a:ext cx="10515600" cy="4449763"/>
          </a:xfrm>
        </p:spPr>
        <p:txBody>
          <a:bodyPr/>
          <a:lstStyle/>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lgn="ctr">
              <a:spcBef>
                <a:spcPts val="363"/>
              </a:spcBef>
              <a:spcAft>
                <a:spcPct val="0"/>
              </a:spcAft>
              <a:buClr>
                <a:srgbClr val="000000"/>
              </a:buClr>
              <a:buFont typeface="Arial" panose="020B0604020202020204" pitchFamily="34" charset="0"/>
              <a:buNone/>
            </a:pPr>
            <a:r>
              <a:rPr lang="en-IN" sz="2000" b="1" dirty="0">
                <a:latin typeface="Arial" panose="020B0604020202020204" pitchFamily="34" charset="0"/>
                <a:cs typeface="Arial" panose="020B0604020202020204" pitchFamily="34" charset="0"/>
              </a:rPr>
              <a:t> </a:t>
            </a:r>
          </a:p>
        </p:txBody>
      </p:sp>
      <p:pic>
        <p:nvPicPr>
          <p:cNvPr id="3" name="Picture 10">
            <a:extLst>
              <a:ext uri="{FF2B5EF4-FFF2-40B4-BE49-F238E27FC236}">
                <a16:creationId xmlns:a16="http://schemas.microsoft.com/office/drawing/2014/main" id="{783C6FA4-94E7-E9F3-75C9-D3A593D6933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8324" y="993775"/>
            <a:ext cx="10099675" cy="5091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785177803"/>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E73A3019-CFE4-49DD-B6FD-2AFB2DD2DBB6}" type="datetime1">
              <a:rPr lang="en-US" smtClean="0"/>
              <a:t>11/7/2024</a:t>
            </a:fld>
            <a:endParaRPr lang="en-US"/>
          </a:p>
        </p:txBody>
      </p:sp>
      <p:sp>
        <p:nvSpPr>
          <p:cNvPr id="5" name="Footer Placeholder 4"/>
          <p:cNvSpPr>
            <a:spLocks noGrp="1"/>
          </p:cNvSpPr>
          <p:nvPr>
            <p:ph type="ftr" sz="quarter" idx="11"/>
          </p:nvPr>
        </p:nvSpPr>
        <p:spPr>
          <a:xfrm>
            <a:off x="4343400" y="6248401"/>
            <a:ext cx="4724400" cy="365125"/>
          </a:xfrm>
        </p:spPr>
        <p:txBody>
          <a:bodyPr/>
          <a:lstStyle/>
          <a:p>
            <a:r>
              <a:rPr lang="en-US" dirty="0"/>
              <a:t>Vaishali Mishra            ACSE0505 Web Technology                Unit 5</a:t>
            </a:r>
          </a:p>
        </p:txBody>
      </p:sp>
      <p:sp>
        <p:nvSpPr>
          <p:cNvPr id="6" name="Slide Number Placeholder 5"/>
          <p:cNvSpPr>
            <a:spLocks noGrp="1"/>
          </p:cNvSpPr>
          <p:nvPr>
            <p:ph type="sldNum" sz="quarter" idx="12"/>
          </p:nvPr>
        </p:nvSpPr>
        <p:spPr/>
        <p:txBody>
          <a:bodyPr/>
          <a:lstStyle/>
          <a:p>
            <a:fld id="{B6F15528-21DE-4FAA-801E-634DDDAF4B2B}" type="slidenum">
              <a:rPr lang="en-US" smtClean="0"/>
              <a:pPr/>
              <a:t>114</a:t>
            </a:fld>
            <a:endParaRPr lang="en-US"/>
          </a:p>
        </p:txBody>
      </p:sp>
      <p:sp>
        <p:nvSpPr>
          <p:cNvPr id="7" name="Title 1"/>
          <p:cNvSpPr txBox="1">
            <a:spLocks/>
          </p:cNvSpPr>
          <p:nvPr/>
        </p:nvSpPr>
        <p:spPr>
          <a:xfrm>
            <a:off x="2895600" y="2"/>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pPr>
              <a:defRPr/>
            </a:pPr>
            <a:endParaRPr lang="en-IN" sz="2800" dirty="0"/>
          </a:p>
          <a:p>
            <a:pPr>
              <a:defRPr/>
            </a:pPr>
            <a:endParaRPr lang="en-US" sz="2800" dirty="0"/>
          </a:p>
          <a:p>
            <a:pPr>
              <a:defRPr/>
            </a:pPr>
            <a:r>
              <a:rPr lang="en-US" sz="2800" dirty="0"/>
              <a:t>Old Question Paper(cont..) </a:t>
            </a:r>
          </a:p>
          <a:p>
            <a:pPr>
              <a:defRPr/>
            </a:pPr>
            <a:endParaRPr lang="en-IN" dirty="0"/>
          </a:p>
          <a:p>
            <a:pPr algn="ctr">
              <a:defRPr/>
            </a:pPr>
            <a:endParaRPr lang="en-US" sz="2800" dirty="0">
              <a:latin typeface="Times New Roman" pitchFamily="18" charset="0"/>
              <a:cs typeface="Times New Roman" pitchFamily="18" charset="0"/>
              <a:sym typeface="Arial" charset="0"/>
            </a:endParaRPr>
          </a:p>
        </p:txBody>
      </p:sp>
      <p:pic>
        <p:nvPicPr>
          <p:cNvPr id="2" name="Picture 1" descr="A black and red logo&#10;&#10;Description automatically generated">
            <a:extLst>
              <a:ext uri="{FF2B5EF4-FFF2-40B4-BE49-F238E27FC236}">
                <a16:creationId xmlns:a16="http://schemas.microsoft.com/office/drawing/2014/main" id="{8BDB0671-FC93-5C9E-75A2-ED46EE3FB8B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8" name="Content Placeholder 1">
            <a:extLst>
              <a:ext uri="{FF2B5EF4-FFF2-40B4-BE49-F238E27FC236}">
                <a16:creationId xmlns:a16="http://schemas.microsoft.com/office/drawing/2014/main" id="{1FF5ADF0-474C-251F-0E40-267B658E504A}"/>
              </a:ext>
            </a:extLst>
          </p:cNvPr>
          <p:cNvSpPr txBox="1">
            <a:spLocks noGrp="1"/>
          </p:cNvSpPr>
          <p:nvPr>
            <p:ph idx="1"/>
          </p:nvPr>
        </p:nvSpPr>
        <p:spPr>
          <a:xfrm>
            <a:off x="609600" y="1219200"/>
            <a:ext cx="10515600" cy="4449763"/>
          </a:xfrm>
        </p:spPr>
        <p:txBody>
          <a:bodyPr/>
          <a:lstStyle/>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lgn="ctr">
              <a:spcBef>
                <a:spcPts val="363"/>
              </a:spcBef>
              <a:spcAft>
                <a:spcPct val="0"/>
              </a:spcAft>
              <a:buClr>
                <a:srgbClr val="000000"/>
              </a:buClr>
              <a:buFont typeface="Arial" panose="020B0604020202020204" pitchFamily="34" charset="0"/>
              <a:buNone/>
            </a:pPr>
            <a:r>
              <a:rPr lang="en-IN" sz="2000" b="1" dirty="0">
                <a:latin typeface="Arial" panose="020B0604020202020204" pitchFamily="34" charset="0"/>
                <a:cs typeface="Arial" panose="020B0604020202020204" pitchFamily="34" charset="0"/>
              </a:rPr>
              <a:t> </a:t>
            </a:r>
          </a:p>
        </p:txBody>
      </p:sp>
      <p:pic>
        <p:nvPicPr>
          <p:cNvPr id="3" name="Picture 2">
            <a:extLst>
              <a:ext uri="{FF2B5EF4-FFF2-40B4-BE49-F238E27FC236}">
                <a16:creationId xmlns:a16="http://schemas.microsoft.com/office/drawing/2014/main" id="{82B2C22C-0DF7-0027-08FC-722383CA008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4362" y="835025"/>
            <a:ext cx="10206037" cy="5345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036806385"/>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E73A3019-CFE4-49DD-B6FD-2AFB2DD2DBB6}" type="datetime1">
              <a:rPr lang="en-US" smtClean="0"/>
              <a:t>11/7/2024</a:t>
            </a:fld>
            <a:endParaRPr lang="en-US"/>
          </a:p>
        </p:txBody>
      </p:sp>
      <p:sp>
        <p:nvSpPr>
          <p:cNvPr id="5" name="Footer Placeholder 4"/>
          <p:cNvSpPr>
            <a:spLocks noGrp="1"/>
          </p:cNvSpPr>
          <p:nvPr>
            <p:ph type="ftr" sz="quarter" idx="11"/>
          </p:nvPr>
        </p:nvSpPr>
        <p:spPr>
          <a:xfrm>
            <a:off x="4343400" y="6248401"/>
            <a:ext cx="4724400" cy="365125"/>
          </a:xfrm>
        </p:spPr>
        <p:txBody>
          <a:bodyPr/>
          <a:lstStyle/>
          <a:p>
            <a:r>
              <a:rPr lang="en-US" dirty="0"/>
              <a:t>Vaishali Mishra            ACSE0505 Web Technology                Unit 5</a:t>
            </a:r>
          </a:p>
        </p:txBody>
      </p:sp>
      <p:sp>
        <p:nvSpPr>
          <p:cNvPr id="6" name="Slide Number Placeholder 5"/>
          <p:cNvSpPr>
            <a:spLocks noGrp="1"/>
          </p:cNvSpPr>
          <p:nvPr>
            <p:ph type="sldNum" sz="quarter" idx="12"/>
          </p:nvPr>
        </p:nvSpPr>
        <p:spPr/>
        <p:txBody>
          <a:bodyPr/>
          <a:lstStyle/>
          <a:p>
            <a:fld id="{B6F15528-21DE-4FAA-801E-634DDDAF4B2B}" type="slidenum">
              <a:rPr lang="en-US" smtClean="0"/>
              <a:pPr/>
              <a:t>115</a:t>
            </a:fld>
            <a:endParaRPr lang="en-US"/>
          </a:p>
        </p:txBody>
      </p:sp>
      <p:sp>
        <p:nvSpPr>
          <p:cNvPr id="7" name="Title 1"/>
          <p:cNvSpPr txBox="1">
            <a:spLocks/>
          </p:cNvSpPr>
          <p:nvPr/>
        </p:nvSpPr>
        <p:spPr>
          <a:xfrm>
            <a:off x="2895600" y="2"/>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pPr>
              <a:defRPr/>
            </a:pPr>
            <a:endParaRPr lang="en-IN" sz="2800" dirty="0"/>
          </a:p>
          <a:p>
            <a:pPr>
              <a:defRPr/>
            </a:pPr>
            <a:endParaRPr lang="en-US" sz="2800" dirty="0"/>
          </a:p>
          <a:p>
            <a:pPr>
              <a:defRPr/>
            </a:pPr>
            <a:r>
              <a:rPr lang="en-US" sz="2800" dirty="0"/>
              <a:t>Old Question Paper(cont..) </a:t>
            </a:r>
          </a:p>
          <a:p>
            <a:pPr>
              <a:defRPr/>
            </a:pPr>
            <a:endParaRPr lang="en-IN" dirty="0"/>
          </a:p>
          <a:p>
            <a:pPr algn="ctr">
              <a:defRPr/>
            </a:pPr>
            <a:endParaRPr lang="en-US" sz="2800" dirty="0">
              <a:latin typeface="Times New Roman" pitchFamily="18" charset="0"/>
              <a:cs typeface="Times New Roman" pitchFamily="18" charset="0"/>
              <a:sym typeface="Arial" charset="0"/>
            </a:endParaRPr>
          </a:p>
        </p:txBody>
      </p:sp>
      <p:pic>
        <p:nvPicPr>
          <p:cNvPr id="2" name="Picture 1" descr="A black and red logo&#10;&#10;Description automatically generated">
            <a:extLst>
              <a:ext uri="{FF2B5EF4-FFF2-40B4-BE49-F238E27FC236}">
                <a16:creationId xmlns:a16="http://schemas.microsoft.com/office/drawing/2014/main" id="{8BDB0671-FC93-5C9E-75A2-ED46EE3FB8B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8" name="Content Placeholder 1">
            <a:extLst>
              <a:ext uri="{FF2B5EF4-FFF2-40B4-BE49-F238E27FC236}">
                <a16:creationId xmlns:a16="http://schemas.microsoft.com/office/drawing/2014/main" id="{1FF5ADF0-474C-251F-0E40-267B658E504A}"/>
              </a:ext>
            </a:extLst>
          </p:cNvPr>
          <p:cNvSpPr txBox="1">
            <a:spLocks noGrp="1"/>
          </p:cNvSpPr>
          <p:nvPr>
            <p:ph idx="1"/>
          </p:nvPr>
        </p:nvSpPr>
        <p:spPr>
          <a:xfrm>
            <a:off x="609600" y="1219200"/>
            <a:ext cx="10515600" cy="4449763"/>
          </a:xfrm>
        </p:spPr>
        <p:txBody>
          <a:bodyPr/>
          <a:lstStyle/>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lgn="ctr">
              <a:spcBef>
                <a:spcPts val="363"/>
              </a:spcBef>
              <a:spcAft>
                <a:spcPct val="0"/>
              </a:spcAft>
              <a:buClr>
                <a:srgbClr val="000000"/>
              </a:buClr>
              <a:buFont typeface="Arial" panose="020B0604020202020204" pitchFamily="34" charset="0"/>
              <a:buNone/>
            </a:pPr>
            <a:r>
              <a:rPr lang="en-IN" sz="2000" b="1" dirty="0">
                <a:latin typeface="Arial" panose="020B0604020202020204" pitchFamily="34" charset="0"/>
                <a:cs typeface="Arial" panose="020B0604020202020204" pitchFamily="34" charset="0"/>
              </a:rPr>
              <a:t> </a:t>
            </a:r>
          </a:p>
        </p:txBody>
      </p:sp>
      <p:pic>
        <p:nvPicPr>
          <p:cNvPr id="3" name="Picture 2">
            <a:extLst>
              <a:ext uri="{FF2B5EF4-FFF2-40B4-BE49-F238E27FC236}">
                <a16:creationId xmlns:a16="http://schemas.microsoft.com/office/drawing/2014/main" id="{5858FBDD-A141-3B7D-A128-CF871D2319D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4162" y="904875"/>
            <a:ext cx="10231437" cy="541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558688575"/>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E73A3019-CFE4-49DD-B6FD-2AFB2DD2DBB6}" type="datetime1">
              <a:rPr lang="en-US" smtClean="0"/>
              <a:t>11/7/2024</a:t>
            </a:fld>
            <a:endParaRPr lang="en-US"/>
          </a:p>
        </p:txBody>
      </p:sp>
      <p:sp>
        <p:nvSpPr>
          <p:cNvPr id="5" name="Footer Placeholder 4"/>
          <p:cNvSpPr>
            <a:spLocks noGrp="1"/>
          </p:cNvSpPr>
          <p:nvPr>
            <p:ph type="ftr" sz="quarter" idx="11"/>
          </p:nvPr>
        </p:nvSpPr>
        <p:spPr>
          <a:xfrm>
            <a:off x="4343400" y="6248401"/>
            <a:ext cx="4724400" cy="365125"/>
          </a:xfrm>
        </p:spPr>
        <p:txBody>
          <a:bodyPr/>
          <a:lstStyle/>
          <a:p>
            <a:r>
              <a:rPr lang="en-US" dirty="0"/>
              <a:t>Vaishali Mishra            ACSE0505 Web Technology                Unit 5</a:t>
            </a:r>
          </a:p>
        </p:txBody>
      </p:sp>
      <p:sp>
        <p:nvSpPr>
          <p:cNvPr id="6" name="Slide Number Placeholder 5"/>
          <p:cNvSpPr>
            <a:spLocks noGrp="1"/>
          </p:cNvSpPr>
          <p:nvPr>
            <p:ph type="sldNum" sz="quarter" idx="12"/>
          </p:nvPr>
        </p:nvSpPr>
        <p:spPr/>
        <p:txBody>
          <a:bodyPr/>
          <a:lstStyle/>
          <a:p>
            <a:fld id="{B6F15528-21DE-4FAA-801E-634DDDAF4B2B}" type="slidenum">
              <a:rPr lang="en-US" smtClean="0"/>
              <a:pPr/>
              <a:t>116</a:t>
            </a:fld>
            <a:endParaRPr lang="en-US"/>
          </a:p>
        </p:txBody>
      </p:sp>
      <p:sp>
        <p:nvSpPr>
          <p:cNvPr id="7" name="Title 1"/>
          <p:cNvSpPr txBox="1">
            <a:spLocks/>
          </p:cNvSpPr>
          <p:nvPr/>
        </p:nvSpPr>
        <p:spPr>
          <a:xfrm>
            <a:off x="2895600" y="2"/>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pPr>
              <a:defRPr/>
            </a:pPr>
            <a:endParaRPr lang="en-IN" sz="2800" dirty="0"/>
          </a:p>
          <a:p>
            <a:pPr>
              <a:defRPr/>
            </a:pPr>
            <a:endParaRPr lang="en-US" sz="2800" dirty="0"/>
          </a:p>
          <a:p>
            <a:pPr>
              <a:defRPr/>
            </a:pPr>
            <a:r>
              <a:rPr lang="en-US" sz="2800" dirty="0"/>
              <a:t>Old Question Paper(cont..) </a:t>
            </a:r>
          </a:p>
          <a:p>
            <a:pPr>
              <a:defRPr/>
            </a:pPr>
            <a:endParaRPr lang="en-IN" dirty="0"/>
          </a:p>
          <a:p>
            <a:pPr algn="ctr">
              <a:defRPr/>
            </a:pPr>
            <a:endParaRPr lang="en-US" sz="2800" dirty="0">
              <a:latin typeface="Times New Roman" pitchFamily="18" charset="0"/>
              <a:cs typeface="Times New Roman" pitchFamily="18" charset="0"/>
              <a:sym typeface="Arial" charset="0"/>
            </a:endParaRPr>
          </a:p>
        </p:txBody>
      </p:sp>
      <p:pic>
        <p:nvPicPr>
          <p:cNvPr id="2" name="Picture 1" descr="A black and red logo&#10;&#10;Description automatically generated">
            <a:extLst>
              <a:ext uri="{FF2B5EF4-FFF2-40B4-BE49-F238E27FC236}">
                <a16:creationId xmlns:a16="http://schemas.microsoft.com/office/drawing/2014/main" id="{8BDB0671-FC93-5C9E-75A2-ED46EE3FB8B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8" name="Content Placeholder 1">
            <a:extLst>
              <a:ext uri="{FF2B5EF4-FFF2-40B4-BE49-F238E27FC236}">
                <a16:creationId xmlns:a16="http://schemas.microsoft.com/office/drawing/2014/main" id="{1FF5ADF0-474C-251F-0E40-267B658E504A}"/>
              </a:ext>
            </a:extLst>
          </p:cNvPr>
          <p:cNvSpPr txBox="1">
            <a:spLocks noGrp="1"/>
          </p:cNvSpPr>
          <p:nvPr>
            <p:ph idx="1"/>
          </p:nvPr>
        </p:nvSpPr>
        <p:spPr>
          <a:xfrm>
            <a:off x="609600" y="1219200"/>
            <a:ext cx="10515600" cy="4449763"/>
          </a:xfrm>
        </p:spPr>
        <p:txBody>
          <a:bodyPr/>
          <a:lstStyle/>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lgn="ctr">
              <a:spcBef>
                <a:spcPts val="363"/>
              </a:spcBef>
              <a:spcAft>
                <a:spcPct val="0"/>
              </a:spcAft>
              <a:buClr>
                <a:srgbClr val="000000"/>
              </a:buClr>
              <a:buFont typeface="Arial" panose="020B0604020202020204" pitchFamily="34" charset="0"/>
              <a:buNone/>
            </a:pPr>
            <a:r>
              <a:rPr lang="en-IN" sz="2000" b="1" dirty="0">
                <a:latin typeface="Arial" panose="020B0604020202020204" pitchFamily="34" charset="0"/>
                <a:cs typeface="Arial" panose="020B0604020202020204" pitchFamily="34" charset="0"/>
              </a:rPr>
              <a:t> </a:t>
            </a:r>
          </a:p>
        </p:txBody>
      </p:sp>
      <p:pic>
        <p:nvPicPr>
          <p:cNvPr id="3" name="Content Placeholder 1">
            <a:extLst>
              <a:ext uri="{FF2B5EF4-FFF2-40B4-BE49-F238E27FC236}">
                <a16:creationId xmlns:a16="http://schemas.microsoft.com/office/drawing/2014/main" id="{0959B972-2C8E-6D95-A85A-775DEE37D040}"/>
              </a:ext>
            </a:extLst>
          </p:cNvPr>
          <p:cNvPicPr>
            <a:picLocks noChangeAspect="1"/>
          </p:cNvPicPr>
          <p:nvPr/>
        </p:nvPicPr>
        <p:blipFill rotWithShape="1">
          <a:blip r:embed="rId3"/>
          <a:srcRect l="31220" t="20757" r="31531" b="19261"/>
          <a:stretch/>
        </p:blipFill>
        <p:spPr>
          <a:xfrm>
            <a:off x="990600" y="1143000"/>
            <a:ext cx="9144000" cy="4876800"/>
          </a:xfrm>
          <a:prstGeom prst="rect">
            <a:avLst/>
          </a:prstGeom>
        </p:spPr>
      </p:pic>
    </p:spTree>
    <p:extLst>
      <p:ext uri="{BB962C8B-B14F-4D97-AF65-F5344CB8AC3E}">
        <p14:creationId xmlns:p14="http://schemas.microsoft.com/office/powerpoint/2010/main" val="2385273761"/>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E73A3019-CFE4-49DD-B6FD-2AFB2DD2DBB6}" type="datetime1">
              <a:rPr lang="en-US" smtClean="0"/>
              <a:t>11/7/2024</a:t>
            </a:fld>
            <a:endParaRPr lang="en-US"/>
          </a:p>
        </p:txBody>
      </p:sp>
      <p:sp>
        <p:nvSpPr>
          <p:cNvPr id="5" name="Footer Placeholder 4"/>
          <p:cNvSpPr>
            <a:spLocks noGrp="1"/>
          </p:cNvSpPr>
          <p:nvPr>
            <p:ph type="ftr" sz="quarter" idx="11"/>
          </p:nvPr>
        </p:nvSpPr>
        <p:spPr>
          <a:xfrm>
            <a:off x="4343400" y="6248401"/>
            <a:ext cx="4724400" cy="365125"/>
          </a:xfrm>
        </p:spPr>
        <p:txBody>
          <a:bodyPr/>
          <a:lstStyle/>
          <a:p>
            <a:r>
              <a:rPr lang="en-US" dirty="0"/>
              <a:t>Vaishali Mishra            ACSE0505 Web Technology                Unit 5</a:t>
            </a:r>
          </a:p>
        </p:txBody>
      </p:sp>
      <p:sp>
        <p:nvSpPr>
          <p:cNvPr id="6" name="Slide Number Placeholder 5"/>
          <p:cNvSpPr>
            <a:spLocks noGrp="1"/>
          </p:cNvSpPr>
          <p:nvPr>
            <p:ph type="sldNum" sz="quarter" idx="12"/>
          </p:nvPr>
        </p:nvSpPr>
        <p:spPr/>
        <p:txBody>
          <a:bodyPr/>
          <a:lstStyle/>
          <a:p>
            <a:fld id="{B6F15528-21DE-4FAA-801E-634DDDAF4B2B}" type="slidenum">
              <a:rPr lang="en-US" smtClean="0"/>
              <a:pPr/>
              <a:t>117</a:t>
            </a:fld>
            <a:endParaRPr lang="en-US"/>
          </a:p>
        </p:txBody>
      </p:sp>
      <p:sp>
        <p:nvSpPr>
          <p:cNvPr id="7" name="Title 1"/>
          <p:cNvSpPr txBox="1">
            <a:spLocks/>
          </p:cNvSpPr>
          <p:nvPr/>
        </p:nvSpPr>
        <p:spPr>
          <a:xfrm>
            <a:off x="2895600" y="2"/>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pPr>
              <a:defRPr/>
            </a:pPr>
            <a:endParaRPr lang="en-IN" sz="2800" dirty="0"/>
          </a:p>
          <a:p>
            <a:pPr>
              <a:defRPr/>
            </a:pPr>
            <a:endParaRPr lang="en-US" sz="2800" dirty="0"/>
          </a:p>
          <a:p>
            <a:pPr>
              <a:defRPr/>
            </a:pPr>
            <a:r>
              <a:rPr lang="en-US" sz="2800" dirty="0"/>
              <a:t>Old Question Paper(cont..) </a:t>
            </a:r>
          </a:p>
          <a:p>
            <a:pPr>
              <a:defRPr/>
            </a:pPr>
            <a:endParaRPr lang="en-IN" dirty="0"/>
          </a:p>
          <a:p>
            <a:pPr algn="ctr">
              <a:defRPr/>
            </a:pPr>
            <a:endParaRPr lang="en-US" sz="2800" dirty="0">
              <a:latin typeface="Times New Roman" pitchFamily="18" charset="0"/>
              <a:cs typeface="Times New Roman" pitchFamily="18" charset="0"/>
              <a:sym typeface="Arial" charset="0"/>
            </a:endParaRPr>
          </a:p>
        </p:txBody>
      </p:sp>
      <p:pic>
        <p:nvPicPr>
          <p:cNvPr id="2" name="Picture 1" descr="A black and red logo&#10;&#10;Description automatically generated">
            <a:extLst>
              <a:ext uri="{FF2B5EF4-FFF2-40B4-BE49-F238E27FC236}">
                <a16:creationId xmlns:a16="http://schemas.microsoft.com/office/drawing/2014/main" id="{8BDB0671-FC93-5C9E-75A2-ED46EE3FB8B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8" name="Content Placeholder 1">
            <a:extLst>
              <a:ext uri="{FF2B5EF4-FFF2-40B4-BE49-F238E27FC236}">
                <a16:creationId xmlns:a16="http://schemas.microsoft.com/office/drawing/2014/main" id="{1FF5ADF0-474C-251F-0E40-267B658E504A}"/>
              </a:ext>
            </a:extLst>
          </p:cNvPr>
          <p:cNvSpPr txBox="1">
            <a:spLocks noGrp="1"/>
          </p:cNvSpPr>
          <p:nvPr>
            <p:ph idx="1"/>
          </p:nvPr>
        </p:nvSpPr>
        <p:spPr>
          <a:xfrm>
            <a:off x="609600" y="1219200"/>
            <a:ext cx="10515600" cy="4449763"/>
          </a:xfrm>
        </p:spPr>
        <p:txBody>
          <a:bodyPr/>
          <a:lstStyle/>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lgn="ctr">
              <a:spcBef>
                <a:spcPts val="363"/>
              </a:spcBef>
              <a:spcAft>
                <a:spcPct val="0"/>
              </a:spcAft>
              <a:buClr>
                <a:srgbClr val="000000"/>
              </a:buClr>
              <a:buFont typeface="Arial" panose="020B0604020202020204" pitchFamily="34" charset="0"/>
              <a:buNone/>
            </a:pPr>
            <a:r>
              <a:rPr lang="en-IN" sz="2000" b="1" dirty="0">
                <a:latin typeface="Arial" panose="020B0604020202020204" pitchFamily="34" charset="0"/>
                <a:cs typeface="Arial" panose="020B0604020202020204" pitchFamily="34" charset="0"/>
              </a:rPr>
              <a:t> </a:t>
            </a:r>
          </a:p>
        </p:txBody>
      </p:sp>
      <p:pic>
        <p:nvPicPr>
          <p:cNvPr id="3" name="Picture 2">
            <a:extLst>
              <a:ext uri="{FF2B5EF4-FFF2-40B4-BE49-F238E27FC236}">
                <a16:creationId xmlns:a16="http://schemas.microsoft.com/office/drawing/2014/main" id="{4736259D-3628-51F3-D0AD-4B0F766A276D}"/>
              </a:ext>
            </a:extLst>
          </p:cNvPr>
          <p:cNvPicPr>
            <a:picLocks noChangeAspect="1"/>
          </p:cNvPicPr>
          <p:nvPr/>
        </p:nvPicPr>
        <p:blipFill rotWithShape="1">
          <a:blip r:embed="rId3"/>
          <a:srcRect l="31259" t="33333" r="31259" b="15625"/>
          <a:stretch/>
        </p:blipFill>
        <p:spPr>
          <a:xfrm>
            <a:off x="740229" y="1143000"/>
            <a:ext cx="9927771" cy="5029200"/>
          </a:xfrm>
          <a:prstGeom prst="rect">
            <a:avLst/>
          </a:prstGeom>
        </p:spPr>
      </p:pic>
    </p:spTree>
    <p:extLst>
      <p:ext uri="{BB962C8B-B14F-4D97-AF65-F5344CB8AC3E}">
        <p14:creationId xmlns:p14="http://schemas.microsoft.com/office/powerpoint/2010/main" val="175060864"/>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E73A3019-CFE4-49DD-B6FD-2AFB2DD2DBB6}" type="datetime1">
              <a:rPr lang="en-US" smtClean="0"/>
              <a:t>11/7/2024</a:t>
            </a:fld>
            <a:endParaRPr lang="en-US"/>
          </a:p>
        </p:txBody>
      </p:sp>
      <p:sp>
        <p:nvSpPr>
          <p:cNvPr id="5" name="Footer Placeholder 4"/>
          <p:cNvSpPr>
            <a:spLocks noGrp="1"/>
          </p:cNvSpPr>
          <p:nvPr>
            <p:ph type="ftr" sz="quarter" idx="11"/>
          </p:nvPr>
        </p:nvSpPr>
        <p:spPr>
          <a:xfrm>
            <a:off x="4343400" y="6248401"/>
            <a:ext cx="4724400" cy="365125"/>
          </a:xfrm>
        </p:spPr>
        <p:txBody>
          <a:bodyPr/>
          <a:lstStyle/>
          <a:p>
            <a:r>
              <a:rPr lang="en-US" dirty="0"/>
              <a:t>Vaishali Mishra            ACSE0505 Web Technology                Unit 5</a:t>
            </a:r>
          </a:p>
        </p:txBody>
      </p:sp>
      <p:sp>
        <p:nvSpPr>
          <p:cNvPr id="6" name="Slide Number Placeholder 5"/>
          <p:cNvSpPr>
            <a:spLocks noGrp="1"/>
          </p:cNvSpPr>
          <p:nvPr>
            <p:ph type="sldNum" sz="quarter" idx="12"/>
          </p:nvPr>
        </p:nvSpPr>
        <p:spPr/>
        <p:txBody>
          <a:bodyPr/>
          <a:lstStyle/>
          <a:p>
            <a:fld id="{B6F15528-21DE-4FAA-801E-634DDDAF4B2B}" type="slidenum">
              <a:rPr lang="en-US" smtClean="0"/>
              <a:pPr/>
              <a:t>118</a:t>
            </a:fld>
            <a:endParaRPr lang="en-US"/>
          </a:p>
        </p:txBody>
      </p:sp>
      <p:sp>
        <p:nvSpPr>
          <p:cNvPr id="7" name="Title 1"/>
          <p:cNvSpPr txBox="1">
            <a:spLocks/>
          </p:cNvSpPr>
          <p:nvPr/>
        </p:nvSpPr>
        <p:spPr>
          <a:xfrm>
            <a:off x="2895600" y="136524"/>
            <a:ext cx="7772400" cy="549277"/>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pPr>
              <a:defRPr/>
            </a:pPr>
            <a:endParaRPr lang="en-IN" sz="2800" dirty="0"/>
          </a:p>
          <a:p>
            <a:pPr>
              <a:defRPr/>
            </a:pPr>
            <a:endParaRPr kumimoji="0" lang="en-US" sz="2800" b="0" i="0" u="none" strike="noStrike" kern="1200" cap="none" spc="0" normalizeH="0" baseline="0" noProof="0" dirty="0">
              <a:ln>
                <a:noFill/>
              </a:ln>
              <a:solidFill>
                <a:schemeClr val="dk1"/>
              </a:solidFill>
              <a:effectLst/>
              <a:uLnTx/>
              <a:uFillTx/>
              <a:latin typeface="+mn-lt"/>
              <a:ea typeface="+mn-ea"/>
              <a:cs typeface="+mn-cs"/>
            </a:endParaRPr>
          </a:p>
          <a:p>
            <a:pPr>
              <a:defRPr/>
            </a:pPr>
            <a:r>
              <a:rPr kumimoji="0" lang="en-US" sz="2800" b="0" i="0" u="none" strike="noStrike" kern="1200" cap="none" spc="0" normalizeH="0" baseline="0" noProof="0" dirty="0">
                <a:ln>
                  <a:noFill/>
                </a:ln>
                <a:solidFill>
                  <a:schemeClr val="dk1"/>
                </a:solidFill>
                <a:effectLst/>
                <a:uLnTx/>
                <a:uFillTx/>
                <a:latin typeface="+mn-lt"/>
                <a:ea typeface="+mn-ea"/>
                <a:cs typeface="+mn-cs"/>
              </a:rPr>
              <a:t>Faculty Video</a:t>
            </a:r>
            <a:r>
              <a:rPr kumimoji="0" lang="en-US" sz="2800" b="0" i="0" u="none" strike="noStrike" kern="1200" cap="none" spc="0" normalizeH="0" noProof="0" dirty="0">
                <a:ln>
                  <a:noFill/>
                </a:ln>
                <a:solidFill>
                  <a:schemeClr val="dk1"/>
                </a:solidFill>
                <a:effectLst/>
                <a:uLnTx/>
                <a:uFillTx/>
                <a:latin typeface="+mn-lt"/>
                <a:ea typeface="+mn-ea"/>
                <a:cs typeface="+mn-cs"/>
              </a:rPr>
              <a:t> Links, </a:t>
            </a:r>
            <a:r>
              <a:rPr kumimoji="0" lang="en-US" sz="2800" b="0" i="0" u="none" strike="noStrike" kern="1200" cap="none" spc="0" normalizeH="0" noProof="0" dirty="0" err="1">
                <a:ln>
                  <a:noFill/>
                </a:ln>
                <a:solidFill>
                  <a:schemeClr val="dk1"/>
                </a:solidFill>
                <a:effectLst/>
                <a:uLnTx/>
                <a:uFillTx/>
                <a:latin typeface="+mn-lt"/>
                <a:ea typeface="+mn-ea"/>
                <a:cs typeface="+mn-cs"/>
              </a:rPr>
              <a:t>Youtube</a:t>
            </a:r>
            <a:r>
              <a:rPr kumimoji="0" lang="en-US" sz="2800" b="0" i="0" u="none" strike="noStrike" kern="1200" cap="none" spc="0" normalizeH="0" noProof="0" dirty="0">
                <a:ln>
                  <a:noFill/>
                </a:ln>
                <a:solidFill>
                  <a:schemeClr val="dk1"/>
                </a:solidFill>
                <a:effectLst/>
                <a:uLnTx/>
                <a:uFillTx/>
                <a:latin typeface="+mn-lt"/>
                <a:ea typeface="+mn-ea"/>
                <a:cs typeface="+mn-cs"/>
              </a:rPr>
              <a:t> &amp; NPTEL Video Links and Online Courses Details  </a:t>
            </a:r>
            <a:endParaRPr kumimoji="0" lang="en-US" sz="2800" b="0" i="0" u="none" strike="noStrike" kern="1200" cap="none" spc="0" normalizeH="0" baseline="0" noProof="0" dirty="0">
              <a:ln>
                <a:noFill/>
              </a:ln>
              <a:solidFill>
                <a:schemeClr val="dk1"/>
              </a:solidFill>
              <a:effectLst/>
              <a:uLnTx/>
              <a:uFillTx/>
              <a:latin typeface="+mn-lt"/>
              <a:ea typeface="+mn-ea"/>
              <a:cs typeface="+mn-cs"/>
            </a:endParaRPr>
          </a:p>
          <a:p>
            <a:pPr>
              <a:defRPr/>
            </a:pPr>
            <a:endParaRPr lang="en-IN" dirty="0"/>
          </a:p>
          <a:p>
            <a:pPr algn="ctr">
              <a:defRPr/>
            </a:pPr>
            <a:endParaRPr lang="en-US" sz="2800" dirty="0">
              <a:latin typeface="Times New Roman" pitchFamily="18" charset="0"/>
              <a:cs typeface="Times New Roman" pitchFamily="18" charset="0"/>
              <a:sym typeface="Arial" charset="0"/>
            </a:endParaRPr>
          </a:p>
        </p:txBody>
      </p:sp>
      <p:pic>
        <p:nvPicPr>
          <p:cNvPr id="2" name="Picture 1" descr="A black and red logo&#10;&#10;Description automatically generated">
            <a:extLst>
              <a:ext uri="{FF2B5EF4-FFF2-40B4-BE49-F238E27FC236}">
                <a16:creationId xmlns:a16="http://schemas.microsoft.com/office/drawing/2014/main" id="{8BDB0671-FC93-5C9E-75A2-ED46EE3FB8B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8" name="Content Placeholder 1">
            <a:extLst>
              <a:ext uri="{FF2B5EF4-FFF2-40B4-BE49-F238E27FC236}">
                <a16:creationId xmlns:a16="http://schemas.microsoft.com/office/drawing/2014/main" id="{1FF5ADF0-474C-251F-0E40-267B658E504A}"/>
              </a:ext>
            </a:extLst>
          </p:cNvPr>
          <p:cNvSpPr txBox="1">
            <a:spLocks noGrp="1"/>
          </p:cNvSpPr>
          <p:nvPr>
            <p:ph idx="1"/>
          </p:nvPr>
        </p:nvSpPr>
        <p:spPr>
          <a:xfrm>
            <a:off x="609600" y="1219200"/>
            <a:ext cx="10515600" cy="4449763"/>
          </a:xfrm>
        </p:spPr>
        <p:txBody>
          <a:bodyPr/>
          <a:lstStyle/>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lgn="ctr">
              <a:spcBef>
                <a:spcPts val="363"/>
              </a:spcBef>
              <a:spcAft>
                <a:spcPct val="0"/>
              </a:spcAft>
              <a:buClr>
                <a:srgbClr val="000000"/>
              </a:buClr>
              <a:buFont typeface="Arial" panose="020B0604020202020204" pitchFamily="34" charset="0"/>
              <a:buNone/>
            </a:pPr>
            <a:r>
              <a:rPr lang="en-IN" sz="2000" b="1" dirty="0">
                <a:latin typeface="Arial" panose="020B0604020202020204" pitchFamily="34" charset="0"/>
                <a:cs typeface="Arial" panose="020B0604020202020204" pitchFamily="34" charset="0"/>
              </a:rPr>
              <a:t> </a:t>
            </a:r>
          </a:p>
        </p:txBody>
      </p:sp>
      <p:sp>
        <p:nvSpPr>
          <p:cNvPr id="10" name="Content Placeholder 8">
            <a:extLst>
              <a:ext uri="{FF2B5EF4-FFF2-40B4-BE49-F238E27FC236}">
                <a16:creationId xmlns:a16="http://schemas.microsoft.com/office/drawing/2014/main" id="{D9B38412-3D81-F184-0CC1-58CC33E75A05}"/>
              </a:ext>
            </a:extLst>
          </p:cNvPr>
          <p:cNvSpPr txBox="1">
            <a:spLocks/>
          </p:cNvSpPr>
          <p:nvPr/>
        </p:nvSpPr>
        <p:spPr>
          <a:xfrm>
            <a:off x="609600" y="947268"/>
            <a:ext cx="10058400" cy="5178895"/>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000" dirty="0">
                <a:hlinkClick r:id="rId3"/>
              </a:rPr>
              <a:t>https://www.youtube.com/watch?v=KMj49syT8JM&amp;list=PLJ5C_6qdAvBHiqw9Yc7-_vyfbBG1Bmfg_</a:t>
            </a:r>
            <a:endParaRPr lang="en-US" sz="2000" dirty="0"/>
          </a:p>
          <a:p>
            <a:r>
              <a:rPr lang="en-US" sz="2000" dirty="0">
                <a:hlinkClick r:id="rId4"/>
              </a:rPr>
              <a:t>https://www.youtube.com/watch?v=biKUffL8cm4&amp;list=PLJ5C_6qdAvBHiqw9Yc7-_vyfbBG1Bmfg_&amp;index=2</a:t>
            </a:r>
            <a:endParaRPr lang="en-US" sz="2000" dirty="0"/>
          </a:p>
          <a:p>
            <a:r>
              <a:rPr lang="en-US" sz="2000" dirty="0">
                <a:hlinkClick r:id="rId5"/>
              </a:rPr>
              <a:t>https://www.youtube.com/watch?v=jyzBKgXxHww&amp;list=PLJ5C_6qdAvBHiqw9Yc7-_vyfbBG1Bmfg_&amp;index=3</a:t>
            </a:r>
            <a:endParaRPr lang="en-US" sz="2000" dirty="0"/>
          </a:p>
          <a:p>
            <a:r>
              <a:rPr lang="en-US" sz="2000" dirty="0">
                <a:hlinkClick r:id="rId6"/>
              </a:rPr>
              <a:t>https://www.youtube.com/watch?v=g6zGd6ycktY&amp;list=PLo4R2IscWKdVqzh_QECsxCq7QB1CUpYfi&amp;index=1</a:t>
            </a:r>
            <a:endParaRPr lang="en-US" sz="2000" dirty="0"/>
          </a:p>
          <a:p>
            <a:r>
              <a:rPr lang="en-US" sz="2000" dirty="0">
                <a:hlinkClick r:id="rId7"/>
              </a:rPr>
              <a:t>https://www.youtube.com/watch?v=g6zGd6ycktY&amp;list=PLo4R2IscWKdVqzh_QECsxCq7QB1CUpYfi&amp;index=2</a:t>
            </a:r>
            <a:endParaRPr lang="en-US" sz="2000" dirty="0"/>
          </a:p>
          <a:p>
            <a:r>
              <a:rPr lang="en-US" sz="2000" dirty="0">
                <a:hlinkClick r:id="rId8"/>
              </a:rPr>
              <a:t>https://www.youtube.com/watch?v=g6zGd6ycktY&amp;list=PLo4R2IscWKdVqzh_QECsxCq7QB1CUpYfi&amp;index=3</a:t>
            </a:r>
            <a:endParaRPr lang="en-US" sz="2000" dirty="0"/>
          </a:p>
          <a:p>
            <a:endParaRPr lang="en-US" sz="2200" dirty="0"/>
          </a:p>
        </p:txBody>
      </p:sp>
    </p:spTree>
    <p:extLst>
      <p:ext uri="{BB962C8B-B14F-4D97-AF65-F5344CB8AC3E}">
        <p14:creationId xmlns:p14="http://schemas.microsoft.com/office/powerpoint/2010/main" val="2979087195"/>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E73A3019-CFE4-49DD-B6FD-2AFB2DD2DBB6}" type="datetime1">
              <a:rPr lang="en-US" smtClean="0"/>
              <a:t>11/7/2024</a:t>
            </a:fld>
            <a:endParaRPr lang="en-US"/>
          </a:p>
        </p:txBody>
      </p:sp>
      <p:sp>
        <p:nvSpPr>
          <p:cNvPr id="5" name="Footer Placeholder 4"/>
          <p:cNvSpPr>
            <a:spLocks noGrp="1"/>
          </p:cNvSpPr>
          <p:nvPr>
            <p:ph type="ftr" sz="quarter" idx="11"/>
          </p:nvPr>
        </p:nvSpPr>
        <p:spPr>
          <a:xfrm>
            <a:off x="4343400" y="6248401"/>
            <a:ext cx="4724400" cy="365125"/>
          </a:xfrm>
        </p:spPr>
        <p:txBody>
          <a:bodyPr/>
          <a:lstStyle/>
          <a:p>
            <a:r>
              <a:rPr lang="en-US" dirty="0"/>
              <a:t>Vaishali Mishra            ACSE0505 Web Technology                Unit 5</a:t>
            </a:r>
          </a:p>
        </p:txBody>
      </p:sp>
      <p:sp>
        <p:nvSpPr>
          <p:cNvPr id="6" name="Slide Number Placeholder 5"/>
          <p:cNvSpPr>
            <a:spLocks noGrp="1"/>
          </p:cNvSpPr>
          <p:nvPr>
            <p:ph type="sldNum" sz="quarter" idx="12"/>
          </p:nvPr>
        </p:nvSpPr>
        <p:spPr/>
        <p:txBody>
          <a:bodyPr/>
          <a:lstStyle/>
          <a:p>
            <a:fld id="{B6F15528-21DE-4FAA-801E-634DDDAF4B2B}" type="slidenum">
              <a:rPr lang="en-US" smtClean="0"/>
              <a:pPr/>
              <a:t>119</a:t>
            </a:fld>
            <a:endParaRPr lang="en-US"/>
          </a:p>
        </p:txBody>
      </p:sp>
      <p:sp>
        <p:nvSpPr>
          <p:cNvPr id="7" name="Title 1"/>
          <p:cNvSpPr txBox="1">
            <a:spLocks/>
          </p:cNvSpPr>
          <p:nvPr/>
        </p:nvSpPr>
        <p:spPr>
          <a:xfrm>
            <a:off x="2895600" y="2"/>
            <a:ext cx="7772400" cy="947266"/>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pPr>
              <a:defRPr/>
            </a:pPr>
            <a:endParaRPr lang="en-IN" sz="2800" dirty="0"/>
          </a:p>
          <a:p>
            <a:pPr>
              <a:defRPr/>
            </a:pPr>
            <a:endParaRPr kumimoji="0" lang="en-US" sz="2800" b="0" i="0" u="none" strike="noStrike" kern="1200" cap="none" spc="0" normalizeH="0" baseline="0" noProof="0" dirty="0">
              <a:ln>
                <a:noFill/>
              </a:ln>
              <a:solidFill>
                <a:schemeClr val="dk1"/>
              </a:solidFill>
              <a:effectLst/>
              <a:uLnTx/>
              <a:uFillTx/>
              <a:latin typeface="+mn-lt"/>
              <a:ea typeface="+mn-ea"/>
              <a:cs typeface="+mn-cs"/>
            </a:endParaRPr>
          </a:p>
          <a:p>
            <a:pPr>
              <a:defRPr/>
            </a:pPr>
            <a:r>
              <a:rPr kumimoji="0" lang="en-US" sz="2800" b="0" i="0" u="none" strike="noStrike" kern="1200" cap="none" spc="0" normalizeH="0" baseline="0" noProof="0" dirty="0">
                <a:ln>
                  <a:noFill/>
                </a:ln>
                <a:solidFill>
                  <a:schemeClr val="dk1"/>
                </a:solidFill>
                <a:effectLst/>
                <a:uLnTx/>
                <a:uFillTx/>
                <a:latin typeface="+mn-lt"/>
                <a:ea typeface="+mn-ea"/>
                <a:cs typeface="+mn-cs"/>
              </a:rPr>
              <a:t>Faculty Video</a:t>
            </a:r>
            <a:r>
              <a:rPr kumimoji="0" lang="en-US" sz="2800" b="0" i="0" u="none" strike="noStrike" kern="1200" cap="none" spc="0" normalizeH="0" noProof="0" dirty="0">
                <a:ln>
                  <a:noFill/>
                </a:ln>
                <a:solidFill>
                  <a:schemeClr val="dk1"/>
                </a:solidFill>
                <a:effectLst/>
                <a:uLnTx/>
                <a:uFillTx/>
                <a:latin typeface="+mn-lt"/>
                <a:ea typeface="+mn-ea"/>
                <a:cs typeface="+mn-cs"/>
              </a:rPr>
              <a:t> Links, </a:t>
            </a:r>
            <a:r>
              <a:rPr kumimoji="0" lang="en-US" sz="2800" b="0" i="0" u="none" strike="noStrike" kern="1200" cap="none" spc="0" normalizeH="0" noProof="0" dirty="0" err="1">
                <a:ln>
                  <a:noFill/>
                </a:ln>
                <a:solidFill>
                  <a:schemeClr val="dk1"/>
                </a:solidFill>
                <a:effectLst/>
                <a:uLnTx/>
                <a:uFillTx/>
                <a:latin typeface="+mn-lt"/>
                <a:ea typeface="+mn-ea"/>
                <a:cs typeface="+mn-cs"/>
              </a:rPr>
              <a:t>Youtube</a:t>
            </a:r>
            <a:r>
              <a:rPr kumimoji="0" lang="en-US" sz="2800" b="0" i="0" u="none" strike="noStrike" kern="1200" cap="none" spc="0" normalizeH="0" noProof="0" dirty="0">
                <a:ln>
                  <a:noFill/>
                </a:ln>
                <a:solidFill>
                  <a:schemeClr val="dk1"/>
                </a:solidFill>
                <a:effectLst/>
                <a:uLnTx/>
                <a:uFillTx/>
                <a:latin typeface="+mn-lt"/>
                <a:ea typeface="+mn-ea"/>
                <a:cs typeface="+mn-cs"/>
              </a:rPr>
              <a:t> &amp; NPTEL Video Links and Online Courses Details  </a:t>
            </a:r>
            <a:endParaRPr kumimoji="0" lang="en-US" sz="2800" b="0" i="0" u="none" strike="noStrike" kern="1200" cap="none" spc="0" normalizeH="0" baseline="0" noProof="0" dirty="0">
              <a:ln>
                <a:noFill/>
              </a:ln>
              <a:solidFill>
                <a:schemeClr val="dk1"/>
              </a:solidFill>
              <a:effectLst/>
              <a:uLnTx/>
              <a:uFillTx/>
              <a:latin typeface="+mn-lt"/>
              <a:ea typeface="+mn-ea"/>
              <a:cs typeface="+mn-cs"/>
            </a:endParaRPr>
          </a:p>
          <a:p>
            <a:pPr>
              <a:defRPr/>
            </a:pPr>
            <a:endParaRPr lang="en-IN" dirty="0"/>
          </a:p>
          <a:p>
            <a:pPr algn="ctr">
              <a:defRPr/>
            </a:pPr>
            <a:endParaRPr lang="en-US" sz="2800" dirty="0">
              <a:latin typeface="Times New Roman" pitchFamily="18" charset="0"/>
              <a:cs typeface="Times New Roman" pitchFamily="18" charset="0"/>
              <a:sym typeface="Arial" charset="0"/>
            </a:endParaRPr>
          </a:p>
        </p:txBody>
      </p:sp>
      <p:pic>
        <p:nvPicPr>
          <p:cNvPr id="2" name="Picture 1" descr="A black and red logo&#10;&#10;Description automatically generated">
            <a:extLst>
              <a:ext uri="{FF2B5EF4-FFF2-40B4-BE49-F238E27FC236}">
                <a16:creationId xmlns:a16="http://schemas.microsoft.com/office/drawing/2014/main" id="{8BDB0671-FC93-5C9E-75A2-ED46EE3FB8B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8" name="Content Placeholder 1">
            <a:extLst>
              <a:ext uri="{FF2B5EF4-FFF2-40B4-BE49-F238E27FC236}">
                <a16:creationId xmlns:a16="http://schemas.microsoft.com/office/drawing/2014/main" id="{1FF5ADF0-474C-251F-0E40-267B658E504A}"/>
              </a:ext>
            </a:extLst>
          </p:cNvPr>
          <p:cNvSpPr txBox="1">
            <a:spLocks noGrp="1"/>
          </p:cNvSpPr>
          <p:nvPr>
            <p:ph idx="1"/>
          </p:nvPr>
        </p:nvSpPr>
        <p:spPr>
          <a:xfrm>
            <a:off x="609600" y="1219200"/>
            <a:ext cx="10515600" cy="4449763"/>
          </a:xfrm>
        </p:spPr>
        <p:txBody>
          <a:bodyPr/>
          <a:lstStyle/>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lgn="ctr">
              <a:spcBef>
                <a:spcPts val="363"/>
              </a:spcBef>
              <a:spcAft>
                <a:spcPct val="0"/>
              </a:spcAft>
              <a:buClr>
                <a:srgbClr val="000000"/>
              </a:buClr>
              <a:buFont typeface="Arial" panose="020B0604020202020204" pitchFamily="34" charset="0"/>
              <a:buNone/>
            </a:pPr>
            <a:r>
              <a:rPr lang="en-IN" sz="2000" b="1" dirty="0">
                <a:latin typeface="Arial" panose="020B0604020202020204" pitchFamily="34" charset="0"/>
                <a:cs typeface="Arial" panose="020B0604020202020204" pitchFamily="34" charset="0"/>
              </a:rPr>
              <a:t> </a:t>
            </a:r>
          </a:p>
        </p:txBody>
      </p:sp>
      <p:sp>
        <p:nvSpPr>
          <p:cNvPr id="9" name="Content Placeholder 8">
            <a:extLst>
              <a:ext uri="{FF2B5EF4-FFF2-40B4-BE49-F238E27FC236}">
                <a16:creationId xmlns:a16="http://schemas.microsoft.com/office/drawing/2014/main" id="{6C7AD8E4-AEC3-3D99-4466-56EC7B1E0107}"/>
              </a:ext>
            </a:extLst>
          </p:cNvPr>
          <p:cNvSpPr txBox="1">
            <a:spLocks/>
          </p:cNvSpPr>
          <p:nvPr/>
        </p:nvSpPr>
        <p:spPr>
          <a:xfrm>
            <a:off x="457200" y="1189036"/>
            <a:ext cx="10210800" cy="4937127"/>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000">
                <a:hlinkClick r:id="rId3"/>
              </a:rPr>
              <a:t>https://www.youtube.com/watch?v=g6zGd6ycktY&amp;list=PLo4R2IscWKdVqzh_QECsxCq7QB1CUpYfi&amp;index=4</a:t>
            </a:r>
            <a:endParaRPr lang="en-US" sz="2000"/>
          </a:p>
          <a:p>
            <a:r>
              <a:rPr lang="en-US" sz="2000">
                <a:hlinkClick r:id="rId4"/>
              </a:rPr>
              <a:t>https://www.youtube.com/watch?v=g6zGd6ycktY&amp;list=PLo4R2IscWKdVqzh_QECsxCq7QB1CUpYfi&amp;index=5</a:t>
            </a:r>
            <a:endParaRPr lang="en-US" sz="2000"/>
          </a:p>
          <a:p>
            <a:r>
              <a:rPr lang="en-US" sz="2000">
                <a:hlinkClick r:id="rId5"/>
              </a:rPr>
              <a:t>https://www.youtube.com/watch?v=g6zGd6ycktY&amp;list=PLo4R2IscWKdVqzh_QECsxCq7QB1CUpYfi&amp;index=6</a:t>
            </a:r>
            <a:endParaRPr lang="en-US" sz="2000"/>
          </a:p>
          <a:p>
            <a:r>
              <a:rPr lang="en-US" sz="2000">
                <a:hlinkClick r:id="rId6"/>
              </a:rPr>
              <a:t>https://www.youtube.com/watch?v=g6zGd6ycktY&amp;list=PLo4R2IscWKdVqzh_QECsxCq7QB1CUpYfi&amp;index=7</a:t>
            </a:r>
            <a:endParaRPr lang="en-US" sz="2000"/>
          </a:p>
          <a:p>
            <a:r>
              <a:rPr lang="en-US" sz="2000">
                <a:hlinkClick r:id="rId7"/>
              </a:rPr>
              <a:t>https://www.youtube.com/watch?v=g6zGd6ycktY&amp;list=PLo4R2IscWKdVqzh_QECsxCq7QB1CUpYfi&amp;index=8</a:t>
            </a:r>
            <a:endParaRPr lang="en-US" sz="2000"/>
          </a:p>
          <a:p>
            <a:endParaRPr lang="en-US" sz="2400"/>
          </a:p>
          <a:p>
            <a:endParaRPr lang="en-US" sz="2200" dirty="0"/>
          </a:p>
        </p:txBody>
      </p:sp>
    </p:spTree>
    <p:extLst>
      <p:ext uri="{BB962C8B-B14F-4D97-AF65-F5344CB8AC3E}">
        <p14:creationId xmlns:p14="http://schemas.microsoft.com/office/powerpoint/2010/main" val="2020976004"/>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E73A3019-CFE4-49DD-B6FD-2AFB2DD2DBB6}" type="datetime1">
              <a:rPr lang="en-US" smtClean="0"/>
              <a:t>11/7/2024</a:t>
            </a:fld>
            <a:endParaRPr lang="en-US"/>
          </a:p>
        </p:txBody>
      </p:sp>
      <p:sp>
        <p:nvSpPr>
          <p:cNvPr id="5" name="Footer Placeholder 4"/>
          <p:cNvSpPr>
            <a:spLocks noGrp="1"/>
          </p:cNvSpPr>
          <p:nvPr>
            <p:ph type="ftr" sz="quarter" idx="11"/>
          </p:nvPr>
        </p:nvSpPr>
        <p:spPr>
          <a:xfrm>
            <a:off x="4343400" y="6248401"/>
            <a:ext cx="4724400" cy="365125"/>
          </a:xfrm>
        </p:spPr>
        <p:txBody>
          <a:bodyPr/>
          <a:lstStyle/>
          <a:p>
            <a:r>
              <a:rPr lang="en-US" dirty="0"/>
              <a:t>Vaishali Mishra            ACSE0505 Web Technology                Unit 5</a:t>
            </a:r>
          </a:p>
        </p:txBody>
      </p:sp>
      <p:sp>
        <p:nvSpPr>
          <p:cNvPr id="6" name="Slide Number Placeholder 5"/>
          <p:cNvSpPr>
            <a:spLocks noGrp="1"/>
          </p:cNvSpPr>
          <p:nvPr>
            <p:ph type="sldNum" sz="quarter" idx="12"/>
          </p:nvPr>
        </p:nvSpPr>
        <p:spPr/>
        <p:txBody>
          <a:bodyPr/>
          <a:lstStyle/>
          <a:p>
            <a:fld id="{B6F15528-21DE-4FAA-801E-634DDDAF4B2B}" type="slidenum">
              <a:rPr lang="en-US" smtClean="0"/>
              <a:pPr/>
              <a:t>120</a:t>
            </a:fld>
            <a:endParaRPr lang="en-US"/>
          </a:p>
        </p:txBody>
      </p:sp>
      <p:sp>
        <p:nvSpPr>
          <p:cNvPr id="7" name="Title 1"/>
          <p:cNvSpPr txBox="1">
            <a:spLocks/>
          </p:cNvSpPr>
          <p:nvPr/>
        </p:nvSpPr>
        <p:spPr>
          <a:xfrm>
            <a:off x="2895600" y="2"/>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pPr>
              <a:defRPr/>
            </a:pPr>
            <a:endParaRPr lang="en-IN" sz="2800" dirty="0"/>
          </a:p>
          <a:p>
            <a:pPr>
              <a:defRPr/>
            </a:pPr>
            <a:endParaRPr lang="en-US" sz="2800" dirty="0"/>
          </a:p>
          <a:p>
            <a:pPr>
              <a:defRPr/>
            </a:pPr>
            <a:r>
              <a:rPr lang="en-US" sz="2800" dirty="0"/>
              <a:t>Expected Questions for University Exam </a:t>
            </a:r>
          </a:p>
          <a:p>
            <a:pPr>
              <a:defRPr/>
            </a:pPr>
            <a:endParaRPr lang="en-IN" dirty="0"/>
          </a:p>
          <a:p>
            <a:pPr algn="ctr">
              <a:defRPr/>
            </a:pPr>
            <a:endParaRPr lang="en-US" sz="2800" dirty="0">
              <a:latin typeface="Times New Roman" pitchFamily="18" charset="0"/>
              <a:cs typeface="Times New Roman" pitchFamily="18" charset="0"/>
              <a:sym typeface="Arial" charset="0"/>
            </a:endParaRPr>
          </a:p>
        </p:txBody>
      </p:sp>
      <p:pic>
        <p:nvPicPr>
          <p:cNvPr id="2" name="Picture 1" descr="A black and red logo&#10;&#10;Description automatically generated">
            <a:extLst>
              <a:ext uri="{FF2B5EF4-FFF2-40B4-BE49-F238E27FC236}">
                <a16:creationId xmlns:a16="http://schemas.microsoft.com/office/drawing/2014/main" id="{8BDB0671-FC93-5C9E-75A2-ED46EE3FB8B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8" name="Content Placeholder 1">
            <a:extLst>
              <a:ext uri="{FF2B5EF4-FFF2-40B4-BE49-F238E27FC236}">
                <a16:creationId xmlns:a16="http://schemas.microsoft.com/office/drawing/2014/main" id="{1FF5ADF0-474C-251F-0E40-267B658E504A}"/>
              </a:ext>
            </a:extLst>
          </p:cNvPr>
          <p:cNvSpPr txBox="1">
            <a:spLocks noGrp="1"/>
          </p:cNvSpPr>
          <p:nvPr>
            <p:ph idx="1"/>
          </p:nvPr>
        </p:nvSpPr>
        <p:spPr>
          <a:xfrm>
            <a:off x="609600" y="1219200"/>
            <a:ext cx="10515600" cy="4449763"/>
          </a:xfrm>
        </p:spPr>
        <p:txBody>
          <a:bodyPr/>
          <a:lstStyle/>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lgn="ctr">
              <a:spcBef>
                <a:spcPts val="363"/>
              </a:spcBef>
              <a:spcAft>
                <a:spcPct val="0"/>
              </a:spcAft>
              <a:buClr>
                <a:srgbClr val="000000"/>
              </a:buClr>
              <a:buFont typeface="Arial" panose="020B0604020202020204" pitchFamily="34" charset="0"/>
              <a:buNone/>
            </a:pPr>
            <a:r>
              <a:rPr lang="en-IN" sz="2000" b="1" dirty="0">
                <a:latin typeface="Arial" panose="020B0604020202020204" pitchFamily="34" charset="0"/>
                <a:cs typeface="Arial" panose="020B0604020202020204" pitchFamily="34" charset="0"/>
              </a:rPr>
              <a:t> </a:t>
            </a:r>
          </a:p>
        </p:txBody>
      </p:sp>
      <p:sp>
        <p:nvSpPr>
          <p:cNvPr id="3" name="Subtitle 2">
            <a:extLst>
              <a:ext uri="{FF2B5EF4-FFF2-40B4-BE49-F238E27FC236}">
                <a16:creationId xmlns:a16="http://schemas.microsoft.com/office/drawing/2014/main" id="{DFEAA2C6-6ABE-F027-F00D-A8ED6EAF4E24}"/>
              </a:ext>
            </a:extLst>
          </p:cNvPr>
          <p:cNvSpPr txBox="1">
            <a:spLocks/>
          </p:cNvSpPr>
          <p:nvPr/>
        </p:nvSpPr>
        <p:spPr>
          <a:xfrm>
            <a:off x="457200" y="1189037"/>
            <a:ext cx="10210800" cy="4754563"/>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457200" indent="-457200" algn="just">
              <a:buFont typeface="+mj-lt"/>
              <a:buAutoNum type="arabicPeriod"/>
            </a:pPr>
            <a:r>
              <a:rPr lang="en-US" sz="2000" dirty="0"/>
              <a:t>Define PHP with its syntax.</a:t>
            </a:r>
          </a:p>
          <a:p>
            <a:pPr marL="457200" indent="-457200" algn="just">
              <a:buFont typeface="+mj-lt"/>
              <a:buAutoNum type="arabicPeriod"/>
            </a:pPr>
            <a:r>
              <a:rPr lang="en-US" sz="2000" dirty="0"/>
              <a:t>Explain variables &amp; constants with example and code.</a:t>
            </a:r>
          </a:p>
          <a:p>
            <a:pPr marL="457200" indent="-457200" algn="just">
              <a:buFont typeface="+mj-lt"/>
              <a:buAutoNum type="arabicPeriod"/>
            </a:pPr>
            <a:r>
              <a:rPr lang="en-US" sz="2000" dirty="0"/>
              <a:t>What do you mean by data type, operator &amp; expressions.</a:t>
            </a:r>
          </a:p>
          <a:p>
            <a:pPr marL="457200" indent="-457200" algn="just">
              <a:buFont typeface="+mj-lt"/>
              <a:buAutoNum type="arabicPeriod"/>
            </a:pPr>
            <a:r>
              <a:rPr lang="en-US" sz="2000" dirty="0"/>
              <a:t>Define control flow and decision making statements.</a:t>
            </a:r>
          </a:p>
          <a:p>
            <a:pPr marL="457200" indent="-457200" algn="just">
              <a:buFont typeface="+mj-lt"/>
              <a:buAutoNum type="arabicPeriod"/>
            </a:pPr>
            <a:r>
              <a:rPr lang="en-US" sz="2000" dirty="0"/>
              <a:t>What do you mean by functions, strings and arrays.</a:t>
            </a:r>
            <a:endParaRPr lang="en-IN" sz="2000" dirty="0"/>
          </a:p>
          <a:p>
            <a:pPr marL="457200" indent="-457200" algn="just">
              <a:buFont typeface="+mj-lt"/>
              <a:buAutoNum type="arabicPeriod"/>
            </a:pPr>
            <a:r>
              <a:rPr lang="en-US" sz="2000" dirty="0"/>
              <a:t>Explain</a:t>
            </a:r>
            <a:r>
              <a:rPr lang="en-US" sz="2000" b="1" dirty="0"/>
              <a:t> </a:t>
            </a:r>
            <a:r>
              <a:rPr lang="en-US" sz="2000" dirty="0"/>
              <a:t>file &amp; directory, and give commands for opening, closing, coping, renaming and deleting a file.</a:t>
            </a:r>
          </a:p>
          <a:p>
            <a:pPr marL="457200" indent="-457200" algn="just">
              <a:buFont typeface="+mj-lt"/>
              <a:buAutoNum type="arabicPeriod"/>
            </a:pPr>
            <a:r>
              <a:rPr lang="en-US" sz="2000" dirty="0"/>
              <a:t>Give commands for creating or deleting folder, file uploading &amp; downloading.</a:t>
            </a:r>
            <a:endParaRPr lang="en-IN" sz="2000" dirty="0"/>
          </a:p>
          <a:p>
            <a:pPr marL="457200" indent="-457200" algn="just">
              <a:buFont typeface="+mj-lt"/>
              <a:buAutoNum type="arabicPeriod"/>
            </a:pPr>
            <a:r>
              <a:rPr lang="en-IN" sz="2000" dirty="0"/>
              <a:t>Introduce the session control with session functionality. </a:t>
            </a:r>
          </a:p>
          <a:p>
            <a:pPr marL="457200" indent="-457200" algn="just">
              <a:buFont typeface="+mj-lt"/>
              <a:buAutoNum type="arabicPeriod"/>
            </a:pPr>
            <a:r>
              <a:rPr lang="en-IN" sz="2000" dirty="0"/>
              <a:t>What is a Cookie? Explain setting cookies with PHP. </a:t>
            </a:r>
            <a:endParaRPr lang="en-US" sz="2000" dirty="0"/>
          </a:p>
          <a:p>
            <a:pPr algn="just"/>
            <a:endParaRPr lang="en-US" sz="2400" dirty="0"/>
          </a:p>
          <a:p>
            <a:pPr algn="just"/>
            <a:endParaRPr lang="en-US" sz="2400" dirty="0"/>
          </a:p>
        </p:txBody>
      </p:sp>
    </p:spTree>
    <p:extLst>
      <p:ext uri="{BB962C8B-B14F-4D97-AF65-F5344CB8AC3E}">
        <p14:creationId xmlns:p14="http://schemas.microsoft.com/office/powerpoint/2010/main" val="2373597356"/>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E73A3019-CFE4-49DD-B6FD-2AFB2DD2DBB6}" type="datetime1">
              <a:rPr lang="en-US" smtClean="0"/>
              <a:t>11/7/2024</a:t>
            </a:fld>
            <a:endParaRPr lang="en-US"/>
          </a:p>
        </p:txBody>
      </p:sp>
      <p:sp>
        <p:nvSpPr>
          <p:cNvPr id="5" name="Footer Placeholder 4"/>
          <p:cNvSpPr>
            <a:spLocks noGrp="1"/>
          </p:cNvSpPr>
          <p:nvPr>
            <p:ph type="ftr" sz="quarter" idx="11"/>
          </p:nvPr>
        </p:nvSpPr>
        <p:spPr>
          <a:xfrm>
            <a:off x="4343400" y="6248401"/>
            <a:ext cx="4724400" cy="365125"/>
          </a:xfrm>
        </p:spPr>
        <p:txBody>
          <a:bodyPr/>
          <a:lstStyle/>
          <a:p>
            <a:r>
              <a:rPr lang="en-US" dirty="0"/>
              <a:t>Vaishali Mishra            ACSE0505 Web Technology                Unit 5</a:t>
            </a:r>
          </a:p>
        </p:txBody>
      </p:sp>
      <p:sp>
        <p:nvSpPr>
          <p:cNvPr id="6" name="Slide Number Placeholder 5"/>
          <p:cNvSpPr>
            <a:spLocks noGrp="1"/>
          </p:cNvSpPr>
          <p:nvPr>
            <p:ph type="sldNum" sz="quarter" idx="12"/>
          </p:nvPr>
        </p:nvSpPr>
        <p:spPr/>
        <p:txBody>
          <a:bodyPr/>
          <a:lstStyle/>
          <a:p>
            <a:fld id="{B6F15528-21DE-4FAA-801E-634DDDAF4B2B}" type="slidenum">
              <a:rPr lang="en-US" smtClean="0"/>
              <a:pPr/>
              <a:t>121</a:t>
            </a:fld>
            <a:endParaRPr lang="en-US"/>
          </a:p>
        </p:txBody>
      </p:sp>
      <p:sp>
        <p:nvSpPr>
          <p:cNvPr id="7" name="Title 1"/>
          <p:cNvSpPr txBox="1">
            <a:spLocks/>
          </p:cNvSpPr>
          <p:nvPr/>
        </p:nvSpPr>
        <p:spPr>
          <a:xfrm>
            <a:off x="2895600" y="2"/>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pPr>
              <a:defRPr/>
            </a:pPr>
            <a:endParaRPr lang="en-IN" sz="2800" dirty="0"/>
          </a:p>
          <a:p>
            <a:pPr>
              <a:defRPr/>
            </a:pPr>
            <a:endParaRPr lang="en-IN" dirty="0"/>
          </a:p>
          <a:p>
            <a:pPr algn="ctr">
              <a:defRPr/>
            </a:pPr>
            <a:endParaRPr lang="en-US" sz="2800" dirty="0">
              <a:latin typeface="Times New Roman" pitchFamily="18" charset="0"/>
              <a:cs typeface="Times New Roman" pitchFamily="18" charset="0"/>
              <a:sym typeface="Arial" charset="0"/>
            </a:endParaRPr>
          </a:p>
        </p:txBody>
      </p:sp>
      <p:pic>
        <p:nvPicPr>
          <p:cNvPr id="2" name="Picture 1" descr="A black and red logo&#10;&#10;Description automatically generated">
            <a:extLst>
              <a:ext uri="{FF2B5EF4-FFF2-40B4-BE49-F238E27FC236}">
                <a16:creationId xmlns:a16="http://schemas.microsoft.com/office/drawing/2014/main" id="{8BDB0671-FC93-5C9E-75A2-ED46EE3FB8B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8" name="Content Placeholder 1">
            <a:extLst>
              <a:ext uri="{FF2B5EF4-FFF2-40B4-BE49-F238E27FC236}">
                <a16:creationId xmlns:a16="http://schemas.microsoft.com/office/drawing/2014/main" id="{1FF5ADF0-474C-251F-0E40-267B658E504A}"/>
              </a:ext>
            </a:extLst>
          </p:cNvPr>
          <p:cNvSpPr txBox="1">
            <a:spLocks noGrp="1"/>
          </p:cNvSpPr>
          <p:nvPr>
            <p:ph idx="1"/>
          </p:nvPr>
        </p:nvSpPr>
        <p:spPr>
          <a:xfrm>
            <a:off x="609600" y="1219200"/>
            <a:ext cx="10515600" cy="4449763"/>
          </a:xfrm>
        </p:spPr>
        <p:txBody>
          <a:bodyPr/>
          <a:lstStyle/>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lgn="ctr">
              <a:spcBef>
                <a:spcPts val="363"/>
              </a:spcBef>
              <a:spcAft>
                <a:spcPct val="0"/>
              </a:spcAft>
              <a:buClr>
                <a:srgbClr val="000000"/>
              </a:buClr>
              <a:buFont typeface="Arial" panose="020B0604020202020204" pitchFamily="34" charset="0"/>
              <a:buNone/>
            </a:pPr>
            <a:r>
              <a:rPr lang="en-IN" sz="2000" b="1" dirty="0">
                <a:latin typeface="Arial" panose="020B0604020202020204" pitchFamily="34" charset="0"/>
                <a:cs typeface="Arial" panose="020B0604020202020204" pitchFamily="34" charset="0"/>
              </a:rPr>
              <a:t> </a:t>
            </a:r>
          </a:p>
        </p:txBody>
      </p:sp>
      <p:sp>
        <p:nvSpPr>
          <p:cNvPr id="3" name="Content Placeholder 8">
            <a:extLst>
              <a:ext uri="{FF2B5EF4-FFF2-40B4-BE49-F238E27FC236}">
                <a16:creationId xmlns:a16="http://schemas.microsoft.com/office/drawing/2014/main" id="{6E3F330E-ADAB-06FC-2343-5B476DF8C3F6}"/>
              </a:ext>
            </a:extLst>
          </p:cNvPr>
          <p:cNvSpPr txBox="1">
            <a:spLocks/>
          </p:cNvSpPr>
          <p:nvPr/>
        </p:nvSpPr>
        <p:spPr>
          <a:xfrm>
            <a:off x="76200" y="817163"/>
            <a:ext cx="10820400" cy="3554306"/>
          </a:xfrm>
          <a:prstGeom prst="rect">
            <a:avLst/>
          </a:prstGeom>
          <a:noFill/>
        </p:spPr>
        <p:txBody>
          <a:bodyPr vert="horz" wrap="square" lIns="91440" tIns="45720" rIns="91440" bIns="45720" rtlCol="0">
            <a:sp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spcBef>
                <a:spcPts val="100"/>
              </a:spcBef>
              <a:buFont typeface="Arial" pitchFamily="34" charset="0"/>
              <a:buNone/>
            </a:pPr>
            <a:r>
              <a:rPr lang="en-US" sz="2000" b="1" spc="-5">
                <a:latin typeface="+mj-lt"/>
                <a:cs typeface="Calibri"/>
              </a:rPr>
              <a:t>TEXT</a:t>
            </a:r>
            <a:r>
              <a:rPr lang="en-US" sz="2000" b="1" spc="-10">
                <a:latin typeface="+mj-lt"/>
                <a:cs typeface="Calibri"/>
              </a:rPr>
              <a:t> BOOKS:</a:t>
            </a:r>
            <a:endParaRPr lang="en-US" sz="2000" b="1">
              <a:latin typeface="+mj-lt"/>
              <a:cs typeface="Calibri"/>
            </a:endParaRPr>
          </a:p>
          <a:p>
            <a:pPr marL="12700" algn="just">
              <a:spcBef>
                <a:spcPts val="100"/>
              </a:spcBef>
            </a:pPr>
            <a:r>
              <a:rPr lang="en-US" sz="2000" spc="-5">
                <a:latin typeface="+mj-lt"/>
                <a:cs typeface="Calibri"/>
              </a:rPr>
              <a:t>(1.) Web Technologies, Black Book, Dreamtech Press.</a:t>
            </a:r>
          </a:p>
          <a:p>
            <a:pPr marL="12700" algn="just">
              <a:spcBef>
                <a:spcPts val="100"/>
              </a:spcBef>
            </a:pPr>
            <a:r>
              <a:rPr lang="en-US" sz="2000" spc="-5">
                <a:latin typeface="+mj-lt"/>
                <a:cs typeface="Calibri"/>
              </a:rPr>
              <a:t>(2.) Internet and world wide web how to program, P.J. Deitel &amp; H.M. Deitel, Pearson</a:t>
            </a:r>
          </a:p>
          <a:p>
            <a:pPr marL="12700" algn="just">
              <a:spcBef>
                <a:spcPts val="100"/>
              </a:spcBef>
            </a:pPr>
            <a:r>
              <a:rPr lang="en-US" sz="2000" spc="-5">
                <a:latin typeface="+mj-lt"/>
                <a:cs typeface="Calibri"/>
              </a:rPr>
              <a:t>[3] Xavier, C,” Web Technology and Design”, New Age International.</a:t>
            </a:r>
          </a:p>
          <a:p>
            <a:pPr marL="0" indent="0" algn="just">
              <a:spcBef>
                <a:spcPts val="100"/>
              </a:spcBef>
              <a:buFont typeface="Arial" pitchFamily="34" charset="0"/>
              <a:buNone/>
            </a:pPr>
            <a:endParaRPr lang="en-US" sz="2000" b="1" spc="-5">
              <a:latin typeface="+mj-lt"/>
              <a:cs typeface="Calibri"/>
            </a:endParaRPr>
          </a:p>
          <a:p>
            <a:pPr marL="0" indent="0" algn="just">
              <a:spcBef>
                <a:spcPts val="100"/>
              </a:spcBef>
              <a:buFont typeface="Arial" pitchFamily="34" charset="0"/>
              <a:buNone/>
            </a:pPr>
            <a:r>
              <a:rPr lang="en-US" sz="2000" b="1" spc="-5">
                <a:latin typeface="+mj-lt"/>
                <a:cs typeface="Calibri"/>
              </a:rPr>
              <a:t>REFERENCES:</a:t>
            </a:r>
          </a:p>
          <a:p>
            <a:pPr algn="just"/>
            <a:r>
              <a:rPr lang="en-US" sz="2000" spc="-5">
                <a:latin typeface="+mj-lt"/>
                <a:cs typeface="Calibri"/>
              </a:rPr>
              <a:t>(1.) Ivan Bayross,”HTML, DHTML, JavaScript,Perl &amp; CGI”, BPB Publication.</a:t>
            </a:r>
          </a:p>
          <a:p>
            <a:pPr algn="just"/>
            <a:r>
              <a:rPr lang="en-US" sz="2000" spc="-5">
                <a:latin typeface="+mj-lt"/>
                <a:cs typeface="Calibri"/>
              </a:rPr>
              <a:t>(2.) Developing Web Applications, Ralph Moseley and M.T. Savaliya, Wiley-India</a:t>
            </a:r>
          </a:p>
          <a:p>
            <a:pPr algn="just"/>
            <a:r>
              <a:rPr lang="en-US" sz="2000" spc="-5">
                <a:latin typeface="+mj-lt"/>
                <a:cs typeface="Calibri"/>
              </a:rPr>
              <a:t>(3.) Developing Web Applications in PHP and AJAX, Harwani, McGraw Hill.</a:t>
            </a:r>
            <a:endParaRPr lang="en-US" sz="2400" b="1">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ndParaRPr>
          </a:p>
          <a:p>
            <a:pPr algn="ctr">
              <a:buFont typeface="Arial" pitchFamily="34" charset="0"/>
              <a:buNone/>
            </a:pPr>
            <a:r>
              <a:rPr lang="en-US" sz="2400" b="1">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		</a:t>
            </a:r>
            <a:endParaRPr lang="en-US" sz="2400"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ndParaRPr>
          </a:p>
        </p:txBody>
      </p:sp>
    </p:spTree>
    <p:extLst>
      <p:ext uri="{BB962C8B-B14F-4D97-AF65-F5344CB8AC3E}">
        <p14:creationId xmlns:p14="http://schemas.microsoft.com/office/powerpoint/2010/main" val="3609923340"/>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E73A3019-CFE4-49DD-B6FD-2AFB2DD2DBB6}" type="datetime1">
              <a:rPr lang="en-US" smtClean="0"/>
              <a:t>11/7/2024</a:t>
            </a:fld>
            <a:endParaRPr lang="en-US"/>
          </a:p>
        </p:txBody>
      </p:sp>
      <p:sp>
        <p:nvSpPr>
          <p:cNvPr id="5" name="Footer Placeholder 4"/>
          <p:cNvSpPr>
            <a:spLocks noGrp="1"/>
          </p:cNvSpPr>
          <p:nvPr>
            <p:ph type="ftr" sz="quarter" idx="11"/>
          </p:nvPr>
        </p:nvSpPr>
        <p:spPr>
          <a:xfrm>
            <a:off x="4343400" y="6248401"/>
            <a:ext cx="4724400" cy="365125"/>
          </a:xfrm>
        </p:spPr>
        <p:txBody>
          <a:bodyPr/>
          <a:lstStyle/>
          <a:p>
            <a:r>
              <a:rPr lang="en-US" dirty="0"/>
              <a:t>Vaishali Mishra            ACSE0505 Web Technology                Unit 5</a:t>
            </a:r>
          </a:p>
        </p:txBody>
      </p:sp>
      <p:sp>
        <p:nvSpPr>
          <p:cNvPr id="6" name="Slide Number Placeholder 5"/>
          <p:cNvSpPr>
            <a:spLocks noGrp="1"/>
          </p:cNvSpPr>
          <p:nvPr>
            <p:ph type="sldNum" sz="quarter" idx="12"/>
          </p:nvPr>
        </p:nvSpPr>
        <p:spPr/>
        <p:txBody>
          <a:bodyPr/>
          <a:lstStyle/>
          <a:p>
            <a:fld id="{B6F15528-21DE-4FAA-801E-634DDDAF4B2B}" type="slidenum">
              <a:rPr lang="en-US" smtClean="0"/>
              <a:pPr/>
              <a:t>122</a:t>
            </a:fld>
            <a:endParaRPr lang="en-US"/>
          </a:p>
        </p:txBody>
      </p:sp>
      <p:sp>
        <p:nvSpPr>
          <p:cNvPr id="7" name="Title 1"/>
          <p:cNvSpPr txBox="1">
            <a:spLocks/>
          </p:cNvSpPr>
          <p:nvPr/>
        </p:nvSpPr>
        <p:spPr>
          <a:xfrm>
            <a:off x="2895600" y="2"/>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pPr>
              <a:defRPr/>
            </a:pPr>
            <a:endParaRPr lang="en-IN" sz="2800" dirty="0"/>
          </a:p>
          <a:p>
            <a:pPr>
              <a:defRPr/>
            </a:pPr>
            <a:endParaRPr lang="en-IN" dirty="0"/>
          </a:p>
          <a:p>
            <a:pPr algn="ctr">
              <a:defRPr/>
            </a:pPr>
            <a:endParaRPr lang="en-US" sz="2800" dirty="0">
              <a:latin typeface="Times New Roman" pitchFamily="18" charset="0"/>
              <a:cs typeface="Times New Roman" pitchFamily="18" charset="0"/>
              <a:sym typeface="Arial" charset="0"/>
            </a:endParaRPr>
          </a:p>
        </p:txBody>
      </p:sp>
      <p:pic>
        <p:nvPicPr>
          <p:cNvPr id="2" name="Picture 1" descr="A black and red logo&#10;&#10;Description automatically generated">
            <a:extLst>
              <a:ext uri="{FF2B5EF4-FFF2-40B4-BE49-F238E27FC236}">
                <a16:creationId xmlns:a16="http://schemas.microsoft.com/office/drawing/2014/main" id="{8BDB0671-FC93-5C9E-75A2-ED46EE3FB8B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8" name="Content Placeholder 1">
            <a:extLst>
              <a:ext uri="{FF2B5EF4-FFF2-40B4-BE49-F238E27FC236}">
                <a16:creationId xmlns:a16="http://schemas.microsoft.com/office/drawing/2014/main" id="{1FF5ADF0-474C-251F-0E40-267B658E504A}"/>
              </a:ext>
            </a:extLst>
          </p:cNvPr>
          <p:cNvSpPr txBox="1">
            <a:spLocks noGrp="1"/>
          </p:cNvSpPr>
          <p:nvPr>
            <p:ph idx="1"/>
          </p:nvPr>
        </p:nvSpPr>
        <p:spPr>
          <a:xfrm>
            <a:off x="609600" y="1219200"/>
            <a:ext cx="10515600" cy="4449763"/>
          </a:xfrm>
        </p:spPr>
        <p:txBody>
          <a:bodyPr/>
          <a:lstStyle/>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sz="2000" b="1" dirty="0">
              <a:latin typeface="Arial" panose="020B0604020202020204" pitchFamily="34" charset="0"/>
              <a:cs typeface="Arial" panose="020B0604020202020204" pitchFamily="34" charset="0"/>
            </a:endParaRPr>
          </a:p>
          <a:p>
            <a:pPr marL="0" indent="0" algn="ctr">
              <a:spcBef>
                <a:spcPts val="363"/>
              </a:spcBef>
              <a:spcAft>
                <a:spcPct val="0"/>
              </a:spcAft>
              <a:buClr>
                <a:srgbClr val="000000"/>
              </a:buClr>
              <a:buFont typeface="Arial" panose="020B0604020202020204" pitchFamily="34" charset="0"/>
              <a:buNone/>
            </a:pPr>
            <a:r>
              <a:rPr lang="en-US" sz="2000" b="1" dirty="0">
                <a:solidFill>
                  <a:schemeClr val="accent2">
                    <a:lumMod val="60000"/>
                    <a:lumOff val="40000"/>
                  </a:schemeClr>
                </a:solidFill>
                <a:latin typeface="Calibri (Body)"/>
              </a:rPr>
              <a:t>THANKYOU</a:t>
            </a:r>
            <a:endParaRPr lang="en-IN" sz="2000" b="1" dirty="0">
              <a:solidFill>
                <a:schemeClr val="accent2">
                  <a:lumMod val="60000"/>
                  <a:lumOff val="4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77974103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2159</TotalTime>
  <Words>10591</Words>
  <Application>Microsoft Office PowerPoint</Application>
  <PresentationFormat>Widescreen</PresentationFormat>
  <Paragraphs>2110</Paragraphs>
  <Slides>122</Slides>
  <Notes>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122</vt:i4>
      </vt:variant>
    </vt:vector>
  </HeadingPairs>
  <TitlesOfParts>
    <vt:vector size="129" baseType="lpstr">
      <vt:lpstr>Arial</vt:lpstr>
      <vt:lpstr>Calibri</vt:lpstr>
      <vt:lpstr>Calibri (Body)</vt:lpstr>
      <vt:lpstr>Open Sans</vt:lpstr>
      <vt:lpstr>Times New Roman</vt:lpstr>
      <vt:lpstr>Wingdings</vt:lpstr>
      <vt:lpstr>Office Theme</vt:lpstr>
      <vt:lpstr>Noida Institute of Engineering and Technology, Greater Noida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Manks</dc:creator>
  <cp:lastModifiedBy>vaishali Mishra</cp:lastModifiedBy>
  <cp:revision>91</cp:revision>
  <dcterms:created xsi:type="dcterms:W3CDTF">2006-08-16T00:00:00Z</dcterms:created>
  <dcterms:modified xsi:type="dcterms:W3CDTF">2024-11-07T15:19:36Z</dcterms:modified>
</cp:coreProperties>
</file>