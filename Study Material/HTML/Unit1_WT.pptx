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06"/>
  </p:notesMasterIdLst>
  <p:handoutMasterIdLst>
    <p:handoutMasterId r:id="rId107"/>
  </p:handoutMasterIdLst>
  <p:sldIdLst>
    <p:sldId id="256" r:id="rId3"/>
    <p:sldId id="402" r:id="rId4"/>
    <p:sldId id="257" r:id="rId5"/>
    <p:sldId id="296" r:id="rId6"/>
    <p:sldId id="297" r:id="rId7"/>
    <p:sldId id="298" r:id="rId8"/>
    <p:sldId id="300" r:id="rId9"/>
    <p:sldId id="288" r:id="rId10"/>
    <p:sldId id="299" r:id="rId11"/>
    <p:sldId id="301" r:id="rId12"/>
    <p:sldId id="302" r:id="rId13"/>
    <p:sldId id="303" r:id="rId14"/>
    <p:sldId id="304" r:id="rId15"/>
    <p:sldId id="305" r:id="rId16"/>
    <p:sldId id="306" r:id="rId17"/>
    <p:sldId id="307" r:id="rId18"/>
    <p:sldId id="308" r:id="rId19"/>
    <p:sldId id="403" r:id="rId20"/>
    <p:sldId id="310" r:id="rId21"/>
    <p:sldId id="309" r:id="rId22"/>
    <p:sldId id="311" r:id="rId23"/>
    <p:sldId id="313" r:id="rId24"/>
    <p:sldId id="314" r:id="rId25"/>
    <p:sldId id="315" r:id="rId26"/>
    <p:sldId id="316" r:id="rId27"/>
    <p:sldId id="317" r:id="rId28"/>
    <p:sldId id="318" r:id="rId29"/>
    <p:sldId id="283" r:id="rId30"/>
    <p:sldId id="284" r:id="rId31"/>
    <p:sldId id="319" r:id="rId32"/>
    <p:sldId id="320" r:id="rId33"/>
    <p:sldId id="321" r:id="rId34"/>
    <p:sldId id="331" r:id="rId35"/>
    <p:sldId id="332" r:id="rId36"/>
    <p:sldId id="334" r:id="rId37"/>
    <p:sldId id="335" r:id="rId38"/>
    <p:sldId id="336" r:id="rId39"/>
    <p:sldId id="337" r:id="rId40"/>
    <p:sldId id="338" r:id="rId41"/>
    <p:sldId id="339" r:id="rId42"/>
    <p:sldId id="340" r:id="rId43"/>
    <p:sldId id="341" r:id="rId44"/>
    <p:sldId id="342" r:id="rId45"/>
    <p:sldId id="343" r:id="rId46"/>
    <p:sldId id="344" r:id="rId47"/>
    <p:sldId id="333" r:id="rId48"/>
    <p:sldId id="345" r:id="rId49"/>
    <p:sldId id="346" r:id="rId50"/>
    <p:sldId id="347" r:id="rId51"/>
    <p:sldId id="348" r:id="rId52"/>
    <p:sldId id="349" r:id="rId53"/>
    <p:sldId id="350" r:id="rId54"/>
    <p:sldId id="351" r:id="rId55"/>
    <p:sldId id="352" r:id="rId56"/>
    <p:sldId id="353" r:id="rId57"/>
    <p:sldId id="354" r:id="rId58"/>
    <p:sldId id="356" r:id="rId59"/>
    <p:sldId id="357" r:id="rId60"/>
    <p:sldId id="358" r:id="rId61"/>
    <p:sldId id="359" r:id="rId62"/>
    <p:sldId id="360" r:id="rId63"/>
    <p:sldId id="361" r:id="rId64"/>
    <p:sldId id="362" r:id="rId65"/>
    <p:sldId id="363" r:id="rId66"/>
    <p:sldId id="364" r:id="rId67"/>
    <p:sldId id="365" r:id="rId68"/>
    <p:sldId id="355" r:id="rId69"/>
    <p:sldId id="366" r:id="rId70"/>
    <p:sldId id="367" r:id="rId71"/>
    <p:sldId id="368" r:id="rId72"/>
    <p:sldId id="369" r:id="rId73"/>
    <p:sldId id="370" r:id="rId74"/>
    <p:sldId id="371" r:id="rId75"/>
    <p:sldId id="373" r:id="rId76"/>
    <p:sldId id="374" r:id="rId77"/>
    <p:sldId id="375" r:id="rId78"/>
    <p:sldId id="376" r:id="rId79"/>
    <p:sldId id="372" r:id="rId80"/>
    <p:sldId id="378" r:id="rId81"/>
    <p:sldId id="379" r:id="rId82"/>
    <p:sldId id="380" r:id="rId83"/>
    <p:sldId id="381" r:id="rId84"/>
    <p:sldId id="382" r:id="rId85"/>
    <p:sldId id="383" r:id="rId86"/>
    <p:sldId id="384" r:id="rId87"/>
    <p:sldId id="385" r:id="rId88"/>
    <p:sldId id="386" r:id="rId89"/>
    <p:sldId id="387" r:id="rId90"/>
    <p:sldId id="377" r:id="rId91"/>
    <p:sldId id="388" r:id="rId92"/>
    <p:sldId id="389" r:id="rId93"/>
    <p:sldId id="390" r:id="rId94"/>
    <p:sldId id="391" r:id="rId95"/>
    <p:sldId id="392" r:id="rId96"/>
    <p:sldId id="393" r:id="rId97"/>
    <p:sldId id="394" r:id="rId98"/>
    <p:sldId id="395" r:id="rId99"/>
    <p:sldId id="396" r:id="rId100"/>
    <p:sldId id="398" r:id="rId101"/>
    <p:sldId id="399" r:id="rId102"/>
    <p:sldId id="397" r:id="rId103"/>
    <p:sldId id="400" r:id="rId104"/>
    <p:sldId id="401" r:id="rId1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09" autoAdjust="0"/>
    <p:restoredTop sz="94660"/>
  </p:normalViewPr>
  <p:slideViewPr>
    <p:cSldViewPr showGuides="1">
      <p:cViewPr varScale="1">
        <p:scale>
          <a:sx n="78" d="100"/>
          <a:sy n="78" d="100"/>
        </p:scale>
        <p:origin x="854" y="62"/>
      </p:cViewPr>
      <p:guideLst>
        <p:guide orient="horz" pos="2160"/>
        <p:guide pos="3832"/>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5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handoutMaster" Target="handoutMasters/handoutMaster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presProps" Target="pres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viewProps" Target="view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t>11/7/2024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t>11/7/2024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C4AAF-8B41-CB44-1D47-5A26086F1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D5D83-9D30-261A-D006-4876A799D59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5DA5844-7B95-0F80-DA74-1328619828AA}"/>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1E9AB679-FDB3-A664-B7BF-C79844177A63}"/>
              </a:ext>
            </a:extLst>
          </p:cNvPr>
          <p:cNvSpPr>
            <a:spLocks noGrp="1"/>
          </p:cNvSpPr>
          <p:nvPr>
            <p:ph type="sldNum" sz="quarter" idx="10"/>
          </p:nvPr>
        </p:nvSpPr>
        <p:spPr/>
        <p:txBody>
          <a:bodyPr/>
          <a:lstStyle/>
          <a:p>
            <a:fld id="{1635F52E-BA8C-4FAB-BCFA-C67A14D9CE22}" type="slidenum">
              <a:rPr lang="en-US" smtClean="0"/>
              <a:t>2</a:t>
            </a:fld>
            <a:endParaRPr lang="en-US"/>
          </a:p>
        </p:txBody>
      </p:sp>
    </p:spTree>
    <p:extLst>
      <p:ext uri="{BB962C8B-B14F-4D97-AF65-F5344CB8AC3E}">
        <p14:creationId xmlns:p14="http://schemas.microsoft.com/office/powerpoint/2010/main" val="2325188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27F877E-E541-4CF0-9C5D-FE57091354DE}"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B5DF74-0636-4B7E-B688-C92430C532AB}"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025AD-8303-4818-AEF8-2F555F93C3DE}"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54C25C0-26E4-4740-A3C1-76DEBB26CA39}" type="datetime1">
              <a:rPr lang="en-US" smtClean="0"/>
              <a:t>11/7/2024</a:t>
            </a:fld>
            <a:endParaRPr lang="en-US"/>
          </a:p>
        </p:txBody>
      </p:sp>
      <p:sp>
        <p:nvSpPr>
          <p:cNvPr id="6" name="Footer Placeholder 5"/>
          <p:cNvSpPr>
            <a:spLocks noGrp="1"/>
          </p:cNvSpPr>
          <p:nvPr>
            <p:ph type="ftr" sz="quarter" idx="11"/>
          </p:nvPr>
        </p:nvSpPr>
        <p:spPr/>
        <p:txBody>
          <a:bodyPr/>
          <a:lstStyle/>
          <a:p>
            <a:r>
              <a:rPr lang="en-US"/>
              <a:t>Vaishali Mishra             WT                 UNIT 1</a:t>
            </a:r>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28002D-C390-4C4A-A039-214EA62E0C17}" type="datetime1">
              <a:rPr lang="en-US" smtClean="0"/>
              <a:t>11/7/2024</a:t>
            </a:fld>
            <a:endParaRPr lang="en-US"/>
          </a:p>
        </p:txBody>
      </p:sp>
      <p:sp>
        <p:nvSpPr>
          <p:cNvPr id="8" name="Footer Placeholder 7"/>
          <p:cNvSpPr>
            <a:spLocks noGrp="1"/>
          </p:cNvSpPr>
          <p:nvPr>
            <p:ph type="ftr" sz="quarter" idx="11"/>
          </p:nvPr>
        </p:nvSpPr>
        <p:spPr/>
        <p:txBody>
          <a:bodyPr/>
          <a:lstStyle/>
          <a:p>
            <a:r>
              <a:rPr lang="en-US"/>
              <a:t>Vaishali Mishra             WT                 UNIT 1</a:t>
            </a:r>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5104E6-E2C5-4135-B66B-A5DEB5F30595}" type="datetime1">
              <a:rPr lang="en-US" smtClean="0"/>
              <a:t>11/7/2024</a:t>
            </a:fld>
            <a:endParaRPr lang="en-US"/>
          </a:p>
        </p:txBody>
      </p:sp>
      <p:sp>
        <p:nvSpPr>
          <p:cNvPr id="4" name="Footer Placeholder 3"/>
          <p:cNvSpPr>
            <a:spLocks noGrp="1"/>
          </p:cNvSpPr>
          <p:nvPr>
            <p:ph type="ftr" sz="quarter" idx="11"/>
          </p:nvPr>
        </p:nvSpPr>
        <p:spPr/>
        <p:txBody>
          <a:bodyPr/>
          <a:lstStyle/>
          <a:p>
            <a:r>
              <a:rPr lang="en-US"/>
              <a:t>Vaishali Mishra             WT                 UNIT 1</a:t>
            </a:r>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CE66EB-B766-47B3-AD84-E2DC940F14AD}" type="datetime1">
              <a:rPr lang="en-US" smtClean="0"/>
              <a:t>11/7/2024</a:t>
            </a:fld>
            <a:endParaRPr lang="en-US"/>
          </a:p>
        </p:txBody>
      </p:sp>
      <p:sp>
        <p:nvSpPr>
          <p:cNvPr id="3" name="Footer Placeholder 2"/>
          <p:cNvSpPr>
            <a:spLocks noGrp="1"/>
          </p:cNvSpPr>
          <p:nvPr>
            <p:ph type="ftr" sz="quarter" idx="11"/>
          </p:nvPr>
        </p:nvSpPr>
        <p:spPr/>
        <p:txBody>
          <a:bodyPr/>
          <a:lstStyle/>
          <a:p>
            <a:r>
              <a:rPr lang="en-US"/>
              <a:t>Vaishali Mishra             WT                 UNIT 1</a:t>
            </a:r>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ABB209-01F0-42DB-9CDF-2CFB9507E1FD}" type="datetime1">
              <a:rPr lang="en-US" smtClean="0"/>
              <a:t>11/7/2024</a:t>
            </a:fld>
            <a:endParaRPr lang="en-US"/>
          </a:p>
        </p:txBody>
      </p:sp>
      <p:sp>
        <p:nvSpPr>
          <p:cNvPr id="6" name="Footer Placeholder 5"/>
          <p:cNvSpPr>
            <a:spLocks noGrp="1"/>
          </p:cNvSpPr>
          <p:nvPr>
            <p:ph type="ftr" sz="quarter" idx="11"/>
          </p:nvPr>
        </p:nvSpPr>
        <p:spPr/>
        <p:txBody>
          <a:bodyPr/>
          <a:lstStyle/>
          <a:p>
            <a:r>
              <a:rPr lang="en-US"/>
              <a:t>Vaishali Mishra             WT                 UNIT 1</a:t>
            </a:r>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3CF176-075F-4090-8288-838FFA053F00}" type="datetime1">
              <a:rPr lang="en-US" smtClean="0"/>
              <a:t>11/7/2024</a:t>
            </a:fld>
            <a:endParaRPr lang="en-US"/>
          </a:p>
        </p:txBody>
      </p:sp>
      <p:sp>
        <p:nvSpPr>
          <p:cNvPr id="6" name="Footer Placeholder 5"/>
          <p:cNvSpPr>
            <a:spLocks noGrp="1"/>
          </p:cNvSpPr>
          <p:nvPr>
            <p:ph type="ftr" sz="quarter" idx="11"/>
          </p:nvPr>
        </p:nvSpPr>
        <p:spPr/>
        <p:txBody>
          <a:bodyPr/>
          <a:lstStyle/>
          <a:p>
            <a:r>
              <a:rPr lang="en-US"/>
              <a:t>Vaishali Mishra             WT                 UNIT 1</a:t>
            </a:r>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0E4FAD-F1CD-4000-9E76-3E09B5117EC1}"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0F47AA-C66A-44B6-992B-77E30688C2B4}"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27F877E-E541-4CF0-9C5D-FE57091354DE}"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B5DF74-0636-4B7E-B688-C92430C532AB}"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025AD-8303-4818-AEF8-2F555F93C3DE}"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54C25C0-26E4-4740-A3C1-76DEBB26CA39}" type="datetime1">
              <a:rPr lang="en-US" smtClean="0"/>
              <a:t>11/7/2024</a:t>
            </a:fld>
            <a:endParaRPr lang="en-US"/>
          </a:p>
        </p:txBody>
      </p:sp>
      <p:sp>
        <p:nvSpPr>
          <p:cNvPr id="6" name="Footer Placeholder 5"/>
          <p:cNvSpPr>
            <a:spLocks noGrp="1"/>
          </p:cNvSpPr>
          <p:nvPr>
            <p:ph type="ftr" sz="quarter" idx="11"/>
          </p:nvPr>
        </p:nvSpPr>
        <p:spPr/>
        <p:txBody>
          <a:bodyPr/>
          <a:lstStyle/>
          <a:p>
            <a:r>
              <a:rPr lang="en-US"/>
              <a:t>Vaishali Mishra             WT                 UNIT 1</a:t>
            </a:r>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28002D-C390-4C4A-A039-214EA62E0C17}" type="datetime1">
              <a:rPr lang="en-US" smtClean="0"/>
              <a:t>11/7/2024</a:t>
            </a:fld>
            <a:endParaRPr lang="en-US"/>
          </a:p>
        </p:txBody>
      </p:sp>
      <p:sp>
        <p:nvSpPr>
          <p:cNvPr id="8" name="Footer Placeholder 7"/>
          <p:cNvSpPr>
            <a:spLocks noGrp="1"/>
          </p:cNvSpPr>
          <p:nvPr>
            <p:ph type="ftr" sz="quarter" idx="11"/>
          </p:nvPr>
        </p:nvSpPr>
        <p:spPr/>
        <p:txBody>
          <a:bodyPr/>
          <a:lstStyle/>
          <a:p>
            <a:r>
              <a:rPr lang="en-US"/>
              <a:t>Vaishali Mishra             WT                 UNIT 1</a:t>
            </a:r>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5104E6-E2C5-4135-B66B-A5DEB5F30595}" type="datetime1">
              <a:rPr lang="en-US" smtClean="0"/>
              <a:t>11/7/2024</a:t>
            </a:fld>
            <a:endParaRPr lang="en-US"/>
          </a:p>
        </p:txBody>
      </p:sp>
      <p:sp>
        <p:nvSpPr>
          <p:cNvPr id="4" name="Footer Placeholder 3"/>
          <p:cNvSpPr>
            <a:spLocks noGrp="1"/>
          </p:cNvSpPr>
          <p:nvPr>
            <p:ph type="ftr" sz="quarter" idx="11"/>
          </p:nvPr>
        </p:nvSpPr>
        <p:spPr/>
        <p:txBody>
          <a:bodyPr/>
          <a:lstStyle/>
          <a:p>
            <a:r>
              <a:rPr lang="en-US"/>
              <a:t>Vaishali Mishra             WT                 UNIT 1</a:t>
            </a:r>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CE66EB-B766-47B3-AD84-E2DC940F14AD}" type="datetime1">
              <a:rPr lang="en-US" smtClean="0"/>
              <a:t>11/7/2024</a:t>
            </a:fld>
            <a:endParaRPr lang="en-US"/>
          </a:p>
        </p:txBody>
      </p:sp>
      <p:sp>
        <p:nvSpPr>
          <p:cNvPr id="3" name="Footer Placeholder 2"/>
          <p:cNvSpPr>
            <a:spLocks noGrp="1"/>
          </p:cNvSpPr>
          <p:nvPr>
            <p:ph type="ftr" sz="quarter" idx="11"/>
          </p:nvPr>
        </p:nvSpPr>
        <p:spPr/>
        <p:txBody>
          <a:bodyPr/>
          <a:lstStyle/>
          <a:p>
            <a:r>
              <a:rPr lang="en-US"/>
              <a:t>Vaishali Mishra             WT                 UNIT 1</a:t>
            </a:r>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ABB209-01F0-42DB-9CDF-2CFB9507E1FD}" type="datetime1">
              <a:rPr lang="en-US" smtClean="0"/>
              <a:t>11/7/2024</a:t>
            </a:fld>
            <a:endParaRPr lang="en-US"/>
          </a:p>
        </p:txBody>
      </p:sp>
      <p:sp>
        <p:nvSpPr>
          <p:cNvPr id="6" name="Footer Placeholder 5"/>
          <p:cNvSpPr>
            <a:spLocks noGrp="1"/>
          </p:cNvSpPr>
          <p:nvPr>
            <p:ph type="ftr" sz="quarter" idx="11"/>
          </p:nvPr>
        </p:nvSpPr>
        <p:spPr/>
        <p:txBody>
          <a:bodyPr/>
          <a:lstStyle/>
          <a:p>
            <a:r>
              <a:rPr lang="en-US"/>
              <a:t>Vaishali Mishra             WT                 UNIT 1</a:t>
            </a:r>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3CF176-075F-4090-8288-838FFA053F00}" type="datetime1">
              <a:rPr lang="en-US" smtClean="0"/>
              <a:t>11/7/2024</a:t>
            </a:fld>
            <a:endParaRPr lang="en-US"/>
          </a:p>
        </p:txBody>
      </p:sp>
      <p:sp>
        <p:nvSpPr>
          <p:cNvPr id="6" name="Footer Placeholder 5"/>
          <p:cNvSpPr>
            <a:spLocks noGrp="1"/>
          </p:cNvSpPr>
          <p:nvPr>
            <p:ph type="ftr" sz="quarter" idx="11"/>
          </p:nvPr>
        </p:nvSpPr>
        <p:spPr/>
        <p:txBody>
          <a:bodyPr/>
          <a:lstStyle/>
          <a:p>
            <a:r>
              <a:rPr lang="en-US"/>
              <a:t>Vaishali Mishra             WT                 UNIT 1</a:t>
            </a:r>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0E4FAD-F1CD-4000-9E76-3E09B5117EC1}"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0F47AA-C66A-44B6-992B-77E30688C2B4}"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673F92-5234-4A8B-8DDA-8477AADCC01B}" type="datetime1">
              <a:rPr lang="en-US" smtClean="0"/>
              <a:t>11/7/2024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Vaishali Mishra             WT                 UNIT 1</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673F92-5234-4A8B-8DDA-8477AADCC01B}" type="datetime1">
              <a:rPr lang="en-US" smtClean="0"/>
              <a:t>11/7/2024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Vaishali Mishra             WT                 UNIT 1</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3.jpeg"/><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3.jpe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5.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3.jpeg"/><Relationship Id="rId5" Type="http://schemas.openxmlformats.org/officeDocument/2006/relationships/slideLayout" Target="../slideLayouts/slideLayout15.xml"/><Relationship Id="rId4" Type="http://schemas.openxmlformats.org/officeDocument/2006/relationships/tags" Target="../tags/tag20.xml"/></Relationships>
</file>

<file path=ppt/slides/_rels/slide25.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3.jpeg"/><Relationship Id="rId4"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xfinity.com/hub/internet/internet-speed"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25.xml"/><Relationship Id="rId4" Type="http://schemas.openxmlformats.org/officeDocument/2006/relationships/image" Target="../media/image9.jpeg"/></Relationships>
</file>

<file path=ppt/slides/_rels/slide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0.png"/><Relationship Id="rId4" Type="http://schemas.openxmlformats.org/officeDocument/2006/relationships/image" Target="../media/image3.jpeg"/></Relationships>
</file>

<file path=ppt/slides/_rels/slide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79.xml.rels><?xml version="1.0" encoding="UTF-8" standalone="yes"?>
<Relationships xmlns="http://schemas.openxmlformats.org/package/2006/relationships"><Relationship Id="rId3" Type="http://schemas.openxmlformats.org/officeDocument/2006/relationships/hyperlink" Target="https://www.usability.gov/how-to-and-tools/methods/running-usability-tests.html"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www.usability.gov/how-to-and-tools/methods/reporting-usability-test-results.html" TargetMode="External"/><Relationship Id="rId5" Type="http://schemas.openxmlformats.org/officeDocument/2006/relationships/hyperlink" Target="https://www.usability.gov/how-to-and-tools/methods/recruiting-usability-test-participants.html" TargetMode="External"/><Relationship Id="rId4" Type="http://schemas.openxmlformats.org/officeDocument/2006/relationships/hyperlink" Target="https://www.usability.gov/how-to-and-tools/methods/planning-usability-testing.html" TargetMode="External"/></Relationships>
</file>

<file path=ppt/slides/_rels/slide8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 Id="rId4" Type="http://schemas.openxmlformats.org/officeDocument/2006/relationships/image" Target="../media/image3.jpeg"/></Relationships>
</file>

<file path=ppt/slides/_rels/slide8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11.png"/></Relationships>
</file>

<file path=ppt/slides/_rels/slide9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12.png"/></Relationships>
</file>

<file path=ppt/slides/_rels/slide9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13.png"/></Relationships>
</file>

<file path=ppt/slides/_rels/slide9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image" Target="../media/image14.png"/></Relationships>
</file>

<file path=ppt/slides/_rels/slide9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36.xml"/><Relationship Id="rId4" Type="http://schemas.openxmlformats.org/officeDocument/2006/relationships/image" Target="../media/image15.png"/></Relationships>
</file>

<file path=ppt/slides/_rels/slide9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37.xml"/><Relationship Id="rId4" Type="http://schemas.openxmlformats.org/officeDocument/2006/relationships/image" Target="../media/image16.png"/></Relationships>
</file>

<file path=ppt/slides/_rels/slide9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image" Target="../media/image17.png"/></Relationships>
</file>

<file path=ppt/slides/_rels/slide10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0"/>
            <a:ext cx="9982200" cy="909036"/>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r>
              <a:rPr lang="en-US" sz="2800" dirty="0" err="1"/>
              <a:t>Noida</a:t>
            </a:r>
            <a:r>
              <a:rPr lang="en-US" sz="2800" dirty="0"/>
              <a:t> Institute of Engineering and Technology, Greater </a:t>
            </a:r>
            <a:r>
              <a:rPr lang="en-US" sz="2800" dirty="0" err="1"/>
              <a:t>Noida</a:t>
            </a:r>
            <a:endParaRPr lang="en-US" sz="2800" dirty="0"/>
          </a:p>
        </p:txBody>
      </p:sp>
      <p:sp>
        <p:nvSpPr>
          <p:cNvPr id="3" name="Subtitle 2"/>
          <p:cNvSpPr>
            <a:spLocks noGrp="1"/>
          </p:cNvSpPr>
          <p:nvPr>
            <p:ph type="subTitle" idx="1"/>
          </p:nvPr>
        </p:nvSpPr>
        <p:spPr>
          <a:xfrm>
            <a:off x="1828800" y="1214120"/>
            <a:ext cx="9448800" cy="941070"/>
          </a:xfrm>
          <a:ln>
            <a:solidFill>
              <a:schemeClr val="accent2"/>
            </a:solidFill>
          </a:ln>
        </p:spPr>
        <p:style>
          <a:lnRef idx="2">
            <a:schemeClr val="accent5"/>
          </a:lnRef>
          <a:fillRef idx="1">
            <a:schemeClr val="lt1"/>
          </a:fillRef>
          <a:effectRef idx="0">
            <a:schemeClr val="accent5"/>
          </a:effectRef>
          <a:fontRef idx="minor">
            <a:schemeClr val="dk1"/>
          </a:fontRef>
        </p:style>
        <p:txBody>
          <a:bodyPr>
            <a:normAutofit/>
          </a:bodyPr>
          <a:lstStyle/>
          <a:p>
            <a:pPr marL="0" indent="0" eaLnBrk="1" hangingPunct="1">
              <a:spcBef>
                <a:spcPct val="0"/>
              </a:spcBef>
              <a:spcAft>
                <a:spcPct val="0"/>
              </a:spcAft>
              <a:buClr>
                <a:srgbClr val="000000"/>
              </a:buClr>
            </a:pPr>
            <a:endParaRPr sz="2500" dirty="0">
              <a:solidFill>
                <a:srgbClr val="000000"/>
              </a:solidFill>
              <a:latin typeface="Calibri" panose="020F0502020204030204" charset="0"/>
              <a:ea typeface="Arial" panose="020B0604020202020204"/>
              <a:cs typeface="Calibri" panose="020F0502020204030204" charset="0"/>
              <a:sym typeface="Calibri" panose="020F0502020204030204" charset="0"/>
            </a:endParaRPr>
          </a:p>
          <a:p>
            <a:pPr marL="0" indent="0" eaLnBrk="1" hangingPunct="1">
              <a:spcBef>
                <a:spcPct val="0"/>
              </a:spcBef>
              <a:spcAft>
                <a:spcPct val="0"/>
              </a:spcAft>
              <a:buClr>
                <a:srgbClr val="000000"/>
              </a:buClr>
            </a:pPr>
            <a:r>
              <a:rPr sz="2500" dirty="0">
                <a:solidFill>
                  <a:srgbClr val="000000"/>
                </a:solidFill>
                <a:latin typeface="Calibri" panose="020F0502020204030204" charset="0"/>
                <a:ea typeface="Arial" panose="020B0604020202020204"/>
                <a:cs typeface="Calibri" panose="020F0502020204030204" charset="0"/>
                <a:sym typeface="Calibri" panose="020F0502020204030204" charset="0"/>
              </a:rPr>
              <a:t>I</a:t>
            </a:r>
            <a:r>
              <a:rPr lang="en-US" sz="2500" dirty="0">
                <a:solidFill>
                  <a:srgbClr val="000000"/>
                </a:solidFill>
                <a:latin typeface="Calibri" panose="020F0502020204030204" charset="0"/>
                <a:ea typeface="Arial" panose="020B0604020202020204"/>
                <a:cs typeface="Calibri" panose="020F0502020204030204" charset="0"/>
                <a:sym typeface="Calibri" panose="020F0502020204030204" charset="0"/>
              </a:rPr>
              <a:t>ntroduction</a:t>
            </a:r>
            <a:r>
              <a:rPr sz="2500" dirty="0">
                <a:solidFill>
                  <a:srgbClr val="000000"/>
                </a:solidFill>
                <a:latin typeface="Calibri" panose="020F0502020204030204" charset="0"/>
                <a:ea typeface="Arial" panose="020B0604020202020204"/>
                <a:cs typeface="Calibri" panose="020F0502020204030204" charset="0"/>
                <a:sym typeface="Calibri" panose="020F0502020204030204" charset="0"/>
              </a:rPr>
              <a:t> T</a:t>
            </a:r>
            <a:r>
              <a:rPr lang="en-US" sz="2500" dirty="0">
                <a:solidFill>
                  <a:srgbClr val="000000"/>
                </a:solidFill>
                <a:latin typeface="Calibri" panose="020F0502020204030204" charset="0"/>
                <a:ea typeface="Arial" panose="020B0604020202020204"/>
                <a:cs typeface="Calibri" panose="020F0502020204030204" charset="0"/>
                <a:sym typeface="Calibri" panose="020F0502020204030204" charset="0"/>
              </a:rPr>
              <a:t>o</a:t>
            </a:r>
            <a:r>
              <a:rPr sz="2500" dirty="0">
                <a:solidFill>
                  <a:srgbClr val="000000"/>
                </a:solidFill>
                <a:latin typeface="Calibri" panose="020F0502020204030204" charset="0"/>
                <a:ea typeface="Arial" panose="020B0604020202020204"/>
                <a:cs typeface="Calibri" panose="020F0502020204030204" charset="0"/>
                <a:sym typeface="Calibri" panose="020F0502020204030204" charset="0"/>
              </a:rPr>
              <a:t> Web Technology A</a:t>
            </a:r>
            <a:r>
              <a:rPr lang="en-US" sz="2500" dirty="0">
                <a:solidFill>
                  <a:srgbClr val="000000"/>
                </a:solidFill>
                <a:latin typeface="Calibri" panose="020F0502020204030204" charset="0"/>
                <a:ea typeface="Arial" panose="020B0604020202020204"/>
                <a:cs typeface="Calibri" panose="020F0502020204030204" charset="0"/>
                <a:sym typeface="Calibri" panose="020F0502020204030204" charset="0"/>
              </a:rPr>
              <a:t>nd</a:t>
            </a:r>
            <a:r>
              <a:rPr sz="2500" dirty="0">
                <a:solidFill>
                  <a:srgbClr val="000000"/>
                </a:solidFill>
                <a:latin typeface="Calibri" panose="020F0502020204030204" charset="0"/>
                <a:ea typeface="Arial" panose="020B0604020202020204"/>
                <a:cs typeface="Calibri" panose="020F0502020204030204" charset="0"/>
                <a:sym typeface="Calibri" panose="020F0502020204030204" charset="0"/>
              </a:rPr>
              <a:t> W</a:t>
            </a:r>
            <a:r>
              <a:rPr lang="en-US" sz="2500" dirty="0">
                <a:solidFill>
                  <a:srgbClr val="000000"/>
                </a:solidFill>
                <a:latin typeface="Calibri" panose="020F0502020204030204" charset="0"/>
                <a:ea typeface="Arial" panose="020B0604020202020204"/>
                <a:cs typeface="Calibri" panose="020F0502020204030204" charset="0"/>
                <a:sym typeface="Calibri" panose="020F0502020204030204" charset="0"/>
              </a:rPr>
              <a:t>eb</a:t>
            </a:r>
            <a:r>
              <a:rPr sz="2500" dirty="0">
                <a:solidFill>
                  <a:srgbClr val="000000"/>
                </a:solidFill>
                <a:latin typeface="Calibri" panose="020F0502020204030204" charset="0"/>
                <a:ea typeface="Arial" panose="020B0604020202020204"/>
                <a:cs typeface="Calibri" panose="020F0502020204030204" charset="0"/>
                <a:sym typeface="Calibri" panose="020F0502020204030204" charset="0"/>
              </a:rPr>
              <a:t> H</a:t>
            </a:r>
            <a:r>
              <a:rPr lang="en-US" sz="2500" dirty="0">
                <a:solidFill>
                  <a:srgbClr val="000000"/>
                </a:solidFill>
                <a:latin typeface="Calibri" panose="020F0502020204030204" charset="0"/>
                <a:ea typeface="Arial" panose="020B0604020202020204"/>
                <a:cs typeface="Calibri" panose="020F0502020204030204" charset="0"/>
                <a:sym typeface="Calibri" panose="020F0502020204030204" charset="0"/>
              </a:rPr>
              <a:t>osting</a:t>
            </a:r>
            <a:endParaRPr lang="en-US" sz="2500" dirty="0">
              <a:solidFill>
                <a:schemeClr val="tx1"/>
              </a:solidFill>
            </a:endParaRPr>
          </a:p>
        </p:txBody>
      </p:sp>
      <p:sp>
        <p:nvSpPr>
          <p:cNvPr id="6" name="Subtitle 2"/>
          <p:cNvSpPr txBox="1"/>
          <p:nvPr/>
        </p:nvSpPr>
        <p:spPr>
          <a:xfrm>
            <a:off x="8991600" y="4222750"/>
            <a:ext cx="3048000" cy="17526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rPr>
              <a:t>Vaishali Mishra</a:t>
            </a:r>
          </a:p>
          <a:p>
            <a:pPr algn="ctr">
              <a:spcBef>
                <a:spcPct val="20000"/>
              </a:spcBef>
              <a:defRPr/>
            </a:pPr>
            <a:r>
              <a:rPr lang="en-US" sz="2400" dirty="0">
                <a:solidFill>
                  <a:schemeClr val="tx1"/>
                </a:solidFill>
              </a:rPr>
              <a:t>Assistant Professor</a:t>
            </a:r>
          </a:p>
          <a:p>
            <a:pPr algn="ctr">
              <a:spcBef>
                <a:spcPct val="20000"/>
              </a:spcBef>
              <a:defRPr/>
            </a:pPr>
            <a:r>
              <a:rPr lang="en-US" sz="2400" dirty="0">
                <a:solidFill>
                  <a:schemeClr val="tx1"/>
                </a:solidFill>
              </a:rPr>
              <a:t>CSE Deptt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905000" y="5943600"/>
            <a:ext cx="533400" cy="533400"/>
          </a:xfrm>
          <a:prstGeom prst="rect">
            <a:avLst/>
          </a:prstGeom>
          <a:noFill/>
        </p:spPr>
      </p:pic>
      <p:sp>
        <p:nvSpPr>
          <p:cNvPr id="9" name="Date Placeholder 8"/>
          <p:cNvSpPr>
            <a:spLocks noGrp="1"/>
          </p:cNvSpPr>
          <p:nvPr>
            <p:ph type="dt" sz="half" idx="10"/>
          </p:nvPr>
        </p:nvSpPr>
        <p:spPr>
          <a:xfrm>
            <a:off x="1905000" y="6492876"/>
            <a:ext cx="2133600" cy="365125"/>
          </a:xfrm>
        </p:spPr>
        <p:txBody>
          <a:bodyPr/>
          <a:lstStyle/>
          <a:p>
            <a:fld id="{38801551-5877-4C21-9B34-9746B04ED5CA}" type="datetime1">
              <a:rPr lang="en-US" smtClean="0"/>
              <a:t>11/7/2024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t>1</a:t>
            </a:fld>
            <a:endParaRPr lang="en-US"/>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9677400" y="2508250"/>
            <a:ext cx="1524000" cy="1524000"/>
          </a:xfrm>
          <a:prstGeom prst="rect">
            <a:avLst/>
          </a:prstGeom>
          <a:noFill/>
        </p:spPr>
      </p:pic>
      <p:sp>
        <p:nvSpPr>
          <p:cNvPr id="12" name="Subtitle 2"/>
          <p:cNvSpPr txBox="1"/>
          <p:nvPr/>
        </p:nvSpPr>
        <p:spPr>
          <a:xfrm>
            <a:off x="381000" y="2895600"/>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1</a:t>
            </a:r>
          </a:p>
        </p:txBody>
      </p:sp>
      <p:sp>
        <p:nvSpPr>
          <p:cNvPr id="13" name="Footer Placeholder 12"/>
          <p:cNvSpPr>
            <a:spLocks noGrp="1"/>
          </p:cNvSpPr>
          <p:nvPr>
            <p:ph type="ftr" sz="quarter" idx="11"/>
          </p:nvPr>
        </p:nvSpPr>
        <p:spPr>
          <a:xfrm>
            <a:off x="3810000" y="6248401"/>
            <a:ext cx="5029200" cy="365125"/>
          </a:xfrm>
        </p:spPr>
        <p:txBody>
          <a:bodyPr/>
          <a:lstStyle/>
          <a:p>
            <a:r>
              <a:rPr lang="en-US" dirty="0"/>
              <a:t>Vaishali Mishra             WT                 UNIT 1</a:t>
            </a:r>
          </a:p>
        </p:txBody>
      </p:sp>
      <p:sp>
        <p:nvSpPr>
          <p:cNvPr id="14" name="Subtitle 2"/>
          <p:cNvSpPr txBox="1"/>
          <p:nvPr/>
        </p:nvSpPr>
        <p:spPr>
          <a:xfrm>
            <a:off x="341671" y="3749675"/>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Subject Web Technology ACSC0505</a:t>
            </a:r>
          </a:p>
        </p:txBody>
      </p:sp>
      <p:sp>
        <p:nvSpPr>
          <p:cNvPr id="15" name="Subtitle 2"/>
          <p:cNvSpPr txBox="1"/>
          <p:nvPr/>
        </p:nvSpPr>
        <p:spPr>
          <a:xfrm>
            <a:off x="341671" y="4908550"/>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R="0" algn="ctr" defTabSz="914400" eaLnBrk="1" fontAlgn="auto" hangingPunct="1">
              <a:spcBef>
                <a:spcPct val="20000"/>
              </a:spcBef>
              <a:spcAft>
                <a:spcPts val="0"/>
              </a:spcAft>
              <a:buClrTx/>
              <a:buSzTx/>
              <a:buFont typeface="Arial" panose="020B0604020202020204" pitchFamily="34" charset="0"/>
              <a:buNone/>
              <a:defRPr/>
            </a:pPr>
            <a:r>
              <a:rPr lang="en-US" sz="2000" noProof="0" dirty="0">
                <a:solidFill>
                  <a:srgbClr val="000000"/>
                </a:solidFill>
                <a:latin typeface="Calibri" panose="020F0502020204030204" charset="0"/>
                <a:cs typeface="Calibri" panose="020F0502020204030204" charset="0"/>
                <a:sym typeface="Arial" panose="020B0604020202020204" pitchFamily="34" charset="0"/>
              </a:rPr>
              <a:t>Course Details</a:t>
            </a:r>
            <a:br>
              <a:rPr lang="en-US" sz="2000" noProof="0" dirty="0">
                <a:solidFill>
                  <a:srgbClr val="000000"/>
                </a:solidFill>
                <a:latin typeface="Calibri" panose="020F0502020204030204" charset="0"/>
                <a:cs typeface="Calibri" panose="020F0502020204030204" charset="0"/>
                <a:sym typeface="Arial" panose="020B0604020202020204" pitchFamily="34" charset="0"/>
              </a:rPr>
            </a:br>
            <a:r>
              <a:rPr lang="en-US" sz="2000" noProof="0" dirty="0">
                <a:solidFill>
                  <a:srgbClr val="000000"/>
                </a:solidFill>
                <a:latin typeface="Calibri" panose="020F0502020204030204" charset="0"/>
                <a:cs typeface="Calibri" panose="020F0502020204030204" charset="0"/>
                <a:sym typeface="Arial" panose="020B0604020202020204" pitchFamily="34" charset="0"/>
              </a:rPr>
              <a:t>(B Tech. 5</a:t>
            </a:r>
            <a:r>
              <a:rPr lang="en-US" sz="2000" baseline="30000" noProof="0" dirty="0">
                <a:solidFill>
                  <a:srgbClr val="000000"/>
                </a:solidFill>
                <a:latin typeface="Calibri" panose="020F0502020204030204" charset="0"/>
                <a:cs typeface="Calibri" panose="020F0502020204030204" charset="0"/>
                <a:sym typeface="Arial" panose="020B0604020202020204" pitchFamily="34" charset="0"/>
              </a:rPr>
              <a:t>th</a:t>
            </a:r>
            <a:r>
              <a:rPr lang="en-US" sz="2000" noProof="0" dirty="0">
                <a:solidFill>
                  <a:srgbClr val="000000"/>
                </a:solidFill>
                <a:latin typeface="Calibri" panose="020F0502020204030204" charset="0"/>
                <a:cs typeface="Calibri" panose="020F0502020204030204" charset="0"/>
                <a:sym typeface="Arial" panose="020B0604020202020204" pitchFamily="34" charset="0"/>
              </a:rPr>
              <a:t> Sem)</a:t>
            </a:r>
            <a:endParaRPr lang="en-US" sz="2000" dirty="0">
              <a:solidFill>
                <a:schemeClr val="tx1"/>
              </a:solidFill>
            </a:endParaRPr>
          </a:p>
        </p:txBody>
      </p:sp>
      <p:pic>
        <p:nvPicPr>
          <p:cNvPr id="7" name="Picture 6" descr="A black and red logo&#10;&#10;Description automatically generated"/>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5" name="Picture 4">
            <a:extLst>
              <a:ext uri="{FF2B5EF4-FFF2-40B4-BE49-F238E27FC236}">
                <a16:creationId xmlns:a16="http://schemas.microsoft.com/office/drawing/2014/main" id="{49365923-4D35-2D16-4F08-6ABB0CF9914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43103" y="2416175"/>
            <a:ext cx="1905000" cy="1752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DF946-0935-24FB-5586-DFF37DC92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D5A74-6FB3-4AF9-DDE0-E82C03DE576F}"/>
              </a:ext>
            </a:extLst>
          </p:cNvPr>
          <p:cNvSpPr>
            <a:spLocks noGrp="1"/>
          </p:cNvSpPr>
          <p:nvPr>
            <p:ph type="ctrTitle"/>
          </p:nvPr>
        </p:nvSpPr>
        <p:spPr>
          <a:xfrm>
            <a:off x="2209800" y="0"/>
            <a:ext cx="9982200" cy="909036"/>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br>
              <a:rPr lang="en-IN" sz="2800" b="1" dirty="0"/>
            </a:br>
            <a:r>
              <a:rPr lang="en-IN" sz="2800" b="1" dirty="0"/>
              <a:t>Faculty Profile</a:t>
            </a:r>
            <a:br>
              <a:rPr lang="en-IN" sz="2800" b="1" dirty="0"/>
            </a:br>
            <a:endParaRPr lang="en-US" sz="2800" dirty="0"/>
          </a:p>
        </p:txBody>
      </p:sp>
      <p:pic>
        <p:nvPicPr>
          <p:cNvPr id="1027" name="Picture 3" descr="C:\Users\Manks\Downloads\128_calendar-schedule-credit-mortgage-date-512.png">
            <a:extLst>
              <a:ext uri="{FF2B5EF4-FFF2-40B4-BE49-F238E27FC236}">
                <a16:creationId xmlns:a16="http://schemas.microsoft.com/office/drawing/2014/main" id="{99C27B84-1180-9A33-7954-26F9DD04D93F}"/>
              </a:ext>
            </a:extLst>
          </p:cNvPr>
          <p:cNvPicPr>
            <a:picLocks noChangeAspect="1" noChangeArrowheads="1"/>
          </p:cNvPicPr>
          <p:nvPr/>
        </p:nvPicPr>
        <p:blipFill>
          <a:blip r:embed="rId3" cstate="print"/>
          <a:srcRect/>
          <a:stretch>
            <a:fillRect/>
          </a:stretch>
        </p:blipFill>
        <p:spPr bwMode="auto">
          <a:xfrm flipH="1">
            <a:off x="1905000" y="5943600"/>
            <a:ext cx="533400" cy="533400"/>
          </a:xfrm>
          <a:prstGeom prst="rect">
            <a:avLst/>
          </a:prstGeom>
          <a:noFill/>
        </p:spPr>
      </p:pic>
      <p:sp>
        <p:nvSpPr>
          <p:cNvPr id="9" name="Date Placeholder 8">
            <a:extLst>
              <a:ext uri="{FF2B5EF4-FFF2-40B4-BE49-F238E27FC236}">
                <a16:creationId xmlns:a16="http://schemas.microsoft.com/office/drawing/2014/main" id="{2909D7C3-78EE-7F4E-6619-164E7471C147}"/>
              </a:ext>
            </a:extLst>
          </p:cNvPr>
          <p:cNvSpPr>
            <a:spLocks noGrp="1"/>
          </p:cNvSpPr>
          <p:nvPr>
            <p:ph type="dt" sz="half" idx="10"/>
          </p:nvPr>
        </p:nvSpPr>
        <p:spPr>
          <a:xfrm>
            <a:off x="1905000" y="6492876"/>
            <a:ext cx="2133600" cy="365125"/>
          </a:xfrm>
        </p:spPr>
        <p:txBody>
          <a:bodyPr/>
          <a:lstStyle/>
          <a:p>
            <a:fld id="{38801551-5877-4C21-9B34-9746B04ED5CA}" type="datetime1">
              <a:rPr lang="en-US" smtClean="0"/>
              <a:t>11/7/2024</a:t>
            </a:fld>
            <a:endParaRPr lang="en-US" dirty="0"/>
          </a:p>
        </p:txBody>
      </p:sp>
      <p:sp>
        <p:nvSpPr>
          <p:cNvPr id="10" name="Slide Number Placeholder 9">
            <a:extLst>
              <a:ext uri="{FF2B5EF4-FFF2-40B4-BE49-F238E27FC236}">
                <a16:creationId xmlns:a16="http://schemas.microsoft.com/office/drawing/2014/main" id="{34DEFF06-B22F-F38E-9361-9C3AFD355AF0}"/>
              </a:ext>
            </a:extLst>
          </p:cNvPr>
          <p:cNvSpPr>
            <a:spLocks noGrp="1"/>
          </p:cNvSpPr>
          <p:nvPr>
            <p:ph type="sldNum" sz="quarter" idx="12"/>
          </p:nvPr>
        </p:nvSpPr>
        <p:spPr/>
        <p:txBody>
          <a:bodyPr/>
          <a:lstStyle/>
          <a:p>
            <a:fld id="{B6F15528-21DE-4FAA-801E-634DDDAF4B2B}" type="slidenum">
              <a:rPr lang="en-US" smtClean="0"/>
              <a:t>2</a:t>
            </a:fld>
            <a:endParaRPr lang="en-US"/>
          </a:p>
        </p:txBody>
      </p:sp>
      <p:sp>
        <p:nvSpPr>
          <p:cNvPr id="13" name="Footer Placeholder 12">
            <a:extLst>
              <a:ext uri="{FF2B5EF4-FFF2-40B4-BE49-F238E27FC236}">
                <a16:creationId xmlns:a16="http://schemas.microsoft.com/office/drawing/2014/main" id="{D66B12AE-D443-B0B3-B35D-A1ED01B020BF}"/>
              </a:ext>
            </a:extLst>
          </p:cNvPr>
          <p:cNvSpPr>
            <a:spLocks noGrp="1"/>
          </p:cNvSpPr>
          <p:nvPr>
            <p:ph type="ftr" sz="quarter" idx="11"/>
          </p:nvPr>
        </p:nvSpPr>
        <p:spPr>
          <a:xfrm>
            <a:off x="3810000" y="6248401"/>
            <a:ext cx="5029200" cy="365125"/>
          </a:xfrm>
        </p:spPr>
        <p:txBody>
          <a:bodyPr/>
          <a:lstStyle/>
          <a:p>
            <a:r>
              <a:rPr lang="en-US" dirty="0"/>
              <a:t>Vaishali Mishra             WT                 UNIT 1</a:t>
            </a:r>
          </a:p>
        </p:txBody>
      </p:sp>
      <p:pic>
        <p:nvPicPr>
          <p:cNvPr id="7" name="Picture 6" descr="A black and red logo&#10;&#10;Description automatically generated">
            <a:extLst>
              <a:ext uri="{FF2B5EF4-FFF2-40B4-BE49-F238E27FC236}">
                <a16:creationId xmlns:a16="http://schemas.microsoft.com/office/drawing/2014/main" id="{49457398-1BE0-74A4-FE6B-39F4AA3155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5" name="Picture 4">
            <a:extLst>
              <a:ext uri="{FF2B5EF4-FFF2-40B4-BE49-F238E27FC236}">
                <a16:creationId xmlns:a16="http://schemas.microsoft.com/office/drawing/2014/main" id="{A8EDF623-91C3-0321-6177-24F8D20909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01768" y="1889125"/>
            <a:ext cx="1905000" cy="1752600"/>
          </a:xfrm>
          <a:prstGeom prst="rect">
            <a:avLst/>
          </a:prstGeom>
        </p:spPr>
      </p:pic>
      <p:graphicFrame>
        <p:nvGraphicFramePr>
          <p:cNvPr id="19" name="Table 18">
            <a:extLst>
              <a:ext uri="{FF2B5EF4-FFF2-40B4-BE49-F238E27FC236}">
                <a16:creationId xmlns:a16="http://schemas.microsoft.com/office/drawing/2014/main" id="{495FB92D-8A0B-268A-52B1-89CF0AC68504}"/>
              </a:ext>
            </a:extLst>
          </p:cNvPr>
          <p:cNvGraphicFramePr>
            <a:graphicFrameLocks noGrp="1"/>
          </p:cNvGraphicFramePr>
          <p:nvPr>
            <p:extLst>
              <p:ext uri="{D42A27DB-BD31-4B8C-83A1-F6EECF244321}">
                <p14:modId xmlns:p14="http://schemas.microsoft.com/office/powerpoint/2010/main" val="682534394"/>
              </p:ext>
            </p:extLst>
          </p:nvPr>
        </p:nvGraphicFramePr>
        <p:xfrm>
          <a:off x="1981200" y="1981201"/>
          <a:ext cx="5029200" cy="1295398"/>
        </p:xfrm>
        <a:graphic>
          <a:graphicData uri="http://schemas.openxmlformats.org/drawingml/2006/table">
            <a:tbl>
              <a:tblPr firstRow="1" firstCol="1" bandRow="1">
                <a:tableStyleId>{5C22544A-7EE6-4342-B048-85BDC9FD1C3A}</a:tableStyleId>
              </a:tblPr>
              <a:tblGrid>
                <a:gridCol w="1270238">
                  <a:extLst>
                    <a:ext uri="{9D8B030D-6E8A-4147-A177-3AD203B41FA5}">
                      <a16:colId xmlns:a16="http://schemas.microsoft.com/office/drawing/2014/main" val="2388514437"/>
                    </a:ext>
                  </a:extLst>
                </a:gridCol>
                <a:gridCol w="2233325">
                  <a:extLst>
                    <a:ext uri="{9D8B030D-6E8A-4147-A177-3AD203B41FA5}">
                      <a16:colId xmlns:a16="http://schemas.microsoft.com/office/drawing/2014/main" val="4208449999"/>
                    </a:ext>
                  </a:extLst>
                </a:gridCol>
                <a:gridCol w="1525637">
                  <a:extLst>
                    <a:ext uri="{9D8B030D-6E8A-4147-A177-3AD203B41FA5}">
                      <a16:colId xmlns:a16="http://schemas.microsoft.com/office/drawing/2014/main" val="3720504369"/>
                    </a:ext>
                  </a:extLst>
                </a:gridCol>
              </a:tblGrid>
              <a:tr h="655110">
                <a:tc>
                  <a:txBody>
                    <a:bodyPr/>
                    <a:lstStyle/>
                    <a:p>
                      <a:pPr>
                        <a:lnSpc>
                          <a:spcPct val="107000"/>
                        </a:lnSpc>
                        <a:spcAft>
                          <a:spcPts val="800"/>
                        </a:spcAft>
                      </a:pPr>
                      <a:r>
                        <a:rPr lang="en-IN" sz="1100" kern="100">
                          <a:effectLst/>
                        </a:rPr>
                        <a:t>Course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a:effectLst/>
                        </a:rPr>
                        <a:t>Board / University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a:effectLst/>
                        </a:rPr>
                        <a:t>Year Of Passing</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59631475"/>
                  </a:ext>
                </a:extLst>
              </a:tr>
              <a:tr h="320144">
                <a:tc>
                  <a:txBody>
                    <a:bodyPr/>
                    <a:lstStyle/>
                    <a:p>
                      <a:pPr>
                        <a:lnSpc>
                          <a:spcPct val="107000"/>
                        </a:lnSpc>
                        <a:spcAft>
                          <a:spcPts val="800"/>
                        </a:spcAft>
                      </a:pPr>
                      <a:r>
                        <a:rPr lang="en-IN" sz="1100" kern="100">
                          <a:effectLst/>
                        </a:rPr>
                        <a:t>M. Tech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a:effectLst/>
                        </a:rPr>
                        <a:t>GBTU, Lucknow</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a:effectLst/>
                        </a:rPr>
                        <a:t>2009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28638523"/>
                  </a:ext>
                </a:extLst>
              </a:tr>
              <a:tr h="320144">
                <a:tc>
                  <a:txBody>
                    <a:bodyPr/>
                    <a:lstStyle/>
                    <a:p>
                      <a:pPr>
                        <a:lnSpc>
                          <a:spcPct val="107000"/>
                        </a:lnSpc>
                        <a:spcAft>
                          <a:spcPts val="800"/>
                        </a:spcAft>
                      </a:pPr>
                      <a:r>
                        <a:rPr lang="en-IN" sz="1100" kern="100" dirty="0" err="1">
                          <a:effectLst/>
                        </a:rPr>
                        <a:t>B.tech</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a:effectLst/>
                        </a:rPr>
                        <a:t>UPTU, Lucknow</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dirty="0">
                          <a:effectLst/>
                        </a:rPr>
                        <a:t>2013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0129552"/>
                  </a:ext>
                </a:extLst>
              </a:tr>
            </a:tbl>
          </a:graphicData>
        </a:graphic>
      </p:graphicFrame>
      <p:sp>
        <p:nvSpPr>
          <p:cNvPr id="6" name="TextBox 5">
            <a:extLst>
              <a:ext uri="{FF2B5EF4-FFF2-40B4-BE49-F238E27FC236}">
                <a16:creationId xmlns:a16="http://schemas.microsoft.com/office/drawing/2014/main" id="{5A61EC62-B240-71BC-2EBC-67C5BFD74E7B}"/>
              </a:ext>
            </a:extLst>
          </p:cNvPr>
          <p:cNvSpPr txBox="1"/>
          <p:nvPr/>
        </p:nvSpPr>
        <p:spPr>
          <a:xfrm>
            <a:off x="1981200" y="3810000"/>
            <a:ext cx="4876800" cy="1200329"/>
          </a:xfrm>
          <a:prstGeom prst="rect">
            <a:avLst/>
          </a:prstGeom>
          <a:noFill/>
        </p:spPr>
        <p:txBody>
          <a:bodyPr wrap="square" rtlCol="0">
            <a:spAutoFit/>
          </a:bodyPr>
          <a:lstStyle/>
          <a:p>
            <a:r>
              <a:rPr lang="en-US" dirty="0"/>
              <a:t>Experience : 4 years teaching experience</a:t>
            </a:r>
          </a:p>
          <a:p>
            <a:r>
              <a:rPr lang="en-US" dirty="0"/>
              <a:t>Research paper: Published Three international and Two national</a:t>
            </a:r>
          </a:p>
          <a:p>
            <a:r>
              <a:rPr lang="en-US" dirty="0"/>
              <a:t>Areas of interest: Java, SE, DS, Machine Learning</a:t>
            </a:r>
            <a:endParaRPr lang="en-IN" dirty="0"/>
          </a:p>
        </p:txBody>
      </p:sp>
    </p:spTree>
    <p:extLst>
      <p:ext uri="{BB962C8B-B14F-4D97-AF65-F5344CB8AC3E}">
        <p14:creationId xmlns:p14="http://schemas.microsoft.com/office/powerpoint/2010/main" val="426353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1143000"/>
            <a:ext cx="8891905" cy="4526280"/>
          </a:xfrm>
        </p:spPr>
        <p:txBody>
          <a:bodyPr>
            <a:normAutofit/>
          </a:bodyPr>
          <a:lstStyle/>
          <a:p>
            <a:pPr indent="-457200">
              <a:spcBef>
                <a:spcPts val="365"/>
              </a:spcBef>
              <a:spcAft>
                <a:spcPct val="0"/>
              </a:spcAft>
              <a:buClr>
                <a:srgbClr val="000000"/>
              </a:buClr>
              <a:buFont typeface="Arial" panose="020B0604020202020204" pitchFamily="34" charset="0"/>
              <a:buAutoNum type="arabicPeriod"/>
            </a:pPr>
            <a:r>
              <a:rPr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Name of Subject with code, Course and Subject Teacher</a:t>
            </a:r>
          </a:p>
          <a:p>
            <a:pPr indent="-457200">
              <a:spcBef>
                <a:spcPts val="365"/>
              </a:spcBef>
              <a:spcAft>
                <a:spcPct val="0"/>
              </a:spcAft>
              <a:buClr>
                <a:srgbClr val="000000"/>
              </a:buClr>
              <a:buFont typeface="Arial" panose="020B0604020202020204" pitchFamily="34" charset="0"/>
              <a:buAutoNum type="arabicPeriod"/>
            </a:pPr>
            <a:r>
              <a:rPr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Brief Introduction of Faculty member with Photograph</a:t>
            </a:r>
          </a:p>
          <a:p>
            <a:pPr indent="-457200">
              <a:spcBef>
                <a:spcPts val="365"/>
              </a:spcBef>
              <a:spcAft>
                <a:spcPct val="0"/>
              </a:spcAft>
              <a:buClr>
                <a:srgbClr val="000000"/>
              </a:buClr>
              <a:buFont typeface="Arial" panose="020B0604020202020204" pitchFamily="34" charset="0"/>
              <a:buAutoNum type="arabicPeriod"/>
            </a:pPr>
            <a:r>
              <a:rPr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Evaluation Scheme</a:t>
            </a:r>
          </a:p>
          <a:p>
            <a:pPr indent="-457200">
              <a:spcBef>
                <a:spcPts val="365"/>
              </a:spcBef>
              <a:spcAft>
                <a:spcPct val="0"/>
              </a:spcAft>
              <a:buClr>
                <a:srgbClr val="000000"/>
              </a:buClr>
              <a:buFont typeface="Arial" panose="020B0604020202020204" pitchFamily="34" charset="0"/>
              <a:buAutoNum type="arabicPeriod"/>
            </a:pPr>
            <a:r>
              <a:rPr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Subject Syllabus</a:t>
            </a:r>
          </a:p>
          <a:p>
            <a:pPr indent="-457200">
              <a:spcBef>
                <a:spcPts val="365"/>
              </a:spcBef>
              <a:spcAft>
                <a:spcPct val="0"/>
              </a:spcAft>
              <a:buClr>
                <a:srgbClr val="000000"/>
              </a:buClr>
              <a:buFont typeface="Arial" panose="020B0604020202020204" pitchFamily="34" charset="0"/>
              <a:buAutoNum type="arabicPeriod"/>
            </a:pPr>
            <a:r>
              <a:rPr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Branch wise Applications</a:t>
            </a:r>
          </a:p>
          <a:p>
            <a:pPr indent="-457200">
              <a:spcBef>
                <a:spcPts val="365"/>
              </a:spcBef>
              <a:spcAft>
                <a:spcPct val="0"/>
              </a:spcAft>
              <a:buClr>
                <a:srgbClr val="000000"/>
              </a:buClr>
              <a:buFont typeface="Arial" panose="020B0604020202020204" pitchFamily="34" charset="0"/>
              <a:buAutoNum type="arabicPeriod"/>
            </a:pPr>
            <a:r>
              <a:rPr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Course Objective (Point wise)</a:t>
            </a:r>
          </a:p>
          <a:p>
            <a:pPr indent="-457200">
              <a:spcBef>
                <a:spcPts val="365"/>
              </a:spcBef>
              <a:spcAft>
                <a:spcPct val="0"/>
              </a:spcAft>
              <a:buClr>
                <a:srgbClr val="000000"/>
              </a:buClr>
              <a:buFont typeface="Arial" panose="020B0604020202020204" pitchFamily="34" charset="0"/>
              <a:buAutoNum type="arabicPeriod"/>
            </a:pPr>
            <a:r>
              <a:rPr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Course Outcomes (COs)</a:t>
            </a:r>
          </a:p>
          <a:p>
            <a:pPr indent="-457200">
              <a:spcBef>
                <a:spcPts val="365"/>
              </a:spcBef>
              <a:spcAft>
                <a:spcPct val="0"/>
              </a:spcAft>
              <a:buClr>
                <a:srgbClr val="000000"/>
              </a:buClr>
              <a:buFont typeface="Arial" panose="020B0604020202020204" pitchFamily="34" charset="0"/>
              <a:buAutoNum type="arabicPeriod"/>
            </a:pPr>
            <a:r>
              <a:rPr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Program Outcomes only heading (POs)</a:t>
            </a:r>
          </a:p>
          <a:p>
            <a:pPr indent="-457200">
              <a:spcBef>
                <a:spcPts val="365"/>
              </a:spcBef>
              <a:spcAft>
                <a:spcPct val="0"/>
              </a:spcAft>
              <a:buClr>
                <a:srgbClr val="000000"/>
              </a:buClr>
              <a:buFont typeface="Arial" panose="020B0604020202020204" pitchFamily="34" charset="0"/>
              <a:buAutoNum type="arabicPeriod"/>
            </a:pPr>
            <a:r>
              <a:rPr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COs and POs Mapping</a:t>
            </a:r>
          </a:p>
          <a:p>
            <a:pPr indent="-457200">
              <a:spcBef>
                <a:spcPts val="365"/>
              </a:spcBef>
              <a:spcAft>
                <a:spcPct val="0"/>
              </a:spcAft>
              <a:buClr>
                <a:srgbClr val="000000"/>
              </a:buClr>
              <a:buFont typeface="Arial" panose="020B0604020202020204" pitchFamily="34" charset="0"/>
              <a:buAutoNum type="arabicPeriod"/>
            </a:pPr>
            <a:r>
              <a:rPr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Program Specific Outcomes (PSOs)</a:t>
            </a:r>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t>11/7/2024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3</a:t>
            </a:fld>
            <a:endParaRPr lang="en-US"/>
          </a:p>
        </p:txBody>
      </p:sp>
      <p:sp>
        <p:nvSpPr>
          <p:cNvPr id="8"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Content</a:t>
            </a:r>
          </a:p>
        </p:txBody>
      </p:sp>
      <p:sp>
        <p:nvSpPr>
          <p:cNvPr id="10" name="Footer Placeholder 9"/>
          <p:cNvSpPr>
            <a:spLocks noGrp="1"/>
          </p:cNvSpPr>
          <p:nvPr>
            <p:ph type="ftr" sz="quarter" idx="11"/>
          </p:nvPr>
        </p:nvSpPr>
        <p:spPr>
          <a:xfrm>
            <a:off x="4038600" y="6356351"/>
            <a:ext cx="5029200" cy="365125"/>
          </a:xfrm>
        </p:spPr>
        <p:txBody>
          <a:bodyPr/>
          <a:lstStyle/>
          <a:p>
            <a:r>
              <a:rPr lang="en-US" dirty="0"/>
              <a:t>Vaishali Mishra             WT                 UNIT 1</a:t>
            </a:r>
          </a:p>
        </p:txBody>
      </p:sp>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4B5DF74-0636-4B7E-B688-C92430C532AB}"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4</a:t>
            </a:fld>
            <a:endParaRPr lang="en-US"/>
          </a:p>
        </p:txBody>
      </p:sp>
      <p:sp>
        <p:nvSpPr>
          <p:cNvPr id="7" name="Text Box 6"/>
          <p:cNvSpPr txBox="1"/>
          <p:nvPr/>
        </p:nvSpPr>
        <p:spPr>
          <a:xfrm>
            <a:off x="669925" y="1143000"/>
            <a:ext cx="10001885" cy="4668520"/>
          </a:xfrm>
          <a:prstGeom prst="rect">
            <a:avLst/>
          </a:prstGeom>
          <a:noFill/>
        </p:spPr>
        <p:txBody>
          <a:bodyPr wrap="square" rtlCol="0" anchor="t">
            <a:spAutoFit/>
          </a:bodyPr>
          <a:lstStyle/>
          <a:p>
            <a:pPr indent="-457200">
              <a:spcBef>
                <a:spcPts val="365"/>
              </a:spcBef>
              <a:spcAft>
                <a:spcPct val="0"/>
              </a:spcAft>
              <a:buClr>
                <a:srgbClr val="000000"/>
              </a:buClr>
              <a:buFont typeface="Arial" panose="020B0604020202020204" pitchFamily="34" charset="0"/>
              <a:buAutoNum type="arabicPeriod" startAt="11"/>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COs and PSOs Mapping</a:t>
            </a:r>
          </a:p>
          <a:p>
            <a:pPr indent="-457200">
              <a:spcBef>
                <a:spcPts val="365"/>
              </a:spcBef>
              <a:spcAft>
                <a:spcPct val="0"/>
              </a:spcAft>
              <a:buClr>
                <a:srgbClr val="000000"/>
              </a:buClr>
              <a:buFont typeface="Arial" panose="020B0604020202020204" pitchFamily="34" charset="0"/>
              <a:buAutoNum type="arabicPeriod" startAt="11"/>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Program Educational Objectives (PEOs)</a:t>
            </a:r>
          </a:p>
          <a:p>
            <a:pPr indent="-457200">
              <a:spcBef>
                <a:spcPts val="365"/>
              </a:spcBef>
              <a:spcAft>
                <a:spcPct val="0"/>
              </a:spcAft>
              <a:buClr>
                <a:srgbClr val="000000"/>
              </a:buClr>
              <a:buFont typeface="Arial" panose="020B0604020202020204" pitchFamily="34" charset="0"/>
              <a:buAutoNum type="arabicPeriod" startAt="11"/>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Result Analysis (Department Result, Subject Result and Individual Faculty Result)</a:t>
            </a:r>
          </a:p>
          <a:p>
            <a:pPr indent="-457200">
              <a:spcBef>
                <a:spcPts val="365"/>
              </a:spcBef>
              <a:spcAft>
                <a:spcPct val="0"/>
              </a:spcAft>
              <a:buClr>
                <a:srgbClr val="000000"/>
              </a:buClr>
              <a:buFont typeface="Arial" panose="020B0604020202020204" pitchFamily="34" charset="0"/>
              <a:buAutoNum type="arabicPeriod" startAt="11"/>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End Semester Question Paper Templates (Offline Pattern/Online Pattern)</a:t>
            </a:r>
          </a:p>
          <a:p>
            <a:pPr indent="-457200">
              <a:spcBef>
                <a:spcPts val="365"/>
              </a:spcBef>
              <a:spcAft>
                <a:spcPct val="0"/>
              </a:spcAft>
              <a:buClr>
                <a:srgbClr val="000000"/>
              </a:buClr>
              <a:buFont typeface="Arial" panose="020B0604020202020204" pitchFamily="34" charset="0"/>
              <a:buAutoNum type="arabicPeriod" startAt="11"/>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Perquisite/ Recap </a:t>
            </a:r>
          </a:p>
          <a:p>
            <a:pPr indent="-457200">
              <a:spcBef>
                <a:spcPts val="365"/>
              </a:spcBef>
              <a:spcAft>
                <a:spcPct val="0"/>
              </a:spcAft>
              <a:buClr>
                <a:srgbClr val="000000"/>
              </a:buClr>
              <a:buFont typeface="Arial" panose="020B0604020202020204" pitchFamily="34" charset="0"/>
              <a:buAutoNum type="arabicPeriod" startAt="11"/>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Brief Introduction about the Subject with videos</a:t>
            </a:r>
          </a:p>
          <a:p>
            <a:pPr indent="-457200">
              <a:spcBef>
                <a:spcPts val="365"/>
              </a:spcBef>
              <a:spcAft>
                <a:spcPct val="0"/>
              </a:spcAft>
              <a:buClr>
                <a:srgbClr val="000000"/>
              </a:buClr>
              <a:buFont typeface="Arial" panose="020B0604020202020204" pitchFamily="34" charset="0"/>
              <a:buAutoNum type="arabicPeriod" startAt="11"/>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Unit Content</a:t>
            </a:r>
          </a:p>
          <a:p>
            <a:pPr indent="-457200">
              <a:spcBef>
                <a:spcPts val="365"/>
              </a:spcBef>
              <a:spcAft>
                <a:spcPct val="0"/>
              </a:spcAft>
              <a:buClr>
                <a:srgbClr val="000000"/>
              </a:buClr>
              <a:buFont typeface="Arial" panose="020B0604020202020204" pitchFamily="34" charset="0"/>
              <a:buAutoNum type="arabicPeriod" startAt="11"/>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Unit Objective</a:t>
            </a:r>
          </a:p>
          <a:p>
            <a:pPr indent="-457200">
              <a:spcBef>
                <a:spcPts val="365"/>
              </a:spcBef>
              <a:spcAft>
                <a:spcPct val="0"/>
              </a:spcAft>
              <a:buClr>
                <a:srgbClr val="000000"/>
              </a:buClr>
              <a:buFont typeface="Arial" panose="020B0604020202020204" pitchFamily="34" charset="0"/>
              <a:buAutoNum type="arabicPeriod" startAt="11"/>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Topic Objective/Topic Outcome</a:t>
            </a:r>
          </a:p>
          <a:p>
            <a:pPr indent="-457200">
              <a:spcBef>
                <a:spcPts val="365"/>
              </a:spcBef>
              <a:spcAft>
                <a:spcPct val="0"/>
              </a:spcAft>
              <a:buClr>
                <a:srgbClr val="000000"/>
              </a:buClr>
              <a:buFont typeface="Arial" panose="020B0604020202020204" pitchFamily="34" charset="0"/>
              <a:buAutoNum type="arabicPeriod" startAt="11"/>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Lecture related to topic</a:t>
            </a:r>
          </a:p>
          <a:p>
            <a:pPr indent="-457200">
              <a:spcBef>
                <a:spcPts val="365"/>
              </a:spcBef>
              <a:spcAft>
                <a:spcPct val="0"/>
              </a:spcAft>
              <a:buClr>
                <a:srgbClr val="000000"/>
              </a:buClr>
              <a:buFont typeface="Arial" panose="020B0604020202020204" pitchFamily="34" charset="0"/>
              <a:buAutoNum type="arabicPeriod" startAt="11"/>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Daily Quiz</a:t>
            </a:r>
          </a:p>
          <a:p>
            <a:pPr indent="-457200">
              <a:spcBef>
                <a:spcPts val="365"/>
              </a:spcBef>
              <a:spcAft>
                <a:spcPct val="0"/>
              </a:spcAft>
              <a:buClr>
                <a:srgbClr val="000000"/>
              </a:buClr>
              <a:buFont typeface="Arial" panose="020B0604020202020204" pitchFamily="34" charset="0"/>
              <a:buAutoNum type="arabicPeriod" startAt="11"/>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Weekly Assignment</a:t>
            </a:r>
            <a:endParaRPr 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p:txBody>
      </p:sp>
      <p:sp>
        <p:nvSpPr>
          <p:cNvPr id="8" name="Title 1"/>
          <p:cNvSpPr txBox="1"/>
          <p:nvPr>
            <p:custDataLst>
              <p:tags r:id="rId1"/>
            </p:custDataLst>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Conti.....</a:t>
            </a:r>
          </a:p>
        </p:txBody>
      </p:sp>
      <p:pic>
        <p:nvPicPr>
          <p:cNvPr id="9" name="Content Placeholder 8" descr="A black and red logo&#10;&#10;Description automatically generated"/>
          <p:cNvPicPr>
            <a:picLocks noGrp="1" noChangeAspect="1"/>
          </p:cNvPicPr>
          <p:nvPr>
            <p:ph idx="1"/>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76200" y="0"/>
            <a:ext cx="2211070" cy="947420"/>
          </a:xfrm>
          <a:prstGeom prst="rect">
            <a:avLst/>
          </a:prstGeom>
        </p:spPr>
      </p:pic>
      <p:pic>
        <p:nvPicPr>
          <p:cNvPr id="11" name="Picture 10" descr="A black and red logo&#10;&#10;Description automatically generated"/>
          <p:cNvPicPr>
            <a:picLocks noChangeAspect="1"/>
          </p:cNvPicPr>
          <p:nvPr>
            <p:custDataLst>
              <p:tags r:id="rId3"/>
            </p:custDataLst>
          </p:nvPr>
        </p:nvPicPr>
        <p:blipFill>
          <a:blip r:embed="rId5"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4B5DF74-0636-4B7E-B688-C92430C532AB}"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5</a:t>
            </a:fld>
            <a:endParaRPr lang="en-US"/>
          </a:p>
        </p:txBody>
      </p:sp>
      <p:sp>
        <p:nvSpPr>
          <p:cNvPr id="7" name="Text Box 6"/>
          <p:cNvSpPr txBox="1"/>
          <p:nvPr/>
        </p:nvSpPr>
        <p:spPr>
          <a:xfrm>
            <a:off x="669925" y="1143000"/>
            <a:ext cx="10001885" cy="2911475"/>
          </a:xfrm>
          <a:prstGeom prst="rect">
            <a:avLst/>
          </a:prstGeom>
          <a:noFill/>
        </p:spPr>
        <p:txBody>
          <a:bodyPr wrap="square" rtlCol="0" anchor="t">
            <a:spAutoFit/>
          </a:bodyPr>
          <a:lstStyle/>
          <a:p>
            <a:pPr indent="-457200">
              <a:spcBef>
                <a:spcPts val="365"/>
              </a:spcBef>
              <a:spcAft>
                <a:spcPct val="0"/>
              </a:spcAft>
              <a:buClr>
                <a:srgbClr val="000000"/>
              </a:buClr>
              <a:buFont typeface="Arial" panose="020B0604020202020204" pitchFamily="34" charset="0"/>
              <a:buAutoNum type="arabicPlain" startAt="23"/>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Topic Links</a:t>
            </a:r>
          </a:p>
          <a:p>
            <a:pPr indent="-457200">
              <a:spcBef>
                <a:spcPts val="365"/>
              </a:spcBef>
              <a:spcAft>
                <a:spcPct val="0"/>
              </a:spcAft>
              <a:buClr>
                <a:srgbClr val="000000"/>
              </a:buClr>
              <a:buFont typeface="Arial" panose="020B0604020202020204" pitchFamily="34" charset="0"/>
              <a:buAutoNum type="arabicPlain" startAt="23"/>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MCQ (End of Unit)</a:t>
            </a:r>
          </a:p>
          <a:p>
            <a:pPr indent="-457200">
              <a:spcBef>
                <a:spcPts val="365"/>
              </a:spcBef>
              <a:spcAft>
                <a:spcPct val="0"/>
              </a:spcAft>
              <a:buClr>
                <a:srgbClr val="000000"/>
              </a:buClr>
              <a:buFont typeface="Arial" panose="020B0604020202020204" pitchFamily="34" charset="0"/>
              <a:buAutoNum type="arabicPlain" startAt="23"/>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Glossary Questions</a:t>
            </a:r>
          </a:p>
          <a:p>
            <a:pPr indent="-457200">
              <a:spcBef>
                <a:spcPts val="365"/>
              </a:spcBef>
              <a:spcAft>
                <a:spcPct val="0"/>
              </a:spcAft>
              <a:buClr>
                <a:srgbClr val="000000"/>
              </a:buClr>
              <a:buFont typeface="Arial" panose="020B0604020202020204" pitchFamily="34" charset="0"/>
              <a:buAutoNum type="arabicPlain" startAt="23"/>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Old Question Papers (Sessional + University)</a:t>
            </a:r>
          </a:p>
          <a:p>
            <a:pPr indent="-457200">
              <a:spcBef>
                <a:spcPts val="365"/>
              </a:spcBef>
              <a:spcAft>
                <a:spcPct val="0"/>
              </a:spcAft>
              <a:buClr>
                <a:srgbClr val="000000"/>
              </a:buClr>
              <a:buFont typeface="Arial" panose="020B0604020202020204" pitchFamily="34" charset="0"/>
              <a:buAutoNum type="arabicPlain" startAt="23"/>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Expected Questions</a:t>
            </a:r>
          </a:p>
          <a:p>
            <a:pPr indent="-457200">
              <a:spcBef>
                <a:spcPts val="365"/>
              </a:spcBef>
              <a:spcAft>
                <a:spcPct val="0"/>
              </a:spcAft>
              <a:buClr>
                <a:srgbClr val="000000"/>
              </a:buClr>
              <a:buFont typeface="Arial" panose="020B0604020202020204" pitchFamily="34" charset="0"/>
              <a:buAutoNum type="arabicPlain" startAt="23"/>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Recap of Unit</a:t>
            </a:r>
          </a:p>
          <a:p>
            <a:pPr indent="0">
              <a:lnSpc>
                <a:spcPct val="150000"/>
              </a:lnSpc>
              <a:spcBef>
                <a:spcPts val="365"/>
              </a:spcBef>
              <a:spcAft>
                <a:spcPct val="0"/>
              </a:spcAft>
              <a:buClr>
                <a:srgbClr val="000000"/>
              </a:buClr>
              <a:buFont typeface="Arial" panose="020B0604020202020204" pitchFamily="34" charset="0"/>
              <a:buNone/>
            </a:pPr>
            <a:endParaRPr 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p:txBody>
      </p:sp>
      <p:sp>
        <p:nvSpPr>
          <p:cNvPr id="8" name="Title 1"/>
          <p:cNvSpPr txBox="1"/>
          <p:nvPr>
            <p:custDataLst>
              <p:tags r:id="rId1"/>
            </p:custDataLst>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Cont......</a:t>
            </a:r>
          </a:p>
        </p:txBody>
      </p:sp>
      <p:pic>
        <p:nvPicPr>
          <p:cNvPr id="9" name="Content Placeholder 8" descr="A black and red logo&#10;&#10;Description automatically generated"/>
          <p:cNvPicPr>
            <a:picLocks noGrp="1" noChangeAspect="1"/>
          </p:cNvPicPr>
          <p:nvPr>
            <p:ph idx="1"/>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76200" y="0"/>
            <a:ext cx="2211070" cy="947420"/>
          </a:xfrm>
          <a:prstGeom prst="rect">
            <a:avLst/>
          </a:prstGeom>
        </p:spPr>
      </p:pic>
      <p:pic>
        <p:nvPicPr>
          <p:cNvPr id="11" name="Picture 10" descr="A black and red logo&#10;&#10;Description automatically generated"/>
          <p:cNvPicPr>
            <a:picLocks noChangeAspect="1"/>
          </p:cNvPicPr>
          <p:nvPr>
            <p:custDataLst>
              <p:tags r:id="rId3"/>
            </p:custDataLst>
          </p:nvPr>
        </p:nvPicPr>
        <p:blipFill>
          <a:blip r:embed="rId5"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4B5DF74-0636-4B7E-B688-C92430C532AB}" type="datetime1">
              <a:rPr lang="en-US" smtClean="0"/>
              <a:t>11/7/2024</a:t>
            </a:fld>
            <a:endParaRPr lang="en-US"/>
          </a:p>
        </p:txBody>
      </p:sp>
      <p:sp>
        <p:nvSpPr>
          <p:cNvPr id="5" name="Footer Placeholder 4"/>
          <p:cNvSpPr>
            <a:spLocks noGrp="1"/>
          </p:cNvSpPr>
          <p:nvPr>
            <p:ph type="ftr" sz="quarter" idx="11"/>
          </p:nvPr>
        </p:nvSpPr>
        <p:spPr/>
        <p:txBody>
          <a:bodyPr/>
          <a:lstStyle/>
          <a:p>
            <a:r>
              <a:rPr lang="en-US"/>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6</a:t>
            </a:fld>
            <a:endParaRPr lang="en-US"/>
          </a:p>
        </p:txBody>
      </p:sp>
      <p:sp>
        <p:nvSpPr>
          <p:cNvPr id="8" name="Title 1"/>
          <p:cNvSpPr txBox="1"/>
          <p:nvPr>
            <p:custDataLst>
              <p:tags r:id="rId1"/>
            </p:custDataLst>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l" defTabSz="914400" rtl="0" eaLnBrk="0" fontAlgn="base" latinLnBrk="0" hangingPunct="0">
              <a:lnSpc>
                <a:spcPct val="100000"/>
              </a:lnSpc>
              <a:spcBef>
                <a:spcPct val="0"/>
              </a:spcBef>
              <a:spcAft>
                <a:spcPct val="0"/>
              </a:spcAft>
              <a:buClrTx/>
              <a:buSzTx/>
              <a:buFontTx/>
              <a:buNone/>
              <a:defRPr/>
            </a:pPr>
            <a:r>
              <a:rPr lang="en-US" noProof="0" dirty="0">
                <a:ln>
                  <a:noFill/>
                </a:ln>
                <a:solidFill>
                  <a:srgbClr val="000000"/>
                </a:solidFill>
                <a:effectLst/>
                <a:uLnTx/>
                <a:uFillTx/>
                <a:latin typeface="Arial" panose="020B0604020202020204" pitchFamily="34" charset="0"/>
                <a:cs typeface="Arial" panose="020B0604020202020204" pitchFamily="34" charset="0"/>
                <a:sym typeface="Arial" panose="020B0604020202020204" pitchFamily="34" charset="0"/>
              </a:rPr>
              <a:t>Evaluation Scheme</a:t>
            </a:r>
            <a:endParaRPr lang="en-US" dirty="0"/>
          </a:p>
        </p:txBody>
      </p:sp>
      <p:pic>
        <p:nvPicPr>
          <p:cNvPr id="11" name="Picture 10" descr="A black and red logo&#10;&#10;Description automatically generated"/>
          <p:cNvPicPr>
            <a:picLocks noChangeAspect="1"/>
          </p:cNvPicPr>
          <p:nvPr>
            <p:custDataLst>
              <p:tags r:id="rId2"/>
            </p:custDataLst>
          </p:nvPr>
        </p:nvPicPr>
        <p:blipFill>
          <a:blip r:embed="rId4"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7" name="Picture 6">
            <a:extLst>
              <a:ext uri="{FF2B5EF4-FFF2-40B4-BE49-F238E27FC236}">
                <a16:creationId xmlns:a16="http://schemas.microsoft.com/office/drawing/2014/main" id="{EDA8BFD1-F5B0-D648-A834-2EB56A5E1F7F}"/>
              </a:ext>
            </a:extLst>
          </p:cNvPr>
          <p:cNvPicPr>
            <a:picLocks noChangeAspect="1"/>
          </p:cNvPicPr>
          <p:nvPr/>
        </p:nvPicPr>
        <p:blipFill>
          <a:blip r:embed="rId5"/>
          <a:stretch>
            <a:fillRect/>
          </a:stretch>
        </p:blipFill>
        <p:spPr>
          <a:xfrm>
            <a:off x="457200" y="914400"/>
            <a:ext cx="10591800" cy="5105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7</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Syllabus Unit - 1</a:t>
            </a:r>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 name="Text Box 1"/>
          <p:cNvSpPr txBox="1"/>
          <p:nvPr/>
        </p:nvSpPr>
        <p:spPr>
          <a:xfrm>
            <a:off x="1077595" y="1544955"/>
            <a:ext cx="10203180" cy="3165475"/>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Introduction: </a:t>
            </a:r>
            <a:r>
              <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History of Web and Internet, connecting to Internet, Introduction to Internet services and tools, Client-Server Computing, Protocols Governing Web, Basic principles involved in developing a web site, Planning process, Types of Websites, Web Standards and W3C recommendations, Web Hosting Basics, Types of Hosting Packages, Introduction to Web testing, Functional Testing, Usability &amp; Visual Testing, Performance &amp; Load Testing</a:t>
            </a:r>
            <a:r>
              <a:rPr lang="en-IN"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8</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Syllabus Unit - 2</a:t>
            </a:r>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0" name="Text Box 9"/>
          <p:cNvSpPr txBox="1"/>
          <p:nvPr/>
        </p:nvSpPr>
        <p:spPr>
          <a:xfrm>
            <a:off x="654050" y="1181735"/>
            <a:ext cx="10430510" cy="3662680"/>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lang="en-IN" altLang="en-US"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HTML: </a:t>
            </a:r>
            <a:r>
              <a:rPr lang="en-IN"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What is HTML, DOM- Introduction to Document Object Model, Basic structure of an HTML document, Mark up Tags, Heading-Paragraphs , Line Breaks, Understand the structure of HTML tables. Lists, Working with Hyperlinks, Image Handling, Understanding Frames and their needs, HTML forms for User inputs. New form Elements- date, number, range, email, search and data list, Understanding audio, video and article tags.</a:t>
            </a:r>
          </a:p>
          <a:p>
            <a:pPr marL="114300" indent="0" algn="just">
              <a:spcBef>
                <a:spcPts val="365"/>
              </a:spcBef>
              <a:spcAft>
                <a:spcPct val="0"/>
              </a:spcAft>
              <a:buClr>
                <a:srgbClr val="000000"/>
              </a:buClr>
              <a:buFont typeface="Arial" panose="020B0604020202020204" pitchFamily="34" charset="0"/>
              <a:buNone/>
            </a:pPr>
            <a:endPar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buFont typeface="Arial" panose="020B0604020202020204" pitchFamily="34" charset="0"/>
              <a:buNone/>
            </a:pPr>
            <a:r>
              <a:rPr lang="en-IN" altLang="en-US"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XML: </a:t>
            </a:r>
            <a:r>
              <a:rPr lang="en-IN"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Introduction, Tree, Syntax, Elements, Attributes, Namespaces, Display, HTTP request, Parser, DOM, XPath, XSLT, XQuerry, XLink, Validator, DTD, Schema, Server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9</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Syllabus Unit - 3</a:t>
            </a:r>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 name="Text Box 1"/>
          <p:cNvSpPr txBox="1"/>
          <p:nvPr/>
        </p:nvSpPr>
        <p:spPr>
          <a:xfrm>
            <a:off x="569595" y="1153795"/>
            <a:ext cx="10777220" cy="4466590"/>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Concept of CSS 3: </a:t>
            </a:r>
            <a:r>
              <a:rPr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Creating Style Sheet, CSS Properties,CSS Styling(Background, Text Format, Controlling Fonts) , Working with block elements and objects , Working with Lists and Tables , CSS Id and Class, Box Model(Introduction, Border properties, Padding Properties, Margin properties) CSS Advanced(Grouping, Dimension, Display, Positioning, Floating, Align, Pseudo class, Navigation Bar, Image Sprites, Attribute sector) , CSS Color, Creating page Layout and Site.</a:t>
            </a:r>
          </a:p>
          <a:p>
            <a:pPr marL="114300" indent="0" algn="just">
              <a:spcBef>
                <a:spcPts val="365"/>
              </a:spcBef>
              <a:spcAft>
                <a:spcPct val="0"/>
              </a:spcAft>
              <a:buClr>
                <a:srgbClr val="000000"/>
              </a:buClr>
              <a:buFont typeface="Arial" panose="020B0604020202020204" pitchFamily="34" charset="0"/>
              <a:buNone/>
            </a:pPr>
            <a:endParaRPr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buFont typeface="Arial" panose="020B0604020202020204" pitchFamily="34" charset="0"/>
              <a:buNone/>
            </a:pPr>
            <a:r>
              <a:rPr lang="en-IN" altLang="x-none"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Bootstrap: </a:t>
            </a:r>
            <a:r>
              <a:rPr lang="en-IN" altLang="x-none"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Introduction, Bootstrap grid system, Bootstrap Components.</a:t>
            </a:r>
            <a:endPar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pPr>
            <a:endPar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buFont typeface="Arial" panose="020B0604020202020204" pitchFamily="34" charset="0"/>
              <a:buNone/>
            </a:pPr>
            <a:endPar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10</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dirty="0"/>
              <a:t>Syllabus Unit - 4</a:t>
            </a:r>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 name="Text Box 1"/>
          <p:cNvSpPr txBox="1"/>
          <p:nvPr/>
        </p:nvSpPr>
        <p:spPr>
          <a:xfrm>
            <a:off x="768985" y="1105535"/>
            <a:ext cx="10651490" cy="4229100"/>
          </a:xfrm>
          <a:prstGeom prst="rect">
            <a:avLst/>
          </a:prstGeom>
          <a:noFill/>
        </p:spPr>
        <p:txBody>
          <a:bodyPr wrap="square" rtlCol="0" anchor="t">
            <a:noAutofit/>
          </a:bodyPr>
          <a:lstStyle/>
          <a:p>
            <a:pPr marL="812800" lvl="1" indent="-344170" algn="just">
              <a:lnSpc>
                <a:spcPts val="2740"/>
              </a:lnSpc>
              <a:spcBef>
                <a:spcPts val="250"/>
              </a:spcBef>
              <a:spcAft>
                <a:spcPct val="0"/>
              </a:spcAft>
              <a:buClr>
                <a:srgbClr val="000000"/>
              </a:buClr>
              <a:buFont typeface="Arial" panose="020B0604020202020204" pitchFamily="34" charset="0"/>
              <a:buNone/>
            </a:pPr>
            <a:r>
              <a:rPr lang="en-IN" altLang="en-US"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JavaScript Essentials</a:t>
            </a:r>
            <a:r>
              <a:rPr lang="en-IN"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Introduction to Java Script , Javascript Types , Var, Let and Const Keywords, Operators in JS , Conditions Statements , Java Script Loops, JS Popup Boxes , JS</a:t>
            </a:r>
          </a:p>
          <a:p>
            <a:pPr marL="812800" lvl="1" indent="-344170" algn="just">
              <a:lnSpc>
                <a:spcPts val="2740"/>
              </a:lnSpc>
              <a:spcBef>
                <a:spcPts val="250"/>
              </a:spcBef>
              <a:spcAft>
                <a:spcPct val="0"/>
              </a:spcAft>
              <a:buClr>
                <a:srgbClr val="000000"/>
              </a:buClr>
              <a:buFont typeface="Arial" panose="020B0604020202020204" pitchFamily="34" charset="0"/>
              <a:buNone/>
            </a:pPr>
            <a:endParaRPr lang="en-IN"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Events , JS Arrays, Working with Arrays, JS Objects ,JS Functions , Using Java Script in Real time , Validation of Forms, Arrow functions and default arguments, Template Strings, Strings methods, Callback functions, Object de-structuring, Spread and Rest Operator, Typescript fundamentals, Typescript OOPs- Classes, Interfaces, Constructor etc. Decorator and Spread Operator, </a:t>
            </a:r>
          </a:p>
          <a:p>
            <a:pPr marL="114300" indent="0" algn="just">
              <a:spcBef>
                <a:spcPts val="365"/>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Difference == &amp; ===, Asynchronous Programming in ES6, Promise Constructor, Promise with Chain, Promise Race.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11</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b="1" dirty="0"/>
              <a:t>Syllabus Unit - 5</a:t>
            </a:r>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 name="Text Box 1"/>
          <p:cNvSpPr txBox="1"/>
          <p:nvPr/>
        </p:nvSpPr>
        <p:spPr>
          <a:xfrm>
            <a:off x="558165" y="1246505"/>
            <a:ext cx="10914380" cy="4364355"/>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Introduction to PHP, Basic Syntax, Variables &amp; Constants,  Data Type, Operator &amp; Expressions, Control flow and Decision making statements, Functions, Strings, Arrays, </a:t>
            </a:r>
          </a:p>
          <a:p>
            <a:pPr marL="114300" indent="0" algn="just">
              <a:spcBef>
                <a:spcPts val="365"/>
              </a:spcBef>
              <a:spcAft>
                <a:spcPct val="0"/>
              </a:spcAft>
              <a:buClr>
                <a:srgbClr val="000000"/>
              </a:buClr>
              <a:buFont typeface="Arial" panose="020B0604020202020204" pitchFamily="34" charset="0"/>
              <a:buNone/>
            </a:pPr>
            <a:endPar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Working with files and directories: </a:t>
            </a:r>
            <a:r>
              <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Understanding file&amp; directory, Opening and closing, a file, Coping, renaming and deleting a file, working with directories, Creating and deleting folder, File Uploading &amp; Downloading.</a:t>
            </a:r>
          </a:p>
          <a:p>
            <a:pPr marL="114300" indent="0" algn="just">
              <a:spcBef>
                <a:spcPts val="365"/>
              </a:spcBef>
              <a:spcAft>
                <a:spcPct val="0"/>
              </a:spcAft>
              <a:buClr>
                <a:srgbClr val="000000"/>
              </a:buClr>
              <a:buFont typeface="Arial" panose="020B0604020202020204" pitchFamily="34" charset="0"/>
              <a:buNone/>
            </a:pPr>
            <a:endPar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buFont typeface="Arial" panose="020B0604020202020204" pitchFamily="34" charset="0"/>
              <a:buNone/>
            </a:pPr>
            <a:r>
              <a:rPr lang="en-IN" altLang="en-US"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Session &amp; Cookies: </a:t>
            </a:r>
            <a:r>
              <a:rPr lang="en-IN"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Introduction to Session Control, Session Functionality What is a Cookie, Setting Cookies with PHP. Using Cookies with Sessions, Deleting Cookies, Registering Session variables, Destroying the variables and Session.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12</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Text Books</a:t>
            </a:r>
            <a:endParaRPr lang="en-US" dirty="0"/>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 name="Text Box 1"/>
          <p:cNvSpPr txBox="1"/>
          <p:nvPr/>
        </p:nvSpPr>
        <p:spPr>
          <a:xfrm>
            <a:off x="517525" y="1523365"/>
            <a:ext cx="11052175" cy="3093085"/>
          </a:xfrm>
          <a:prstGeom prst="rect">
            <a:avLst/>
          </a:prstGeom>
          <a:noFill/>
        </p:spPr>
        <p:txBody>
          <a:bodyPr wrap="square" rtlCol="0" anchor="t">
            <a:noAutofit/>
          </a:bodyPr>
          <a:lstStyle/>
          <a:p>
            <a:pPr marL="0" lvl="0" indent="0">
              <a:buClrTx/>
              <a:buFontTx/>
              <a:buNone/>
            </a:pPr>
            <a:r>
              <a:rPr lang="en-US" altLang="en-US" sz="2000" b="1" dirty="0">
                <a:latin typeface="Times New Roman" panose="02020603050405020304" pitchFamily="18" charset="0"/>
                <a:cs typeface="Times New Roman" panose="02020603050405020304" pitchFamily="18" charset="0"/>
                <a:sym typeface="+mn-ea"/>
              </a:rPr>
              <a:t>Text books:</a:t>
            </a:r>
            <a:endParaRPr lang="en-US" altLang="en-US" sz="2000" b="1" dirty="0">
              <a:latin typeface="Times New Roman" panose="02020603050405020304" pitchFamily="18" charset="0"/>
              <a:cs typeface="Times New Roman" panose="02020603050405020304" pitchFamily="18" charset="0"/>
            </a:endParaRPr>
          </a:p>
          <a:p>
            <a:pPr marL="0" lvl="0" indent="0">
              <a:buClrTx/>
              <a:buFontTx/>
              <a:buNone/>
            </a:pPr>
            <a:endParaRPr lang="en-US" altLang="en-US" sz="1800" b="1" dirty="0">
              <a:latin typeface="Times New Roman" panose="02020603050405020304" pitchFamily="18" charset="0"/>
              <a:cs typeface="Times New Roman" panose="02020603050405020304" pitchFamily="18" charset="0"/>
            </a:endParaRPr>
          </a:p>
          <a:p>
            <a:pPr marL="0" lvl="0" indent="0" algn="just">
              <a:buClrTx/>
              <a:buFontTx/>
              <a:buNone/>
            </a:pPr>
            <a:r>
              <a:rPr lang="en-US" altLang="en-US" dirty="0">
                <a:latin typeface="Times New Roman" panose="02020603050405020304" pitchFamily="18" charset="0"/>
                <a:cs typeface="Times New Roman" panose="02020603050405020304" pitchFamily="18" charset="0"/>
                <a:sym typeface="+mn-ea"/>
              </a:rPr>
              <a:t>  </a:t>
            </a:r>
            <a:r>
              <a:rPr lang="en-US" altLang="en-US" sz="2000" dirty="0">
                <a:latin typeface="Times New Roman" panose="02020603050405020304" pitchFamily="18" charset="0"/>
                <a:cs typeface="Times New Roman" panose="02020603050405020304" pitchFamily="18" charset="0"/>
                <a:sym typeface="+mn-ea"/>
              </a:rPr>
              <a:t>1. </a:t>
            </a:r>
            <a:r>
              <a:rPr lang="en-IN" altLang="en-US" sz="2000" dirty="0">
                <a:latin typeface="Times New Roman" panose="02020603050405020304" pitchFamily="18" charset="0"/>
                <a:cs typeface="Times New Roman" panose="02020603050405020304" pitchFamily="18" charset="0"/>
                <a:sym typeface="+mn-ea"/>
              </a:rPr>
              <a:t>Steven M. Schafer, “HTML, XHTML, and CSS Bible, 5ed”, Wiley India</a:t>
            </a:r>
            <a:endParaRPr lang="en-US" altLang="en-US" sz="2000" dirty="0">
              <a:latin typeface="Times New Roman" panose="02020603050405020304" pitchFamily="18" charset="0"/>
              <a:cs typeface="Times New Roman" panose="02020603050405020304" pitchFamily="18" charset="0"/>
            </a:endParaRPr>
          </a:p>
          <a:p>
            <a:pPr marL="0" lvl="0" indent="0" algn="just">
              <a:buClrTx/>
              <a:buFontTx/>
              <a:buNone/>
            </a:pPr>
            <a:endParaRPr lang="en-US" altLang="en-US" sz="2000" dirty="0">
              <a:latin typeface="Times New Roman" panose="02020603050405020304" pitchFamily="18" charset="0"/>
              <a:cs typeface="Times New Roman" panose="02020603050405020304" pitchFamily="18" charset="0"/>
            </a:endParaRPr>
          </a:p>
          <a:p>
            <a:pPr marL="0" lvl="0" indent="0" algn="just">
              <a:buClrTx/>
              <a:buFontTx/>
              <a:buNone/>
            </a:pPr>
            <a:r>
              <a:rPr lang="en-US" altLang="en-US" sz="2000" dirty="0">
                <a:latin typeface="Times New Roman" panose="02020603050405020304" pitchFamily="18" charset="0"/>
                <a:cs typeface="Times New Roman" panose="02020603050405020304" pitchFamily="18" charset="0"/>
                <a:sym typeface="+mn-ea"/>
              </a:rPr>
              <a:t>  2. </a:t>
            </a:r>
            <a:r>
              <a:rPr lang="en-IN" altLang="en-US" sz="2000" dirty="0">
                <a:latin typeface="Times New Roman" panose="02020603050405020304" pitchFamily="18" charset="0"/>
                <a:cs typeface="Times New Roman" panose="02020603050405020304" pitchFamily="18" charset="0"/>
                <a:sym typeface="+mn-ea"/>
              </a:rPr>
              <a:t>Ian Pouncey, Richard York, “Beginning CSS: Cascading Style Sheets for Web Design”, Wiley India</a:t>
            </a:r>
            <a:endParaRPr lang="en-US" altLang="en-US" sz="2000" dirty="0">
              <a:latin typeface="Times New Roman" panose="02020603050405020304" pitchFamily="18" charset="0"/>
              <a:cs typeface="Times New Roman" panose="02020603050405020304" pitchFamily="18" charset="0"/>
            </a:endParaRPr>
          </a:p>
          <a:p>
            <a:pPr marL="0" lvl="0" indent="0">
              <a:buClrTx/>
              <a:buFontTx/>
              <a:buNone/>
            </a:pPr>
            <a:endParaRPr lang="en-US" altLang="en-US" sz="2000" dirty="0">
              <a:latin typeface="Times New Roman" panose="02020603050405020304" pitchFamily="18" charset="0"/>
              <a:cs typeface="Times New Roman" panose="02020603050405020304" pitchFamily="18" charset="0"/>
            </a:endParaRPr>
          </a:p>
          <a:p>
            <a:pPr marL="0" lvl="0" indent="0">
              <a:buClrTx/>
              <a:buFontTx/>
              <a:buNone/>
            </a:pPr>
            <a:endParaRPr lang="en-US" altLang="en-US" sz="2000" dirty="0">
              <a:latin typeface="Times New Roman" panose="02020603050405020304" pitchFamily="18" charset="0"/>
              <a:cs typeface="Times New Roman" panose="02020603050405020304" pitchFamily="18" charset="0"/>
            </a:endParaRPr>
          </a:p>
          <a:p>
            <a:pPr marL="0" lvl="0" indent="0">
              <a:buClrTx/>
              <a:buFontTx/>
              <a:buNone/>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13</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US" b="1" noProof="0" dirty="0">
                <a:ln>
                  <a:noFill/>
                </a:ln>
                <a:effectLst/>
                <a:uLnTx/>
                <a:uFillTx/>
                <a:sym typeface="Arial" panose="020B0604020202020204" pitchFamily="34" charset="0"/>
              </a:rPr>
              <a:t>Branch Wise Applications </a:t>
            </a:r>
            <a:endParaRPr lang="en-US" dirty="0"/>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 name="Text Box 1"/>
          <p:cNvSpPr txBox="1"/>
          <p:nvPr/>
        </p:nvSpPr>
        <p:spPr>
          <a:xfrm>
            <a:off x="646430" y="1308735"/>
            <a:ext cx="10862945" cy="4141470"/>
          </a:xfrm>
          <a:prstGeom prst="rect">
            <a:avLst/>
          </a:prstGeom>
          <a:noFill/>
        </p:spPr>
        <p:txBody>
          <a:bodyPr wrap="square" rtlCol="0" anchor="t">
            <a:noAutofit/>
          </a:bodyPr>
          <a:lstStyle/>
          <a:p>
            <a:pPr>
              <a:spcBef>
                <a:spcPts val="365"/>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Sample Applications</a:t>
            </a:r>
          </a:p>
          <a:p>
            <a:pPr>
              <a:spcBef>
                <a:spcPts val="365"/>
              </a:spcBef>
              <a:spcAft>
                <a:spcPct val="0"/>
              </a:spcAft>
              <a:buClr>
                <a:srgbClr val="000000"/>
              </a:buClr>
              <a:buFont typeface="Wingdings" panose="05000000000000000000" pitchFamily="2" charset="2"/>
              <a:buChar char="Ø"/>
            </a:pPr>
            <a:r>
              <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Desktop GUI Applications</a:t>
            </a:r>
          </a:p>
          <a:p>
            <a:pPr>
              <a:spcBef>
                <a:spcPts val="365"/>
              </a:spcBef>
              <a:spcAft>
                <a:spcPct val="0"/>
              </a:spcAft>
              <a:buClr>
                <a:srgbClr val="000000"/>
              </a:buClr>
              <a:buFont typeface="Wingdings" panose="05000000000000000000" pitchFamily="2" charset="2"/>
              <a:buChar char="Ø"/>
            </a:pPr>
            <a:r>
              <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Mobile Applications</a:t>
            </a:r>
          </a:p>
          <a:p>
            <a:pPr>
              <a:spcBef>
                <a:spcPts val="365"/>
              </a:spcBef>
              <a:spcAft>
                <a:spcPct val="0"/>
              </a:spcAft>
              <a:buClr>
                <a:srgbClr val="000000"/>
              </a:buClr>
              <a:buFont typeface="Wingdings" panose="05000000000000000000" pitchFamily="2" charset="2"/>
              <a:buChar char="Ø"/>
            </a:pPr>
            <a:r>
              <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Enterprise Applications</a:t>
            </a:r>
          </a:p>
          <a:p>
            <a:pPr>
              <a:spcBef>
                <a:spcPts val="365"/>
              </a:spcBef>
              <a:spcAft>
                <a:spcPct val="0"/>
              </a:spcAft>
              <a:buClr>
                <a:srgbClr val="000000"/>
              </a:buClr>
              <a:buFont typeface="Wingdings" panose="05000000000000000000" pitchFamily="2" charset="2"/>
              <a:buChar char="Ø"/>
            </a:pPr>
            <a:r>
              <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Scientific Applications</a:t>
            </a:r>
          </a:p>
          <a:p>
            <a:pPr>
              <a:spcBef>
                <a:spcPts val="365"/>
              </a:spcBef>
              <a:spcAft>
                <a:spcPct val="0"/>
              </a:spcAft>
              <a:buClr>
                <a:srgbClr val="000000"/>
              </a:buClr>
              <a:buFont typeface="Wingdings" panose="05000000000000000000" pitchFamily="2" charset="2"/>
              <a:buChar char="Ø"/>
            </a:pPr>
            <a:r>
              <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Web-based Applications</a:t>
            </a:r>
          </a:p>
          <a:p>
            <a:pPr>
              <a:spcBef>
                <a:spcPts val="365"/>
              </a:spcBef>
              <a:spcAft>
                <a:spcPct val="0"/>
              </a:spcAft>
              <a:buClr>
                <a:srgbClr val="000000"/>
              </a:buClr>
              <a:buFont typeface="Wingdings" panose="05000000000000000000" pitchFamily="2" charset="2"/>
              <a:buChar char="Ø"/>
            </a:pPr>
            <a:r>
              <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Cloud-based Applications</a:t>
            </a:r>
          </a:p>
          <a:p>
            <a:pPr>
              <a:spcBef>
                <a:spcPts val="365"/>
              </a:spcBef>
              <a:spcAft>
                <a:spcPct val="0"/>
              </a:spcAft>
              <a:buClr>
                <a:srgbClr val="000000"/>
              </a:buClr>
              <a:buFont typeface="Wingdings" panose="05000000000000000000" pitchFamily="2" charset="2"/>
              <a:buChar char="Ø"/>
            </a:pPr>
            <a:r>
              <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Web servers and Application servers</a:t>
            </a:r>
          </a:p>
          <a:p>
            <a:pPr>
              <a:spcBef>
                <a:spcPts val="365"/>
              </a:spcBef>
              <a:spcAft>
                <a:spcPct val="0"/>
              </a:spcAft>
              <a:buClr>
                <a:srgbClr val="000000"/>
              </a:buClr>
              <a:buFont typeface="Wingdings" panose="05000000000000000000" pitchFamily="2" charset="2"/>
              <a:buChar char="Ø"/>
            </a:pPr>
            <a:r>
              <a:rPr lang="en-US" altLang="en-US" sz="20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Software Tools</a:t>
            </a:r>
          </a:p>
          <a:p>
            <a:pPr>
              <a:spcBef>
                <a:spcPts val="365"/>
              </a:spcBef>
              <a:spcAft>
                <a:spcPct val="0"/>
              </a:spcAft>
              <a:buClr>
                <a:srgbClr val="000000"/>
              </a:buClr>
              <a:buFont typeface="Arial" panose="020B0604020202020204" pitchFamily="34" charset="0"/>
              <a:buNone/>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14</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eaLnBrk="1" hangingPunct="1">
              <a:buClr>
                <a:srgbClr val="000000"/>
              </a:buClr>
              <a:buFont typeface="Calibri" panose="020F0502020204030204" charset="0"/>
              <a:buNone/>
            </a:pPr>
            <a:r>
              <a:rPr dirty="0">
                <a:latin typeface="Times New Roman" panose="02020603050405020304" pitchFamily="18" charset="0"/>
                <a:cs typeface="Calibri" panose="020F0502020204030204" charset="0"/>
                <a:sym typeface="Calibri" panose="020F0502020204030204" charset="0"/>
              </a:rPr>
              <a:t>Course Objective</a:t>
            </a:r>
            <a:endParaRPr lang="en-US" dirty="0"/>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 name="Text Box 1"/>
          <p:cNvSpPr txBox="1"/>
          <p:nvPr/>
        </p:nvSpPr>
        <p:spPr>
          <a:xfrm>
            <a:off x="596900" y="1557020"/>
            <a:ext cx="10809605" cy="2470150"/>
          </a:xfrm>
          <a:prstGeom prst="rect">
            <a:avLst/>
          </a:prstGeom>
          <a:noFill/>
        </p:spPr>
        <p:txBody>
          <a:bodyPr wrap="square" rtlCol="0" anchor="t">
            <a:spAutoFit/>
          </a:bodyPr>
          <a:lstStyle/>
          <a:p>
            <a:pPr algn="just" eaLnBrk="1" hangingPunct="1">
              <a:lnSpc>
                <a:spcPct val="115000"/>
              </a:lnSpc>
              <a:spcBef>
                <a:spcPts val="1000"/>
              </a:spcBef>
              <a:spcAft>
                <a:spcPct val="0"/>
              </a:spcAft>
              <a:buClr>
                <a:srgbClr val="000000"/>
              </a:buClr>
              <a:buFont typeface="Wingdings" panose="05000000000000000000" pitchFamily="2" charset="2"/>
              <a:buChar char="Ø"/>
            </a:pPr>
            <a:r>
              <a:rPr lang="en-IN" altLang="en-US" sz="2400" dirty="0">
                <a:latin typeface="Calibri" panose="020F0502020204030204" charset="0"/>
                <a:ea typeface="Arial" panose="020B0604020202020204"/>
                <a:cs typeface="Calibri" panose="020F0502020204030204" charset="0"/>
                <a:sym typeface="Arial" panose="020B0604020202020204" pitchFamily="34" charset="0"/>
              </a:rPr>
              <a:t>This course covers different aspect of web technology such as HTML, CSS, and issues of web technology, client and server side issue. </a:t>
            </a:r>
          </a:p>
          <a:p>
            <a:pPr algn="just" eaLnBrk="1" hangingPunct="1">
              <a:lnSpc>
                <a:spcPct val="115000"/>
              </a:lnSpc>
              <a:spcBef>
                <a:spcPts val="1000"/>
              </a:spcBef>
              <a:spcAft>
                <a:spcPct val="0"/>
              </a:spcAft>
              <a:buClr>
                <a:srgbClr val="000000"/>
              </a:buClr>
              <a:buFont typeface="Wingdings" panose="05000000000000000000" pitchFamily="2" charset="2"/>
              <a:buChar char="Ø"/>
            </a:pPr>
            <a:r>
              <a:rPr lang="en-IN" altLang="en-US" sz="2400" dirty="0">
                <a:latin typeface="Calibri" panose="020F0502020204030204" charset="0"/>
                <a:ea typeface="Arial" panose="020B0604020202020204"/>
                <a:cs typeface="Calibri" panose="020F0502020204030204" charset="0"/>
                <a:sym typeface="Arial" panose="020B0604020202020204" pitchFamily="34" charset="0"/>
              </a:rPr>
              <a:t>The general objectives of this course are to</a:t>
            </a:r>
            <a:r>
              <a:rPr lang="en-IN" altLang="en-US" sz="2400" b="1" dirty="0">
                <a:latin typeface="Calibri" panose="020F0502020204030204" charset="0"/>
                <a:ea typeface="Arial" panose="020B0604020202020204"/>
                <a:cs typeface="Calibri" panose="020F0502020204030204" charset="0"/>
                <a:sym typeface="Arial" panose="020B0604020202020204" pitchFamily="34" charset="0"/>
              </a:rPr>
              <a:t> provide </a:t>
            </a:r>
            <a:r>
              <a:rPr lang="en-IN" altLang="en-US" sz="2400" dirty="0">
                <a:latin typeface="Calibri" panose="020F0502020204030204" charset="0"/>
                <a:ea typeface="Arial" panose="020B0604020202020204"/>
                <a:cs typeface="Calibri" panose="020F0502020204030204" charset="0"/>
                <a:sym typeface="Arial" panose="020B0604020202020204" pitchFamily="34" charset="0"/>
              </a:rPr>
              <a:t>fundamental concepts of Internet; Web Technology and Web Programming. </a:t>
            </a:r>
          </a:p>
          <a:p>
            <a:pPr algn="just" eaLnBrk="1" hangingPunct="1">
              <a:lnSpc>
                <a:spcPct val="115000"/>
              </a:lnSpc>
              <a:spcBef>
                <a:spcPts val="1000"/>
              </a:spcBef>
              <a:spcAft>
                <a:spcPct val="0"/>
              </a:spcAft>
              <a:buClr>
                <a:srgbClr val="000000"/>
              </a:buClr>
              <a:buFont typeface="Wingdings" panose="05000000000000000000" pitchFamily="2" charset="2"/>
              <a:buChar char="Ø"/>
            </a:pPr>
            <a:r>
              <a:rPr lang="en-IN" altLang="en-US" sz="2400" dirty="0">
                <a:latin typeface="Calibri" panose="020F0502020204030204" charset="0"/>
                <a:ea typeface="Arial" panose="020B0604020202020204"/>
                <a:cs typeface="Calibri" panose="020F0502020204030204" charset="0"/>
                <a:sym typeface="Arial" panose="020B0604020202020204" pitchFamily="34" charset="0"/>
              </a:rPr>
              <a:t>Students will be able to build a proper responsive website.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15</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Course Outcome</a:t>
            </a:r>
            <a:endParaRPr lang="en-US" dirty="0"/>
          </a:p>
        </p:txBody>
      </p:sp>
      <p:pic>
        <p:nvPicPr>
          <p:cNvPr id="3" name="Picture 2"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5605" name="Rectangle 1"/>
          <p:cNvSpPr/>
          <p:nvPr>
            <p:custDataLst>
              <p:tags r:id="rId1"/>
            </p:custDataLst>
          </p:nvPr>
        </p:nvSpPr>
        <p:spPr>
          <a:xfrm>
            <a:off x="457200" y="747713"/>
            <a:ext cx="8686800" cy="400050"/>
          </a:xfrm>
          <a:prstGeom prst="rect">
            <a:avLst/>
          </a:prstGeom>
          <a:noFill/>
          <a:ln w="9525">
            <a:noFill/>
          </a:ln>
        </p:spPr>
        <p:txBody>
          <a:bodyPr anchor="ctr" anchorCtr="0">
            <a:spAutoFit/>
          </a:bodyPr>
          <a:lstStyle>
            <a:lvl1pPr marL="342900" indent="-3429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5pPr>
          </a:lstStyle>
          <a:p>
            <a:pPr marL="0" lvl="0" indent="0" eaLnBrk="1" hangingPunct="1">
              <a:buClrTx/>
              <a:buFontTx/>
              <a:buNone/>
            </a:pPr>
            <a:r>
              <a:rPr lang="en-US" altLang="en-US" sz="2000" dirty="0">
                <a:solidFill>
                  <a:schemeClr val="tx1"/>
                </a:solidFill>
                <a:cs typeface="Calibri" panose="020F0502020204030204" charset="0"/>
              </a:rPr>
              <a:t>At the end of the semester, student will be able to:</a:t>
            </a:r>
            <a:endParaRPr lang="en-US" altLang="en-US" sz="2000" dirty="0">
              <a:solidFill>
                <a:schemeClr val="tx1"/>
              </a:solidFill>
              <a:ea typeface="Calibri" panose="020F0502020204030204" charset="0"/>
            </a:endParaRPr>
          </a:p>
        </p:txBody>
      </p:sp>
      <p:sp>
        <p:nvSpPr>
          <p:cNvPr id="8" name="Content Placeholder 7">
            <a:extLst>
              <a:ext uri="{FF2B5EF4-FFF2-40B4-BE49-F238E27FC236}">
                <a16:creationId xmlns:a16="http://schemas.microsoft.com/office/drawing/2014/main" id="{D74B6B17-BA26-4729-B412-451706F003D2}"/>
              </a:ext>
            </a:extLst>
          </p:cNvPr>
          <p:cNvSpPr>
            <a:spLocks noGrp="1"/>
          </p:cNvSpPr>
          <p:nvPr>
            <p:ph idx="1"/>
          </p:nvPr>
        </p:nvSpPr>
        <p:spPr/>
        <p:txBody>
          <a:bodyPr/>
          <a:lstStyle/>
          <a:p>
            <a:endParaRPr lang="en-IN" dirty="0"/>
          </a:p>
        </p:txBody>
      </p:sp>
      <p:pic>
        <p:nvPicPr>
          <p:cNvPr id="9" name="Picture 8">
            <a:extLst>
              <a:ext uri="{FF2B5EF4-FFF2-40B4-BE49-F238E27FC236}">
                <a16:creationId xmlns:a16="http://schemas.microsoft.com/office/drawing/2014/main" id="{D3C16386-3418-8800-EA72-3C32141EA2A2}"/>
              </a:ext>
            </a:extLst>
          </p:cNvPr>
          <p:cNvPicPr>
            <a:picLocks noChangeAspect="1"/>
          </p:cNvPicPr>
          <p:nvPr/>
        </p:nvPicPr>
        <p:blipFill>
          <a:blip r:embed="rId4"/>
          <a:stretch>
            <a:fillRect/>
          </a:stretch>
        </p:blipFill>
        <p:spPr>
          <a:xfrm>
            <a:off x="609600" y="1475988"/>
            <a:ext cx="10972800" cy="46342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16</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Program Outcome</a:t>
            </a:r>
            <a:endParaRPr lang="en-US" dirty="0"/>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 name="Text Box 1"/>
          <p:cNvSpPr txBox="1"/>
          <p:nvPr/>
        </p:nvSpPr>
        <p:spPr>
          <a:xfrm>
            <a:off x="1080135" y="861060"/>
            <a:ext cx="10455910" cy="5313045"/>
          </a:xfrm>
          <a:prstGeom prst="rect">
            <a:avLst/>
          </a:prstGeom>
          <a:noFill/>
        </p:spPr>
        <p:txBody>
          <a:bodyPr wrap="square" rtlCol="0" anchor="t">
            <a:noAutofit/>
          </a:bodyPr>
          <a:lstStyle/>
          <a:p>
            <a:pPr marL="285750" lvl="0" indent="-273050" defTabSz="914400">
              <a:lnSpc>
                <a:spcPct val="150000"/>
              </a:lnSpc>
              <a:buClr>
                <a:srgbClr val="0AD0D9"/>
              </a:buClr>
              <a:buSzPct val="95000"/>
              <a:buFont typeface="Wingdings 2" pitchFamily="18" charset="2"/>
              <a:buChar char=""/>
              <a:tabLst>
                <a:tab pos="285750" algn="l"/>
              </a:tabLst>
            </a:pPr>
            <a:r>
              <a:rPr lang="en-US" altLang="en-US" sz="2000" dirty="0">
                <a:latin typeface="Times New Roman" panose="02020603050405020304" pitchFamily="18" charset="0"/>
                <a:cs typeface="Times New Roman" panose="02020603050405020304" pitchFamily="18" charset="0"/>
                <a:sym typeface="+mn-ea"/>
              </a:rPr>
              <a:t>1. Engineering knowledge: </a:t>
            </a:r>
            <a:endParaRPr lang="en-US" altLang="en-US" sz="2000" dirty="0">
              <a:latin typeface="Times New Roman" panose="02020603050405020304" pitchFamily="18" charset="0"/>
              <a:cs typeface="Times New Roman" panose="02020603050405020304" pitchFamily="18" charset="0"/>
            </a:endParaRPr>
          </a:p>
          <a:p>
            <a:pPr marL="285750" lvl="0" indent="-273050" defTabSz="914400">
              <a:lnSpc>
                <a:spcPct val="150000"/>
              </a:lnSpc>
              <a:buClr>
                <a:srgbClr val="0AD0D9"/>
              </a:buClr>
              <a:buSzPct val="95000"/>
              <a:buFont typeface="Wingdings 2" pitchFamily="18" charset="2"/>
              <a:buChar char=""/>
              <a:tabLst>
                <a:tab pos="285750" algn="l"/>
              </a:tabLst>
            </a:pPr>
            <a:r>
              <a:rPr lang="en-US" altLang="en-US" sz="2000" dirty="0">
                <a:latin typeface="Times New Roman" panose="02020603050405020304" pitchFamily="18" charset="0"/>
                <a:cs typeface="Times New Roman" panose="02020603050405020304" pitchFamily="18" charset="0"/>
                <a:sym typeface="+mn-ea"/>
              </a:rPr>
              <a:t>2. Problem analysis: </a:t>
            </a:r>
            <a:endParaRPr lang="en-US" altLang="en-US" sz="2000" dirty="0">
              <a:latin typeface="Times New Roman" panose="02020603050405020304" pitchFamily="18" charset="0"/>
              <a:cs typeface="Times New Roman" panose="02020603050405020304" pitchFamily="18" charset="0"/>
            </a:endParaRPr>
          </a:p>
          <a:p>
            <a:pPr marL="285750" lvl="0" indent="-273050" defTabSz="914400">
              <a:lnSpc>
                <a:spcPct val="150000"/>
              </a:lnSpc>
              <a:buClr>
                <a:srgbClr val="0AD0D9"/>
              </a:buClr>
              <a:buSzPct val="95000"/>
              <a:buFont typeface="Wingdings 2" pitchFamily="18" charset="2"/>
              <a:buChar char=""/>
              <a:tabLst>
                <a:tab pos="285750" algn="l"/>
              </a:tabLst>
            </a:pPr>
            <a:r>
              <a:rPr lang="en-US" altLang="en-US" sz="2000" dirty="0">
                <a:latin typeface="Times New Roman" panose="02020603050405020304" pitchFamily="18" charset="0"/>
                <a:cs typeface="Times New Roman" panose="02020603050405020304" pitchFamily="18" charset="0"/>
                <a:sym typeface="+mn-ea"/>
              </a:rPr>
              <a:t>3. Design/development of solutions: </a:t>
            </a:r>
            <a:endParaRPr lang="en-US" altLang="en-US" sz="2000" dirty="0">
              <a:latin typeface="Times New Roman" panose="02020603050405020304" pitchFamily="18" charset="0"/>
              <a:cs typeface="Times New Roman" panose="02020603050405020304" pitchFamily="18" charset="0"/>
            </a:endParaRPr>
          </a:p>
          <a:p>
            <a:pPr marL="285750" lvl="0" indent="-273050" defTabSz="914400">
              <a:lnSpc>
                <a:spcPct val="150000"/>
              </a:lnSpc>
              <a:buClr>
                <a:srgbClr val="0AD0D9"/>
              </a:buClr>
              <a:buSzPct val="95000"/>
              <a:buFont typeface="Wingdings 2" pitchFamily="18" charset="2"/>
              <a:buChar char=""/>
              <a:tabLst>
                <a:tab pos="285750" algn="l"/>
              </a:tabLst>
            </a:pPr>
            <a:r>
              <a:rPr lang="en-US" altLang="en-US" sz="2000" dirty="0">
                <a:latin typeface="Times New Roman" panose="02020603050405020304" pitchFamily="18" charset="0"/>
                <a:cs typeface="Times New Roman" panose="02020603050405020304" pitchFamily="18" charset="0"/>
                <a:sym typeface="+mn-ea"/>
              </a:rPr>
              <a:t>4. Conduct investigations of complex problems: </a:t>
            </a:r>
            <a:endParaRPr lang="en-US" altLang="en-US" sz="2000" dirty="0">
              <a:latin typeface="Times New Roman" panose="02020603050405020304" pitchFamily="18" charset="0"/>
              <a:cs typeface="Times New Roman" panose="02020603050405020304" pitchFamily="18" charset="0"/>
            </a:endParaRPr>
          </a:p>
          <a:p>
            <a:pPr marL="285750" lvl="0" indent="-273050" defTabSz="914400">
              <a:lnSpc>
                <a:spcPct val="150000"/>
              </a:lnSpc>
              <a:buClr>
                <a:srgbClr val="0AD0D9"/>
              </a:buClr>
              <a:buSzPct val="95000"/>
              <a:buFont typeface="Wingdings 2" pitchFamily="18" charset="2"/>
              <a:buChar char=""/>
              <a:tabLst>
                <a:tab pos="285750" algn="l"/>
              </a:tabLst>
            </a:pPr>
            <a:r>
              <a:rPr lang="en-US" altLang="en-US" sz="2000" dirty="0">
                <a:latin typeface="Times New Roman" panose="02020603050405020304" pitchFamily="18" charset="0"/>
                <a:cs typeface="Times New Roman" panose="02020603050405020304" pitchFamily="18" charset="0"/>
                <a:sym typeface="+mn-ea"/>
              </a:rPr>
              <a:t>5. Modern tool usage:</a:t>
            </a:r>
            <a:endParaRPr lang="en-US" altLang="en-US" sz="2000" dirty="0">
              <a:latin typeface="Times New Roman" panose="02020603050405020304" pitchFamily="18" charset="0"/>
              <a:cs typeface="Times New Roman" panose="02020603050405020304" pitchFamily="18" charset="0"/>
            </a:endParaRPr>
          </a:p>
          <a:p>
            <a:pPr marL="285750" lvl="0" indent="-273050" defTabSz="914400">
              <a:lnSpc>
                <a:spcPct val="150000"/>
              </a:lnSpc>
              <a:buClr>
                <a:srgbClr val="0AD0D9"/>
              </a:buClr>
              <a:buSzPct val="95000"/>
              <a:buFont typeface="Wingdings 2" pitchFamily="18" charset="2"/>
              <a:buChar char=""/>
              <a:tabLst>
                <a:tab pos="285750" algn="l"/>
              </a:tabLst>
            </a:pPr>
            <a:r>
              <a:rPr lang="en-US" altLang="en-US" sz="2000" dirty="0">
                <a:latin typeface="Times New Roman" panose="02020603050405020304" pitchFamily="18" charset="0"/>
                <a:cs typeface="Times New Roman" panose="02020603050405020304" pitchFamily="18" charset="0"/>
                <a:sym typeface="+mn-ea"/>
              </a:rPr>
              <a:t>6. The engineer and society:</a:t>
            </a:r>
            <a:endParaRPr lang="en-US" altLang="en-US" sz="2000" dirty="0">
              <a:latin typeface="Times New Roman" panose="02020603050405020304" pitchFamily="18" charset="0"/>
              <a:cs typeface="Times New Roman" panose="02020603050405020304" pitchFamily="18" charset="0"/>
            </a:endParaRPr>
          </a:p>
          <a:p>
            <a:pPr marL="285750" lvl="0" indent="-273050" defTabSz="914400">
              <a:lnSpc>
                <a:spcPct val="150000"/>
              </a:lnSpc>
              <a:buClr>
                <a:srgbClr val="0AD0D9"/>
              </a:buClr>
              <a:buSzPct val="95000"/>
              <a:buFont typeface="Wingdings 2" pitchFamily="18" charset="2"/>
              <a:buChar char=""/>
              <a:tabLst>
                <a:tab pos="285750" algn="l"/>
              </a:tabLst>
            </a:pPr>
            <a:r>
              <a:rPr lang="en-US" altLang="en-US" sz="2000" dirty="0">
                <a:latin typeface="Times New Roman" panose="02020603050405020304" pitchFamily="18" charset="0"/>
                <a:cs typeface="Times New Roman" panose="02020603050405020304" pitchFamily="18" charset="0"/>
                <a:sym typeface="+mn-ea"/>
              </a:rPr>
              <a:t>7. Environment and sustainability: </a:t>
            </a:r>
            <a:endParaRPr lang="en-US" altLang="en-US" sz="2000" dirty="0">
              <a:latin typeface="Times New Roman" panose="02020603050405020304" pitchFamily="18" charset="0"/>
              <a:cs typeface="Times New Roman" panose="02020603050405020304" pitchFamily="18" charset="0"/>
            </a:endParaRPr>
          </a:p>
          <a:p>
            <a:pPr marL="285750" lvl="0" indent="-273050" defTabSz="914400">
              <a:lnSpc>
                <a:spcPct val="150000"/>
              </a:lnSpc>
              <a:buClr>
                <a:srgbClr val="0AD0D9"/>
              </a:buClr>
              <a:buSzPct val="95000"/>
              <a:buFont typeface="Wingdings 2" pitchFamily="18" charset="2"/>
              <a:buChar char=""/>
              <a:tabLst>
                <a:tab pos="285750" algn="l"/>
              </a:tabLst>
            </a:pPr>
            <a:r>
              <a:rPr lang="en-US" altLang="en-US" sz="2000" dirty="0">
                <a:latin typeface="Times New Roman" panose="02020603050405020304" pitchFamily="18" charset="0"/>
                <a:cs typeface="Times New Roman" panose="02020603050405020304" pitchFamily="18" charset="0"/>
                <a:sym typeface="+mn-ea"/>
              </a:rPr>
              <a:t>8. Ethics:</a:t>
            </a:r>
            <a:endParaRPr lang="en-US" altLang="en-US" sz="2000" dirty="0">
              <a:latin typeface="Times New Roman" panose="02020603050405020304" pitchFamily="18" charset="0"/>
              <a:cs typeface="Times New Roman" panose="02020603050405020304" pitchFamily="18" charset="0"/>
            </a:endParaRPr>
          </a:p>
          <a:p>
            <a:pPr marL="285750" lvl="0" indent="-273050" defTabSz="914400">
              <a:lnSpc>
                <a:spcPct val="150000"/>
              </a:lnSpc>
              <a:buClr>
                <a:srgbClr val="0AD0D9"/>
              </a:buClr>
              <a:buSzPct val="95000"/>
              <a:buFont typeface="Wingdings 2" pitchFamily="18" charset="2"/>
              <a:buChar char=""/>
              <a:tabLst>
                <a:tab pos="285750" algn="l"/>
              </a:tabLst>
            </a:pPr>
            <a:r>
              <a:rPr lang="en-US" altLang="en-US" sz="2000" dirty="0">
                <a:latin typeface="Times New Roman" panose="02020603050405020304" pitchFamily="18" charset="0"/>
                <a:cs typeface="Times New Roman" panose="02020603050405020304" pitchFamily="18" charset="0"/>
                <a:sym typeface="+mn-ea"/>
              </a:rPr>
              <a:t>9. Individual and team work: </a:t>
            </a:r>
            <a:endParaRPr lang="en-US" altLang="en-US" sz="2000" dirty="0">
              <a:latin typeface="Times New Roman" panose="02020603050405020304" pitchFamily="18" charset="0"/>
              <a:cs typeface="Times New Roman" panose="02020603050405020304" pitchFamily="18" charset="0"/>
            </a:endParaRPr>
          </a:p>
          <a:p>
            <a:pPr marL="285750" lvl="0" indent="-273050" defTabSz="914400">
              <a:lnSpc>
                <a:spcPct val="150000"/>
              </a:lnSpc>
              <a:buClr>
                <a:srgbClr val="0AD0D9"/>
              </a:buClr>
              <a:buSzPct val="95000"/>
              <a:buFont typeface="Wingdings 2" pitchFamily="18" charset="2"/>
              <a:buChar char=""/>
              <a:tabLst>
                <a:tab pos="285750" algn="l"/>
              </a:tabLst>
            </a:pPr>
            <a:r>
              <a:rPr lang="en-US" altLang="en-US" sz="2000" dirty="0">
                <a:latin typeface="Times New Roman" panose="02020603050405020304" pitchFamily="18" charset="0"/>
                <a:cs typeface="Times New Roman" panose="02020603050405020304" pitchFamily="18" charset="0"/>
                <a:sym typeface="+mn-ea"/>
              </a:rPr>
              <a:t>10. Communication: </a:t>
            </a:r>
            <a:endParaRPr lang="en-US" altLang="en-US" sz="2000" dirty="0">
              <a:latin typeface="Times New Roman" panose="02020603050405020304" pitchFamily="18" charset="0"/>
              <a:cs typeface="Times New Roman" panose="02020603050405020304" pitchFamily="18" charset="0"/>
            </a:endParaRPr>
          </a:p>
          <a:p>
            <a:pPr marL="285750" lvl="0" indent="-273050" defTabSz="914400">
              <a:lnSpc>
                <a:spcPct val="150000"/>
              </a:lnSpc>
              <a:buClr>
                <a:srgbClr val="0AD0D9"/>
              </a:buClr>
              <a:buSzPct val="95000"/>
              <a:buFont typeface="Wingdings 2" pitchFamily="18" charset="2"/>
              <a:buChar char=""/>
              <a:tabLst>
                <a:tab pos="285750" algn="l"/>
              </a:tabLst>
            </a:pPr>
            <a:r>
              <a:rPr lang="en-US" altLang="en-US" sz="2000" dirty="0">
                <a:latin typeface="Times New Roman" panose="02020603050405020304" pitchFamily="18" charset="0"/>
                <a:cs typeface="Times New Roman" panose="02020603050405020304" pitchFamily="18" charset="0"/>
                <a:sym typeface="+mn-ea"/>
              </a:rPr>
              <a:t>11. Project management and finance: </a:t>
            </a:r>
            <a:endParaRPr lang="en-US" altLang="en-US" sz="2000" dirty="0">
              <a:latin typeface="Times New Roman" panose="02020603050405020304" pitchFamily="18" charset="0"/>
              <a:cs typeface="Times New Roman" panose="02020603050405020304" pitchFamily="18" charset="0"/>
            </a:endParaRPr>
          </a:p>
          <a:p>
            <a:pPr marL="285750" lvl="0" indent="-273050" defTabSz="914400">
              <a:lnSpc>
                <a:spcPct val="150000"/>
              </a:lnSpc>
              <a:buClr>
                <a:srgbClr val="0AD0D9"/>
              </a:buClr>
              <a:buSzPct val="95000"/>
              <a:buFont typeface="Wingdings 2" pitchFamily="18" charset="2"/>
              <a:buChar char=""/>
              <a:tabLst>
                <a:tab pos="285750" algn="l"/>
              </a:tabLst>
            </a:pPr>
            <a:r>
              <a:rPr lang="en-US" altLang="en-US" sz="2000" dirty="0">
                <a:latin typeface="Times New Roman" panose="02020603050405020304" pitchFamily="18" charset="0"/>
                <a:cs typeface="Times New Roman" panose="02020603050405020304" pitchFamily="18" charset="0"/>
                <a:sym typeface="+mn-ea"/>
              </a:rPr>
              <a:t>12. Life-long learning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17</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eaLnBrk="1" hangingPunct="1">
              <a:buClr>
                <a:srgbClr val="000000"/>
              </a:buClr>
              <a:buFont typeface="Calibri" panose="020F0502020204030204" charset="0"/>
              <a:buNone/>
            </a:pPr>
            <a:r>
              <a:rPr dirty="0">
                <a:latin typeface="Times New Roman" panose="02020603050405020304" pitchFamily="18" charset="0"/>
                <a:cs typeface="Calibri" panose="020F0502020204030204" charset="0"/>
                <a:sym typeface="Calibri" panose="020F0502020204030204" charset="0"/>
              </a:rPr>
              <a:t>CO-PO Mapping</a:t>
            </a:r>
            <a:endParaRPr lang="en-US" dirty="0"/>
          </a:p>
        </p:txBody>
      </p:sp>
      <p:pic>
        <p:nvPicPr>
          <p:cNvPr id="3" name="Picture 2"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8677" name="Google Shape;142;p17"/>
          <p:cNvSpPr txBox="1"/>
          <p:nvPr>
            <p:custDataLst>
              <p:tags r:id="rId1"/>
            </p:custDataLst>
          </p:nvPr>
        </p:nvSpPr>
        <p:spPr>
          <a:xfrm>
            <a:off x="1092200" y="790575"/>
            <a:ext cx="7348538" cy="817563"/>
          </a:xfrm>
          <a:prstGeom prst="rect">
            <a:avLst/>
          </a:prstGeom>
          <a:noFill/>
          <a:ln w="9525">
            <a:noFill/>
          </a:ln>
        </p:spPr>
        <p:txBody>
          <a:bodyPr lIns="91425" tIns="91425" rIns="91425" bIns="91425"/>
          <a:lstStyle>
            <a:lvl1pPr marL="342900" indent="-3429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5pPr>
          </a:lstStyle>
          <a:p>
            <a:pPr marL="0" lvl="0" indent="0" algn="ctr" eaLnBrk="1" hangingPunct="1">
              <a:lnSpc>
                <a:spcPct val="115000"/>
              </a:lnSpc>
              <a:spcBef>
                <a:spcPts val="1200"/>
              </a:spcBef>
              <a:buNone/>
            </a:pPr>
            <a:r>
              <a:rPr lang="en-US" altLang="en-US" sz="2400" dirty="0">
                <a:latin typeface="Times New Roman" panose="02020603050405020304" pitchFamily="18" charset="0"/>
                <a:cs typeface="Times New Roman" panose="02020603050405020304" pitchFamily="18" charset="0"/>
                <a:sym typeface="Times New Roman" panose="02020603050405020304" pitchFamily="18" charset="0"/>
              </a:rPr>
              <a:t>Mapping of Course Outcomes and Program Outcomes</a:t>
            </a:r>
            <a:r>
              <a:rPr lang="en-US" altLang="en-US" sz="2200" dirty="0">
                <a:latin typeface="Times New Roman" panose="02020603050405020304" pitchFamily="18" charset="0"/>
                <a:cs typeface="Times New Roman" panose="02020603050405020304" pitchFamily="18" charset="0"/>
                <a:sym typeface="Times New Roman" panose="02020603050405020304" pitchFamily="18" charset="0"/>
              </a:rPr>
              <a:t>:</a:t>
            </a:r>
          </a:p>
          <a:p>
            <a:pPr marL="0" lvl="0" indent="0" eaLnBrk="1" hangingPunct="1">
              <a:spcBef>
                <a:spcPts val="1200"/>
              </a:spcBef>
              <a:buNone/>
            </a:pPr>
            <a:endParaRPr lang="en-US" altLang="en-US" dirty="0">
              <a:latin typeface="Calibri" panose="020F0502020204030204" charset="0"/>
              <a:ea typeface="Times New Roman" panose="02020603050405020304" pitchFamily="18" charset="0"/>
              <a:sym typeface="Calibri" panose="020F0502020204030204" charset="0"/>
            </a:endParaRPr>
          </a:p>
        </p:txBody>
      </p:sp>
      <p:sp>
        <p:nvSpPr>
          <p:cNvPr id="8" name="Content Placeholder 7">
            <a:extLst>
              <a:ext uri="{FF2B5EF4-FFF2-40B4-BE49-F238E27FC236}">
                <a16:creationId xmlns:a16="http://schemas.microsoft.com/office/drawing/2014/main" id="{DCE22279-F245-1231-8595-288F5DDF98B2}"/>
              </a:ext>
            </a:extLst>
          </p:cNvPr>
          <p:cNvSpPr>
            <a:spLocks noGrp="1"/>
          </p:cNvSpPr>
          <p:nvPr>
            <p:ph idx="1"/>
          </p:nvPr>
        </p:nvSpPr>
        <p:spPr/>
        <p:txBody>
          <a:bodyPr/>
          <a:lstStyle/>
          <a:p>
            <a:endParaRPr lang="en-IN" dirty="0"/>
          </a:p>
        </p:txBody>
      </p:sp>
      <p:pic>
        <p:nvPicPr>
          <p:cNvPr id="9" name="Picture 8">
            <a:extLst>
              <a:ext uri="{FF2B5EF4-FFF2-40B4-BE49-F238E27FC236}">
                <a16:creationId xmlns:a16="http://schemas.microsoft.com/office/drawing/2014/main" id="{3AC2C4FF-4D87-FECA-9B54-00ABFA1B95BB}"/>
              </a:ext>
            </a:extLst>
          </p:cNvPr>
          <p:cNvPicPr>
            <a:picLocks noChangeAspect="1"/>
          </p:cNvPicPr>
          <p:nvPr/>
        </p:nvPicPr>
        <p:blipFill>
          <a:blip r:embed="rId4"/>
          <a:stretch>
            <a:fillRect/>
          </a:stretch>
        </p:blipFill>
        <p:spPr>
          <a:xfrm>
            <a:off x="609600" y="1361658"/>
            <a:ext cx="10972799" cy="47645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36678-F484-2561-EEA0-BB15B7439F8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EAFA37B-587B-21B6-B2A6-37ECE6C73AD0}"/>
              </a:ext>
            </a:extLst>
          </p:cNvPr>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a:extLst>
              <a:ext uri="{FF2B5EF4-FFF2-40B4-BE49-F238E27FC236}">
                <a16:creationId xmlns:a16="http://schemas.microsoft.com/office/drawing/2014/main" id="{0052D1A5-93E5-172B-E5AB-F4F3C0390053}"/>
              </a:ext>
            </a:extLst>
          </p:cNvPr>
          <p:cNvSpPr>
            <a:spLocks noGrp="1"/>
          </p:cNvSpPr>
          <p:nvPr>
            <p:ph type="ftr" sz="quarter" idx="11"/>
          </p:nvPr>
        </p:nvSpPr>
        <p:spPr/>
        <p:txBody>
          <a:bodyPr/>
          <a:lstStyle/>
          <a:p>
            <a:r>
              <a:rPr lang="en-US" dirty="0"/>
              <a:t>Vaishali Mishra             WT                 UNIT 1</a:t>
            </a:r>
          </a:p>
        </p:txBody>
      </p:sp>
      <p:sp>
        <p:nvSpPr>
          <p:cNvPr id="6" name="Slide Number Placeholder 5">
            <a:extLst>
              <a:ext uri="{FF2B5EF4-FFF2-40B4-BE49-F238E27FC236}">
                <a16:creationId xmlns:a16="http://schemas.microsoft.com/office/drawing/2014/main" id="{A5F723B1-3659-A5CE-B4D4-77C6A946A0E7}"/>
              </a:ext>
            </a:extLst>
          </p:cNvPr>
          <p:cNvSpPr>
            <a:spLocks noGrp="1"/>
          </p:cNvSpPr>
          <p:nvPr>
            <p:ph type="sldNum" sz="quarter" idx="12"/>
          </p:nvPr>
        </p:nvSpPr>
        <p:spPr/>
        <p:txBody>
          <a:bodyPr/>
          <a:lstStyle/>
          <a:p>
            <a:fld id="{B6F15528-21DE-4FAA-801E-634DDDAF4B2B}" type="slidenum">
              <a:rPr lang="en-US" smtClean="0"/>
              <a:t>18</a:t>
            </a:fld>
            <a:endParaRPr lang="en-US"/>
          </a:p>
        </p:txBody>
      </p:sp>
      <p:sp>
        <p:nvSpPr>
          <p:cNvPr id="7" name="Title 1">
            <a:extLst>
              <a:ext uri="{FF2B5EF4-FFF2-40B4-BE49-F238E27FC236}">
                <a16:creationId xmlns:a16="http://schemas.microsoft.com/office/drawing/2014/main" id="{59B33CCC-B87E-A27C-F939-08EA988652FB}"/>
              </a:ext>
            </a:extLst>
          </p:cNvPr>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eaLnBrk="1" hangingPunct="1">
              <a:buClr>
                <a:srgbClr val="000000"/>
              </a:buClr>
              <a:buFont typeface="Calibri" panose="020F0502020204030204" charset="0"/>
              <a:buNone/>
            </a:pPr>
            <a:r>
              <a:rPr lang="en-US" dirty="0"/>
              <a:t>Result </a:t>
            </a:r>
            <a:r>
              <a:rPr lang="en-US" dirty="0" err="1"/>
              <a:t>Ananlysis</a:t>
            </a:r>
            <a:r>
              <a:rPr lang="en-US" dirty="0"/>
              <a:t>(2023-2024)</a:t>
            </a:r>
          </a:p>
        </p:txBody>
      </p:sp>
      <p:pic>
        <p:nvPicPr>
          <p:cNvPr id="3" name="Picture 2" descr="A black and red logo&#10;&#10;Description automatically generated">
            <a:extLst>
              <a:ext uri="{FF2B5EF4-FFF2-40B4-BE49-F238E27FC236}">
                <a16:creationId xmlns:a16="http://schemas.microsoft.com/office/drawing/2014/main" id="{305B8DCE-14D9-69E3-581E-13ACC737E0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8677" name="Google Shape;142;p17">
            <a:extLst>
              <a:ext uri="{FF2B5EF4-FFF2-40B4-BE49-F238E27FC236}">
                <a16:creationId xmlns:a16="http://schemas.microsoft.com/office/drawing/2014/main" id="{F6BE5529-948D-5B39-9FB7-8034C9F99B4D}"/>
              </a:ext>
            </a:extLst>
          </p:cNvPr>
          <p:cNvSpPr txBox="1"/>
          <p:nvPr>
            <p:custDataLst>
              <p:tags r:id="rId1"/>
            </p:custDataLst>
          </p:nvPr>
        </p:nvSpPr>
        <p:spPr>
          <a:xfrm>
            <a:off x="1092200" y="790575"/>
            <a:ext cx="7348538" cy="817563"/>
          </a:xfrm>
          <a:prstGeom prst="rect">
            <a:avLst/>
          </a:prstGeom>
          <a:noFill/>
          <a:ln w="9525">
            <a:noFill/>
          </a:ln>
        </p:spPr>
        <p:txBody>
          <a:bodyPr lIns="91425" tIns="91425" rIns="91425" bIns="91425"/>
          <a:lstStyle>
            <a:lvl1pPr marL="342900" indent="-3429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5pPr>
          </a:lstStyle>
          <a:p>
            <a:pPr marL="0" lvl="0" indent="0" eaLnBrk="1" hangingPunct="1">
              <a:spcBef>
                <a:spcPts val="1200"/>
              </a:spcBef>
              <a:buNone/>
            </a:pPr>
            <a:endParaRPr lang="en-US" altLang="en-US" dirty="0">
              <a:latin typeface="Calibri" panose="020F0502020204030204" charset="0"/>
              <a:ea typeface="Times New Roman" panose="02020603050405020304" pitchFamily="18" charset="0"/>
              <a:sym typeface="Calibri" panose="020F0502020204030204" charset="0"/>
            </a:endParaRPr>
          </a:p>
        </p:txBody>
      </p:sp>
      <p:pic>
        <p:nvPicPr>
          <p:cNvPr id="2" name="Content Placeholder 1">
            <a:extLst>
              <a:ext uri="{FF2B5EF4-FFF2-40B4-BE49-F238E27FC236}">
                <a16:creationId xmlns:a16="http://schemas.microsoft.com/office/drawing/2014/main" id="{2171000B-5B12-9E7F-7731-364E3FF84A0E}"/>
              </a:ext>
            </a:extLst>
          </p:cNvPr>
          <p:cNvPicPr>
            <a:picLocks noGrp="1" noChangeAspect="1"/>
          </p:cNvPicPr>
          <p:nvPr>
            <p:ph idx="1"/>
          </p:nvPr>
        </p:nvPicPr>
        <p:blipFill>
          <a:blip r:embed="rId4"/>
          <a:stretch>
            <a:fillRect/>
          </a:stretch>
        </p:blipFill>
        <p:spPr>
          <a:xfrm>
            <a:off x="889861" y="2590801"/>
            <a:ext cx="10412278" cy="1447800"/>
          </a:xfrm>
          <a:prstGeom prst="rect">
            <a:avLst/>
          </a:prstGeom>
        </p:spPr>
      </p:pic>
    </p:spTree>
    <p:extLst>
      <p:ext uri="{BB962C8B-B14F-4D97-AF65-F5344CB8AC3E}">
        <p14:creationId xmlns:p14="http://schemas.microsoft.com/office/powerpoint/2010/main" val="75568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19</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US" noProof="0" dirty="0">
                <a:ln>
                  <a:noFill/>
                </a:ln>
                <a:effectLst/>
                <a:uLnTx/>
                <a:uFillTx/>
                <a:latin typeface="Calibri" panose="020F0502020204030204" charset="0"/>
                <a:ea typeface="Calibri" panose="020F0502020204030204" charset="0"/>
                <a:cs typeface="Mangal" panose="02040503050203030202" pitchFamily="18" charset="0"/>
                <a:sym typeface="Arial" panose="020B0604020202020204" pitchFamily="34" charset="0"/>
              </a:rPr>
              <a:t>Program Specific Outcomes</a:t>
            </a:r>
            <a:endParaRPr lang="en-US" dirty="0"/>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 name="Text Box 1"/>
          <p:cNvSpPr txBox="1"/>
          <p:nvPr/>
        </p:nvSpPr>
        <p:spPr>
          <a:xfrm>
            <a:off x="609600" y="1043940"/>
            <a:ext cx="10873740" cy="4487545"/>
          </a:xfrm>
          <a:prstGeom prst="rect">
            <a:avLst/>
          </a:prstGeom>
          <a:noFill/>
        </p:spPr>
        <p:txBody>
          <a:bodyPr wrap="square" rtlCol="0" anchor="t">
            <a:noAutofit/>
          </a:bodyPr>
          <a:lstStyle/>
          <a:p>
            <a:pPr fontAlgn="base"/>
            <a:r>
              <a:rPr lang="en-US" sz="2200" b="1" dirty="0">
                <a:latin typeface="Times New Roman" panose="02020603050405020304" pitchFamily="18" charset="0"/>
                <a:cs typeface="Times New Roman" panose="02020603050405020304" pitchFamily="18" charset="0"/>
              </a:rPr>
              <a:t>PSO1</a:t>
            </a:r>
            <a:r>
              <a:rPr lang="en-US" sz="2200" dirty="0">
                <a:latin typeface="Times New Roman" panose="02020603050405020304" pitchFamily="18" charset="0"/>
                <a:cs typeface="Times New Roman" panose="02020603050405020304" pitchFamily="18" charset="0"/>
              </a:rPr>
              <a:t>: Identify, analyze real world problems and design their ethical solutions using artificial intelligence, robotics, virtual/augmented reality, data analytics, block chain technology, and cloud computing.</a:t>
            </a:r>
            <a:endParaRPr lang="en-IN" sz="2200" dirty="0">
              <a:latin typeface="Times New Roman" panose="02020603050405020304" pitchFamily="18" charset="0"/>
              <a:cs typeface="Times New Roman" panose="02020603050405020304" pitchFamily="18" charset="0"/>
            </a:endParaRPr>
          </a:p>
          <a:p>
            <a:pPr algn="just">
              <a:defRPr/>
            </a:pPr>
            <a:r>
              <a:rPr lang="en-US" sz="2200" b="1" dirty="0">
                <a:latin typeface="Times New Roman" panose="02020603050405020304" pitchFamily="18" charset="0"/>
                <a:cs typeface="Times New Roman" panose="02020603050405020304" pitchFamily="18" charset="0"/>
              </a:rPr>
              <a:t>PSO2:</a:t>
            </a:r>
            <a:r>
              <a:rPr lang="en-US" sz="2200" dirty="0">
                <a:latin typeface="Times New Roman" panose="02020603050405020304" pitchFamily="18" charset="0"/>
                <a:cs typeface="Times New Roman" panose="02020603050405020304" pitchFamily="18" charset="0"/>
              </a:rPr>
              <a:t>Design and develop the hardware sensor devices and related interfacing software systems for solving complex engineering problems.</a:t>
            </a:r>
            <a:endParaRPr lang="en-IN" sz="2200" dirty="0">
              <a:latin typeface="Times New Roman" panose="02020603050405020304" pitchFamily="18" charset="0"/>
              <a:cs typeface="Times New Roman" panose="02020603050405020304" pitchFamily="18" charset="0"/>
            </a:endParaRPr>
          </a:p>
          <a:p>
            <a:pPr algn="just">
              <a:defRPr/>
            </a:pPr>
            <a:r>
              <a:rPr lang="en-US" sz="2200" b="1" dirty="0">
                <a:latin typeface="Times New Roman" panose="02020603050405020304" pitchFamily="18" charset="0"/>
                <a:cs typeface="Times New Roman" panose="02020603050405020304" pitchFamily="18" charset="0"/>
              </a:rPr>
              <a:t>PSO3:</a:t>
            </a:r>
            <a:r>
              <a:rPr lang="en-US" sz="2200" dirty="0">
                <a:latin typeface="Times New Roman" panose="02020603050405020304" pitchFamily="18" charset="0"/>
                <a:cs typeface="Times New Roman" panose="02020603050405020304" pitchFamily="18" charset="0"/>
              </a:rPr>
              <a:t>Understand inter-disciplinary computing techniques and to apply them in the design of advanced computing.</a:t>
            </a:r>
            <a:endParaRPr lang="en-IN" sz="2200" dirty="0">
              <a:latin typeface="Times New Roman" panose="02020603050405020304" pitchFamily="18" charset="0"/>
              <a:cs typeface="Times New Roman" panose="02020603050405020304" pitchFamily="18" charset="0"/>
            </a:endParaRPr>
          </a:p>
          <a:p>
            <a:pPr algn="just">
              <a:defRPr/>
            </a:pPr>
            <a:r>
              <a:rPr lang="en-US" sz="2200" b="1" dirty="0">
                <a:latin typeface="Times New Roman" panose="02020603050405020304" pitchFamily="18" charset="0"/>
                <a:cs typeface="Times New Roman" panose="02020603050405020304" pitchFamily="18" charset="0"/>
              </a:rPr>
              <a:t>PSO4:</a:t>
            </a:r>
            <a:r>
              <a:rPr lang="en-US" sz="2200" dirty="0">
                <a:latin typeface="Times New Roman" panose="02020603050405020304" pitchFamily="18" charset="0"/>
                <a:cs typeface="Times New Roman" panose="02020603050405020304" pitchFamily="18" charset="0"/>
              </a:rPr>
              <a:t> Conduct investigation of complex problems with the help of technical, managerial, leadership qualities, and modern engineering tools provided by industry-sponsored laboratories.</a:t>
            </a:r>
            <a:endParaRPr lang="en-IN" sz="2200" dirty="0">
              <a:latin typeface="Times New Roman" panose="02020603050405020304" pitchFamily="18" charset="0"/>
              <a:cs typeface="Times New Roman" panose="02020603050405020304" pitchFamily="18" charset="0"/>
            </a:endParaRPr>
          </a:p>
          <a:p>
            <a:pPr algn="just">
              <a:spcBef>
                <a:spcPts val="365"/>
              </a:spcBef>
              <a:spcAft>
                <a:spcPct val="0"/>
              </a:spcAft>
              <a:buClr>
                <a:srgbClr val="000000"/>
              </a:buClr>
            </a:pPr>
            <a:endParaRPr lang="en-US" sz="2200" dirty="0">
              <a:latin typeface="Arial" panose="020B0604020202020204"/>
              <a:ea typeface="Arial" panose="020B0604020202020204"/>
              <a:cs typeface="Arial" panose="020B0604020202020204"/>
              <a:sym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20</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algn="ctr" defTabSz="914400">
              <a:buClrTx/>
              <a:buSzTx/>
              <a:buFontTx/>
              <a:buNone/>
              <a:defRPr/>
            </a:pPr>
            <a:r>
              <a:rPr lang="en-US" noProof="0" dirty="0">
                <a:solidFill>
                  <a:srgbClr val="000000"/>
                </a:solidFill>
                <a:latin typeface="Arial" panose="020B0604020202020204" pitchFamily="34" charset="0"/>
                <a:cs typeface="Arial" panose="020B0604020202020204" pitchFamily="34" charset="0"/>
                <a:sym typeface="Arial" panose="020B0604020202020204" pitchFamily="34" charset="0"/>
              </a:rPr>
              <a:t>COs and PSOs Mapping</a:t>
            </a:r>
            <a:endParaRPr lang="en-US" dirty="0"/>
          </a:p>
        </p:txBody>
      </p:sp>
      <p:pic>
        <p:nvPicPr>
          <p:cNvPr id="3" name="Picture 2"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1803" name="TextBox 10"/>
          <p:cNvSpPr txBox="1"/>
          <p:nvPr>
            <p:custDataLst>
              <p:tags r:id="rId1"/>
            </p:custDataLst>
          </p:nvPr>
        </p:nvSpPr>
        <p:spPr>
          <a:xfrm>
            <a:off x="787400" y="957263"/>
            <a:ext cx="8370888" cy="830262"/>
          </a:xfrm>
          <a:prstGeom prst="rect">
            <a:avLst/>
          </a:prstGeom>
          <a:noFill/>
          <a:ln w="9525">
            <a:noFill/>
          </a:ln>
        </p:spPr>
        <p:txBody>
          <a:bodyPr>
            <a:spAutoFit/>
          </a:bodyPr>
          <a:lstStyle>
            <a:lvl1pPr marL="342900" indent="-3429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5pPr>
          </a:lstStyle>
          <a:p>
            <a:pPr marL="0" lvl="0" indent="0" eaLnBrk="1" hangingPunct="1">
              <a:buClrTx/>
              <a:buFontTx/>
              <a:buNone/>
            </a:pPr>
            <a:r>
              <a:rPr lang="en-US" altLang="en-US" sz="2400" dirty="0">
                <a:latin typeface="Times New Roman" panose="02020603050405020304" pitchFamily="18" charset="0"/>
                <a:cs typeface="Times New Roman" panose="02020603050405020304" pitchFamily="18" charset="0"/>
              </a:rPr>
              <a:t>Mapping of Program Specific Outcomes and Course Outcomes:</a:t>
            </a:r>
          </a:p>
          <a:p>
            <a:pPr marL="0" lvl="0" indent="0" eaLnBrk="1" hangingPunct="1">
              <a:buClrTx/>
              <a:buFontTx/>
              <a:buNone/>
            </a:pPr>
            <a:endParaRPr lang="en-US" altLang="en-US" sz="2400" dirty="0">
              <a:ea typeface="Times New Roman" panose="02020603050405020304" pitchFamily="18" charset="0"/>
            </a:endParaRPr>
          </a:p>
        </p:txBody>
      </p:sp>
      <p:graphicFrame>
        <p:nvGraphicFramePr>
          <p:cNvPr id="9" name="Google Shape;157;p18">
            <a:extLst>
              <a:ext uri="{FF2B5EF4-FFF2-40B4-BE49-F238E27FC236}">
                <a16:creationId xmlns:a16="http://schemas.microsoft.com/office/drawing/2014/main" id="{C78EBB7C-7A10-8EB1-F96F-925DACF58D48}"/>
              </a:ext>
            </a:extLst>
          </p:cNvPr>
          <p:cNvGraphicFramePr/>
          <p:nvPr>
            <p:extLst>
              <p:ext uri="{D42A27DB-BD31-4B8C-83A1-F6EECF244321}">
                <p14:modId xmlns:p14="http://schemas.microsoft.com/office/powerpoint/2010/main" val="4255733470"/>
              </p:ext>
            </p:extLst>
          </p:nvPr>
        </p:nvGraphicFramePr>
        <p:xfrm>
          <a:off x="787400" y="1547813"/>
          <a:ext cx="9880600" cy="4167188"/>
        </p:xfrm>
        <a:graphic>
          <a:graphicData uri="http://schemas.openxmlformats.org/drawingml/2006/table">
            <a:tbl>
              <a:tblPr>
                <a:noFill/>
              </a:tblPr>
              <a:tblGrid>
                <a:gridCol w="3027707">
                  <a:extLst>
                    <a:ext uri="{9D8B030D-6E8A-4147-A177-3AD203B41FA5}">
                      <a16:colId xmlns:a16="http://schemas.microsoft.com/office/drawing/2014/main" val="20000"/>
                    </a:ext>
                  </a:extLst>
                </a:gridCol>
                <a:gridCol w="1639298">
                  <a:extLst>
                    <a:ext uri="{9D8B030D-6E8A-4147-A177-3AD203B41FA5}">
                      <a16:colId xmlns:a16="http://schemas.microsoft.com/office/drawing/2014/main" val="20001"/>
                    </a:ext>
                  </a:extLst>
                </a:gridCol>
                <a:gridCol w="1806594">
                  <a:extLst>
                    <a:ext uri="{9D8B030D-6E8A-4147-A177-3AD203B41FA5}">
                      <a16:colId xmlns:a16="http://schemas.microsoft.com/office/drawing/2014/main" val="20002"/>
                    </a:ext>
                  </a:extLst>
                </a:gridCol>
                <a:gridCol w="1505500">
                  <a:extLst>
                    <a:ext uri="{9D8B030D-6E8A-4147-A177-3AD203B41FA5}">
                      <a16:colId xmlns:a16="http://schemas.microsoft.com/office/drawing/2014/main" val="20003"/>
                    </a:ext>
                  </a:extLst>
                </a:gridCol>
                <a:gridCol w="1901501">
                  <a:extLst>
                    <a:ext uri="{9D8B030D-6E8A-4147-A177-3AD203B41FA5}">
                      <a16:colId xmlns:a16="http://schemas.microsoft.com/office/drawing/2014/main" val="20004"/>
                    </a:ext>
                  </a:extLst>
                </a:gridCol>
              </a:tblGrid>
              <a:tr h="499362">
                <a:tc rowSpan="2">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Course Outcomes</a:t>
                      </a:r>
                      <a:endParaRPr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gridSpan="4">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Program Specific Outcomes</a:t>
                      </a:r>
                      <a:endParaRPr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9362">
                <a:tc vMerge="1">
                  <a:txBody>
                    <a:bodyPr/>
                    <a:lstStyle/>
                    <a:p>
                      <a:endParaRPr lang="en-US"/>
                    </a:p>
                  </a:txBody>
                  <a:tcPr/>
                </a:tc>
                <a:tc>
                  <a:txBody>
                    <a:bodyPr/>
                    <a:lstStyle/>
                    <a:p>
                      <a:pPr marL="0" lvl="0" indent="0" algn="ctr" rtl="0">
                        <a:lnSpc>
                          <a:spcPct val="115000"/>
                        </a:lnSpc>
                        <a:spcBef>
                          <a:spcPts val="0"/>
                        </a:spcBef>
                        <a:spcAft>
                          <a:spcPts val="0"/>
                        </a:spcAft>
                        <a:buNone/>
                      </a:pPr>
                      <a:r>
                        <a:rPr lang="en-US"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rPr>
                        <a:t>PSO1</a:t>
                      </a:r>
                      <a:endParaRPr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rPr>
                        <a:t>PSO2</a:t>
                      </a:r>
                      <a:endParaRPr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rPr>
                        <a:t>PSO3</a:t>
                      </a:r>
                      <a:endParaRPr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PSO4</a:t>
                      </a:r>
                      <a:endParaRPr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42435">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CO1</a:t>
                      </a:r>
                      <a:endParaRPr sz="1800" b="1" dirty="0">
                        <a:latin typeface="Times New Roman" panose="02020603050405020304" pitchFamily="18" charset="0"/>
                        <a:cs typeface="Times New Roman" panose="02020603050405020304" pitchFamily="18" charset="0"/>
                      </a:endParaRP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extLst>
                  <a:ext uri="{0D108BD9-81ED-4DB2-BD59-A6C34878D82A}">
                    <a16:rowId xmlns:a16="http://schemas.microsoft.com/office/drawing/2014/main" val="10002"/>
                  </a:ext>
                </a:extLst>
              </a:tr>
              <a:tr h="542435">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CO2</a:t>
                      </a: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42435">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CO3</a:t>
                      </a: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Times New Roman" panose="02020603050405020304"/>
                          <a:cs typeface="Times New Roman" panose="02020603050405020304" pitchFamily="18" charset="0"/>
                        </a:rPr>
                        <a:t>3</a:t>
                      </a:r>
                      <a:endParaRPr lang="en-US" sz="1800" b="1" dirty="0">
                        <a:latin typeface="Times New Roman" panose="02020603050405020304" pitchFamily="18" charset="0"/>
                        <a:ea typeface="Calibri" panose="020F0502020204030204"/>
                        <a:cs typeface="Times New Roman" panose="02020603050405020304" pitchFamily="18" charset="0"/>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42435">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CO4</a:t>
                      </a: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Times New Roman" panose="02020603050405020304"/>
                          <a:cs typeface="Times New Roman" panose="02020603050405020304" pitchFamily="18" charset="0"/>
                        </a:rPr>
                        <a:t>2</a:t>
                      </a:r>
                      <a:endParaRPr lang="en-US" sz="1800" b="1" dirty="0">
                        <a:latin typeface="Times New Roman" panose="02020603050405020304" pitchFamily="18" charset="0"/>
                        <a:ea typeface="Calibri" panose="020F0502020204030204"/>
                        <a:cs typeface="Times New Roman" panose="02020603050405020304" pitchFamily="18" charset="0"/>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99362">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CO5</a:t>
                      </a: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99362">
                <a:tc>
                  <a:txBody>
                    <a:bodyPr/>
                    <a:lstStyle/>
                    <a:p>
                      <a:pPr marL="0" marR="0" lvl="0" indent="0" algn="ctr" rtl="0">
                        <a:lnSpc>
                          <a:spcPct val="115000"/>
                        </a:lnSpc>
                        <a:spcBef>
                          <a:spcPts val="0"/>
                        </a:spcBef>
                        <a:spcAft>
                          <a:spcPts val="0"/>
                        </a:spcAft>
                        <a:buClr>
                          <a:srgbClr val="000000"/>
                        </a:buClr>
                        <a:buFont typeface="Arial" panose="020B0604020202020204"/>
                        <a:buNone/>
                      </a:pPr>
                      <a:r>
                        <a:rPr lang="en-US" sz="18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AVG</a:t>
                      </a:r>
                      <a:endParaRPr sz="18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rtl="0">
                        <a:lnSpc>
                          <a:spcPct val="115000"/>
                        </a:lnSpc>
                        <a:spcBef>
                          <a:spcPts val="0"/>
                        </a:spcBef>
                        <a:spcAft>
                          <a:spcPts val="0"/>
                        </a:spcAft>
                        <a:buClr>
                          <a:srgbClr val="000000"/>
                        </a:buClr>
                        <a:buFont typeface="Arial" panose="020B0604020202020204"/>
                      </a:pPr>
                      <a:r>
                        <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2</a:t>
                      </a:r>
                      <a:r>
                        <a:rPr lang="en-IN"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.2</a:t>
                      </a:r>
                      <a:endPar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rtl="0">
                        <a:lnSpc>
                          <a:spcPct val="115000"/>
                        </a:lnSpc>
                        <a:spcBef>
                          <a:spcPts val="0"/>
                        </a:spcBef>
                        <a:spcAft>
                          <a:spcPts val="0"/>
                        </a:spcAft>
                        <a:buClr>
                          <a:srgbClr val="000000"/>
                        </a:buClr>
                        <a:buFont typeface="Arial" panose="020B0604020202020204"/>
                      </a:pPr>
                      <a:r>
                        <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1</a:t>
                      </a:r>
                      <a:r>
                        <a:rPr lang="en-IN"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.8</a:t>
                      </a:r>
                      <a:endPar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rtl="0">
                        <a:lnSpc>
                          <a:spcPct val="115000"/>
                        </a:lnSpc>
                        <a:spcBef>
                          <a:spcPts val="0"/>
                        </a:spcBef>
                        <a:spcAft>
                          <a:spcPts val="0"/>
                        </a:spcAft>
                        <a:buClr>
                          <a:srgbClr val="000000"/>
                        </a:buClr>
                        <a:buFont typeface="Arial" panose="020B0604020202020204"/>
                      </a:pPr>
                      <a:r>
                        <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2</a:t>
                      </a:r>
                      <a:r>
                        <a:rPr lang="en-IN"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.2</a:t>
                      </a:r>
                      <a:endPar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rtl="0">
                        <a:lnSpc>
                          <a:spcPct val="115000"/>
                        </a:lnSpc>
                        <a:spcBef>
                          <a:spcPts val="0"/>
                        </a:spcBef>
                        <a:spcAft>
                          <a:spcPts val="0"/>
                        </a:spcAft>
                        <a:buClr>
                          <a:srgbClr val="000000"/>
                        </a:buClr>
                        <a:buFont typeface="Arial" panose="020B0604020202020204"/>
                      </a:pPr>
                      <a:r>
                        <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1.6</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21</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Program Educational Objectives </a:t>
            </a:r>
            <a:endParaRPr lang="en-US" dirty="0"/>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869315" y="1030605"/>
            <a:ext cx="10563860" cy="4722495"/>
          </a:xfrm>
          <a:prstGeom prst="rect">
            <a:avLst/>
          </a:prstGeom>
          <a:noFill/>
        </p:spPr>
        <p:txBody>
          <a:bodyPr wrap="square" rtlCol="0" anchor="t">
            <a:noAutofit/>
          </a:bodyPr>
          <a:lstStyle/>
          <a:p>
            <a:pPr algn="just">
              <a:spcBef>
                <a:spcPts val="365"/>
              </a:spcBef>
              <a:spcAft>
                <a:spcPct val="0"/>
              </a:spcAft>
              <a:buClr>
                <a:srgbClr val="000000"/>
              </a:buClr>
            </a:pPr>
            <a:r>
              <a:rPr lang="en-US" altLang="en-US" sz="2400" b="1" dirty="0">
                <a:latin typeface="Times New Roman" panose="02020603050405020304" pitchFamily="18" charset="0"/>
                <a:cs typeface="Times New Roman" panose="02020603050405020304" pitchFamily="18" charset="0"/>
              </a:rPr>
              <a:t>PEO1: </a:t>
            </a:r>
            <a:r>
              <a:rPr lang="en-US" sz="2400" dirty="0">
                <a:latin typeface="Times New Roman" panose="02020603050405020304" pitchFamily="18" charset="0"/>
                <a:cs typeface="Times New Roman" panose="02020603050405020304" pitchFamily="18" charset="0"/>
              </a:rPr>
              <a:t>To have an excellent scientific and engineering breadth so as to comprehend, analyze, design and provide sustainable solutions for real-life problems using state-of-the-art technologies. </a:t>
            </a:r>
          </a:p>
          <a:p>
            <a:r>
              <a:rPr lang="en-US" altLang="en-US" sz="2400" b="1" dirty="0">
                <a:latin typeface="Times New Roman" panose="02020603050405020304" pitchFamily="18" charset="0"/>
                <a:cs typeface="Times New Roman" panose="02020603050405020304" pitchFamily="18" charset="0"/>
              </a:rPr>
              <a:t>PEO2:</a:t>
            </a:r>
            <a:r>
              <a:rPr lang="en-US" sz="2400" dirty="0">
                <a:latin typeface="Times New Roman" panose="02020603050405020304" pitchFamily="18" charset="0"/>
                <a:cs typeface="Times New Roman" panose="02020603050405020304" pitchFamily="18" charset="0"/>
              </a:rPr>
              <a:t>To have a successful career in industries, to pursue higher studies or to support entrepreneurial endeavors and to face global challenges. </a:t>
            </a:r>
            <a:endParaRPr lang="en-IN" altLang="en-US" sz="2400" dirty="0">
              <a:latin typeface="Times New Roman" panose="02020603050405020304" pitchFamily="18" charset="0"/>
              <a:cs typeface="Times New Roman" panose="02020603050405020304" pitchFamily="18" charset="0"/>
            </a:endParaRPr>
          </a:p>
          <a:p>
            <a:r>
              <a:rPr lang="en-US" altLang="en-US" sz="2400" b="1" dirty="0">
                <a:latin typeface="Times New Roman" panose="02020603050405020304" pitchFamily="18" charset="0"/>
                <a:cs typeface="Times New Roman" panose="02020603050405020304" pitchFamily="18" charset="0"/>
              </a:rPr>
              <a:t>PEO3:</a:t>
            </a:r>
            <a:r>
              <a:rPr lang="en-US" sz="2400" dirty="0">
                <a:latin typeface="Times New Roman" panose="02020603050405020304" pitchFamily="18" charset="0"/>
                <a:cs typeface="Times New Roman" panose="02020603050405020304" pitchFamily="18" charset="0"/>
              </a:rPr>
              <a:t>To have an effective communication skill, professional attitude, ethical values and a desire to learn specific knowledge in emerging trends, technologies for research, innovation and product development and contribution to society. </a:t>
            </a:r>
            <a:endParaRPr lang="en-IN" sz="2400" dirty="0">
              <a:latin typeface="Times New Roman" panose="02020603050405020304" pitchFamily="18" charset="0"/>
              <a:cs typeface="Times New Roman" panose="02020603050405020304" pitchFamily="18" charset="0"/>
            </a:endParaRPr>
          </a:p>
          <a:p>
            <a:pPr algn="just">
              <a:spcBef>
                <a:spcPts val="365"/>
              </a:spcBef>
              <a:spcAft>
                <a:spcPct val="0"/>
              </a:spcAft>
              <a:buClr>
                <a:srgbClr val="000000"/>
              </a:buClr>
            </a:pPr>
            <a:r>
              <a:rPr lang="en-US" altLang="en-US" sz="2400" b="1" dirty="0">
                <a:latin typeface="Times New Roman" panose="02020603050405020304" pitchFamily="18" charset="0"/>
                <a:cs typeface="Times New Roman" panose="02020603050405020304" pitchFamily="18" charset="0"/>
              </a:rPr>
              <a:t>PEO4:</a:t>
            </a:r>
            <a:r>
              <a:rPr lang="en-US" alt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have life-long learning for up-skilling and re-skilling for a successful professional career as an engineer, scientist, entrepreneur, or bureaucrat for the betterment of society.</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22</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IN" noProof="0" dirty="0">
                <a:ln>
                  <a:noFill/>
                </a:ln>
                <a:effectLst/>
                <a:uLnTx/>
                <a:uFillTx/>
                <a:latin typeface="Times New Roman" panose="02020603050405020304" pitchFamily="18" charset="0"/>
                <a:cs typeface="Times New Roman" panose="02020603050405020304" pitchFamily="18" charset="0"/>
                <a:sym typeface="Arial" panose="020B0604020202020204" pitchFamily="34" charset="0"/>
              </a:rPr>
              <a:t>End Semester Question Paper Template </a:t>
            </a:r>
            <a:endParaRPr lang="en-US" dirty="0"/>
          </a:p>
        </p:txBody>
      </p:sp>
      <p:pic>
        <p:nvPicPr>
          <p:cNvPr id="3" name="Picture 2" descr="A black and red logo&#10;&#10;Description automatically genera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2" name="Content Placeholder 1"/>
          <p:cNvSpPr>
            <a:spLocks noGrp="1"/>
          </p:cNvSpPr>
          <p:nvPr>
            <p:ph sz="half" idx="2"/>
            <p:custDataLst>
              <p:tags r:id="rId1"/>
            </p:custDataLst>
          </p:nvPr>
        </p:nvSpPr>
        <p:spPr>
          <a:xfrm>
            <a:off x="613410" y="1158240"/>
            <a:ext cx="10968990" cy="3169285"/>
          </a:xfrm>
        </p:spPr>
        <p:txBody>
          <a:bodyPr spcFirstLastPara="1" vert="horz" wrap="square" lIns="91425" tIns="45700" rIns="91425" bIns="45700" numCol="1" anchor="t" anchorCtr="0" compatLnSpc="1">
            <a:noAutofit/>
          </a:bodyPr>
          <a:lstStyle/>
          <a:p>
            <a:pPr marL="0" indent="0" algn="ctr">
              <a:spcBef>
                <a:spcPts val="365"/>
              </a:spcBef>
              <a:spcAft>
                <a:spcPct val="0"/>
              </a:spcAft>
              <a:buClr>
                <a:srgbClr val="000000"/>
              </a:buClr>
              <a:buFont typeface="Arial" panose="020B0604020202020204" pitchFamily="34" charset="0"/>
              <a:buNone/>
            </a:pPr>
            <a:r>
              <a:rPr lang="en-IN" altLang="x-none" sz="2000" dirty="0">
                <a:latin typeface="Arial" panose="020B0604020202020204"/>
                <a:ea typeface="Arial" panose="020B0604020202020204"/>
                <a:cs typeface="Arial" panose="020B0604020202020204"/>
                <a:sym typeface="Arial" panose="020B0604020202020204" pitchFamily="34" charset="0"/>
              </a:rPr>
              <a:t>B TECH </a:t>
            </a:r>
          </a:p>
          <a:p>
            <a:pPr marL="0" indent="0" algn="ctr">
              <a:spcBef>
                <a:spcPts val="365"/>
              </a:spcBef>
              <a:spcAft>
                <a:spcPct val="0"/>
              </a:spcAft>
              <a:buClr>
                <a:srgbClr val="000000"/>
              </a:buClr>
              <a:buFont typeface="Arial" panose="020B0604020202020204" pitchFamily="34" charset="0"/>
              <a:buNone/>
            </a:pPr>
            <a:r>
              <a:rPr lang="en-IN" altLang="x-none" sz="2000" dirty="0">
                <a:latin typeface="Arial" panose="020B0604020202020204"/>
                <a:ea typeface="Arial" panose="020B0604020202020204"/>
                <a:cs typeface="Arial" panose="020B0604020202020204"/>
                <a:sym typeface="Arial" panose="020B0604020202020204" pitchFamily="34" charset="0"/>
              </a:rPr>
              <a:t>(SEM-V) THEORY EXAMINATION 20__-20__</a:t>
            </a:r>
          </a:p>
          <a:p>
            <a:pPr marL="0" indent="0">
              <a:spcBef>
                <a:spcPts val="365"/>
              </a:spcBef>
              <a:spcAft>
                <a:spcPct val="0"/>
              </a:spcAft>
              <a:buClr>
                <a:srgbClr val="000000"/>
              </a:buClr>
              <a:buFont typeface="Arial" panose="020B0604020202020204" pitchFamily="34" charset="0"/>
              <a:buNone/>
            </a:pPr>
            <a:r>
              <a:rPr lang="en-IN" altLang="x-none"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Time: 3 Hours                                                                                    Total Marks: 100 </a:t>
            </a:r>
          </a:p>
          <a:p>
            <a:pPr marL="0" indent="0" algn="just">
              <a:spcBef>
                <a:spcPts val="365"/>
              </a:spcBef>
              <a:spcAft>
                <a:spcPct val="0"/>
              </a:spcAft>
              <a:buClr>
                <a:srgbClr val="000000"/>
              </a:buClr>
              <a:buFont typeface="Arial" panose="020B0604020202020204" pitchFamily="34" charset="0"/>
              <a:buNone/>
            </a:pPr>
            <a:r>
              <a:rPr lang="en-IN" altLang="x-none" sz="2000" b="1" i="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Note: 1. Attempt all Sections. If require any missing data; then choose suitably.</a:t>
            </a:r>
          </a:p>
          <a:p>
            <a:pPr marL="0" indent="0" algn="ctr">
              <a:spcBef>
                <a:spcPts val="365"/>
              </a:spcBef>
              <a:spcAft>
                <a:spcPct val="0"/>
              </a:spcAft>
              <a:buClr>
                <a:srgbClr val="000000"/>
              </a:buClr>
              <a:buFont typeface="Arial" panose="020B0604020202020204" pitchFamily="34" charset="0"/>
              <a:buNone/>
            </a:pPr>
            <a:r>
              <a:rPr lang="en-IN" altLang="x-none"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SECTION A </a:t>
            </a:r>
          </a:p>
          <a:p>
            <a:pPr marL="0" indent="0">
              <a:spcBef>
                <a:spcPts val="365"/>
              </a:spcBef>
              <a:spcAft>
                <a:spcPct val="0"/>
              </a:spcAft>
              <a:buClr>
                <a:srgbClr val="000000"/>
              </a:buClr>
              <a:buFont typeface="Arial" panose="020B0604020202020204" pitchFamily="34" charset="0"/>
              <a:buAutoNum type="arabicPeriod"/>
            </a:pPr>
            <a:r>
              <a:rPr lang="en-IN" altLang="x-none"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Attempt all questions in brief.                                                        </a:t>
            </a:r>
            <a:r>
              <a:rPr lang="en-IN" altLang="x-none" sz="2000" b="1" dirty="0">
                <a:latin typeface="Arial" panose="020B0604020202020204"/>
                <a:ea typeface="Arial" panose="020B0604020202020204"/>
                <a:cs typeface="Arial" panose="020B0604020202020204"/>
                <a:sym typeface="Arial" panose="020B0604020202020204" pitchFamily="34" charset="0"/>
              </a:rPr>
              <a:t>1 x 10 = 10</a:t>
            </a:r>
          </a:p>
          <a:p>
            <a:pPr marL="0" indent="0">
              <a:spcBef>
                <a:spcPts val="365"/>
              </a:spcBef>
              <a:spcAft>
                <a:spcPct val="0"/>
              </a:spcAft>
              <a:buClr>
                <a:srgbClr val="000000"/>
              </a:buClr>
              <a:buFont typeface="Arial" panose="020B0604020202020204" pitchFamily="34" charset="0"/>
              <a:buNone/>
            </a:pPr>
            <a:endParaRPr lang="en-IN" altLang="x-none" sz="2000" b="1" i="1" dirty="0">
              <a:latin typeface="Arial" panose="020B0604020202020204"/>
              <a:ea typeface="Arial" panose="020B0604020202020204"/>
              <a:cs typeface="Arial" panose="020B0604020202020204"/>
              <a:sym typeface="Arial" panose="020B0604020202020204" pitchFamily="34" charset="0"/>
            </a:endParaRPr>
          </a:p>
        </p:txBody>
      </p:sp>
      <p:graphicFrame>
        <p:nvGraphicFramePr>
          <p:cNvPr id="15" name="Content Placeholder 14"/>
          <p:cNvGraphicFramePr>
            <a:graphicFrameLocks noGrp="1"/>
          </p:cNvGraphicFramePr>
          <p:nvPr>
            <p:ph sz="half" idx="1"/>
            <p:custDataLst>
              <p:tags r:id="rId2"/>
            </p:custDataLst>
          </p:nvPr>
        </p:nvGraphicFramePr>
        <p:xfrm>
          <a:off x="883920" y="3611245"/>
          <a:ext cx="10278110" cy="2073275"/>
        </p:xfrm>
        <a:graphic>
          <a:graphicData uri="http://schemas.openxmlformats.org/drawingml/2006/table">
            <a:tbl>
              <a:tblPr firstRow="1" bandRow="1">
                <a:tableStyleId>{5C22544A-7EE6-4342-B048-85BDC9FD1C3A}</a:tableStyleId>
              </a:tblPr>
              <a:tblGrid>
                <a:gridCol w="1185545">
                  <a:extLst>
                    <a:ext uri="{9D8B030D-6E8A-4147-A177-3AD203B41FA5}">
                      <a16:colId xmlns:a16="http://schemas.microsoft.com/office/drawing/2014/main" val="20000"/>
                    </a:ext>
                  </a:extLst>
                </a:gridCol>
                <a:gridCol w="6918325">
                  <a:extLst>
                    <a:ext uri="{9D8B030D-6E8A-4147-A177-3AD203B41FA5}">
                      <a16:colId xmlns:a16="http://schemas.microsoft.com/office/drawing/2014/main" val="20001"/>
                    </a:ext>
                  </a:extLst>
                </a:gridCol>
                <a:gridCol w="1087120">
                  <a:extLst>
                    <a:ext uri="{9D8B030D-6E8A-4147-A177-3AD203B41FA5}">
                      <a16:colId xmlns:a16="http://schemas.microsoft.com/office/drawing/2014/main" val="20002"/>
                    </a:ext>
                  </a:extLst>
                </a:gridCol>
                <a:gridCol w="1087120">
                  <a:extLst>
                    <a:ext uri="{9D8B030D-6E8A-4147-A177-3AD203B41FA5}">
                      <a16:colId xmlns:a16="http://schemas.microsoft.com/office/drawing/2014/main" val="20003"/>
                    </a:ext>
                  </a:extLst>
                </a:gridCol>
              </a:tblGrid>
              <a:tr h="610235">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60">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5760">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23</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IN" noProof="0" dirty="0">
                <a:ln>
                  <a:noFill/>
                </a:ln>
                <a:effectLst/>
                <a:uLnTx/>
                <a:uFillTx/>
                <a:latin typeface="Times New Roman" panose="02020603050405020304" pitchFamily="18" charset="0"/>
                <a:cs typeface="Times New Roman" panose="02020603050405020304" pitchFamily="18" charset="0"/>
                <a:sym typeface="Arial" panose="020B0604020202020204" pitchFamily="34" charset="0"/>
              </a:rPr>
              <a:t>End Semester Question Paper Templates </a:t>
            </a:r>
            <a:endParaRPr kumimoji="0" lang="en-US" b="0" i="0" u="none" strike="noStrike" kern="1200" cap="none" spc="0" normalizeH="0" baseline="0" noProof="0" dirty="0">
              <a:ln>
                <a:noFill/>
              </a:ln>
              <a:solidFill>
                <a:schemeClr val="dk1"/>
              </a:solidFill>
              <a:effectLst/>
              <a:uLnTx/>
              <a:uFillTx/>
              <a:latin typeface="Times New Roman" panose="02020603050405020304" pitchFamily="18" charset="0"/>
              <a:ea typeface="+mn-ea"/>
              <a:cs typeface="Times New Roman" panose="02020603050405020304" pitchFamily="18" charset="0"/>
              <a:sym typeface="Arial" panose="020B0604020202020204" pitchFamily="34" charset="0"/>
            </a:endParaRPr>
          </a:p>
          <a:p>
            <a:endParaRPr lang="en-US" dirty="0"/>
          </a:p>
        </p:txBody>
      </p:sp>
      <p:pic>
        <p:nvPicPr>
          <p:cNvPr id="3" name="Picture 2" descr="A black and red logo&#10;&#10;Description automatically genera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 name="Text Box 1"/>
          <p:cNvSpPr txBox="1"/>
          <p:nvPr/>
        </p:nvSpPr>
        <p:spPr>
          <a:xfrm>
            <a:off x="1012190" y="1064260"/>
            <a:ext cx="10569575" cy="3674745"/>
          </a:xfrm>
          <a:prstGeom prst="rect">
            <a:avLst/>
          </a:prstGeom>
          <a:noFill/>
        </p:spPr>
        <p:txBody>
          <a:bodyPr wrap="square" rtlCol="0" anchor="t">
            <a:noAutofit/>
          </a:bodyPr>
          <a:lstStyle/>
          <a:p>
            <a:pPr marL="0" indent="0">
              <a:spcBef>
                <a:spcPts val="365"/>
              </a:spcBef>
              <a:spcAft>
                <a:spcPct val="0"/>
              </a:spcAft>
              <a:buClr>
                <a:srgbClr val="000000"/>
              </a:buClr>
              <a:buFont typeface="Arial" panose="020B0604020202020204" pitchFamily="34" charset="0"/>
              <a:buNone/>
            </a:pPr>
            <a:r>
              <a:rPr lang="en-IN" altLang="en-US" sz="2000" b="1" dirty="0">
                <a:latin typeface="Arial" panose="020B0604020202020204"/>
                <a:ea typeface="Arial" panose="020B0604020202020204"/>
                <a:cs typeface="Arial" panose="020B0604020202020204"/>
                <a:sym typeface="Arial" panose="020B0604020202020204" pitchFamily="34" charset="0"/>
              </a:rPr>
              <a:t>2. Attempt of the following:                                            5 x 2 = 20</a:t>
            </a: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lgn="ctr">
              <a:spcBef>
                <a:spcPts val="365"/>
              </a:spcBef>
              <a:spcAft>
                <a:spcPct val="0"/>
              </a:spcAft>
              <a:buClr>
                <a:srgbClr val="000000"/>
              </a:buClr>
              <a:buFont typeface="Arial" panose="020B0604020202020204" pitchFamily="34" charset="0"/>
              <a:buNone/>
            </a:pPr>
            <a:r>
              <a:rPr lang="en-IN" altLang="en-US" sz="2000" b="1" dirty="0">
                <a:latin typeface="Arial" panose="020B0604020202020204"/>
                <a:ea typeface="Arial" panose="020B0604020202020204"/>
                <a:cs typeface="Arial" panose="020B0604020202020204"/>
                <a:sym typeface="Arial" panose="020B0604020202020204" pitchFamily="34" charset="0"/>
              </a:rPr>
              <a:t> SECTION B</a:t>
            </a:r>
          </a:p>
          <a:p>
            <a:pPr marL="0" indent="0">
              <a:spcBef>
                <a:spcPts val="365"/>
              </a:spcBef>
              <a:spcAft>
                <a:spcPct val="0"/>
              </a:spcAft>
              <a:buClr>
                <a:srgbClr val="000000"/>
              </a:buClr>
              <a:buFont typeface="Arial" panose="020B0604020202020204" pitchFamily="34" charset="0"/>
              <a:buNone/>
            </a:pPr>
            <a:r>
              <a:rPr lang="en-IN" altLang="en-US" sz="2000" b="1" dirty="0">
                <a:latin typeface="Arial" panose="020B0604020202020204"/>
                <a:ea typeface="Arial" panose="020B0604020202020204"/>
                <a:cs typeface="Arial" panose="020B0604020202020204"/>
                <a:sym typeface="Arial" panose="020B0604020202020204" pitchFamily="34" charset="0"/>
              </a:rPr>
              <a:t>3. Attempt any five part of the following:                          5 x 6 = 30  </a:t>
            </a:r>
          </a:p>
        </p:txBody>
      </p:sp>
      <p:graphicFrame>
        <p:nvGraphicFramePr>
          <p:cNvPr id="8" name="Content Placeholder 7"/>
          <p:cNvGraphicFramePr>
            <a:graphicFrameLocks noGrp="1"/>
          </p:cNvGraphicFramePr>
          <p:nvPr>
            <p:ph sz="half" idx="1"/>
            <p:custDataLst>
              <p:tags r:id="rId1"/>
            </p:custDataLst>
          </p:nvPr>
        </p:nvGraphicFramePr>
        <p:xfrm>
          <a:off x="1066800" y="1605915"/>
          <a:ext cx="10070465" cy="1972945"/>
        </p:xfrm>
        <a:graphic>
          <a:graphicData uri="http://schemas.openxmlformats.org/drawingml/2006/table">
            <a:tbl>
              <a:tblPr firstRow="1" bandRow="1">
                <a:tableStyleId>{5C22544A-7EE6-4342-B048-85BDC9FD1C3A}</a:tableStyleId>
              </a:tblPr>
              <a:tblGrid>
                <a:gridCol w="1161415">
                  <a:extLst>
                    <a:ext uri="{9D8B030D-6E8A-4147-A177-3AD203B41FA5}">
                      <a16:colId xmlns:a16="http://schemas.microsoft.com/office/drawing/2014/main" val="20000"/>
                    </a:ext>
                  </a:extLst>
                </a:gridCol>
                <a:gridCol w="6779260">
                  <a:extLst>
                    <a:ext uri="{9D8B030D-6E8A-4147-A177-3AD203B41FA5}">
                      <a16:colId xmlns:a16="http://schemas.microsoft.com/office/drawing/2014/main" val="20001"/>
                    </a:ext>
                  </a:extLst>
                </a:gridCol>
                <a:gridCol w="1064895">
                  <a:extLst>
                    <a:ext uri="{9D8B030D-6E8A-4147-A177-3AD203B41FA5}">
                      <a16:colId xmlns:a16="http://schemas.microsoft.com/office/drawing/2014/main" val="20002"/>
                    </a:ext>
                  </a:extLst>
                </a:gridCol>
                <a:gridCol w="1064895">
                  <a:extLst>
                    <a:ext uri="{9D8B030D-6E8A-4147-A177-3AD203B41FA5}">
                      <a16:colId xmlns:a16="http://schemas.microsoft.com/office/drawing/2014/main" val="20003"/>
                    </a:ext>
                  </a:extLst>
                </a:gridCol>
              </a:tblGrid>
              <a:tr h="523875">
                <a:tc>
                  <a:txBody>
                    <a:bodyPr/>
                    <a:lstStyle/>
                    <a:p>
                      <a:r>
                        <a:rPr lang="en-IN" sz="1400" dirty="0" err="1">
                          <a:solidFill>
                            <a:schemeClr val="tx1"/>
                          </a:solidFill>
                        </a:rPr>
                        <a:t>Q.No</a:t>
                      </a:r>
                      <a:r>
                        <a:rPr lang="en-IN" sz="1400" dirty="0">
                          <a:solidFill>
                            <a:schemeClr val="tx1"/>
                          </a:solidFill>
                        </a:rPr>
                        <a:t>.</a:t>
                      </a:r>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a:solidFill>
                            <a:schemeClr val="tx1"/>
                          </a:solidFill>
                        </a:rPr>
                        <a:t>Question </a:t>
                      </a:r>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dirty="0">
                          <a:solidFill>
                            <a:schemeClr val="tx1"/>
                          </a:solidFill>
                        </a:rPr>
                        <a:t>Marks </a:t>
                      </a:r>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400" dirty="0">
                          <a:solidFill>
                            <a:schemeClr val="tx1"/>
                          </a:solidFill>
                        </a:rPr>
                        <a:t>CO</a:t>
                      </a:r>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07975">
                <a:tc>
                  <a:txBody>
                    <a:bodyPr/>
                    <a:lstStyle/>
                    <a:p>
                      <a:r>
                        <a:rPr lang="en-IN" sz="1400" dirty="0"/>
                        <a:t>1</a:t>
                      </a:r>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2</a:t>
                      </a:r>
                      <a:endParaRPr lang="en-IN" sz="1400" dirty="0"/>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9245">
                <a:tc>
                  <a:txBody>
                    <a:bodyPr/>
                    <a:lstStyle/>
                    <a:p>
                      <a:r>
                        <a:rPr lang="en-IN" sz="1400" dirty="0"/>
                        <a:t>2</a:t>
                      </a:r>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2</a:t>
                      </a:r>
                      <a:endParaRPr lang="en-IN" sz="1400" dirty="0"/>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23240">
                <a:tc>
                  <a:txBody>
                    <a:bodyPr/>
                    <a:lstStyle/>
                    <a:p>
                      <a:r>
                        <a:rPr lang="en-IN" sz="1400" dirty="0"/>
                        <a:t>“””</a:t>
                      </a:r>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p>
                      <a:r>
                        <a:rPr lang="en-IN" sz="1400" dirty="0"/>
                        <a:t>‘”</a:t>
                      </a:r>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08610">
                <a:tc>
                  <a:txBody>
                    <a:bodyPr/>
                    <a:lstStyle/>
                    <a:p>
                      <a:r>
                        <a:rPr lang="en-IN" sz="1400" dirty="0"/>
                        <a:t>5</a:t>
                      </a:r>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t>2</a:t>
                      </a:r>
                      <a:endParaRPr lang="en-IN" sz="1400" dirty="0"/>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400" dirty="0"/>
                    </a:p>
                  </a:txBody>
                  <a:tcPr marL="91446" marR="91446" marT="45658" marB="45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Content Placeholder 9"/>
          <p:cNvGraphicFramePr>
            <a:graphicFrameLocks noGrp="1"/>
          </p:cNvGraphicFramePr>
          <p:nvPr>
            <p:ph sz="half" idx="2"/>
            <p:custDataLst>
              <p:tags r:id="rId2"/>
            </p:custDataLst>
          </p:nvPr>
        </p:nvGraphicFramePr>
        <p:xfrm>
          <a:off x="1143000" y="4785360"/>
          <a:ext cx="10077450" cy="1765300"/>
        </p:xfrm>
        <a:graphic>
          <a:graphicData uri="http://schemas.openxmlformats.org/drawingml/2006/table">
            <a:tbl>
              <a:tblPr firstRow="1" bandRow="1">
                <a:tableStyleId>{5C22544A-7EE6-4342-B048-85BDC9FD1C3A}</a:tableStyleId>
              </a:tblPr>
              <a:tblGrid>
                <a:gridCol w="1162050">
                  <a:extLst>
                    <a:ext uri="{9D8B030D-6E8A-4147-A177-3AD203B41FA5}">
                      <a16:colId xmlns:a16="http://schemas.microsoft.com/office/drawing/2014/main" val="20000"/>
                    </a:ext>
                  </a:extLst>
                </a:gridCol>
                <a:gridCol w="6783705">
                  <a:extLst>
                    <a:ext uri="{9D8B030D-6E8A-4147-A177-3AD203B41FA5}">
                      <a16:colId xmlns:a16="http://schemas.microsoft.com/office/drawing/2014/main" val="20001"/>
                    </a:ext>
                  </a:extLst>
                </a:gridCol>
                <a:gridCol w="1065530">
                  <a:extLst>
                    <a:ext uri="{9D8B030D-6E8A-4147-A177-3AD203B41FA5}">
                      <a16:colId xmlns:a16="http://schemas.microsoft.com/office/drawing/2014/main" val="20002"/>
                    </a:ext>
                  </a:extLst>
                </a:gridCol>
                <a:gridCol w="1066165">
                  <a:extLst>
                    <a:ext uri="{9D8B030D-6E8A-4147-A177-3AD203B41FA5}">
                      <a16:colId xmlns:a16="http://schemas.microsoft.com/office/drawing/2014/main" val="20003"/>
                    </a:ext>
                  </a:extLst>
                </a:gridCol>
              </a:tblGrid>
              <a:tr h="645160">
                <a:tc>
                  <a:txBody>
                    <a:bodyPr/>
                    <a:lstStyle/>
                    <a:p>
                      <a:r>
                        <a:rPr lang="en-IN" sz="1800" dirty="0" err="1">
                          <a:solidFill>
                            <a:schemeClr val="tx1"/>
                          </a:solidFill>
                        </a:rPr>
                        <a:t>Q.No</a:t>
                      </a:r>
                      <a:r>
                        <a:rPr lang="en-IN" sz="1800" dirty="0">
                          <a:solidFill>
                            <a:schemeClr val="tx1"/>
                          </a:solidFill>
                        </a:rPr>
                        <a:t>.</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4015">
                <a:tc>
                  <a:txBody>
                    <a:bodyPr/>
                    <a:lstStyle/>
                    <a:p>
                      <a:r>
                        <a:rPr lang="en-IN" sz="1800" dirty="0"/>
                        <a:t>1</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2745">
                <a:tc>
                  <a:txBody>
                    <a:bodyPr/>
                    <a:lstStyle/>
                    <a:p>
                      <a:r>
                        <a:rPr lang="en-US" sz="1800" dirty="0"/>
                        <a:t>.</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3380">
                <a:tc>
                  <a:txBody>
                    <a:bodyPr/>
                    <a:lstStyle/>
                    <a:p>
                      <a:r>
                        <a:rPr lang="en-US" sz="1800" dirty="0"/>
                        <a:t>7</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24</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IN" noProof="0" dirty="0">
                <a:ln>
                  <a:noFill/>
                </a:ln>
                <a:effectLst/>
                <a:uLnTx/>
                <a:uFillTx/>
                <a:latin typeface="Times New Roman" panose="02020603050405020304" pitchFamily="18" charset="0"/>
                <a:cs typeface="Times New Roman" panose="02020603050405020304" pitchFamily="18" charset="0"/>
                <a:sym typeface="Arial" panose="020B0604020202020204" pitchFamily="34" charset="0"/>
              </a:rPr>
              <a:t>End Semester Question Paper Templates </a:t>
            </a:r>
            <a:endParaRPr kumimoji="0" lang="en-US" b="0" i="0" u="none" strike="noStrike" kern="1200" cap="none" spc="0" normalizeH="0" baseline="0" noProof="0" dirty="0">
              <a:ln>
                <a:noFill/>
              </a:ln>
              <a:solidFill>
                <a:schemeClr val="dk1"/>
              </a:solidFill>
              <a:effectLst/>
              <a:uLnTx/>
              <a:uFillTx/>
              <a:latin typeface="Times New Roman" panose="02020603050405020304" pitchFamily="18" charset="0"/>
              <a:ea typeface="+mn-ea"/>
              <a:cs typeface="Times New Roman" panose="02020603050405020304" pitchFamily="18" charset="0"/>
              <a:sym typeface="Arial" panose="020B0604020202020204" pitchFamily="34" charset="0"/>
            </a:endParaRPr>
          </a:p>
          <a:p>
            <a:endParaRPr lang="en-US" dirty="0"/>
          </a:p>
        </p:txBody>
      </p:sp>
      <p:pic>
        <p:nvPicPr>
          <p:cNvPr id="3" name="Picture 2" descr="A black and red logo&#10;&#10;Description automatically generated"/>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7892" name="Content Placeholder 1"/>
          <p:cNvSpPr>
            <a:spLocks noGrp="1"/>
          </p:cNvSpPr>
          <p:nvPr>
            <p:ph sz="half" idx="2"/>
            <p:custDataLst>
              <p:tags r:id="rId1"/>
            </p:custDataLst>
          </p:nvPr>
        </p:nvSpPr>
        <p:spPr>
          <a:xfrm>
            <a:off x="766445" y="909955"/>
            <a:ext cx="10815955" cy="5216525"/>
          </a:xfrm>
        </p:spPr>
        <p:txBody>
          <a:bodyPr vert="horz" wrap="square" lIns="91425" tIns="45700" rIns="91425" bIns="45700" anchor="t" anchorCtr="0"/>
          <a:lstStyle/>
          <a:p>
            <a:pPr marL="0" indent="0">
              <a:spcBef>
                <a:spcPts val="365"/>
              </a:spcBef>
              <a:spcAft>
                <a:spcPct val="0"/>
              </a:spcAft>
              <a:buClr>
                <a:srgbClr val="000000"/>
              </a:buClr>
              <a:buFont typeface="Arial" panose="020B0604020202020204" pitchFamily="34" charset="0"/>
              <a:buNone/>
            </a:pPr>
            <a:r>
              <a:rPr lang="en-IN" altLang="en-US" sz="2000" b="1" dirty="0">
                <a:latin typeface="Arial" panose="020B0604020202020204"/>
                <a:ea typeface="Arial" panose="020B0604020202020204"/>
                <a:cs typeface="Arial" panose="020B0604020202020204"/>
                <a:sym typeface="Arial" panose="020B0604020202020204" pitchFamily="34" charset="0"/>
              </a:rPr>
              <a:t>4. Attempt any one part of the following:                          1 x 10 = 10</a:t>
            </a: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r>
              <a:rPr lang="en-IN" altLang="en-US" sz="2000" b="1" dirty="0">
                <a:latin typeface="Arial" panose="020B0604020202020204"/>
                <a:ea typeface="Arial" panose="020B0604020202020204"/>
                <a:cs typeface="Arial" panose="020B0604020202020204"/>
                <a:sym typeface="Arial" panose="020B0604020202020204" pitchFamily="34" charset="0"/>
              </a:rPr>
              <a:t>5. Attempt any one part of the following:                          1 x 10 = 10  </a:t>
            </a: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r>
              <a:rPr lang="en-IN" altLang="en-US" sz="2000" b="1" dirty="0">
                <a:latin typeface="Arial" panose="020B0604020202020204"/>
                <a:ea typeface="Arial" panose="020B0604020202020204"/>
                <a:cs typeface="Arial" panose="020B0604020202020204"/>
                <a:sym typeface="Arial" panose="020B0604020202020204" pitchFamily="34" charset="0"/>
              </a:rPr>
              <a:t> </a:t>
            </a:r>
          </a:p>
          <a:p>
            <a:pPr marL="0" indent="0">
              <a:spcBef>
                <a:spcPts val="365"/>
              </a:spcBef>
              <a:spcAft>
                <a:spcPct val="0"/>
              </a:spcAft>
              <a:buClr>
                <a:srgbClr val="000000"/>
              </a:buClr>
              <a:buFont typeface="Arial" panose="020B0604020202020204" pitchFamily="34" charset="0"/>
              <a:buNone/>
            </a:pPr>
            <a:r>
              <a:rPr lang="en-IN" altLang="en-US" sz="2000" b="1" dirty="0">
                <a:latin typeface="Arial" panose="020B0604020202020204"/>
                <a:ea typeface="Arial" panose="020B0604020202020204"/>
                <a:cs typeface="Arial" panose="020B0604020202020204"/>
                <a:sym typeface="Arial" panose="020B0604020202020204" pitchFamily="34" charset="0"/>
              </a:rPr>
              <a:t>6. Attempt any one part of the following:                        1 x 10 = 10    </a:t>
            </a:r>
            <a:endParaRPr lang="en-IN" altLang="en-US" sz="2000" b="1" i="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i="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i="1" dirty="0">
              <a:latin typeface="Arial" panose="020B0604020202020204"/>
              <a:ea typeface="Arial" panose="020B0604020202020204"/>
              <a:cs typeface="Arial" panose="020B0604020202020204"/>
              <a:sym typeface="Arial" panose="020B0604020202020204" pitchFamily="34" charset="0"/>
            </a:endParaRPr>
          </a:p>
        </p:txBody>
      </p:sp>
      <p:graphicFrame>
        <p:nvGraphicFramePr>
          <p:cNvPr id="10" name="Content Placeholder 9"/>
          <p:cNvGraphicFramePr>
            <a:graphicFrameLocks noGrp="1"/>
          </p:cNvGraphicFramePr>
          <p:nvPr>
            <p:ph sz="half" idx="1"/>
            <p:custDataLst>
              <p:tags r:id="rId2"/>
            </p:custDataLst>
          </p:nvPr>
        </p:nvGraphicFramePr>
        <p:xfrm>
          <a:off x="1218565" y="1371600"/>
          <a:ext cx="9970770" cy="1304925"/>
        </p:xfrm>
        <a:graphic>
          <a:graphicData uri="http://schemas.openxmlformats.org/drawingml/2006/table">
            <a:tbl>
              <a:tblPr firstRow="1" bandRow="1">
                <a:tableStyleId>{5C22544A-7EE6-4342-B048-85BDC9FD1C3A}</a:tableStyleId>
              </a:tblPr>
              <a:tblGrid>
                <a:gridCol w="1149985">
                  <a:extLst>
                    <a:ext uri="{9D8B030D-6E8A-4147-A177-3AD203B41FA5}">
                      <a16:colId xmlns:a16="http://schemas.microsoft.com/office/drawing/2014/main" val="20000"/>
                    </a:ext>
                  </a:extLst>
                </a:gridCol>
                <a:gridCol w="6711315">
                  <a:extLst>
                    <a:ext uri="{9D8B030D-6E8A-4147-A177-3AD203B41FA5}">
                      <a16:colId xmlns:a16="http://schemas.microsoft.com/office/drawing/2014/main" val="20001"/>
                    </a:ext>
                  </a:extLst>
                </a:gridCol>
                <a:gridCol w="1054735">
                  <a:extLst>
                    <a:ext uri="{9D8B030D-6E8A-4147-A177-3AD203B41FA5}">
                      <a16:colId xmlns:a16="http://schemas.microsoft.com/office/drawing/2014/main" val="20002"/>
                    </a:ext>
                  </a:extLst>
                </a:gridCol>
                <a:gridCol w="1054735">
                  <a:extLst>
                    <a:ext uri="{9D8B030D-6E8A-4147-A177-3AD203B41FA5}">
                      <a16:colId xmlns:a16="http://schemas.microsoft.com/office/drawing/2014/main" val="20003"/>
                    </a:ext>
                  </a:extLst>
                </a:gridCol>
              </a:tblGrid>
              <a:tr h="573405">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60">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custDataLst>
              <p:tags r:id="rId3"/>
            </p:custDataLst>
          </p:nvPr>
        </p:nvGraphicFramePr>
        <p:xfrm>
          <a:off x="1180465" y="3505200"/>
          <a:ext cx="10074910" cy="1097280"/>
        </p:xfrm>
        <a:graphic>
          <a:graphicData uri="http://schemas.openxmlformats.org/drawingml/2006/table">
            <a:tbl>
              <a:tblPr firstRow="1" bandRow="1">
                <a:tableStyleId>{5C22544A-7EE6-4342-B048-85BDC9FD1C3A}</a:tableStyleId>
              </a:tblPr>
              <a:tblGrid>
                <a:gridCol w="1162685">
                  <a:extLst>
                    <a:ext uri="{9D8B030D-6E8A-4147-A177-3AD203B41FA5}">
                      <a16:colId xmlns:a16="http://schemas.microsoft.com/office/drawing/2014/main" val="20000"/>
                    </a:ext>
                  </a:extLst>
                </a:gridCol>
                <a:gridCol w="6781165">
                  <a:extLst>
                    <a:ext uri="{9D8B030D-6E8A-4147-A177-3AD203B41FA5}">
                      <a16:colId xmlns:a16="http://schemas.microsoft.com/office/drawing/2014/main" val="20001"/>
                    </a:ext>
                  </a:extLst>
                </a:gridCol>
                <a:gridCol w="1066165">
                  <a:extLst>
                    <a:ext uri="{9D8B030D-6E8A-4147-A177-3AD203B41FA5}">
                      <a16:colId xmlns:a16="http://schemas.microsoft.com/office/drawing/2014/main" val="20002"/>
                    </a:ext>
                  </a:extLst>
                </a:gridCol>
                <a:gridCol w="1064895">
                  <a:extLst>
                    <a:ext uri="{9D8B030D-6E8A-4147-A177-3AD203B41FA5}">
                      <a16:colId xmlns:a16="http://schemas.microsoft.com/office/drawing/2014/main" val="20003"/>
                    </a:ext>
                  </a:extLst>
                </a:gridCol>
              </a:tblGrid>
              <a:tr h="365760">
                <a:tc>
                  <a:txBody>
                    <a:bodyPr/>
                    <a:lstStyle/>
                    <a:p>
                      <a:r>
                        <a:rPr lang="en-IN" sz="1800" dirty="0" err="1">
                          <a:solidFill>
                            <a:schemeClr val="tx1"/>
                          </a:solidFill>
                        </a:rPr>
                        <a:t>Q.No</a:t>
                      </a:r>
                      <a:r>
                        <a:rPr lang="en-IN" sz="1800" dirty="0">
                          <a:solidFill>
                            <a:schemeClr val="tx1"/>
                          </a:solidFill>
                        </a:rPr>
                        <a:t>.</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60">
                <a:tc>
                  <a:txBody>
                    <a:bodyPr/>
                    <a:lstStyle/>
                    <a:p>
                      <a:r>
                        <a:rPr lang="en-IN" sz="1800" dirty="0"/>
                        <a:t>1</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r>
                        <a:rPr lang="en-IN" sz="1800" dirty="0"/>
                        <a:t>2</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custDataLst>
              <p:tags r:id="rId4"/>
            </p:custDataLst>
          </p:nvPr>
        </p:nvGraphicFramePr>
        <p:xfrm>
          <a:off x="1218565" y="5067300"/>
          <a:ext cx="10037445" cy="1097280"/>
        </p:xfrm>
        <a:graphic>
          <a:graphicData uri="http://schemas.openxmlformats.org/drawingml/2006/table">
            <a:tbl>
              <a:tblPr firstRow="1" bandRow="1">
                <a:tableStyleId>{5C22544A-7EE6-4342-B048-85BDC9FD1C3A}</a:tableStyleId>
              </a:tblPr>
              <a:tblGrid>
                <a:gridCol w="1158240">
                  <a:extLst>
                    <a:ext uri="{9D8B030D-6E8A-4147-A177-3AD203B41FA5}">
                      <a16:colId xmlns:a16="http://schemas.microsoft.com/office/drawing/2014/main" val="20000"/>
                    </a:ext>
                  </a:extLst>
                </a:gridCol>
                <a:gridCol w="6755130">
                  <a:extLst>
                    <a:ext uri="{9D8B030D-6E8A-4147-A177-3AD203B41FA5}">
                      <a16:colId xmlns:a16="http://schemas.microsoft.com/office/drawing/2014/main" val="20001"/>
                    </a:ext>
                  </a:extLst>
                </a:gridCol>
                <a:gridCol w="1174750">
                  <a:extLst>
                    <a:ext uri="{9D8B030D-6E8A-4147-A177-3AD203B41FA5}">
                      <a16:colId xmlns:a16="http://schemas.microsoft.com/office/drawing/2014/main" val="20002"/>
                    </a:ext>
                  </a:extLst>
                </a:gridCol>
                <a:gridCol w="949325">
                  <a:extLst>
                    <a:ext uri="{9D8B030D-6E8A-4147-A177-3AD203B41FA5}">
                      <a16:colId xmlns:a16="http://schemas.microsoft.com/office/drawing/2014/main" val="20003"/>
                    </a:ext>
                  </a:extLst>
                </a:gridCol>
              </a:tblGrid>
              <a:tr h="365760">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60">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25</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IN" noProof="0" dirty="0">
                <a:ln>
                  <a:noFill/>
                </a:ln>
                <a:effectLst/>
                <a:uLnTx/>
                <a:uFillTx/>
                <a:latin typeface="Times New Roman" panose="02020603050405020304" pitchFamily="18" charset="0"/>
                <a:cs typeface="Times New Roman" panose="02020603050405020304" pitchFamily="18" charset="0"/>
                <a:sym typeface="Arial" panose="020B0604020202020204" pitchFamily="34" charset="0"/>
              </a:rPr>
              <a:t>End Semester Question Paper Templates </a:t>
            </a:r>
            <a:endParaRPr lang="en-US" dirty="0"/>
          </a:p>
        </p:txBody>
      </p:sp>
      <p:pic>
        <p:nvPicPr>
          <p:cNvPr id="3" name="Picture 2" descr="A black and red logo&#10;&#10;Description automatically generated"/>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8916" name="Content Placeholder 1"/>
          <p:cNvSpPr>
            <a:spLocks noGrp="1"/>
          </p:cNvSpPr>
          <p:nvPr>
            <p:ph sz="half" idx="2"/>
            <p:custDataLst>
              <p:tags r:id="rId1"/>
            </p:custDataLst>
          </p:nvPr>
        </p:nvSpPr>
        <p:spPr>
          <a:xfrm>
            <a:off x="610235" y="1614805"/>
            <a:ext cx="10972165" cy="4511675"/>
          </a:xfrm>
        </p:spPr>
        <p:txBody>
          <a:bodyPr vert="horz" wrap="square" lIns="91425" tIns="45700" rIns="91425" bIns="45700" anchor="t" anchorCtr="0"/>
          <a:lstStyle/>
          <a:p>
            <a:pPr marL="0" indent="0">
              <a:spcBef>
                <a:spcPts val="365"/>
              </a:spcBef>
              <a:spcAft>
                <a:spcPct val="0"/>
              </a:spcAft>
              <a:buClr>
                <a:srgbClr val="000000"/>
              </a:buClr>
              <a:buFont typeface="Arial" panose="020B0604020202020204" pitchFamily="34" charset="0"/>
              <a:buNone/>
            </a:pPr>
            <a:r>
              <a:rPr lang="en-IN" altLang="en-US" sz="2000" b="1" dirty="0">
                <a:latin typeface="Arial" panose="020B0604020202020204"/>
                <a:ea typeface="Arial" panose="020B0604020202020204"/>
                <a:cs typeface="Arial" panose="020B0604020202020204"/>
                <a:sym typeface="Arial" panose="020B0604020202020204" pitchFamily="34" charset="0"/>
              </a:rPr>
              <a:t>7. Attempt any one part of the following:                          1 x 10 = 10</a:t>
            </a: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r>
              <a:rPr lang="en-IN" altLang="en-US" sz="2000" b="1" dirty="0">
                <a:latin typeface="Arial" panose="020B0604020202020204"/>
                <a:ea typeface="Arial" panose="020B0604020202020204"/>
                <a:cs typeface="Arial" panose="020B0604020202020204"/>
                <a:sym typeface="Arial" panose="020B0604020202020204" pitchFamily="34" charset="0"/>
              </a:rPr>
              <a:t>8. Attempt any one part of the following:                          1 x 10 = 10  </a:t>
            </a: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endParaRPr lang="en-IN" altLang="en-US" sz="2000" b="1" dirty="0">
              <a:latin typeface="Arial" panose="020B0604020202020204"/>
              <a:ea typeface="Arial" panose="020B0604020202020204"/>
              <a:cs typeface="Arial" panose="020B0604020202020204"/>
              <a:sym typeface="Arial" panose="020B0604020202020204" pitchFamily="34" charset="0"/>
            </a:endParaRPr>
          </a:p>
          <a:p>
            <a:pPr marL="0" indent="0">
              <a:spcBef>
                <a:spcPts val="365"/>
              </a:spcBef>
              <a:spcAft>
                <a:spcPct val="0"/>
              </a:spcAft>
              <a:buClr>
                <a:srgbClr val="000000"/>
              </a:buClr>
              <a:buFont typeface="Arial" panose="020B0604020202020204" pitchFamily="34" charset="0"/>
              <a:buNone/>
            </a:pPr>
            <a:r>
              <a:rPr lang="en-IN" altLang="en-US" sz="2000" b="1" dirty="0">
                <a:latin typeface="Arial" panose="020B0604020202020204"/>
                <a:ea typeface="Arial" panose="020B0604020202020204"/>
                <a:cs typeface="Arial" panose="020B0604020202020204"/>
                <a:sym typeface="Arial" panose="020B0604020202020204" pitchFamily="34" charset="0"/>
              </a:rPr>
              <a:t> </a:t>
            </a:r>
            <a:endParaRPr lang="en-IN" altLang="en-US" sz="2000" b="1" i="1" dirty="0">
              <a:latin typeface="Arial" panose="020B0604020202020204"/>
              <a:ea typeface="Arial" panose="020B0604020202020204"/>
              <a:cs typeface="Arial" panose="020B0604020202020204"/>
              <a:sym typeface="Arial" panose="020B0604020202020204" pitchFamily="34" charset="0"/>
            </a:endParaRPr>
          </a:p>
        </p:txBody>
      </p:sp>
      <p:graphicFrame>
        <p:nvGraphicFramePr>
          <p:cNvPr id="10" name="Content Placeholder 9"/>
          <p:cNvGraphicFramePr>
            <a:graphicFrameLocks noGrp="1"/>
          </p:cNvGraphicFramePr>
          <p:nvPr>
            <p:ph sz="half" idx="1"/>
            <p:custDataLst>
              <p:tags r:id="rId2"/>
            </p:custDataLst>
          </p:nvPr>
        </p:nvGraphicFramePr>
        <p:xfrm>
          <a:off x="692150" y="1981200"/>
          <a:ext cx="10840720" cy="1209557"/>
        </p:xfrm>
        <a:graphic>
          <a:graphicData uri="http://schemas.openxmlformats.org/drawingml/2006/table">
            <a:tbl>
              <a:tblPr firstRow="1" bandRow="1">
                <a:tableStyleId>{5C22544A-7EE6-4342-B048-85BDC9FD1C3A}</a:tableStyleId>
              </a:tblPr>
              <a:tblGrid>
                <a:gridCol w="1250315">
                  <a:extLst>
                    <a:ext uri="{9D8B030D-6E8A-4147-A177-3AD203B41FA5}">
                      <a16:colId xmlns:a16="http://schemas.microsoft.com/office/drawing/2014/main" val="20000"/>
                    </a:ext>
                  </a:extLst>
                </a:gridCol>
                <a:gridCol w="7296785">
                  <a:extLst>
                    <a:ext uri="{9D8B030D-6E8A-4147-A177-3AD203B41FA5}">
                      <a16:colId xmlns:a16="http://schemas.microsoft.com/office/drawing/2014/main" val="20001"/>
                    </a:ext>
                  </a:extLst>
                </a:gridCol>
                <a:gridCol w="1146810">
                  <a:extLst>
                    <a:ext uri="{9D8B030D-6E8A-4147-A177-3AD203B41FA5}">
                      <a16:colId xmlns:a16="http://schemas.microsoft.com/office/drawing/2014/main" val="20002"/>
                    </a:ext>
                  </a:extLst>
                </a:gridCol>
                <a:gridCol w="1146810">
                  <a:extLst>
                    <a:ext uri="{9D8B030D-6E8A-4147-A177-3AD203B41FA5}">
                      <a16:colId xmlns:a16="http://schemas.microsoft.com/office/drawing/2014/main" val="20003"/>
                    </a:ext>
                  </a:extLst>
                </a:gridCol>
              </a:tblGrid>
              <a:tr h="478155">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custDataLst>
              <p:tags r:id="rId3"/>
            </p:custDataLst>
          </p:nvPr>
        </p:nvGraphicFramePr>
        <p:xfrm>
          <a:off x="685800" y="4124325"/>
          <a:ext cx="10895965" cy="1240155"/>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20000"/>
                    </a:ext>
                  </a:extLst>
                </a:gridCol>
                <a:gridCol w="7333615">
                  <a:extLst>
                    <a:ext uri="{9D8B030D-6E8A-4147-A177-3AD203B41FA5}">
                      <a16:colId xmlns:a16="http://schemas.microsoft.com/office/drawing/2014/main" val="20001"/>
                    </a:ext>
                  </a:extLst>
                </a:gridCol>
                <a:gridCol w="1152525">
                  <a:extLst>
                    <a:ext uri="{9D8B030D-6E8A-4147-A177-3AD203B41FA5}">
                      <a16:colId xmlns:a16="http://schemas.microsoft.com/office/drawing/2014/main" val="20002"/>
                    </a:ext>
                  </a:extLst>
                </a:gridCol>
                <a:gridCol w="1152525">
                  <a:extLst>
                    <a:ext uri="{9D8B030D-6E8A-4147-A177-3AD203B41FA5}">
                      <a16:colId xmlns:a16="http://schemas.microsoft.com/office/drawing/2014/main" val="20003"/>
                    </a:ext>
                  </a:extLst>
                </a:gridCol>
              </a:tblGrid>
              <a:tr h="413385">
                <a:tc>
                  <a:txBody>
                    <a:bodyPr/>
                    <a:lstStyle/>
                    <a:p>
                      <a:r>
                        <a:rPr lang="en-IN" sz="1800" dirty="0" err="1">
                          <a:solidFill>
                            <a:schemeClr val="tx1"/>
                          </a:solidFill>
                        </a:rPr>
                        <a:t>Q.No</a:t>
                      </a:r>
                      <a:r>
                        <a:rPr lang="en-IN" sz="1800" dirty="0">
                          <a:solidFill>
                            <a:schemeClr val="tx1"/>
                          </a:solidFill>
                        </a:rPr>
                        <a:t>.</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3385">
                <a:tc>
                  <a:txBody>
                    <a:bodyPr/>
                    <a:lstStyle/>
                    <a:p>
                      <a:r>
                        <a:rPr lang="en-IN" sz="1800" dirty="0"/>
                        <a:t>1</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3385">
                <a:tc>
                  <a:txBody>
                    <a:bodyPr/>
                    <a:lstStyle/>
                    <a:p>
                      <a:r>
                        <a:rPr lang="en-IN" sz="1800" dirty="0"/>
                        <a:t>2</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26</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algn="ctr" defTabSz="914400" eaLnBrk="1" fontAlgn="auto" hangingPunct="1">
              <a:spcAft>
                <a:spcPts val="0"/>
              </a:spcAft>
              <a:buClrTx/>
              <a:buSzTx/>
              <a:buFontTx/>
              <a:buNone/>
              <a:defRPr/>
            </a:pPr>
            <a:r>
              <a:rPr lang="en-US" noProof="0" dirty="0">
                <a:latin typeface="Times New Roman" panose="02020603050405020304" pitchFamily="18" charset="0"/>
                <a:cs typeface="Times New Roman" panose="02020603050405020304" pitchFamily="18" charset="0"/>
                <a:sym typeface="Arial" panose="020B0604020202020204" pitchFamily="34" charset="0"/>
              </a:rPr>
              <a:t>Prerequisite</a:t>
            </a:r>
            <a:endParaRPr lang="en-US" dirty="0"/>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 name="Text Box 1"/>
          <p:cNvSpPr txBox="1"/>
          <p:nvPr/>
        </p:nvSpPr>
        <p:spPr>
          <a:xfrm>
            <a:off x="594360" y="1198880"/>
            <a:ext cx="10987405" cy="4618355"/>
          </a:xfrm>
          <a:prstGeom prst="rect">
            <a:avLst/>
          </a:prstGeom>
          <a:noFill/>
        </p:spPr>
        <p:txBody>
          <a:bodyPr wrap="square" rtlCol="0" anchor="t">
            <a:noAutofit/>
          </a:bodyPr>
          <a:lstStyle/>
          <a:p>
            <a:pPr>
              <a:spcBef>
                <a:spcPts val="365"/>
              </a:spcBef>
              <a:spcAft>
                <a:spcPct val="0"/>
              </a:spcAft>
              <a:buClr>
                <a:srgbClr val="000000"/>
              </a:buClr>
              <a:buFont typeface="Wingdings" panose="05000000000000000000" pitchFamily="2" charset="2"/>
              <a:buChar char="Ø"/>
            </a:pPr>
            <a:r>
              <a:rPr lang="en-IN" altLang="x-none" sz="2400" dirty="0">
                <a:latin typeface="Arial" panose="020B0604020202020204"/>
                <a:ea typeface="Arial" panose="020B0604020202020204"/>
                <a:cs typeface="Arial" panose="020B0604020202020204"/>
                <a:sym typeface="Arial" panose="020B0604020202020204" pitchFamily="34" charset="0"/>
              </a:rPr>
              <a:t>Basic Knowledge of any programming language like C/C++/Python/Java. </a:t>
            </a:r>
          </a:p>
          <a:p>
            <a:pPr>
              <a:spcBef>
                <a:spcPts val="365"/>
              </a:spcBef>
              <a:spcAft>
                <a:spcPct val="0"/>
              </a:spcAft>
              <a:buClr>
                <a:srgbClr val="000000"/>
              </a:buClr>
              <a:buFont typeface="Wingdings" panose="05000000000000000000" pitchFamily="2" charset="2"/>
              <a:buChar char="Ø"/>
            </a:pPr>
            <a:endParaRPr lang="en-IN" altLang="x-none" sz="2400" dirty="0">
              <a:latin typeface="Arial" panose="020B0604020202020204"/>
              <a:ea typeface="Arial" panose="020B0604020202020204"/>
              <a:cs typeface="Arial" panose="020B0604020202020204"/>
              <a:sym typeface="Arial" panose="020B0604020202020204" pitchFamily="34" charset="0"/>
            </a:endParaRPr>
          </a:p>
          <a:p>
            <a:pPr>
              <a:spcBef>
                <a:spcPts val="365"/>
              </a:spcBef>
              <a:spcAft>
                <a:spcPct val="0"/>
              </a:spcAft>
              <a:buClr>
                <a:srgbClr val="000000"/>
              </a:buClr>
              <a:buFont typeface="Wingdings" panose="05000000000000000000" pitchFamily="2" charset="2"/>
              <a:buChar char="Ø"/>
            </a:pPr>
            <a:r>
              <a:rPr lang="en-IN" altLang="x-none" sz="2400" dirty="0">
                <a:latin typeface="Arial" panose="020B0604020202020204"/>
                <a:ea typeface="Arial" panose="020B0604020202020204"/>
                <a:cs typeface="Arial" panose="020B0604020202020204"/>
                <a:sym typeface="Arial" panose="020B0604020202020204" pitchFamily="34" charset="0"/>
              </a:rPr>
              <a:t>Familiarity with basic concepts of Internet.</a:t>
            </a:r>
            <a:endParaRPr sz="2400" dirty="0">
              <a:latin typeface="Arial" panose="020B0604020202020204"/>
              <a:ea typeface="Arial" panose="020B0604020202020204"/>
              <a:cs typeface="Arial" panose="020B0604020202020204"/>
              <a:sym typeface="Arial" panose="020B0604020202020204" pitchFamily="34" charset="0"/>
            </a:endParaRPr>
          </a:p>
          <a:p>
            <a:pPr>
              <a:spcBef>
                <a:spcPts val="365"/>
              </a:spcBef>
              <a:spcAft>
                <a:spcPct val="0"/>
              </a:spcAft>
              <a:buClr>
                <a:srgbClr val="000000"/>
              </a:buClr>
              <a:buFont typeface="Arial" panose="020B0604020202020204" pitchFamily="34" charset="0"/>
              <a:buNone/>
            </a:pPr>
            <a:endParaRPr lang="en-US" altLang="en-US" sz="2400" dirty="0">
              <a:latin typeface="Arial" panose="020B0604020202020204"/>
              <a:ea typeface="Arial" panose="020B0604020202020204"/>
              <a:cs typeface="Arial" panose="020B0604020202020204"/>
              <a:sym typeface="Arial" panose="020B0604020202020204" pitchFamily="34" charset="0"/>
            </a:endParaRPr>
          </a:p>
          <a:p>
            <a:pPr>
              <a:spcBef>
                <a:spcPts val="365"/>
              </a:spcBef>
              <a:spcAft>
                <a:spcPct val="0"/>
              </a:spcAft>
              <a:buClr>
                <a:srgbClr val="000000"/>
              </a:buClr>
              <a:buFont typeface="Arial" panose="020B0604020202020204" pitchFamily="34" charset="0"/>
              <a:buNone/>
            </a:pPr>
            <a:endParaRPr lang="en-US" altLang="en-US" sz="2400" dirty="0">
              <a:latin typeface="Arial" panose="020B0604020202020204"/>
              <a:ea typeface="Arial" panose="020B0604020202020204"/>
              <a:cs typeface="Arial" panose="020B0604020202020204"/>
              <a:sym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686D6B-6333-4C53-B5E5-54C0FD350F08}"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WT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t>27</a:t>
            </a:fld>
            <a:endParaRPr lang="en-US"/>
          </a:p>
        </p:txBody>
      </p:sp>
      <p:sp>
        <p:nvSpPr>
          <p:cNvPr id="7" name="Title 1"/>
          <p:cNvSpPr txBox="1"/>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Brief Introduction About The Subject </a:t>
            </a:r>
            <a:endParaRPr lang="en-US" dirty="0"/>
          </a:p>
        </p:txBody>
      </p:sp>
      <p:pic>
        <p:nvPicPr>
          <p:cNvPr id="3" name="Picture 2"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 name="Text Box 1"/>
          <p:cNvSpPr txBox="1"/>
          <p:nvPr/>
        </p:nvSpPr>
        <p:spPr>
          <a:xfrm>
            <a:off x="662305" y="947420"/>
            <a:ext cx="10847705" cy="5055235"/>
          </a:xfrm>
          <a:prstGeom prst="rect">
            <a:avLst/>
          </a:prstGeom>
          <a:noFill/>
        </p:spPr>
        <p:txBody>
          <a:bodyPr wrap="square" rtlCol="0" anchor="t">
            <a:noAutofit/>
          </a:bodyPr>
          <a:lstStyle/>
          <a:p>
            <a:pPr>
              <a:spcBef>
                <a:spcPts val="365"/>
              </a:spcBef>
              <a:spcAft>
                <a:spcPct val="0"/>
              </a:spcAft>
              <a:buClr>
                <a:srgbClr val="000000"/>
              </a:buClr>
              <a:buFont typeface="Wingdings" panose="05000000000000000000" pitchFamily="2" charset="2"/>
              <a:buChar char="Ø"/>
            </a:pPr>
            <a:r>
              <a:rPr lang="en-US" altLang="en-US" sz="2200" dirty="0">
                <a:latin typeface="Arial" panose="020B0604020202020204"/>
                <a:ea typeface="Arial" panose="020B0604020202020204"/>
                <a:cs typeface="Arial" panose="020B0604020202020204"/>
                <a:sym typeface="Arial" panose="020B0604020202020204" pitchFamily="34" charset="0"/>
              </a:rPr>
              <a:t>Web technologies are the various tools and techniques that are utilized in the process of communication between different types of devices over the internet.</a:t>
            </a:r>
          </a:p>
          <a:p>
            <a:pPr>
              <a:spcBef>
                <a:spcPts val="365"/>
              </a:spcBef>
              <a:spcAft>
                <a:spcPct val="0"/>
              </a:spcAft>
              <a:buClr>
                <a:srgbClr val="000000"/>
              </a:buClr>
              <a:buFont typeface="Wingdings" panose="05000000000000000000" pitchFamily="2" charset="2"/>
              <a:buChar char="Ø"/>
            </a:pPr>
            <a:r>
              <a:rPr lang="en-US" altLang="en-US" sz="2200" dirty="0">
                <a:latin typeface="Arial" panose="020B0604020202020204"/>
                <a:ea typeface="Arial" panose="020B0604020202020204"/>
                <a:cs typeface="Arial" panose="020B0604020202020204"/>
                <a:sym typeface="Arial" panose="020B0604020202020204" pitchFamily="34" charset="0"/>
              </a:rPr>
              <a:t>To understand this term in a better manner, let’s break it down into two pieces: ‘web’ and ‘technology’.</a:t>
            </a:r>
          </a:p>
          <a:p>
            <a:pPr>
              <a:spcBef>
                <a:spcPts val="365"/>
              </a:spcBef>
              <a:spcAft>
                <a:spcPct val="0"/>
              </a:spcAft>
              <a:buClr>
                <a:srgbClr val="000000"/>
              </a:buClr>
              <a:buFont typeface="Wingdings" panose="05000000000000000000" pitchFamily="2" charset="2"/>
              <a:buChar char="Ø"/>
            </a:pPr>
            <a:r>
              <a:rPr lang="en-US" altLang="en-US" sz="2200" dirty="0">
                <a:latin typeface="Arial" panose="020B0604020202020204"/>
                <a:ea typeface="Arial" panose="020B0604020202020204"/>
                <a:cs typeface="Arial" panose="020B0604020202020204"/>
                <a:sym typeface="Arial" panose="020B0604020202020204" pitchFamily="34" charset="0"/>
              </a:rPr>
              <a:t>The web, in this case, refers to the World Wide Web, more commonly known as WWW. </a:t>
            </a:r>
          </a:p>
          <a:p>
            <a:pPr>
              <a:spcBef>
                <a:spcPts val="365"/>
              </a:spcBef>
              <a:spcAft>
                <a:spcPct val="0"/>
              </a:spcAft>
              <a:buClr>
                <a:srgbClr val="000000"/>
              </a:buClr>
              <a:buFont typeface="Wingdings" panose="05000000000000000000" pitchFamily="2" charset="2"/>
              <a:buChar char="Ø"/>
            </a:pPr>
            <a:r>
              <a:rPr lang="en-US" altLang="en-US" sz="2200" dirty="0">
                <a:latin typeface="Arial" panose="020B0604020202020204"/>
                <a:ea typeface="Arial" panose="020B0604020202020204"/>
                <a:cs typeface="Arial" panose="020B0604020202020204"/>
                <a:sym typeface="Arial" panose="020B0604020202020204" pitchFamily="34" charset="0"/>
              </a:rPr>
              <a:t>It first came into being in 1989 when famous scientist and engineer, Tim Berners-Lee, came up with an efficient mechanism to share resources between scientists all over the world.</a:t>
            </a:r>
          </a:p>
          <a:p>
            <a:pPr>
              <a:spcBef>
                <a:spcPts val="365"/>
              </a:spcBef>
              <a:spcAft>
                <a:spcPct val="0"/>
              </a:spcAft>
              <a:buClr>
                <a:srgbClr val="000000"/>
              </a:buClr>
              <a:buFont typeface="Wingdings" panose="05000000000000000000" pitchFamily="2" charset="2"/>
              <a:buChar char="Ø"/>
            </a:pPr>
            <a:r>
              <a:rPr lang="en-US" altLang="en-US" sz="2200" b="1" u="sng" dirty="0">
                <a:solidFill>
                  <a:srgbClr val="0000FF"/>
                </a:solidFill>
                <a:latin typeface="Arial" panose="020B0604020202020204"/>
                <a:ea typeface="Arial" panose="020B0604020202020204"/>
                <a:cs typeface="Arial" panose="020B0604020202020204"/>
                <a:sym typeface="Arial" panose="020B0604020202020204" pitchFamily="34" charset="0"/>
              </a:rPr>
              <a:t>https://www.youtube.com/results?search_query=Web+Technonogies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F058023-1515-4529-8153-69358BC4018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28</a:t>
            </a:fld>
            <a:endParaRPr lang="en-US"/>
          </a:p>
        </p:txBody>
      </p:sp>
      <p:sp>
        <p:nvSpPr>
          <p:cNvPr id="7" name="Title 1"/>
          <p:cNvSpPr txBox="1"/>
          <p:nvPr/>
        </p:nvSpPr>
        <p:spPr>
          <a:xfrm>
            <a:off x="2895600" y="0"/>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dirty="0">
                <a:latin typeface="Calibri" panose="020F0502020204030204" charset="0"/>
                <a:cs typeface="Calibri" panose="020F0502020204030204" charset="0"/>
                <a:sym typeface="Calibri" panose="020F0502020204030204" charset="0"/>
              </a:rPr>
              <a:t>Unit 1 Content</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609600" y="1158875"/>
            <a:ext cx="10873105" cy="5111750"/>
          </a:xfrm>
          <a:prstGeom prst="rect">
            <a:avLst/>
          </a:prstGeom>
          <a:noFill/>
        </p:spPr>
        <p:txBody>
          <a:bodyPr wrap="square" rtlCol="0" anchor="t">
            <a:noAutofit/>
          </a:bodyPr>
          <a:lstStyle/>
          <a:p>
            <a:pPr>
              <a:spcBef>
                <a:spcPts val="365"/>
              </a:spcBef>
              <a:spcAft>
                <a:spcPct val="0"/>
              </a:spcAft>
              <a:buClr>
                <a:srgbClr val="000000"/>
              </a:buClr>
            </a:pPr>
            <a:r>
              <a:rPr lang="en-US" altLang="en-US" sz="2400" b="1" dirty="0">
                <a:latin typeface="Arial" panose="020B0604020202020204"/>
                <a:ea typeface="Arial" panose="020B0604020202020204"/>
                <a:cs typeface="Arial" panose="020B0604020202020204"/>
                <a:sym typeface="Arial" panose="020B0604020202020204" pitchFamily="34" charset="0"/>
              </a:rPr>
              <a:t>Introduction: </a:t>
            </a:r>
          </a:p>
          <a:p>
            <a:pPr lvl="1">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Introduction to Web Technology</a:t>
            </a:r>
          </a:p>
          <a:p>
            <a:pPr lvl="1">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History of Web and Internet</a:t>
            </a:r>
          </a:p>
          <a:p>
            <a:pPr lvl="1">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Connecting to Internet</a:t>
            </a:r>
          </a:p>
          <a:p>
            <a:pPr lvl="1">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Introduction to Internet services and tools</a:t>
            </a:r>
          </a:p>
          <a:p>
            <a:pPr lvl="1">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Client-Server Computing, Protocols Governing Web</a:t>
            </a:r>
          </a:p>
          <a:p>
            <a:pPr lvl="1">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Basic principles involved in developing a web site</a:t>
            </a:r>
          </a:p>
          <a:p>
            <a:pPr lvl="1">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Planning process</a:t>
            </a:r>
          </a:p>
          <a:p>
            <a:pPr lvl="1">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Types of Websites</a:t>
            </a:r>
          </a:p>
          <a:p>
            <a:pPr lvl="1">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Web Standards and W3C recommendations,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375" y="1143000"/>
            <a:ext cx="10740390" cy="4800600"/>
          </a:xfrm>
        </p:spPr>
        <p:txBody>
          <a:bodyPr>
            <a:normAutofit/>
          </a:bodyPr>
          <a:lstStyle/>
          <a:p>
            <a:pPr marL="457200" lvl="1" algn="l">
              <a:spcBef>
                <a:spcPts val="365"/>
              </a:spcBef>
              <a:buClr>
                <a:srgbClr val="000000"/>
              </a:buClr>
              <a:buSzTx/>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Web Hosting Basics</a:t>
            </a:r>
          </a:p>
          <a:p>
            <a:pPr marL="457200" lvl="1" algn="l">
              <a:spcBef>
                <a:spcPts val="365"/>
              </a:spcBef>
              <a:buClr>
                <a:srgbClr val="000000"/>
              </a:buClr>
              <a:buSzTx/>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Types of Hosting Packages</a:t>
            </a:r>
          </a:p>
          <a:p>
            <a:pPr marL="457200" lvl="1" algn="l">
              <a:spcBef>
                <a:spcPts val="365"/>
              </a:spcBef>
              <a:buClr>
                <a:srgbClr val="000000"/>
              </a:buClr>
              <a:buSzTx/>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Introduction to web testing</a:t>
            </a:r>
          </a:p>
          <a:p>
            <a:pPr marL="457200" lvl="1" algn="l">
              <a:spcBef>
                <a:spcPts val="365"/>
              </a:spcBef>
              <a:buClr>
                <a:srgbClr val="000000"/>
              </a:buClr>
              <a:buSzTx/>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Functional Testing</a:t>
            </a:r>
          </a:p>
          <a:p>
            <a:pPr marL="457200" lvl="1" algn="l">
              <a:spcBef>
                <a:spcPts val="365"/>
              </a:spcBef>
              <a:buClr>
                <a:srgbClr val="000000"/>
              </a:buClr>
              <a:buSzTx/>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Usability &amp; Visual Testing</a:t>
            </a:r>
          </a:p>
          <a:p>
            <a:pPr marL="457200" lvl="1" algn="l">
              <a:spcBef>
                <a:spcPts val="365"/>
              </a:spcBef>
              <a:buClr>
                <a:srgbClr val="000000"/>
              </a:buClr>
              <a:buSzTx/>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Performance &amp; Load Testing</a:t>
            </a:r>
          </a:p>
          <a:p>
            <a:pPr lvl="1">
              <a:spcBef>
                <a:spcPts val="365"/>
              </a:spcBef>
              <a:spcAft>
                <a:spcPct val="0"/>
              </a:spcAft>
              <a:buClr>
                <a:srgbClr val="000000"/>
              </a:buClr>
              <a:buFont typeface="Arial" panose="020B0604020202020204" pitchFamily="34" charset="0"/>
              <a:buNone/>
            </a:pPr>
            <a:endParaRPr lang="en-US" altLang="en-US" sz="1600" dirty="0">
              <a:latin typeface="Arial" panose="020B0604020202020204"/>
              <a:ea typeface="Arial" panose="020B0604020202020204"/>
              <a:cs typeface="Arial" panose="020B0604020202020204"/>
              <a:sym typeface="Arial" panose="020B0604020202020204" pitchFamily="34" charset="0"/>
            </a:endParaRPr>
          </a:p>
          <a:p>
            <a:pPr>
              <a:buNone/>
            </a:pPr>
            <a:endParaRPr lang="en-US" sz="1600" dirty="0"/>
          </a:p>
        </p:txBody>
      </p:sp>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29</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dirty="0">
                <a:latin typeface="Calibri" panose="020F0502020204030204" charset="0"/>
                <a:cs typeface="Calibri" panose="020F0502020204030204" charset="0"/>
                <a:sym typeface="Calibri" panose="020F0502020204030204" charset="0"/>
              </a:rPr>
              <a:t>Unit 1 Content(cont1..)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30</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Unit Objective</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594360" y="1050290"/>
            <a:ext cx="10812780" cy="4685030"/>
          </a:xfrm>
          <a:prstGeom prst="rect">
            <a:avLst/>
          </a:prstGeom>
          <a:noFill/>
        </p:spPr>
        <p:txBody>
          <a:bodyPr wrap="square" rtlCol="0" anchor="t">
            <a:noAutofit/>
          </a:bodyPr>
          <a:lstStyle/>
          <a:p>
            <a:pPr marL="114300" indent="0" algn="just" eaLnBrk="1" hangingPunct="1">
              <a:spcBef>
                <a:spcPts val="365"/>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Calibri" panose="020F0502020204030204" charset="0"/>
                <a:sym typeface="Calibri" panose="020F0502020204030204" charset="0"/>
              </a:rPr>
              <a:t>Objective of Unit 1:</a:t>
            </a:r>
          </a:p>
          <a:p>
            <a:pPr lvl="1" algn="just" eaLnBrk="1" hangingPunct="1">
              <a:spcBef>
                <a:spcPts val="365"/>
              </a:spcBef>
              <a:spcAft>
                <a:spcPct val="0"/>
              </a:spcAft>
              <a:buClr>
                <a:srgbClr val="000000"/>
              </a:buClr>
              <a:buFont typeface="Arial" panose="020B0604020202020204" pitchFamily="34" charset="0"/>
              <a:buChar char="•"/>
            </a:pPr>
            <a:r>
              <a:rPr lang="en-US" altLang="en-US" sz="2400" dirty="0">
                <a:latin typeface="Times New Roman" panose="02020603050405020304" pitchFamily="18" charset="0"/>
                <a:ea typeface="Arial" panose="020B0604020202020204"/>
                <a:cs typeface="Tahoma" panose="020B0604030504040204" pitchFamily="34" charset="0"/>
                <a:sym typeface="Times New Roman" panose="02020603050405020304" pitchFamily="18" charset="0"/>
              </a:rPr>
              <a:t> To learn about web development strategies with protocols governing web and internet services and tools.</a:t>
            </a:r>
          </a:p>
          <a:p>
            <a:pPr lvl="1" algn="just" eaLnBrk="1" hangingPunct="1">
              <a:spcBef>
                <a:spcPts val="365"/>
              </a:spcBef>
              <a:spcAft>
                <a:spcPct val="0"/>
              </a:spcAft>
              <a:buClr>
                <a:srgbClr val="000000"/>
              </a:buClr>
              <a:buFont typeface="Arial" panose="020B0604020202020204" pitchFamily="34" charset="0"/>
              <a:buChar char="•"/>
            </a:pPr>
            <a:r>
              <a:rPr lang="en-US" altLang="en-US" sz="2400" dirty="0">
                <a:latin typeface="Times New Roman" panose="02020603050405020304" pitchFamily="18" charset="0"/>
                <a:ea typeface="Arial" panose="020B0604020202020204"/>
                <a:cs typeface="Tahoma" panose="020B0604030504040204" pitchFamily="34" charset="0"/>
                <a:sym typeface="Times New Roman" panose="02020603050405020304" pitchFamily="18" charset="0"/>
              </a:rPr>
              <a:t> To understand the basic concepts to develop the website as per web standards and W3C recommendations.</a:t>
            </a:r>
          </a:p>
          <a:p>
            <a:pPr lvl="1" algn="just" eaLnBrk="1" hangingPunct="1">
              <a:spcBef>
                <a:spcPts val="365"/>
              </a:spcBef>
              <a:spcAft>
                <a:spcPct val="0"/>
              </a:spcAft>
              <a:buClr>
                <a:srgbClr val="000000"/>
              </a:buClr>
              <a:buFont typeface="Arial" panose="020B0604020202020204" pitchFamily="34" charset="0"/>
              <a:buChar char="•"/>
            </a:pPr>
            <a:r>
              <a:rPr lang="en-US" altLang="en-US" sz="2400" dirty="0">
                <a:latin typeface="Times New Roman" panose="02020603050405020304" pitchFamily="18" charset="0"/>
                <a:ea typeface="Arial" panose="020B0604020202020204"/>
                <a:cs typeface="Tahoma" panose="020B0604030504040204" pitchFamily="34" charset="0"/>
                <a:sym typeface="Times New Roman" panose="02020603050405020304" pitchFamily="18" charset="0"/>
              </a:rPr>
              <a:t>To understand web hosting and web hosting packages.</a:t>
            </a:r>
          </a:p>
          <a:p>
            <a:pPr lvl="1" algn="just" eaLnBrk="1" hangingPunct="1">
              <a:spcBef>
                <a:spcPts val="365"/>
              </a:spcBef>
              <a:spcAft>
                <a:spcPct val="0"/>
              </a:spcAft>
              <a:buClr>
                <a:srgbClr val="000000"/>
              </a:buClr>
              <a:buFont typeface="Arial" panose="020B0604020202020204" pitchFamily="34" charset="0"/>
              <a:buChar char="•"/>
            </a:pPr>
            <a:r>
              <a:rPr lang="en-US" altLang="en-US" sz="2400" dirty="0">
                <a:latin typeface="Times New Roman" panose="02020603050405020304" pitchFamily="18" charset="0"/>
                <a:ea typeface="Arial" panose="020B0604020202020204"/>
                <a:cs typeface="Tahoma" panose="020B0604030504040204" pitchFamily="34" charset="0"/>
                <a:sym typeface="Times New Roman" panose="02020603050405020304" pitchFamily="18" charset="0"/>
              </a:rPr>
              <a:t>To understand to register a domain and maintain web servers.</a:t>
            </a:r>
          </a:p>
          <a:p>
            <a:pPr lvl="1" algn="just" eaLnBrk="1" hangingPunct="1">
              <a:spcBef>
                <a:spcPts val="365"/>
              </a:spcBef>
              <a:spcAft>
                <a:spcPct val="0"/>
              </a:spcAft>
              <a:buClr>
                <a:srgbClr val="000000"/>
              </a:buClr>
              <a:buFont typeface="Arial" panose="020B0604020202020204" pitchFamily="34" charset="0"/>
              <a:buChar char="•"/>
            </a:pPr>
            <a:endParaRPr lang="en-US" altLang="en-US" sz="2400" dirty="0">
              <a:latin typeface="Times New Roman" panose="02020603050405020304" pitchFamily="18" charset="0"/>
              <a:ea typeface="Arial" panose="020B0604020202020204"/>
              <a:cs typeface="Tahoma" panose="020B0604030504040204" pitchFamily="34" charset="0"/>
              <a:sym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31</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dirty="0">
                <a:latin typeface="Calibri" panose="020F0502020204030204" charset="0"/>
                <a:cs typeface="Calibri" panose="020F0502020204030204" charset="0"/>
                <a:sym typeface="Calibri" panose="020F0502020204030204" charset="0"/>
              </a:rPr>
              <a:t>Introduction to Web Technology </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587375" y="1258570"/>
            <a:ext cx="10833100" cy="4226560"/>
          </a:xfrm>
          <a:prstGeom prst="rect">
            <a:avLst/>
          </a:prstGeom>
          <a:noFill/>
        </p:spPr>
        <p:txBody>
          <a:bodyPr wrap="square" rtlCol="0" anchor="t">
            <a:noAutofit/>
          </a:bodyPr>
          <a:lstStyle/>
          <a:p>
            <a:pPr algn="just">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Web Technology refers to the various tools and techniques that are utilized in the process of communication between different types of devices over the internet. </a:t>
            </a:r>
          </a:p>
          <a:p>
            <a:pPr algn="just">
              <a:spcBef>
                <a:spcPts val="365"/>
              </a:spcBef>
              <a:spcAft>
                <a:spcPct val="0"/>
              </a:spcAft>
              <a:buClr>
                <a:srgbClr val="000000"/>
              </a:buClr>
              <a:buFont typeface="Wingdings" panose="05000000000000000000" pitchFamily="2" charset="2"/>
              <a:buChar char="Ø"/>
            </a:pPr>
            <a:endParaRPr lang="en-US" altLang="en-US" sz="2400" dirty="0">
              <a:latin typeface="Arial" panose="020B0604020202020204"/>
              <a:ea typeface="Arial" panose="020B0604020202020204"/>
              <a:cs typeface="Arial" panose="020B0604020202020204"/>
              <a:sym typeface="Arial" panose="020B0604020202020204" pitchFamily="34" charset="0"/>
            </a:endParaRPr>
          </a:p>
          <a:p>
            <a:pPr algn="just">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A web browser is used to access web pages.</a:t>
            </a:r>
          </a:p>
          <a:p>
            <a:pPr algn="just">
              <a:spcBef>
                <a:spcPts val="365"/>
              </a:spcBef>
              <a:spcAft>
                <a:spcPct val="0"/>
              </a:spcAft>
              <a:buClr>
                <a:srgbClr val="000000"/>
              </a:buClr>
              <a:buFont typeface="Arial" panose="020B0604020202020204" pitchFamily="34" charset="0"/>
              <a:buNone/>
            </a:pPr>
            <a:r>
              <a:rPr lang="en-US" altLang="en-US" sz="2400" dirty="0">
                <a:latin typeface="Arial" panose="020B0604020202020204"/>
                <a:ea typeface="Arial" panose="020B0604020202020204"/>
                <a:cs typeface="Arial" panose="020B0604020202020204"/>
                <a:sym typeface="Arial" panose="020B0604020202020204" pitchFamily="34" charset="0"/>
              </a:rPr>
              <a:t> </a:t>
            </a:r>
          </a:p>
          <a:p>
            <a:pPr algn="just">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Web browsers can be defined as programs that display text, data, pictures, animation, and video on the Internet.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32</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solidFill>
                  <a:srgbClr val="000000"/>
                </a:solidFill>
                <a:latin typeface="Arial" panose="020B0604020202020204" pitchFamily="34" charset="0"/>
                <a:cs typeface="Arial" panose="020B0604020202020204" pitchFamily="34" charset="0"/>
                <a:sym typeface="Arial" panose="020B0604020202020204" pitchFamily="34" charset="0"/>
              </a:rPr>
              <a:t>Classification of Web technology</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544195" y="1247140"/>
            <a:ext cx="10570845" cy="4547870"/>
          </a:xfrm>
          <a:prstGeom prst="rect">
            <a:avLst/>
          </a:prstGeom>
          <a:noFill/>
        </p:spPr>
        <p:txBody>
          <a:bodyPr wrap="square" rtlCol="0" anchor="t">
            <a:noAutofit/>
          </a:bodyPr>
          <a:lstStyle/>
          <a:p>
            <a:pPr algn="just">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World Wide Web (WWW)</a:t>
            </a:r>
          </a:p>
          <a:p>
            <a:pPr algn="just">
              <a:spcBef>
                <a:spcPts val="365"/>
              </a:spcBef>
              <a:spcAft>
                <a:spcPct val="0"/>
              </a:spcAft>
              <a:buClr>
                <a:srgbClr val="000000"/>
              </a:buClr>
              <a:buFont typeface="Wingdings" panose="05000000000000000000" pitchFamily="2" charset="2"/>
              <a:buChar char="Ø"/>
            </a:pPr>
            <a:endParaRPr lang="en-US" altLang="en-US" sz="2400" dirty="0">
              <a:latin typeface="Arial" panose="020B0604020202020204"/>
              <a:ea typeface="Arial" panose="020B0604020202020204"/>
              <a:cs typeface="Arial" panose="020B0604020202020204"/>
              <a:sym typeface="Arial" panose="020B0604020202020204" pitchFamily="34" charset="0"/>
            </a:endParaRPr>
          </a:p>
          <a:p>
            <a:pPr algn="just">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Web Browser</a:t>
            </a:r>
          </a:p>
          <a:p>
            <a:pPr algn="just">
              <a:spcBef>
                <a:spcPts val="365"/>
              </a:spcBef>
              <a:spcAft>
                <a:spcPct val="0"/>
              </a:spcAft>
              <a:buClr>
                <a:srgbClr val="000000"/>
              </a:buClr>
              <a:buFont typeface="Wingdings" panose="05000000000000000000" pitchFamily="2" charset="2"/>
              <a:buChar char="Ø"/>
            </a:pPr>
            <a:endParaRPr lang="en-US" altLang="en-US" sz="2400" dirty="0">
              <a:latin typeface="Arial" panose="020B0604020202020204"/>
              <a:ea typeface="Arial" panose="020B0604020202020204"/>
              <a:cs typeface="Arial" panose="020B0604020202020204"/>
              <a:sym typeface="Arial" panose="020B0604020202020204" pitchFamily="34" charset="0"/>
            </a:endParaRPr>
          </a:p>
          <a:p>
            <a:pPr algn="just">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Web Server</a:t>
            </a:r>
          </a:p>
          <a:p>
            <a:pPr algn="just">
              <a:spcBef>
                <a:spcPts val="365"/>
              </a:spcBef>
              <a:spcAft>
                <a:spcPct val="0"/>
              </a:spcAft>
              <a:buClr>
                <a:srgbClr val="000000"/>
              </a:buClr>
              <a:buFont typeface="Wingdings" panose="05000000000000000000" pitchFamily="2" charset="2"/>
              <a:buChar char="Ø"/>
            </a:pPr>
            <a:endParaRPr lang="en-US" altLang="en-US" sz="2400" dirty="0">
              <a:latin typeface="Arial" panose="020B0604020202020204"/>
              <a:ea typeface="Arial" panose="020B0604020202020204"/>
              <a:cs typeface="Arial" panose="020B0604020202020204"/>
              <a:sym typeface="Arial" panose="020B0604020202020204" pitchFamily="34" charset="0"/>
            </a:endParaRPr>
          </a:p>
          <a:p>
            <a:pPr algn="just">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Web Pages</a:t>
            </a:r>
          </a:p>
          <a:p>
            <a:pPr algn="just">
              <a:spcBef>
                <a:spcPts val="365"/>
              </a:spcBef>
              <a:spcAft>
                <a:spcPct val="0"/>
              </a:spcAft>
              <a:buClr>
                <a:srgbClr val="000000"/>
              </a:buClr>
              <a:buFont typeface="Wingdings" panose="05000000000000000000" pitchFamily="2" charset="2"/>
              <a:buChar char="Ø"/>
            </a:pPr>
            <a:endParaRPr lang="en-US" altLang="en-US" sz="2400" dirty="0">
              <a:latin typeface="Arial" panose="020B0604020202020204"/>
              <a:ea typeface="Arial" panose="020B0604020202020204"/>
              <a:cs typeface="Arial" panose="020B0604020202020204"/>
              <a:sym typeface="Arial" panose="020B0604020202020204" pitchFamily="34" charset="0"/>
            </a:endParaRPr>
          </a:p>
          <a:p>
            <a:pPr algn="just">
              <a:spcBef>
                <a:spcPts val="365"/>
              </a:spcBef>
              <a:spcAft>
                <a:spcPct val="0"/>
              </a:spcAft>
              <a:buClr>
                <a:srgbClr val="000000"/>
              </a:buClr>
              <a:buFont typeface="Wingdings" panose="05000000000000000000" pitchFamily="2" charset="2"/>
              <a:buChar char="Ø"/>
            </a:pPr>
            <a:r>
              <a:rPr lang="en-US" altLang="en-US" sz="2400" dirty="0">
                <a:latin typeface="Arial" panose="020B0604020202020204"/>
                <a:ea typeface="Arial" panose="020B0604020202020204"/>
                <a:cs typeface="Arial" panose="020B0604020202020204"/>
                <a:sym typeface="Arial" panose="020B0604020202020204" pitchFamily="34" charset="0"/>
              </a:rPr>
              <a:t>Web Development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33</a:t>
            </a:fld>
            <a:endParaRPr lang="en-US"/>
          </a:p>
        </p:txBody>
      </p:sp>
      <p:sp>
        <p:nvSpPr>
          <p:cNvPr id="7" name="Title 1"/>
          <p:cNvSpPr txBox="1"/>
          <p:nvPr/>
        </p:nvSpPr>
        <p:spPr>
          <a:xfrm>
            <a:off x="2895600" y="9525"/>
            <a:ext cx="7772400" cy="676275"/>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endParaRPr lang="en-US" noProof="0" dirty="0">
              <a:latin typeface="Times New Roman" panose="02020603050405020304" pitchFamily="18" charset="0"/>
              <a:cs typeface="Times New Roman" panose="02020603050405020304" pitchFamily="18" charset="0"/>
              <a:sym typeface="Arial" panose="020B0604020202020204" pitchFamily="34" charset="0"/>
            </a:endParaRPr>
          </a:p>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History of Web development and Internet</a:t>
            </a:r>
            <a:endParaRPr kumimoji="0" lang="en-US" kern="1200" cap="none" spc="0" normalizeH="0" baseline="0" noProof="0" dirty="0">
              <a:solidFill>
                <a:schemeClr val="dk1"/>
              </a:solidFill>
              <a:latin typeface="Times New Roman" panose="02020603050405020304" pitchFamily="18" charset="0"/>
              <a:ea typeface="+mn-ea"/>
              <a:cs typeface="Times New Roman" panose="02020603050405020304" pitchFamily="18" charset="0"/>
              <a:sym typeface="Arial" panose="020B0604020202020204" pitchFamily="34" charset="0"/>
            </a:endParaRPr>
          </a:p>
          <a:p>
            <a:pPr algn="ctr">
              <a:buClr>
                <a:srgbClr val="000000"/>
              </a:buClr>
              <a:buFont typeface="Calibri" panose="020F0502020204030204" charset="0"/>
              <a:buNone/>
            </a:pPr>
            <a:endParaRPr lang="en-US" dirty="0"/>
          </a:p>
        </p:txBody>
      </p:sp>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1506" name="Google Shape;126;p16"/>
          <p:cNvSpPr txBox="1">
            <a:spLocks noGrp="1"/>
          </p:cNvSpPr>
          <p:nvPr>
            <p:ph type="body" idx="1"/>
            <p:custDataLst>
              <p:tags r:id="rId1"/>
            </p:custDataLst>
          </p:nvPr>
        </p:nvSpPr>
        <p:spPr>
          <a:xfrm>
            <a:off x="629920" y="1271905"/>
            <a:ext cx="10866755" cy="5085080"/>
          </a:xfrm>
        </p:spPr>
        <p:txBody>
          <a:bodyPr spcFirstLastPara="1" vert="horz" wrap="square" lIns="91425" tIns="45700" rIns="91425" bIns="45700" numCol="1" anchor="t" anchorCtr="0" compatLnSpc="1">
            <a:noAutofit/>
          </a:bodyPr>
          <a:lstStyle/>
          <a:p>
            <a:pPr marL="9525" indent="0" algn="just">
              <a:lnSpc>
                <a:spcPct val="90000"/>
              </a:lnSpc>
              <a:spcBef>
                <a:spcPts val="365"/>
              </a:spcBef>
              <a:spcAft>
                <a:spcPct val="0"/>
              </a:spcAft>
              <a:buClr>
                <a:srgbClr val="000000"/>
              </a:buClr>
              <a:buFont typeface="Arial" panose="020B0604020202020204" pitchFamily="34" charset="0"/>
              <a:buNone/>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World Wide Web</a:t>
            </a:r>
          </a:p>
          <a:p>
            <a:pPr marL="9525" indent="0" algn="just">
              <a:lnSpc>
                <a:spcPct val="90000"/>
              </a:lnSpc>
              <a:spcBef>
                <a:spcPts val="365"/>
              </a:spcBef>
              <a:spcAft>
                <a:spcPct val="0"/>
              </a:spcAft>
              <a:buClr>
                <a:srgbClr val="000000"/>
              </a:buClr>
              <a:buFont typeface="Arial" panose="020B0604020202020204" pitchFamily="34" charset="0"/>
              <a:buNone/>
            </a:pPr>
            <a:endPar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09625" lvl="1" algn="just">
              <a:lnSpc>
                <a:spcPct val="90000"/>
              </a:lnSpc>
              <a:spcBef>
                <a:spcPts val="365"/>
              </a:spcBef>
              <a:spcAft>
                <a:spcPct val="0"/>
              </a:spcAft>
              <a:buClr>
                <a:srgbClr val="000000"/>
              </a:buClr>
              <a:buFont typeface="Wingdings" panose="05000000000000000000" pitchFamily="2" charset="2"/>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The World Wide Web is a system of interlinked hypertext  documents accessed via the Internet. Web is a huge collection  of pages of information linked to each other around the globe.</a:t>
            </a:r>
          </a:p>
          <a:p>
            <a:pPr marL="809625" lvl="1" algn="just">
              <a:lnSpc>
                <a:spcPct val="90000"/>
              </a:lnSpc>
              <a:spcBef>
                <a:spcPts val="365"/>
              </a:spcBef>
              <a:spcAft>
                <a:spcPct val="0"/>
              </a:spcAft>
              <a:buClr>
                <a:srgbClr val="000000"/>
              </a:buClr>
              <a:buFont typeface="Wingdings" panose="05000000000000000000" pitchFamily="2" charset="2"/>
              <a:buChar cha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525" indent="0" algn="just">
              <a:spcBef>
                <a:spcPts val="290"/>
              </a:spcBef>
              <a:spcAft>
                <a:spcPct val="0"/>
              </a:spcAft>
              <a:buClr>
                <a:srgbClr val="000000"/>
              </a:buClr>
              <a:buFont typeface="Arial" panose="020B0604020202020204" pitchFamily="34" charset="0"/>
              <a:buNone/>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History of WWW:</a:t>
            </a:r>
          </a:p>
          <a:p>
            <a:pPr marL="9525" indent="0" algn="just">
              <a:spcBef>
                <a:spcPts val="290"/>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09625" lvl="1" algn="just">
              <a:lnSpc>
                <a:spcPts val="2590"/>
              </a:lnSpc>
              <a:spcBef>
                <a:spcPts val="625"/>
              </a:spcBef>
              <a:spcAft>
                <a:spcPct val="0"/>
              </a:spcAft>
              <a:buClr>
                <a:srgbClr val="000000"/>
              </a:buClr>
              <a:buFont typeface="Wingdings" panose="05000000000000000000" pitchFamily="2" charset="2"/>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WWW is created by Sir Tim Berners Lee in 1989 at CERN in  Geneva.</a:t>
            </a:r>
          </a:p>
          <a:p>
            <a:pPr marL="809625" lvl="1" algn="just">
              <a:lnSpc>
                <a:spcPts val="2740"/>
              </a:lnSpc>
              <a:spcBef>
                <a:spcPts val="250"/>
              </a:spcBef>
              <a:spcAft>
                <a:spcPct val="0"/>
              </a:spcAft>
              <a:buClr>
                <a:srgbClr val="000000"/>
              </a:buClr>
              <a:buFont typeface="Wingdings" panose="05000000000000000000" pitchFamily="2" charset="2"/>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 1990, the first text only browsers were setup and CERN scientist.</a:t>
            </a:r>
          </a:p>
          <a:p>
            <a:pPr marL="809625" lvl="1" algn="just">
              <a:lnSpc>
                <a:spcPts val="2740"/>
              </a:lnSpc>
              <a:spcBef>
                <a:spcPts val="250"/>
              </a:spcBef>
              <a:spcAft>
                <a:spcPct val="0"/>
              </a:spcAft>
              <a:buClr>
                <a:srgbClr val="000000"/>
              </a:buClr>
              <a:buFont typeface="Wingdings" panose="05000000000000000000" pitchFamily="2" charset="2"/>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To  transfer HTML document   to remote sites a new protocol was devised called  HTTP (Hyper Text Transfer Protocol).</a:t>
            </a:r>
          </a:p>
          <a:p>
            <a:pPr marL="809625" lvl="1" algn="just">
              <a:lnSpc>
                <a:spcPts val="2740"/>
              </a:lnSpc>
              <a:spcBef>
                <a:spcPts val="250"/>
              </a:spcBef>
              <a:spcAft>
                <a:spcPct val="0"/>
              </a:spcAft>
              <a:buClr>
                <a:srgbClr val="000000"/>
              </a:buClr>
              <a:buFont typeface="Wingdings" panose="05000000000000000000" pitchFamily="2" charset="2"/>
              <a:buChar char="§"/>
            </a:pPr>
            <a:endParaRPr lang="en-US" altLang="en-US" sz="2000" dirty="0">
              <a:latin typeface="Arial" panose="020B0604020202020204"/>
              <a:ea typeface="Arial" panose="020B0604020202020204"/>
              <a:cs typeface="Arial" panose="020B0604020202020204"/>
              <a:sym typeface="Arial" panose="020B0604020202020204" pitchFamily="34" charset="0"/>
            </a:endParaRPr>
          </a:p>
          <a:p>
            <a:pPr marL="809625" lvl="1" algn="just">
              <a:lnSpc>
                <a:spcPts val="2740"/>
              </a:lnSpc>
              <a:spcBef>
                <a:spcPts val="250"/>
              </a:spcBef>
              <a:spcAft>
                <a:spcPct val="0"/>
              </a:spcAft>
              <a:buClr>
                <a:srgbClr val="000000"/>
              </a:buClr>
              <a:buFont typeface="Arial" panose="020B0604020202020204" pitchFamily="34" charset="0"/>
              <a:buChar cha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09625" lvl="1" algn="just">
              <a:lnSpc>
                <a:spcPts val="2740"/>
              </a:lnSpc>
              <a:spcBef>
                <a:spcPts val="250"/>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525" indent="0" algn="just">
              <a:spcBef>
                <a:spcPts val="365"/>
              </a:spcBef>
              <a:spcAft>
                <a:spcPct val="0"/>
              </a:spcAft>
              <a:buClr>
                <a:srgbClr val="000000"/>
              </a:buCl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525" indent="0"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Times New Roman" panose="02020603050405020304" pitchFamily="18" charset="0"/>
              <a:cs typeface="Arial" panose="020B0604020202020204"/>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anim calcmode="lin" valueType="num">
                                      <p:cBhvr additive="base">
                                        <p:cTn id="7" dur="500" fill="hold"/>
                                        <p:tgtEl>
                                          <p:spTgt spid="215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506">
                                            <p:txEl>
                                              <p:pRg st="2" end="2"/>
                                            </p:txEl>
                                          </p:spTgt>
                                        </p:tgtEl>
                                        <p:attrNameLst>
                                          <p:attrName>style.visibility</p:attrName>
                                        </p:attrNameLst>
                                      </p:cBhvr>
                                      <p:to>
                                        <p:strVal val="visible"/>
                                      </p:to>
                                    </p:set>
                                    <p:anim calcmode="lin" valueType="num">
                                      <p:cBhvr additive="base">
                                        <p:cTn id="11" dur="500" fill="hold"/>
                                        <p:tgtEl>
                                          <p:spTgt spid="2150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50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1506">
                                            <p:txEl>
                                              <p:pRg st="4" end="4"/>
                                            </p:txEl>
                                          </p:spTgt>
                                        </p:tgtEl>
                                        <p:attrNameLst>
                                          <p:attrName>style.visibility</p:attrName>
                                        </p:attrNameLst>
                                      </p:cBhvr>
                                      <p:to>
                                        <p:strVal val="visible"/>
                                      </p:to>
                                    </p:set>
                                    <p:anim calcmode="lin" valueType="num">
                                      <p:cBhvr additive="base">
                                        <p:cTn id="17" dur="500" fill="hold"/>
                                        <p:tgtEl>
                                          <p:spTgt spid="21506">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1506">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1506">
                                            <p:txEl>
                                              <p:pRg st="6" end="6"/>
                                            </p:txEl>
                                          </p:spTgt>
                                        </p:tgtEl>
                                        <p:attrNameLst>
                                          <p:attrName>style.visibility</p:attrName>
                                        </p:attrNameLst>
                                      </p:cBhvr>
                                      <p:to>
                                        <p:strVal val="visible"/>
                                      </p:to>
                                    </p:set>
                                    <p:anim calcmode="lin" valueType="num">
                                      <p:cBhvr additive="base">
                                        <p:cTn id="21" dur="500" fill="hold"/>
                                        <p:tgtEl>
                                          <p:spTgt spid="21506">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1506">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1506">
                                            <p:txEl>
                                              <p:pRg st="7" end="7"/>
                                            </p:txEl>
                                          </p:spTgt>
                                        </p:tgtEl>
                                        <p:attrNameLst>
                                          <p:attrName>style.visibility</p:attrName>
                                        </p:attrNameLst>
                                      </p:cBhvr>
                                      <p:to>
                                        <p:strVal val="visible"/>
                                      </p:to>
                                    </p:set>
                                    <p:anim calcmode="lin" valueType="num">
                                      <p:cBhvr additive="base">
                                        <p:cTn id="25" dur="500" fill="hold"/>
                                        <p:tgtEl>
                                          <p:spTgt spid="21506">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506">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1506">
                                            <p:txEl>
                                              <p:pRg st="8" end="8"/>
                                            </p:txEl>
                                          </p:spTgt>
                                        </p:tgtEl>
                                        <p:attrNameLst>
                                          <p:attrName>style.visibility</p:attrName>
                                        </p:attrNameLst>
                                      </p:cBhvr>
                                      <p:to>
                                        <p:strVal val="visible"/>
                                      </p:to>
                                    </p:set>
                                    <p:anim calcmode="lin" valueType="num">
                                      <p:cBhvr additive="base">
                                        <p:cTn id="29" dur="500" fill="hold"/>
                                        <p:tgtEl>
                                          <p:spTgt spid="21506">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150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34</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err="1">
                <a:latin typeface="Times New Roman" panose="02020603050405020304" pitchFamily="18" charset="0"/>
                <a:cs typeface="Times New Roman" panose="02020603050405020304" pitchFamily="18" charset="0"/>
                <a:sym typeface="Arial" panose="020B0604020202020204" pitchFamily="34" charset="0"/>
              </a:rPr>
              <a:t>Contd</a:t>
            </a:r>
            <a:r>
              <a:rPr lang="en-US" noProof="0" dirty="0">
                <a:latin typeface="Times New Roman" panose="02020603050405020304" pitchFamily="18" charset="0"/>
                <a:cs typeface="Times New Roman" panose="02020603050405020304" pitchFamily="18" charset="0"/>
                <a:sym typeface="Arial" panose="020B0604020202020204" pitchFamily="34" charset="0"/>
              </a:rPr>
              <a:t>….</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617855" y="1146175"/>
            <a:ext cx="10801985" cy="4654550"/>
          </a:xfrm>
          <a:prstGeom prst="rect">
            <a:avLst/>
          </a:prstGeom>
          <a:noFill/>
        </p:spPr>
        <p:txBody>
          <a:bodyPr wrap="square" rtlCol="0" anchor="t">
            <a:noAutofit/>
          </a:bodyPr>
          <a:lstStyle/>
          <a:p>
            <a:pPr marL="355600" algn="just" defTabSz="914400">
              <a:spcBef>
                <a:spcPts val="115"/>
              </a:spcBef>
              <a:spcAft>
                <a:spcPct val="0"/>
              </a:spcAft>
              <a:buClr>
                <a:srgbClr val="000000"/>
              </a:buClr>
              <a:buFont typeface="Wingdings" panose="05000000000000000000" pitchFamily="2" charset="2"/>
              <a:buChar char="§"/>
              <a:tabLst>
                <a:tab pos="357505"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 the fall of </a:t>
            </a: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1991</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conference goes around the world  started hearing about </a:t>
            </a:r>
          </a:p>
          <a:p>
            <a:pPr marL="355600" algn="just" defTabSz="914400">
              <a:spcBef>
                <a:spcPts val="115"/>
              </a:spcBef>
              <a:spcAft>
                <a:spcPct val="0"/>
              </a:spcAft>
              <a:buClr>
                <a:srgbClr val="000000"/>
              </a:buClr>
              <a:buFont typeface="Wingdings" panose="05000000000000000000" pitchFamily="2" charset="2"/>
              <a:buChar char="§"/>
              <a:tabLst>
                <a:tab pos="357505"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the promise but sparks still  were not flying.</a:t>
            </a:r>
          </a:p>
          <a:p>
            <a:pPr marL="355600" algn="just" defTabSz="914400">
              <a:spcBef>
                <a:spcPts val="115"/>
              </a:spcBef>
              <a:spcAft>
                <a:spcPct val="0"/>
              </a:spcAft>
              <a:buClr>
                <a:srgbClr val="000000"/>
              </a:buClr>
              <a:buFont typeface="Wingdings" panose="05000000000000000000" pitchFamily="2" charset="2"/>
              <a:buChar char="§"/>
              <a:tabLst>
                <a:tab pos="357505" algn="l"/>
              </a:tabLst>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355600" algn="just" defTabSz="914400">
              <a:spcBef>
                <a:spcPts val="675"/>
              </a:spcBef>
              <a:spcAft>
                <a:spcPct val="0"/>
              </a:spcAft>
              <a:buClr>
                <a:srgbClr val="000000"/>
              </a:buClr>
              <a:buFont typeface="Wingdings" panose="05000000000000000000" pitchFamily="2" charset="2"/>
              <a:buChar char="§"/>
              <a:tabLst>
                <a:tab pos="357505"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 1993, there are only about 50 websites world  wide. </a:t>
            </a:r>
          </a:p>
          <a:p>
            <a:pPr marL="355600" algn="just" defTabSz="914400">
              <a:spcBef>
                <a:spcPts val="675"/>
              </a:spcBef>
              <a:spcAft>
                <a:spcPct val="0"/>
              </a:spcAft>
              <a:buClr>
                <a:srgbClr val="000000"/>
              </a:buClr>
              <a:buFont typeface="Wingdings" panose="05000000000000000000" pitchFamily="2" charset="2"/>
              <a:buChar char="§"/>
              <a:tabLst>
                <a:tab pos="357505" algn="l"/>
              </a:tabLst>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355600" algn="just" defTabSz="914400">
              <a:spcBef>
                <a:spcPts val="675"/>
              </a:spcBef>
              <a:spcAft>
                <a:spcPct val="0"/>
              </a:spcAft>
              <a:buClr>
                <a:srgbClr val="000000"/>
              </a:buClr>
              <a:buFont typeface="Wingdings" panose="05000000000000000000" pitchFamily="2" charset="2"/>
              <a:buChar char="§"/>
              <a:tabLst>
                <a:tab pos="357505"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 browser that allowed user to take advantage  of the web’s graphical </a:t>
            </a:r>
          </a:p>
          <a:p>
            <a:pPr marL="355600" algn="just" defTabSz="914400">
              <a:spcBef>
                <a:spcPts val="675"/>
              </a:spcBef>
              <a:spcAft>
                <a:spcPct val="0"/>
              </a:spcAft>
              <a:buClr>
                <a:srgbClr val="000000"/>
              </a:buClr>
              <a:buFont typeface="Wingdings" panose="05000000000000000000" pitchFamily="2" charset="2"/>
              <a:buChar char="§"/>
              <a:tabLst>
                <a:tab pos="357505"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capabilities was developed at  the National center for Super Computing application (NCSA). </a:t>
            </a:r>
          </a:p>
          <a:p>
            <a:pPr marL="355600" algn="just" defTabSz="914400">
              <a:spcBef>
                <a:spcPts val="675"/>
              </a:spcBef>
              <a:spcAft>
                <a:spcPct val="0"/>
              </a:spcAft>
              <a:buClr>
                <a:srgbClr val="000000"/>
              </a:buClr>
              <a:buFont typeface="Wingdings" panose="05000000000000000000" pitchFamily="2" charset="2"/>
              <a:buChar char="§"/>
              <a:tabLst>
                <a:tab pos="357505" algn="l"/>
              </a:tabLst>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355600" algn="just" defTabSz="914400">
              <a:spcBef>
                <a:spcPts val="675"/>
              </a:spcBef>
              <a:spcAft>
                <a:spcPct val="0"/>
              </a:spcAft>
              <a:buClr>
                <a:srgbClr val="000000"/>
              </a:buClr>
              <a:buFont typeface="Wingdings" panose="05000000000000000000" pitchFamily="2" charset="2"/>
              <a:buChar char="§"/>
              <a:tabLst>
                <a:tab pos="357505"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NCSA called the browser  Mosaic.</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35</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endParaRPr lang="en-US" noProof="0" dirty="0">
              <a:latin typeface="Times New Roman" panose="02020603050405020304" pitchFamily="18" charset="0"/>
              <a:cs typeface="Times New Roman" panose="02020603050405020304" pitchFamily="18" charset="0"/>
              <a:sym typeface="Arial" panose="020B0604020202020204" pitchFamily="34" charset="0"/>
            </a:endParaRPr>
          </a:p>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Connecting to Internet</a:t>
            </a:r>
            <a:endParaRPr kumimoji="0" lang="en-US" kern="1200" cap="none" spc="0" normalizeH="0" baseline="0" noProof="0" dirty="0">
              <a:solidFill>
                <a:schemeClr val="dk1"/>
              </a:solidFill>
              <a:latin typeface="Times New Roman" panose="02020603050405020304" pitchFamily="18" charset="0"/>
              <a:ea typeface="+mn-ea"/>
              <a:cs typeface="Times New Roman" panose="02020603050405020304" pitchFamily="18" charset="0"/>
              <a:sym typeface="Arial" panose="020B0604020202020204" pitchFamily="34" charset="0"/>
            </a:endParaRPr>
          </a:p>
          <a:p>
            <a:pPr algn="ctr">
              <a:buClr>
                <a:srgbClr val="000000"/>
              </a:buClr>
              <a:buFont typeface="Calibri" panose="020F0502020204030204" charset="0"/>
              <a:buNone/>
            </a:pP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721995" y="1131570"/>
            <a:ext cx="10711815" cy="4900295"/>
          </a:xfrm>
          <a:prstGeom prst="rect">
            <a:avLst/>
          </a:prstGeom>
          <a:noFill/>
        </p:spPr>
        <p:txBody>
          <a:bodyPr wrap="square" rtlCol="0" anchor="t">
            <a:noAutofit/>
          </a:bodyPr>
          <a:lstStyle/>
          <a:p>
            <a:pPr>
              <a:spcBef>
                <a:spcPts val="365"/>
              </a:spcBef>
              <a:spcAft>
                <a:spcPct val="0"/>
              </a:spcAft>
              <a:buClr>
                <a:srgbClr val="000000"/>
              </a:buCl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When determining which type of Internet speed</a:t>
            </a: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hlinkClick r:id="rId3"/>
              </a:rPr>
              <a:t> </a:t>
            </a: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and Internet connection type is right for you or your family, it's important to understand the distinction between each connection. </a:t>
            </a:r>
          </a:p>
          <a:p>
            <a:pPr>
              <a:spcBef>
                <a:spcPts val="365"/>
              </a:spcBef>
              <a:spcAft>
                <a:spcPct val="0"/>
              </a:spcAft>
              <a:buClr>
                <a:srgbClr val="000000"/>
              </a:buCl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 today's age, there are numerous ways to connect laptops, desktops, mobile phones, gaming consoles, e-readers and tablets to the Internet. </a:t>
            </a:r>
          </a:p>
          <a:p>
            <a:pPr lvl="1">
              <a:spcBef>
                <a:spcPts val="365"/>
              </a:spcBef>
              <a:spcAft>
                <a:spcPct val="0"/>
              </a:spcAft>
              <a:buClr>
                <a:srgbClr val="000000"/>
              </a:buClr>
              <a:buFont typeface="Wingdings" panose="05000000000000000000" pitchFamily="2" charset="2"/>
              <a:buChar char="Ø"/>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MOBILE</a:t>
            </a:r>
          </a:p>
          <a:p>
            <a:pPr lvl="1">
              <a:spcBef>
                <a:spcPts val="365"/>
              </a:spcBef>
              <a:spcAft>
                <a:spcPct val="0"/>
              </a:spcAft>
              <a:buClr>
                <a:srgbClr val="000000"/>
              </a:buClr>
              <a:buFont typeface="Wingdings" panose="05000000000000000000" pitchFamily="2" charset="2"/>
              <a:buChar char="Ø"/>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WIFI HOTSPOTS</a:t>
            </a:r>
          </a:p>
          <a:p>
            <a:pPr lvl="1">
              <a:spcBef>
                <a:spcPts val="365"/>
              </a:spcBef>
              <a:spcAft>
                <a:spcPct val="0"/>
              </a:spcAft>
              <a:buClr>
                <a:srgbClr val="000000"/>
              </a:buClr>
              <a:buFont typeface="Wingdings" panose="05000000000000000000" pitchFamily="2" charset="2"/>
              <a:buChar char="Ø"/>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DIAL-UP</a:t>
            </a:r>
          </a:p>
          <a:p>
            <a:pPr lvl="1">
              <a:spcBef>
                <a:spcPts val="365"/>
              </a:spcBef>
              <a:spcAft>
                <a:spcPct val="0"/>
              </a:spcAft>
              <a:buClr>
                <a:srgbClr val="000000"/>
              </a:buClr>
              <a:buFont typeface="Wingdings" panose="05000000000000000000" pitchFamily="2" charset="2"/>
              <a:buChar char="Ø"/>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BROADBAND</a:t>
            </a:r>
          </a:p>
          <a:p>
            <a:pPr lvl="1">
              <a:spcBef>
                <a:spcPts val="365"/>
              </a:spcBef>
              <a:spcAft>
                <a:spcPct val="0"/>
              </a:spcAft>
              <a:buClr>
                <a:srgbClr val="000000"/>
              </a:buClr>
              <a:buFont typeface="Wingdings" panose="05000000000000000000" pitchFamily="2" charset="2"/>
              <a:buChar char="Ø"/>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DSL(DIGITAL SUBSCRIBER LINE)</a:t>
            </a:r>
          </a:p>
          <a:p>
            <a:pPr lvl="1">
              <a:spcBef>
                <a:spcPts val="365"/>
              </a:spcBef>
              <a:spcAft>
                <a:spcPct val="0"/>
              </a:spcAft>
              <a:buClr>
                <a:srgbClr val="000000"/>
              </a:buClr>
              <a:buFont typeface="Wingdings" panose="05000000000000000000" pitchFamily="2" charset="2"/>
              <a:buChar char="Ø"/>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CABLE</a:t>
            </a:r>
          </a:p>
          <a:p>
            <a:pPr lvl="1">
              <a:spcBef>
                <a:spcPts val="365"/>
              </a:spcBef>
              <a:spcAft>
                <a:spcPct val="0"/>
              </a:spcAft>
              <a:buClr>
                <a:srgbClr val="000000"/>
              </a:buClr>
              <a:buFont typeface="Wingdings" panose="05000000000000000000" pitchFamily="2" charset="2"/>
              <a:buChar char="Ø"/>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SATELLITE</a:t>
            </a:r>
            <a:endParaRPr 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36</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endParaRPr lang="en-US" noProof="0" dirty="0">
              <a:solidFill>
                <a:srgbClr val="000000"/>
              </a:solidFill>
              <a:latin typeface="Arial" panose="020B0604020202020204" pitchFamily="34" charset="0"/>
              <a:cs typeface="Arial" panose="020B0604020202020204" pitchFamily="34" charset="0"/>
              <a:sym typeface="Arial" panose="020B0604020202020204" pitchFamily="34" charset="0"/>
            </a:endParaRPr>
          </a:p>
          <a:p>
            <a:pPr algn="ctr">
              <a:buClr>
                <a:srgbClr val="000000"/>
              </a:buClr>
              <a:buFont typeface="Calibri" panose="020F0502020204030204" charset="0"/>
              <a:buNone/>
            </a:pPr>
            <a:r>
              <a:rPr lang="en-US" noProof="0" dirty="0">
                <a:solidFill>
                  <a:srgbClr val="000000"/>
                </a:solidFill>
                <a:latin typeface="Arial" panose="020B0604020202020204" pitchFamily="34" charset="0"/>
                <a:cs typeface="Arial" panose="020B0604020202020204" pitchFamily="34" charset="0"/>
                <a:sym typeface="Arial" panose="020B0604020202020204" pitchFamily="34" charset="0"/>
              </a:rPr>
              <a:t>Introduction to Internet services and tools</a:t>
            </a:r>
            <a:endParaRPr kumimoji="0" lang="en-US" kern="1200" cap="none" spc="0" normalizeH="0" baseline="0" noProof="0" dirty="0">
              <a:solidFill>
                <a:srgbClr val="000000"/>
              </a:solidFill>
              <a:latin typeface="Arial" panose="020B0604020202020204" pitchFamily="34" charset="0"/>
              <a:ea typeface="+mn-ea"/>
              <a:cs typeface="Arial" panose="020B0604020202020204" pitchFamily="34" charset="0"/>
              <a:sym typeface="Arial" panose="020B0604020202020204" pitchFamily="34" charset="0"/>
            </a:endParaRPr>
          </a:p>
          <a:p>
            <a:pPr algn="ctr">
              <a:buClr>
                <a:srgbClr val="000000"/>
              </a:buClr>
              <a:buFont typeface="Calibri" panose="020F0502020204030204" charset="0"/>
              <a:buNone/>
            </a:pPr>
            <a:endParaRPr lang="en-US" dirty="0"/>
          </a:p>
        </p:txBody>
      </p:sp>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609600" y="1295400"/>
            <a:ext cx="10929620" cy="842010"/>
          </a:xfrm>
          <a:prstGeom prst="rect">
            <a:avLst/>
          </a:prstGeom>
          <a:noFill/>
        </p:spPr>
        <p:txBody>
          <a:bodyPr wrap="square" rtlCol="0" anchor="t">
            <a:noAutofit/>
          </a:bodyPr>
          <a:lstStyle/>
          <a:p>
            <a:pPr>
              <a:spcBef>
                <a:spcPts val="365"/>
              </a:spcBef>
              <a:spcAft>
                <a:spcPct val="0"/>
              </a:spcAft>
              <a:buClr>
                <a:srgbClr val="000000"/>
              </a:buClr>
            </a:pPr>
            <a:r>
              <a:rPr lang="en-US" altLang="en-US" b="1" dirty="0">
                <a:latin typeface="Arial" panose="020B0604020202020204"/>
                <a:ea typeface="Arial" panose="020B0604020202020204"/>
                <a:cs typeface="Arial" panose="020B0604020202020204"/>
                <a:sym typeface="Arial" panose="020B0604020202020204" pitchFamily="34" charset="0"/>
              </a:rPr>
              <a:t>Internet Services</a:t>
            </a:r>
            <a:r>
              <a:rPr lang="en-US" altLang="en-US" dirty="0">
                <a:latin typeface="Arial" panose="020B0604020202020204"/>
                <a:ea typeface="Arial" panose="020B0604020202020204"/>
                <a:cs typeface="Arial" panose="020B0604020202020204"/>
                <a:sym typeface="Arial" panose="020B0604020202020204" pitchFamily="34" charset="0"/>
              </a:rPr>
              <a:t> allows us to access huge amount of information such as text, graphics, sound and software over the internet. </a:t>
            </a:r>
          </a:p>
        </p:txBody>
      </p:sp>
      <p:pic>
        <p:nvPicPr>
          <p:cNvPr id="55302" name="Picture 2" descr="internet_technologies_tutorial"/>
          <p:cNvPicPr>
            <a:picLocks noGrp="1" noChangeAspect="1"/>
          </p:cNvPicPr>
          <p:nvPr>
            <p:ph idx="1"/>
            <p:custDataLst>
              <p:tags r:id="rId1"/>
            </p:custDataLst>
          </p:nvPr>
        </p:nvPicPr>
        <p:blipFill>
          <a:blip r:embed="rId4"/>
          <a:stretch>
            <a:fillRect/>
          </a:stretch>
        </p:blipFill>
        <p:spPr>
          <a:xfrm>
            <a:off x="855345" y="2206625"/>
            <a:ext cx="10321290" cy="3587115"/>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37</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endParaRPr lang="en-US" noProof="0" dirty="0">
              <a:latin typeface="Times New Roman" panose="02020603050405020304" pitchFamily="18" charset="0"/>
              <a:cs typeface="Times New Roman" panose="02020603050405020304" pitchFamily="18" charset="0"/>
              <a:sym typeface="Arial" panose="020B0604020202020204" pitchFamily="34" charset="0"/>
            </a:endParaRPr>
          </a:p>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Protocols Governing Web</a:t>
            </a:r>
            <a:endParaRPr kumimoji="0" lang="en-US" kern="1200" cap="none" spc="0" normalizeH="0" baseline="0" noProof="0" dirty="0">
              <a:solidFill>
                <a:schemeClr val="dk1"/>
              </a:solidFill>
              <a:latin typeface="Times New Roman" panose="02020603050405020304" pitchFamily="18" charset="0"/>
              <a:ea typeface="+mn-ea"/>
              <a:cs typeface="Times New Roman" panose="02020603050405020304" pitchFamily="18" charset="0"/>
              <a:sym typeface="Arial" panose="020B0604020202020204" pitchFamily="34" charset="0"/>
            </a:endParaRPr>
          </a:p>
          <a:p>
            <a:pPr algn="ctr">
              <a:buClr>
                <a:srgbClr val="000000"/>
              </a:buClr>
              <a:buFont typeface="Calibri" panose="020F0502020204030204" charset="0"/>
              <a:buNone/>
            </a:pP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610235" y="1264285"/>
            <a:ext cx="10671175" cy="4631055"/>
          </a:xfrm>
          <a:prstGeom prst="rect">
            <a:avLst/>
          </a:prstGeom>
          <a:noFill/>
        </p:spPr>
        <p:txBody>
          <a:bodyPr wrap="square" rtlCol="0" anchor="t">
            <a:noAutofit/>
          </a:bodyPr>
          <a:lstStyle/>
          <a:p>
            <a:pPr marL="466725" lvl="1" indent="0" defTabSz="914400">
              <a:lnSpc>
                <a:spcPts val="2400"/>
              </a:lnSpc>
              <a:spcBef>
                <a:spcPts val="675"/>
              </a:spcBef>
              <a:spcAft>
                <a:spcPct val="0"/>
              </a:spcAft>
              <a:buClr>
                <a:srgbClr val="000000"/>
              </a:buClr>
              <a:buFont typeface="Arial" panose="020B0604020202020204" pitchFamily="34" charset="0"/>
              <a:buNone/>
              <a:tabLst>
                <a:tab pos="1421130" algn="l"/>
                <a:tab pos="1816100" algn="l"/>
                <a:tab pos="3113405" algn="l"/>
                <a:tab pos="3524250" algn="l"/>
                <a:tab pos="3889375" algn="l"/>
                <a:tab pos="4491355" algn="l"/>
                <a:tab pos="4965700" algn="l"/>
              </a:tabLst>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Protocol</a:t>
            </a:r>
          </a:p>
          <a:p>
            <a:pPr marL="1270000" lvl="2" indent="-344170" algn="just" defTabSz="914400">
              <a:lnSpc>
                <a:spcPts val="2400"/>
              </a:lnSpc>
              <a:spcBef>
                <a:spcPts val="675"/>
              </a:spcBef>
              <a:spcAft>
                <a:spcPct val="0"/>
              </a:spcAft>
              <a:buClr>
                <a:srgbClr val="000000"/>
              </a:buClr>
              <a:tabLst>
                <a:tab pos="1421130" algn="l"/>
                <a:tab pos="1816100" algn="l"/>
                <a:tab pos="3113405" algn="l"/>
                <a:tab pos="3524250" algn="l"/>
                <a:tab pos="3889375" algn="l"/>
                <a:tab pos="4491355" algn="l"/>
                <a:tab pos="4965700" algn="l"/>
              </a:tabLst>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 protocol is a set of rules to communicate applications 	to each other.</a:t>
            </a:r>
          </a:p>
          <a:p>
            <a:pPr marL="1270000" lvl="2" indent="-344170" algn="just" defTabSz="914400">
              <a:lnSpc>
                <a:spcPts val="2400"/>
              </a:lnSpc>
              <a:spcBef>
                <a:spcPts val="675"/>
              </a:spcBef>
              <a:spcAft>
                <a:spcPct val="0"/>
              </a:spcAft>
              <a:buClr>
                <a:srgbClr val="000000"/>
              </a:buClr>
              <a:tabLst>
                <a:tab pos="1421130" algn="l"/>
                <a:tab pos="1816100" algn="l"/>
                <a:tab pos="3113405" algn="l"/>
                <a:tab pos="3524250" algn="l"/>
                <a:tab pos="3889375" algn="l"/>
                <a:tab pos="4491355" algn="l"/>
                <a:tab pos="4965700"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 protocol is the interface required for communicating the  different applications</a:t>
            </a:r>
          </a:p>
          <a:p>
            <a:pPr marL="1270000" lvl="2" indent="-344170" algn="just" defTabSz="914400">
              <a:lnSpc>
                <a:spcPts val="2400"/>
              </a:lnSpc>
              <a:spcBef>
                <a:spcPts val="675"/>
              </a:spcBef>
              <a:spcAft>
                <a:spcPct val="0"/>
              </a:spcAft>
              <a:buClr>
                <a:srgbClr val="000000"/>
              </a:buClr>
              <a:tabLst>
                <a:tab pos="1421130" algn="l"/>
                <a:tab pos="1816100" algn="l"/>
                <a:tab pos="3113405" algn="l"/>
                <a:tab pos="3524250" algn="l"/>
                <a:tab pos="3889375" algn="l"/>
                <a:tab pos="4491355" algn="l"/>
                <a:tab pos="4965700" algn="l"/>
              </a:tabLst>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466725" lvl="1" indent="0" algn="just" defTabSz="914400">
              <a:lnSpc>
                <a:spcPts val="2400"/>
              </a:lnSpc>
              <a:spcBef>
                <a:spcPts val="675"/>
              </a:spcBef>
              <a:spcAft>
                <a:spcPct val="0"/>
              </a:spcAft>
              <a:buClr>
                <a:srgbClr val="000000"/>
              </a:buClr>
              <a:buFont typeface="Arial" panose="020B0604020202020204" pitchFamily="34" charset="0"/>
              <a:buNone/>
              <a:tabLst>
                <a:tab pos="1421130" algn="l"/>
                <a:tab pos="1816100" algn="l"/>
                <a:tab pos="3113405" algn="l"/>
                <a:tab pos="3524250" algn="l"/>
                <a:tab pos="3889375" algn="l"/>
                <a:tab pos="4491355" algn="l"/>
                <a:tab pos="4965700" algn="l"/>
              </a:tabLst>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Classification of Protocols</a:t>
            </a:r>
          </a:p>
          <a:p>
            <a:pPr marL="1727200" lvl="3" indent="-344170" defTabSz="914400">
              <a:spcBef>
                <a:spcPts val="365"/>
              </a:spcBef>
              <a:spcAft>
                <a:spcPct val="0"/>
              </a:spcAft>
              <a:buClr>
                <a:srgbClr val="000000"/>
              </a:buClr>
              <a:buFont typeface="Arial" panose="020B0604020202020204" pitchFamily="34" charset="0"/>
              <a:buChar char="•"/>
              <a:tabLst>
                <a:tab pos="1421130" algn="l"/>
                <a:tab pos="1816100" algn="l"/>
                <a:tab pos="3113405" algn="l"/>
                <a:tab pos="3524250" algn="l"/>
                <a:tab pos="3889375" algn="l"/>
                <a:tab pos="4491355" algn="l"/>
                <a:tab pos="4965700"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HTTP</a:t>
            </a:r>
          </a:p>
          <a:p>
            <a:pPr marL="1727200" lvl="3" indent="-344170" defTabSz="914400">
              <a:spcBef>
                <a:spcPts val="365"/>
              </a:spcBef>
              <a:spcAft>
                <a:spcPct val="0"/>
              </a:spcAft>
              <a:buClr>
                <a:srgbClr val="000000"/>
              </a:buClr>
              <a:buFont typeface="Arial" panose="020B0604020202020204" pitchFamily="34" charset="0"/>
              <a:buChar char="•"/>
              <a:tabLst>
                <a:tab pos="1421130" algn="l"/>
                <a:tab pos="1816100" algn="l"/>
                <a:tab pos="3113405" algn="l"/>
                <a:tab pos="3524250" algn="l"/>
                <a:tab pos="3889375" algn="l"/>
                <a:tab pos="4491355" algn="l"/>
                <a:tab pos="4965700"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TCP/IP</a:t>
            </a:r>
          </a:p>
          <a:p>
            <a:pPr marL="1727200" lvl="3" indent="-344170" defTabSz="914400">
              <a:spcBef>
                <a:spcPct val="0"/>
              </a:spcBef>
              <a:spcAft>
                <a:spcPct val="0"/>
              </a:spcAft>
              <a:buClr>
                <a:srgbClr val="000000"/>
              </a:buClr>
              <a:buFont typeface="Arial" panose="020B0604020202020204" pitchFamily="34" charset="0"/>
              <a:buChar char="•"/>
              <a:tabLst>
                <a:tab pos="1421130" algn="l"/>
                <a:tab pos="1816100" algn="l"/>
                <a:tab pos="3113405" algn="l"/>
                <a:tab pos="3524250" algn="l"/>
                <a:tab pos="3889375" algn="l"/>
                <a:tab pos="4491355" algn="l"/>
                <a:tab pos="4965700"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FTP</a:t>
            </a:r>
          </a:p>
          <a:p>
            <a:pPr marL="1727200" lvl="3" indent="-344170" defTabSz="914400">
              <a:spcBef>
                <a:spcPts val="365"/>
              </a:spcBef>
              <a:spcAft>
                <a:spcPct val="0"/>
              </a:spcAft>
              <a:buClr>
                <a:srgbClr val="000000"/>
              </a:buClr>
              <a:buFont typeface="Arial" panose="020B0604020202020204" pitchFamily="34" charset="0"/>
              <a:buChar char="•"/>
              <a:tabLst>
                <a:tab pos="1421130" algn="l"/>
                <a:tab pos="1816100" algn="l"/>
                <a:tab pos="3113405" algn="l"/>
                <a:tab pos="3524250" algn="l"/>
                <a:tab pos="3889375" algn="l"/>
                <a:tab pos="4491355" algn="l"/>
                <a:tab pos="4965700"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SMTP</a:t>
            </a:r>
          </a:p>
          <a:p>
            <a:pPr marL="1727200" lvl="3" indent="-344170" defTabSz="914400">
              <a:spcBef>
                <a:spcPts val="365"/>
              </a:spcBef>
              <a:spcAft>
                <a:spcPct val="0"/>
              </a:spcAft>
              <a:buClr>
                <a:srgbClr val="000000"/>
              </a:buClr>
              <a:buFont typeface="Arial" panose="020B0604020202020204" pitchFamily="34" charset="0"/>
              <a:buChar char="•"/>
              <a:tabLst>
                <a:tab pos="1421130" algn="l"/>
                <a:tab pos="1816100" algn="l"/>
                <a:tab pos="3113405" algn="l"/>
                <a:tab pos="3524250" algn="l"/>
                <a:tab pos="3889375" algn="l"/>
                <a:tab pos="4491355" algn="l"/>
                <a:tab pos="4965700"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TELNET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38</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Protocols Governing Web(cont1..)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116205" y="1167130"/>
            <a:ext cx="11419205" cy="5586730"/>
          </a:xfrm>
          <a:prstGeom prst="rect">
            <a:avLst/>
          </a:prstGeom>
          <a:noFill/>
        </p:spPr>
        <p:txBody>
          <a:bodyPr wrap="square" rtlCol="0" anchor="t">
            <a:noAutofit/>
          </a:bodyPr>
          <a:lstStyle/>
          <a:p>
            <a:pPr marL="1381125" lvl="3" indent="0" defTabSz="914400">
              <a:lnSpc>
                <a:spcPts val="2400"/>
              </a:lnSpc>
              <a:spcBef>
                <a:spcPts val="675"/>
              </a:spcBef>
              <a:spcAft>
                <a:spcPct val="0"/>
              </a:spcAft>
              <a:buClr>
                <a:srgbClr val="000000"/>
              </a:buClr>
              <a:buFont typeface="Arial" panose="020B0604020202020204" pitchFamily="34" charset="0"/>
              <a:buNone/>
              <a:tabLst>
                <a:tab pos="1421130" algn="l"/>
                <a:tab pos="1816100" algn="l"/>
                <a:tab pos="3113405" algn="l"/>
                <a:tab pos="3524250" algn="l"/>
                <a:tab pos="3889375" algn="l"/>
                <a:tab pos="4491355" algn="l"/>
                <a:tab pos="4965700" algn="l"/>
              </a:tabLst>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HTTP Protocol</a:t>
            </a:r>
          </a:p>
          <a:p>
            <a:pPr marL="1381125" lvl="3" indent="0" defTabSz="914400">
              <a:lnSpc>
                <a:spcPts val="2400"/>
              </a:lnSpc>
              <a:spcBef>
                <a:spcPts val="675"/>
              </a:spcBef>
              <a:spcAft>
                <a:spcPct val="0"/>
              </a:spcAft>
              <a:buClr>
                <a:srgbClr val="000000"/>
              </a:buClr>
              <a:buFont typeface="Arial" panose="020B0604020202020204" pitchFamily="34" charset="0"/>
              <a:buNone/>
              <a:tabLst>
                <a:tab pos="1421130" algn="l"/>
                <a:tab pos="1816100" algn="l"/>
                <a:tab pos="3113405" algn="l"/>
                <a:tab pos="3524250" algn="l"/>
                <a:tab pos="3889375" algn="l"/>
                <a:tab pos="4491355" algn="l"/>
                <a:tab pos="4965700" algn="l"/>
              </a:tabLst>
            </a:pPr>
            <a:endPar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2184400" lvl="4" indent="-344170" defTabSz="914400">
              <a:lnSpc>
                <a:spcPts val="2400"/>
              </a:lnSpc>
              <a:spcBef>
                <a:spcPts val="675"/>
              </a:spcBef>
              <a:spcAft>
                <a:spcPct val="0"/>
              </a:spcAft>
              <a:buClr>
                <a:srgbClr val="000000"/>
              </a:buClr>
              <a:buFont typeface="Arial" panose="020B0604020202020204" pitchFamily="34" charset="0"/>
              <a:buChar char="•"/>
              <a:tabLst>
                <a:tab pos="1421130" algn="l"/>
                <a:tab pos="1816100" algn="l"/>
                <a:tab pos="3113405" algn="l"/>
                <a:tab pos="3524250" algn="l"/>
                <a:tab pos="3889375" algn="l"/>
                <a:tab pos="4491355" algn="l"/>
                <a:tab pos="4965700"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HTTP  is the primary protocol used to distribute  information on the web</a:t>
            </a:r>
          </a:p>
          <a:p>
            <a:pPr marL="9525" indent="0" defTabSz="914400">
              <a:spcBef>
                <a:spcPts val="100"/>
              </a:spcBef>
              <a:spcAft>
                <a:spcPct val="0"/>
              </a:spcAft>
              <a:buClr>
                <a:srgbClr val="000000"/>
              </a:buClr>
              <a:buFont typeface="Arial" panose="020B0604020202020204" pitchFamily="34" charset="0"/>
              <a:buNone/>
              <a:tabLst>
                <a:tab pos="1421130" algn="l"/>
                <a:tab pos="1816100" algn="l"/>
                <a:tab pos="3113405" algn="l"/>
                <a:tab pos="3524250" algn="l"/>
                <a:tab pos="3889375" algn="l"/>
                <a:tab pos="4491355" algn="l"/>
                <a:tab pos="4965700"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a:t>
            </a:r>
          </a:p>
          <a:p>
            <a:pPr marL="2184400" lvl="4" indent="-344170" algn="just" defTabSz="914400">
              <a:spcBef>
                <a:spcPts val="675"/>
              </a:spcBef>
              <a:spcAft>
                <a:spcPct val="0"/>
              </a:spcAft>
              <a:buClr>
                <a:srgbClr val="000000"/>
              </a:buClr>
              <a:buFont typeface="Arial" panose="020B0604020202020204" pitchFamily="34" charset="0"/>
              <a:buChar char="•"/>
              <a:tabLst>
                <a:tab pos="1421130" algn="l"/>
                <a:tab pos="1816100" algn="l"/>
                <a:tab pos="3113405" algn="l"/>
                <a:tab pos="3524250" algn="l"/>
                <a:tab pos="3889375" algn="l"/>
                <a:tab pos="4491355" algn="l"/>
                <a:tab pos="4965700"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Initial HTTP 0.9 does not allow for content typing and  does not have provisions for supplying  meta-  information.</a:t>
            </a:r>
          </a:p>
          <a:p>
            <a:pPr marL="2184400" lvl="4" indent="-344170" algn="just" defTabSz="914400">
              <a:spcBef>
                <a:spcPts val="675"/>
              </a:spcBef>
              <a:spcAft>
                <a:spcPct val="0"/>
              </a:spcAft>
              <a:buClr>
                <a:srgbClr val="000000"/>
              </a:buClr>
              <a:buFont typeface="Arial" panose="020B0604020202020204" pitchFamily="34" charset="0"/>
              <a:buNone/>
              <a:tabLst>
                <a:tab pos="1421130" algn="l"/>
                <a:tab pos="1816100" algn="l"/>
                <a:tab pos="3113405" algn="l"/>
                <a:tab pos="3524250" algn="l"/>
                <a:tab pos="3889375" algn="l"/>
                <a:tab pos="4491355" algn="l"/>
                <a:tab pos="4965700" algn="l"/>
              </a:tabLst>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2184400" lvl="4" indent="-344170" algn="just" defTabSz="914400">
              <a:spcBef>
                <a:spcPts val="675"/>
              </a:spcBef>
              <a:spcAft>
                <a:spcPct val="0"/>
              </a:spcAft>
              <a:buClr>
                <a:srgbClr val="000000"/>
              </a:buClr>
              <a:buFont typeface="Arial" panose="020B0604020202020204" pitchFamily="34" charset="0"/>
              <a:buChar char="•"/>
              <a:tabLst>
                <a:tab pos="1421130" algn="l"/>
                <a:tab pos="1816100" algn="l"/>
                <a:tab pos="3113405" algn="l"/>
                <a:tab pos="3524250" algn="l"/>
                <a:tab pos="3889375" algn="l"/>
                <a:tab pos="4491355" algn="l"/>
                <a:tab pos="4965700"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Content Typing is to  identify the type of data being transferred.</a:t>
            </a:r>
          </a:p>
          <a:p>
            <a:pPr marL="2184400" lvl="4" indent="-344170" algn="just" defTabSz="914400">
              <a:spcBef>
                <a:spcPts val="675"/>
              </a:spcBef>
              <a:spcAft>
                <a:spcPct val="0"/>
              </a:spcAft>
              <a:buClr>
                <a:srgbClr val="000000"/>
              </a:buClr>
              <a:buFont typeface="Arial" panose="020B0604020202020204" pitchFamily="34" charset="0"/>
              <a:buNone/>
              <a:tabLst>
                <a:tab pos="1421130" algn="l"/>
                <a:tab pos="1816100" algn="l"/>
                <a:tab pos="3113405" algn="l"/>
                <a:tab pos="3524250" algn="l"/>
                <a:tab pos="3889375" algn="l"/>
                <a:tab pos="4491355" algn="l"/>
                <a:tab pos="4965700" algn="l"/>
              </a:tabLst>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2184400" lvl="4" indent="-344170" algn="just" defTabSz="914400">
              <a:spcBef>
                <a:spcPts val="675"/>
              </a:spcBef>
              <a:spcAft>
                <a:spcPct val="0"/>
              </a:spcAft>
              <a:buClr>
                <a:srgbClr val="000000"/>
              </a:buClr>
              <a:buFont typeface="Arial" panose="020B0604020202020204" pitchFamily="34" charset="0"/>
              <a:buChar char="•"/>
              <a:tabLst>
                <a:tab pos="1421130" algn="l"/>
                <a:tab pos="1816100" algn="l"/>
                <a:tab pos="3113405" algn="l"/>
                <a:tab pos="3524250" algn="l"/>
                <a:tab pos="3889375" algn="l"/>
                <a:tab pos="4491355" algn="l"/>
                <a:tab pos="4965700"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Meta Information is supplemental data, such as  environment variables that identify the client’s  computer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39</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Protocols Governing Web(cont1..)</a:t>
            </a:r>
            <a:endParaRPr lang="en-US" dirty="0"/>
          </a:p>
        </p:txBody>
      </p:sp>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29698" name="Google Shape;126;p16"/>
          <p:cNvSpPr txBox="1">
            <a:spLocks noGrp="1"/>
          </p:cNvSpPr>
          <p:nvPr>
            <p:ph type="body" idx="1"/>
            <p:custDataLst>
              <p:tags r:id="rId1"/>
            </p:custDataLst>
          </p:nvPr>
        </p:nvSpPr>
        <p:spPr>
          <a:xfrm>
            <a:off x="576580" y="1227455"/>
            <a:ext cx="11005185" cy="5216525"/>
          </a:xfrm>
        </p:spPr>
        <p:txBody>
          <a:bodyPr spcFirstLastPara="1" vert="horz" wrap="square" lIns="91425" tIns="45700" rIns="91425" bIns="45700" numCol="1" anchor="t" anchorCtr="0" compatLnSpc="1">
            <a:noAutofit/>
          </a:bodyPr>
          <a:lstStyle/>
          <a:p>
            <a:pPr marL="12700" indent="0" algn="just" defTabSz="914400">
              <a:spcBef>
                <a:spcPts val="90"/>
              </a:spcBef>
              <a:spcAft>
                <a:spcPct val="0"/>
              </a:spcAft>
              <a:buClr>
                <a:srgbClr val="000000"/>
              </a:buClr>
              <a:buFont typeface="Arial" panose="020B0604020202020204" pitchFamily="34" charset="0"/>
              <a:buNone/>
              <a:tabLst>
                <a:tab pos="357505" algn="l"/>
              </a:tabLst>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TCP/IP</a:t>
            </a:r>
            <a:endParaRPr lang="en-US" altLang="en-US"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algn="just" defTabSz="914400">
              <a:spcBef>
                <a:spcPts val="90"/>
              </a:spcBef>
              <a:spcAft>
                <a:spcPct val="0"/>
              </a:spcAft>
              <a:buClr>
                <a:srgbClr val="000000"/>
              </a:buClr>
              <a:buFont typeface="Arial" panose="020B0604020202020204" pitchFamily="34" charset="0"/>
              <a:buChar char="•"/>
              <a:tabLst>
                <a:tab pos="357505"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It is a set of rules that an application  can use to package its information for sending  across the networks of networks.</a:t>
            </a:r>
          </a:p>
          <a:p>
            <a:pPr marL="12700" indent="0" algn="just" defTabSz="914400">
              <a:spcBef>
                <a:spcPts val="775"/>
              </a:spcBef>
              <a:spcAft>
                <a:spcPct val="0"/>
              </a:spcAft>
              <a:buClr>
                <a:srgbClr val="000000"/>
              </a:buClr>
              <a:tabLst>
                <a:tab pos="357505" algn="l"/>
              </a:tabLst>
            </a:pPr>
            <a:endPar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2700" indent="0" algn="just" defTabSz="914400">
              <a:spcBef>
                <a:spcPts val="775"/>
              </a:spcBef>
              <a:spcAft>
                <a:spcPct val="0"/>
              </a:spcAft>
              <a:buClr>
                <a:srgbClr val="000000"/>
              </a:buClr>
              <a:buFont typeface="Arial" panose="020B0604020202020204" pitchFamily="34" charset="0"/>
              <a:buNone/>
              <a:tabLst>
                <a:tab pos="357505" algn="l"/>
              </a:tabLst>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FTP</a:t>
            </a:r>
          </a:p>
          <a:p>
            <a:pPr marL="812800" lvl="1" algn="just" defTabSz="914400">
              <a:spcBef>
                <a:spcPts val="775"/>
              </a:spcBef>
              <a:spcAft>
                <a:spcPct val="0"/>
              </a:spcAft>
              <a:buClr>
                <a:srgbClr val="000000"/>
              </a:buClr>
              <a:buFont typeface="Arial" panose="020B0604020202020204" pitchFamily="34" charset="0"/>
              <a:buChar char="•"/>
              <a:tabLst>
                <a:tab pos="357505"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FTP uses TCP to create a virtual connection  for control information and then creates a  separate TCP   connection for data transfers.  </a:t>
            </a:r>
          </a:p>
          <a:p>
            <a:pPr marL="812800" lvl="1" algn="just" defTabSz="914400">
              <a:spcBef>
                <a:spcPts val="775"/>
              </a:spcBef>
              <a:spcAft>
                <a:spcPct val="0"/>
              </a:spcAft>
              <a:buClr>
                <a:srgbClr val="000000"/>
              </a:buClr>
              <a:buFont typeface="Arial" panose="020B0604020202020204" pitchFamily="34" charset="0"/>
              <a:buNone/>
              <a:tabLst>
                <a:tab pos="357505" algn="l"/>
              </a:tabLst>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algn="just" defTabSz="914400">
              <a:spcBef>
                <a:spcPts val="775"/>
              </a:spcBef>
              <a:spcAft>
                <a:spcPct val="0"/>
              </a:spcAft>
              <a:buClr>
                <a:srgbClr val="000000"/>
              </a:buClr>
              <a:buFont typeface="Arial" panose="020B0604020202020204" pitchFamily="34" charset="0"/>
              <a:buChar char="•"/>
              <a:tabLst>
                <a:tab pos="357505" algn="l"/>
              </a:tabLst>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It is used to transfer the files over  networks.</a:t>
            </a:r>
          </a:p>
          <a:p>
            <a:pPr marL="12700" indent="0" algn="just" defTabSz="914400">
              <a:spcBef>
                <a:spcPts val="365"/>
              </a:spcBef>
              <a:spcAft>
                <a:spcPct val="0"/>
              </a:spcAft>
              <a:buClr>
                <a:srgbClr val="000000"/>
              </a:buClr>
              <a:buFont typeface="Arial" panose="020B0604020202020204" pitchFamily="34" charset="0"/>
              <a:buNone/>
              <a:tabLst>
                <a:tab pos="357505" algn="l"/>
              </a:tabLst>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algn="just" defTabSz="914400">
              <a:spcBef>
                <a:spcPts val="775"/>
              </a:spcBef>
              <a:spcAft>
                <a:spcPct val="0"/>
              </a:spcAft>
              <a:buClr>
                <a:srgbClr val="000000"/>
              </a:buClr>
              <a:buFont typeface="Arial" panose="020B0604020202020204" pitchFamily="34" charset="0"/>
              <a:buChar char="•"/>
              <a:tabLst>
                <a:tab pos="357505" algn="l"/>
              </a:tabLst>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algn="just" defTabSz="914400">
              <a:spcBef>
                <a:spcPts val="775"/>
              </a:spcBef>
              <a:spcAft>
                <a:spcPct val="0"/>
              </a:spcAft>
              <a:buClr>
                <a:srgbClr val="000000"/>
              </a:buClr>
              <a:buFont typeface="Arial" panose="020B0604020202020204" pitchFamily="34" charset="0"/>
              <a:buChar char="•"/>
              <a:tabLst>
                <a:tab pos="357505" algn="l"/>
              </a:tabLst>
            </a:pPr>
            <a:endParaRPr lang="en-US" altLang="en-US"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2700" indent="0" algn="just" defTabSz="914400">
              <a:spcBef>
                <a:spcPts val="365"/>
              </a:spcBef>
              <a:spcAft>
                <a:spcPct val="0"/>
              </a:spcAft>
              <a:buClr>
                <a:srgbClr val="000000"/>
              </a:buClr>
              <a:buFont typeface="Arial" panose="020B0604020202020204" pitchFamily="34" charset="0"/>
              <a:buNone/>
              <a:tabLst>
                <a:tab pos="357505" algn="l"/>
              </a:tabLst>
            </a:pPr>
            <a:endParaRPr lang="en-US" altLang="en-US" sz="2200" dirty="0">
              <a:latin typeface="Times New Roman" panose="02020603050405020304" pitchFamily="18" charset="0"/>
              <a:ea typeface="Times New Roman" panose="02020603050405020304" pitchFamily="18" charset="0"/>
              <a:cs typeface="Arial" panose="020B0604020202020204"/>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 calcmode="lin" valueType="num">
                                      <p:cBhvr additive="base">
                                        <p:cTn id="7" dur="500" fill="hold"/>
                                        <p:tgtEl>
                                          <p:spTgt spid="296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698">
                                            <p:txEl>
                                              <p:pRg st="1" end="1"/>
                                            </p:txEl>
                                          </p:spTgt>
                                        </p:tgtEl>
                                        <p:attrNameLst>
                                          <p:attrName>style.visibility</p:attrName>
                                        </p:attrNameLst>
                                      </p:cBhvr>
                                      <p:to>
                                        <p:strVal val="visible"/>
                                      </p:to>
                                    </p:set>
                                    <p:anim calcmode="lin" valueType="num">
                                      <p:cBhvr additive="base">
                                        <p:cTn id="11" dur="500" fill="hold"/>
                                        <p:tgtEl>
                                          <p:spTgt spid="2969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96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9698">
                                            <p:txEl>
                                              <p:pRg st="3" end="3"/>
                                            </p:txEl>
                                          </p:spTgt>
                                        </p:tgtEl>
                                        <p:attrNameLst>
                                          <p:attrName>style.visibility</p:attrName>
                                        </p:attrNameLst>
                                      </p:cBhvr>
                                      <p:to>
                                        <p:strVal val="visible"/>
                                      </p:to>
                                    </p:set>
                                    <p:anim calcmode="lin" valueType="num">
                                      <p:cBhvr additive="base">
                                        <p:cTn id="17" dur="500" fill="hold"/>
                                        <p:tgtEl>
                                          <p:spTgt spid="29698">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9698">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9698">
                                            <p:txEl>
                                              <p:pRg st="4" end="4"/>
                                            </p:txEl>
                                          </p:spTgt>
                                        </p:tgtEl>
                                        <p:attrNameLst>
                                          <p:attrName>style.visibility</p:attrName>
                                        </p:attrNameLst>
                                      </p:cBhvr>
                                      <p:to>
                                        <p:strVal val="visible"/>
                                      </p:to>
                                    </p:set>
                                    <p:anim calcmode="lin" valueType="num">
                                      <p:cBhvr additive="base">
                                        <p:cTn id="21" dur="500" fill="hold"/>
                                        <p:tgtEl>
                                          <p:spTgt spid="29698">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9698">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9698">
                                            <p:txEl>
                                              <p:pRg st="6" end="6"/>
                                            </p:txEl>
                                          </p:spTgt>
                                        </p:tgtEl>
                                        <p:attrNameLst>
                                          <p:attrName>style.visibility</p:attrName>
                                        </p:attrNameLst>
                                      </p:cBhvr>
                                      <p:to>
                                        <p:strVal val="visible"/>
                                      </p:to>
                                    </p:set>
                                    <p:anim calcmode="lin" valueType="num">
                                      <p:cBhvr additive="base">
                                        <p:cTn id="25" dur="500" fill="hold"/>
                                        <p:tgtEl>
                                          <p:spTgt spid="2969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6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40</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Protocols Governing Web(cont1..)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560705" y="1100455"/>
            <a:ext cx="10872470" cy="4752975"/>
          </a:xfrm>
          <a:prstGeom prst="rect">
            <a:avLst/>
          </a:prstGeom>
          <a:noFill/>
        </p:spPr>
        <p:txBody>
          <a:bodyPr wrap="square" rtlCol="0" anchor="t">
            <a:noAutofit/>
          </a:bodyPr>
          <a:lstStyle/>
          <a:p>
            <a:pPr marL="0" indent="0" algn="just">
              <a:spcBef>
                <a:spcPts val="100"/>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SMTP</a:t>
            </a:r>
          </a:p>
          <a:p>
            <a:pPr marL="927100" lvl="2" algn="just">
              <a:spcBef>
                <a:spcPts val="100"/>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It is an Internet standard for electronic mail (e-  mail) transmission across Internet  Protocol (IP) networks.</a:t>
            </a:r>
          </a:p>
          <a:p>
            <a:pPr marL="927100" lvl="2" algn="just">
              <a:spcBef>
                <a:spcPts val="100"/>
              </a:spcBef>
              <a:spcAft>
                <a:spcPct val="0"/>
              </a:spcAft>
              <a:buClr>
                <a:srgbClr val="000000"/>
              </a:buCl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27100" lvl="2" algn="just">
              <a:spcBef>
                <a:spcPts val="100"/>
              </a:spcBef>
              <a:spcAft>
                <a:spcPct val="0"/>
              </a:spcAft>
              <a:buClr>
                <a:srgbClr val="000000"/>
              </a:buCl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0" indent="0" algn="just">
              <a:spcBef>
                <a:spcPts val="100"/>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Telnet</a:t>
            </a:r>
          </a:p>
          <a:p>
            <a:pPr marL="927100" lvl="2" algn="just">
              <a:spcBef>
                <a:spcPts val="100"/>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This protocol used to remotely login into another system .</a:t>
            </a:r>
          </a:p>
          <a:p>
            <a:pPr marL="927100" lvl="2" algn="just">
              <a:spcBef>
                <a:spcPts val="100"/>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27100" lvl="2" algn="just">
              <a:spcBef>
                <a:spcPts val="100"/>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27100" lvl="2" algn="just">
              <a:spcBef>
                <a:spcPts val="100"/>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This is used to browse file and directories on the remote system.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41</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Daily Quiz</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610235" y="1028065"/>
            <a:ext cx="10734040" cy="4987290"/>
          </a:xfrm>
          <a:prstGeom prst="rect">
            <a:avLst/>
          </a:prstGeom>
          <a:noFill/>
        </p:spPr>
        <p:txBody>
          <a:bodyPr wrap="square" rtlCol="0" anchor="t">
            <a:noAutofit/>
          </a:bodyPr>
          <a:lstStyle/>
          <a:p>
            <a:pPr marL="927100" lvl="2" algn="just">
              <a:spcBef>
                <a:spcPts val="77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1.) The HTML and HTTP standard are defined by __</a:t>
            </a: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spcBef>
                <a:spcPts val="365"/>
              </a:spcBef>
              <a:spcAft>
                <a:spcPct val="0"/>
              </a:spcAft>
              <a:buClr>
                <a:srgbClr val="000000"/>
              </a:buClr>
              <a:buFont typeface="Arial" panose="020B0604020202020204" pitchFamily="34" charset="0"/>
              <a:buNone/>
            </a:pPr>
            <a:r>
              <a:rPr lang="fr-FR" altLang="x-none" dirty="0">
                <a:solidFill>
                  <a:srgbClr val="333333"/>
                </a:solidFill>
                <a:latin typeface="Roboto" pitchFamily="2" charset="0"/>
                <a:ea typeface="Arial" panose="020B0604020202020204"/>
                <a:cs typeface="Arial" panose="020B0604020202020204"/>
                <a:sym typeface="Arial" panose="020B0604020202020204" pitchFamily="34" charset="0"/>
              </a:rPr>
              <a:t>                  (A) Web client</a:t>
            </a:r>
          </a:p>
          <a:p>
            <a:pPr marL="114300" indent="0">
              <a:spcBef>
                <a:spcPts val="365"/>
              </a:spcBef>
              <a:spcAft>
                <a:spcPct val="0"/>
              </a:spcAft>
              <a:buClr>
                <a:srgbClr val="000000"/>
              </a:buClr>
              <a:buFont typeface="Arial" panose="020B0604020202020204" pitchFamily="34" charset="0"/>
              <a:buNone/>
            </a:pPr>
            <a:r>
              <a:rPr lang="fr-FR" altLang="x-none" dirty="0">
                <a:solidFill>
                  <a:srgbClr val="333333"/>
                </a:solidFill>
                <a:latin typeface="Roboto" pitchFamily="2" charset="0"/>
                <a:ea typeface="Arial" panose="020B0604020202020204"/>
                <a:cs typeface="Arial" panose="020B0604020202020204"/>
                <a:sym typeface="Arial" panose="020B0604020202020204" pitchFamily="34" charset="0"/>
              </a:rPr>
              <a:t>                  (B) Internet association</a:t>
            </a:r>
          </a:p>
          <a:p>
            <a:pPr marL="114300" indent="0">
              <a:spcBef>
                <a:spcPts val="365"/>
              </a:spcBef>
              <a:spcAft>
                <a:spcPct val="0"/>
              </a:spcAft>
              <a:buClr>
                <a:srgbClr val="000000"/>
              </a:buClr>
              <a:buFont typeface="Arial" panose="020B0604020202020204" pitchFamily="34" charset="0"/>
              <a:buNone/>
            </a:pPr>
            <a:r>
              <a:rPr lang="fr-FR" altLang="x-none" dirty="0">
                <a:solidFill>
                  <a:srgbClr val="333333"/>
                </a:solidFill>
                <a:latin typeface="Roboto" pitchFamily="2" charset="0"/>
                <a:ea typeface="Arial" panose="020B0604020202020204"/>
                <a:cs typeface="Arial" panose="020B0604020202020204"/>
                <a:sym typeface="Arial" panose="020B0604020202020204" pitchFamily="34" charset="0"/>
              </a:rPr>
              <a:t>                  (C) WWW consortium</a:t>
            </a:r>
          </a:p>
          <a:p>
            <a:pPr marL="114300" indent="0">
              <a:spcBef>
                <a:spcPts val="365"/>
              </a:spcBef>
              <a:spcAft>
                <a:spcPct val="0"/>
              </a:spcAft>
              <a:buClr>
                <a:srgbClr val="000000"/>
              </a:buClr>
              <a:buFont typeface="Arial" panose="020B0604020202020204" pitchFamily="34" charset="0"/>
              <a:buNone/>
            </a:pPr>
            <a:r>
              <a:rPr lang="fr-FR" altLang="x-none" dirty="0">
                <a:solidFill>
                  <a:srgbClr val="333333"/>
                </a:solidFill>
                <a:latin typeface="Roboto" pitchFamily="2" charset="0"/>
                <a:ea typeface="Arial" panose="020B0604020202020204"/>
                <a:cs typeface="Arial" panose="020B0604020202020204"/>
                <a:sym typeface="Arial" panose="020B0604020202020204" pitchFamily="34" charset="0"/>
              </a:rPr>
              <a:t>                  (D) WWW</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2.) The ____ passes the information given by the user to a specified program.</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(A) User</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(B) Programmer</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(C) Web server</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(D) Browser</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3.) Which language is used for creating Web Pages?</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(A) PASCAL</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(B) C</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(C) HTML</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(D) BASIC</a:t>
            </a:r>
            <a:endParaRPr lang="en-US" dirty="0">
              <a:latin typeface="Arial" panose="020B0604020202020204"/>
              <a:ea typeface="Arial" panose="020B0604020202020204"/>
              <a:cs typeface="Arial" panose="020B0604020202020204"/>
              <a:sym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42</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endParaRPr lang="en-US" noProof="0" dirty="0">
              <a:latin typeface="Times New Roman" panose="02020603050405020304" pitchFamily="18" charset="0"/>
              <a:cs typeface="Times New Roman" panose="02020603050405020304" pitchFamily="18" charset="0"/>
              <a:sym typeface="Arial" panose="020B0604020202020204" pitchFamily="34" charset="0"/>
            </a:endParaRPr>
          </a:p>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Daily Quiz</a:t>
            </a:r>
            <a:endParaRPr kumimoji="0" lang="en-US" kern="1200" cap="none" spc="0" normalizeH="0" baseline="0" noProof="0" dirty="0">
              <a:solidFill>
                <a:schemeClr val="dk1"/>
              </a:solidFill>
              <a:latin typeface="Times New Roman" panose="02020603050405020304" pitchFamily="18" charset="0"/>
              <a:ea typeface="+mn-ea"/>
              <a:cs typeface="Times New Roman" panose="02020603050405020304" pitchFamily="18" charset="0"/>
              <a:sym typeface="Arial" panose="020B0604020202020204" pitchFamily="34" charset="0"/>
            </a:endParaRPr>
          </a:p>
          <a:p>
            <a:pPr algn="ctr">
              <a:buClr>
                <a:srgbClr val="000000"/>
              </a:buClr>
              <a:buFont typeface="Calibri" panose="020F0502020204030204" charset="0"/>
              <a:buNone/>
            </a:pP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542290" y="1150620"/>
            <a:ext cx="10851515" cy="4516755"/>
          </a:xfrm>
          <a:prstGeom prst="rect">
            <a:avLst/>
          </a:prstGeom>
          <a:noFill/>
        </p:spPr>
        <p:txBody>
          <a:bodyPr wrap="square" rtlCol="0" anchor="t">
            <a:noAutofit/>
          </a:bodyPr>
          <a:lstStyle/>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4.) What is the abbreviation of HTTP?</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(A) Hypertext tag path</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(B) Hyper Text Transfer Protocol</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(C) Hypertext transfer path</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(D) None</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5.) The entire web document is contained within ____</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(A) Comments</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(B) Tags</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(C) Web page</a:t>
            </a:r>
          </a:p>
          <a:p>
            <a:pPr marL="114300" indent="0">
              <a:spcBef>
                <a:spcPts val="365"/>
              </a:spcBef>
              <a:spcAft>
                <a:spcPct val="0"/>
              </a:spcAft>
              <a:buClr>
                <a:srgbClr val="000000"/>
              </a:buClr>
              <a:buFont typeface="Arial" panose="020B0604020202020204" pitchFamily="34" charset="0"/>
              <a:buNone/>
            </a:pPr>
            <a:r>
              <a:rPr dirty="0">
                <a:latin typeface="Arial" panose="020B0604020202020204"/>
                <a:ea typeface="Arial" panose="020B0604020202020204"/>
                <a:cs typeface="Arial" panose="020B0604020202020204"/>
                <a:sym typeface="Arial" panose="020B0604020202020204" pitchFamily="34" charset="0"/>
              </a:rPr>
              <a:t>       (D) HTML element</a:t>
            </a:r>
            <a:endParaRPr lang="en-US" dirty="0">
              <a:latin typeface="Arial" panose="020B0604020202020204"/>
              <a:ea typeface="Arial" panose="020B0604020202020204"/>
              <a:cs typeface="Arial" panose="020B0604020202020204"/>
              <a:sym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43</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endParaRPr lang="en-US" noProof="0" dirty="0">
              <a:latin typeface="Times New Roman" panose="02020603050405020304" pitchFamily="18" charset="0"/>
              <a:cs typeface="Times New Roman" panose="02020603050405020304" pitchFamily="18" charset="0"/>
              <a:sym typeface="Arial" panose="020B0604020202020204" pitchFamily="34" charset="0"/>
            </a:endParaRPr>
          </a:p>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Types Of Websites</a:t>
            </a:r>
            <a:endParaRPr kumimoji="0" lang="en-US" kern="1200" cap="none" spc="0" normalizeH="0" baseline="0" noProof="0" dirty="0">
              <a:solidFill>
                <a:schemeClr val="dk1"/>
              </a:solidFill>
              <a:latin typeface="Times New Roman" panose="02020603050405020304" pitchFamily="18" charset="0"/>
              <a:ea typeface="+mn-ea"/>
              <a:cs typeface="Times New Roman" panose="02020603050405020304" pitchFamily="18" charset="0"/>
              <a:sym typeface="Arial" panose="020B0604020202020204" pitchFamily="34" charset="0"/>
            </a:endParaRPr>
          </a:p>
          <a:p>
            <a:pPr algn="ctr">
              <a:buClr>
                <a:srgbClr val="000000"/>
              </a:buClr>
              <a:buFont typeface="Calibri" panose="020F0502020204030204" charset="0"/>
              <a:buNone/>
            </a:pP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594360" y="1249680"/>
            <a:ext cx="10865485" cy="4460240"/>
          </a:xfrm>
          <a:prstGeom prst="rect">
            <a:avLst/>
          </a:prstGeom>
          <a:noFill/>
        </p:spPr>
        <p:txBody>
          <a:bodyPr wrap="square" rtlCol="0" anchor="t">
            <a:noAutofit/>
          </a:bodyPr>
          <a:lstStyle/>
          <a:p>
            <a:pPr marL="9525" indent="0">
              <a:spcBef>
                <a:spcPts val="90"/>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Website: </a:t>
            </a:r>
          </a:p>
          <a:p>
            <a:pPr marL="9525" indent="0">
              <a:spcBef>
                <a:spcPts val="90"/>
              </a:spcBef>
              <a:spcAft>
                <a:spcPct val="0"/>
              </a:spcAft>
              <a:buClr>
                <a:srgbClr val="000000"/>
              </a:buClr>
              <a:buFont typeface="Arial" panose="020B0604020202020204" pitchFamily="34" charset="0"/>
              <a:buNone/>
            </a:pPr>
            <a:endParaRPr lang="en-US" altLang="en-US"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indent="-344170">
              <a:spcBef>
                <a:spcPts val="90"/>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 website is simply a collection of interlinked  web pages</a:t>
            </a:r>
            <a:r>
              <a:rPr lang="en-US" altLang="en-US" sz="2200" dirty="0">
                <a:latin typeface="Arial" panose="020B0604020202020204"/>
                <a:ea typeface="Arial" panose="020B0604020202020204"/>
                <a:cs typeface="Arial" panose="020B0604020202020204"/>
                <a:sym typeface="Arial" panose="020B0604020202020204" pitchFamily="34" charset="0"/>
              </a:rPr>
              <a:t>.</a:t>
            </a:r>
          </a:p>
          <a:p>
            <a:pPr marL="9525" indent="0">
              <a:spcBef>
                <a:spcPts val="365"/>
              </a:spcBef>
              <a:spcAft>
                <a:spcPct val="0"/>
              </a:spcAft>
              <a:buClr>
                <a:srgbClr val="000000"/>
              </a:buClr>
            </a:pPr>
            <a:endPar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525" indent="0">
              <a:spcBef>
                <a:spcPts val="365"/>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Classification of Website</a:t>
            </a:r>
          </a:p>
          <a:p>
            <a:pPr marL="9525" indent="0">
              <a:spcBef>
                <a:spcPts val="365"/>
              </a:spcBef>
              <a:spcAft>
                <a:spcPct val="0"/>
              </a:spcAft>
              <a:buClr>
                <a:srgbClr val="000000"/>
              </a:buClr>
            </a:pPr>
            <a:endPar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indent="-344170">
              <a:spcBef>
                <a:spcPts val="77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Corporate Website</a:t>
            </a:r>
          </a:p>
          <a:p>
            <a:pPr marL="812800" lvl="1" indent="-344170">
              <a:spcBef>
                <a:spcPts val="775"/>
              </a:spcBef>
              <a:spcAft>
                <a:spcPct val="0"/>
              </a:spcAft>
              <a:buClr>
                <a:srgbClr val="000000"/>
              </a:buClr>
              <a:buFont typeface="Arial" panose="020B0604020202020204" pitchFamily="34" charset="0"/>
              <a:buNone/>
            </a:pPr>
            <a:endParaRPr lang="en-US" altLang="en-US" sz="2200" i="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indent="-344170">
              <a:spcBef>
                <a:spcPts val="77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Individual website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44</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Websites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419735" y="959485"/>
            <a:ext cx="11052810" cy="5006975"/>
          </a:xfrm>
          <a:prstGeom prst="rect">
            <a:avLst/>
          </a:prstGeom>
          <a:noFill/>
        </p:spPr>
        <p:txBody>
          <a:bodyPr wrap="square" rtlCol="0" anchor="t">
            <a:noAutofit/>
          </a:bodyPr>
          <a:lstStyle/>
          <a:p>
            <a:pPr marL="9525" indent="0">
              <a:spcBef>
                <a:spcPts val="775"/>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Corporate Website:</a:t>
            </a:r>
          </a:p>
          <a:p>
            <a:pPr marL="9525" indent="0">
              <a:spcBef>
                <a:spcPts val="775"/>
              </a:spcBef>
              <a:spcAft>
                <a:spcPct val="0"/>
              </a:spcAft>
              <a:buClr>
                <a:srgbClr val="000000"/>
              </a:buClr>
              <a:buFont typeface="Arial" panose="020B0604020202020204" pitchFamily="34" charset="0"/>
              <a:buNone/>
            </a:pPr>
            <a:endPar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indent="-344170" algn="just">
              <a:spcBef>
                <a:spcPts val="100"/>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 this, there is certain no. of persons, who  develop their website for a particular organization.</a:t>
            </a:r>
          </a:p>
          <a:p>
            <a:pPr marL="812800" lvl="1" indent="-344170" algn="just">
              <a:spcBef>
                <a:spcPts val="100"/>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indent="-344170" algn="just">
              <a:spcBef>
                <a:spcPts val="67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The corporate website are formed when group of  people have common interest and objective.</a:t>
            </a:r>
          </a:p>
          <a:p>
            <a:pPr marL="812800" lvl="1" indent="-344170" algn="just">
              <a:spcBef>
                <a:spcPts val="67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indent="-344170" algn="just">
              <a:spcBef>
                <a:spcPts val="67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The purpose of this website  is  to convey the  information of organization to all over the world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45</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Websites(cont1..)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313055" y="938530"/>
            <a:ext cx="11233150" cy="4890770"/>
          </a:xfrm>
          <a:prstGeom prst="rect">
            <a:avLst/>
          </a:prstGeom>
          <a:noFill/>
        </p:spPr>
        <p:txBody>
          <a:bodyPr wrap="square" rtlCol="0" anchor="t">
            <a:noAutofit/>
          </a:bodyPr>
          <a:lstStyle/>
          <a:p>
            <a:pPr marL="9525" indent="0" algn="just">
              <a:spcBef>
                <a:spcPts val="690"/>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Individual Website</a:t>
            </a:r>
          </a:p>
          <a:p>
            <a:pPr marL="9525" indent="0" algn="just">
              <a:spcBef>
                <a:spcPts val="690"/>
              </a:spcBef>
              <a:spcAft>
                <a:spcPct val="0"/>
              </a:spcAft>
              <a:buClr>
                <a:srgbClr val="000000"/>
              </a:buClr>
              <a:buFont typeface="Arial" panose="020B0604020202020204" pitchFamily="34" charset="0"/>
              <a:buNone/>
            </a:pPr>
            <a:endPar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indent="-344170" algn="just">
              <a:spcBef>
                <a:spcPts val="690"/>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Personal web pages are world wide web pages created by an individual to contain content of a personal nature rather than content pertaining to a company, organization or institution.</a:t>
            </a:r>
          </a:p>
          <a:p>
            <a:pPr marL="812800" lvl="1" indent="-344170" algn="just">
              <a:spcBef>
                <a:spcPts val="690"/>
              </a:spcBef>
              <a:spcAft>
                <a:spcPct val="0"/>
              </a:spcAft>
              <a:buClr>
                <a:srgbClr val="000000"/>
              </a:buClr>
              <a:buFont typeface="Arial" panose="020B0604020202020204" pitchFamily="34" charset="0"/>
              <a:buChar char="•"/>
            </a:pPr>
            <a:endPar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indent="-344170" algn="just">
              <a:spcBef>
                <a:spcPts val="690"/>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It is just like profile management system. </a:t>
            </a:r>
          </a:p>
          <a:p>
            <a:pPr marL="812800" lvl="1" indent="-344170" algn="just">
              <a:spcBef>
                <a:spcPts val="690"/>
              </a:spcBef>
              <a:spcAft>
                <a:spcPct val="0"/>
              </a:spcAft>
              <a:buClr>
                <a:srgbClr val="000000"/>
              </a:buClr>
              <a:buFont typeface="Arial" panose="020B0604020202020204" pitchFamily="34" charset="0"/>
              <a:buChar cha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812800" lvl="1" indent="-344170" algn="just">
              <a:spcBef>
                <a:spcPts val="690"/>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 this type of  website an individual wants to develop website for </a:t>
            </a:r>
          </a:p>
          <a:p>
            <a:pPr marL="812800" lvl="1" indent="-344170" algn="just">
              <a:spcBef>
                <a:spcPts val="690"/>
              </a:spcBef>
              <a:spcAft>
                <a:spcPct val="0"/>
              </a:spcAft>
              <a:buClr>
                <a:srgbClr val="000000"/>
              </a:buClr>
              <a:buFont typeface="Arial" panose="020B0604020202020204" pitchFamily="34" charset="0"/>
              <a:buNone/>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hi-projection, career growth etc.</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46</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Web Applications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439420" y="1074420"/>
            <a:ext cx="11142345" cy="4911090"/>
          </a:xfrm>
          <a:prstGeom prst="rect">
            <a:avLst/>
          </a:prstGeom>
          <a:noFill/>
        </p:spPr>
        <p:txBody>
          <a:bodyPr wrap="square" rtlCol="0" anchor="t">
            <a:noAutofit/>
          </a:bodyPr>
          <a:lstStyle/>
          <a:p>
            <a:pPr marL="355600" indent="-344170" algn="just">
              <a:spcBef>
                <a:spcPts val="90"/>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Web application is a kind of application that  can be through the web browser over the  internet.</a:t>
            </a:r>
          </a:p>
          <a:p>
            <a:pPr marL="355600" indent="-344170" algn="just">
              <a:spcBef>
                <a:spcPts val="90"/>
              </a:spcBef>
              <a:spcAft>
                <a:spcPct val="0"/>
              </a:spcAft>
              <a:buClr>
                <a:srgbClr val="000000"/>
              </a:buCl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355600" indent="-344170" algn="just">
              <a:spcBef>
                <a:spcPts val="775"/>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Web applications may include simple office  software word processors, Google docs,  project management, computer-aided design,  online spreadsheets, and presentation tools.</a:t>
            </a:r>
          </a:p>
          <a:p>
            <a:pPr marL="355600" indent="-344170" algn="just">
              <a:spcBef>
                <a:spcPts val="77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355600" indent="-344170" algn="just">
              <a:spcBef>
                <a:spcPts val="775"/>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Some common scripting languages are used to  create web applications such as JSP, ASP  and  PHP.     </a:t>
            </a:r>
          </a:p>
          <a:p>
            <a:pPr marL="355600" indent="-344170" algn="just">
              <a:spcBef>
                <a:spcPts val="77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355600" indent="-344170">
              <a:spcBef>
                <a:spcPts val="90"/>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Web applications interact with program  variables ,spreadsheets and databases using  user input for creating the dynamic web  content.</a:t>
            </a:r>
          </a:p>
          <a:p>
            <a:pPr marL="812800" lvl="1"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47</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Web Applications(cont1..)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583565" y="1194435"/>
            <a:ext cx="10850245" cy="4820920"/>
          </a:xfrm>
          <a:prstGeom prst="rect">
            <a:avLst/>
          </a:prstGeom>
          <a:noFill/>
        </p:spPr>
        <p:txBody>
          <a:bodyPr wrap="square" rtlCol="0" anchor="t">
            <a:noAutofit/>
          </a:bodyPr>
          <a:lstStyle/>
          <a:p>
            <a:pPr marL="355600" indent="-344170" algn="just">
              <a:spcBef>
                <a:spcPts val="90"/>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Examples of Web Application</a:t>
            </a:r>
          </a:p>
          <a:p>
            <a:pPr marL="984250" lvl="1" indent="-514350">
              <a:spcBef>
                <a:spcPts val="775"/>
              </a:spcBef>
              <a:spcAft>
                <a:spcPct val="0"/>
              </a:spcAft>
              <a:buClr>
                <a:srgbClr val="000000"/>
              </a:buClr>
              <a:buFont typeface="Arial" panose="020B0604020202020204" pitchFamily="34" charset="0"/>
              <a:buChar cha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84250" lvl="1" indent="-514350">
              <a:spcBef>
                <a:spcPts val="77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Airline Reservation System.</a:t>
            </a:r>
          </a:p>
          <a:p>
            <a:pPr marL="984250" lvl="1" indent="-514350">
              <a:spcBef>
                <a:spcPts val="77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84250" lvl="1" indent="-514350">
              <a:spcBef>
                <a:spcPts val="77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Message Boards.</a:t>
            </a:r>
          </a:p>
          <a:p>
            <a:pPr marL="984250" lvl="1" indent="-514350">
              <a:spcBef>
                <a:spcPts val="77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84250" lvl="1" indent="-514350">
              <a:spcBef>
                <a:spcPts val="77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Shopping Cart.</a:t>
            </a:r>
          </a:p>
          <a:p>
            <a:pPr marL="984250" lvl="1" indent="-514350">
              <a:spcBef>
                <a:spcPts val="77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84250" lvl="1" indent="-514350">
              <a:spcBef>
                <a:spcPts val="77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Net-banking.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48</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Writing a Web Projects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455930" y="1022350"/>
            <a:ext cx="11017250" cy="4895850"/>
          </a:xfrm>
          <a:prstGeom prst="rect">
            <a:avLst/>
          </a:prstGeom>
          <a:noFill/>
        </p:spPr>
        <p:txBody>
          <a:bodyPr wrap="square" rtlCol="0" anchor="t">
            <a:noAutofit/>
          </a:bodyPr>
          <a:lstStyle/>
          <a:p>
            <a:pPr marL="9525" indent="0" algn="just">
              <a:lnSpc>
                <a:spcPct val="90000"/>
              </a:lnSpc>
              <a:spcBef>
                <a:spcPts val="440"/>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Objective of above Topic:</a:t>
            </a:r>
          </a:p>
          <a:p>
            <a:pPr marL="9525" indent="0" algn="just">
              <a:lnSpc>
                <a:spcPct val="90000"/>
              </a:lnSpc>
              <a:spcBef>
                <a:spcPts val="440"/>
              </a:spcBef>
              <a:spcAft>
                <a:spcPct val="0"/>
              </a:spcAft>
              <a:buClr>
                <a:srgbClr val="000000"/>
              </a:buClr>
              <a:buFont typeface="Arial" panose="020B0604020202020204" pitchFamily="34" charset="0"/>
              <a:buNone/>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To developed web project and understand the concepts of web project development differs from traditional web  projects</a:t>
            </a:r>
          </a:p>
          <a:p>
            <a:pPr marL="9525" indent="0" algn="just">
              <a:lnSpc>
                <a:spcPct val="90000"/>
              </a:lnSpc>
              <a:spcBef>
                <a:spcPts val="440"/>
              </a:spcBef>
              <a:spcAft>
                <a:spcPct val="0"/>
              </a:spcAft>
              <a:buClr>
                <a:srgbClr val="000000"/>
              </a:buClr>
              <a:buFont typeface="Arial" panose="020B0604020202020204" pitchFamily="34" charset="0"/>
              <a:buNone/>
            </a:pPr>
            <a:endParaRPr lang="en-US" altLang="en-US" sz="1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525" indent="0" algn="just">
              <a:spcBef>
                <a:spcPts val="315"/>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Phases of writing the web projects</a:t>
            </a:r>
          </a:p>
          <a:p>
            <a:pPr marL="927100" lvl="2" indent="0" algn="just">
              <a:spcBef>
                <a:spcPts val="340"/>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Write a project mission statement</a:t>
            </a:r>
            <a:endParaRPr lang="en-US" altLang="en-US"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841500" lvl="4" algn="just">
              <a:spcBef>
                <a:spcPts val="31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Write the specific mission statement that you want to do.</a:t>
            </a:r>
          </a:p>
          <a:p>
            <a:pPr marL="927100" lvl="2" indent="0" algn="just">
              <a:spcBef>
                <a:spcPts val="340"/>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Identify Objectives</a:t>
            </a:r>
            <a:endParaRPr lang="en-US" altLang="en-US" sz="24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955800" lvl="3" indent="-571500" algn="just">
              <a:spcBef>
                <a:spcPts val="31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Specific</a:t>
            </a:r>
          </a:p>
          <a:p>
            <a:pPr marL="1955800" lvl="3" indent="-571500" algn="just">
              <a:spcBef>
                <a:spcPts val="340"/>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Measurable</a:t>
            </a:r>
          </a:p>
          <a:p>
            <a:pPr marL="1955800" lvl="3" indent="-571500" algn="just">
              <a:spcBef>
                <a:spcPts val="31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Attainable</a:t>
            </a:r>
          </a:p>
          <a:p>
            <a:pPr marL="1955800" lvl="3" indent="-571500" algn="just">
              <a:spcBef>
                <a:spcPts val="340"/>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Realistic</a:t>
            </a:r>
          </a:p>
          <a:p>
            <a:pPr marL="1955800" lvl="3" indent="-571500" algn="just">
              <a:spcBef>
                <a:spcPts val="31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Time limited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49</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algn="ctr" defTabSz="914400" eaLnBrk="1" fontAlgn="auto" hangingPunct="1">
              <a:spcAft>
                <a:spcPts val="0"/>
              </a:spcAft>
              <a:buClrTx/>
              <a:buSzTx/>
              <a:buFontTx/>
              <a:buNone/>
              <a:defRPr/>
            </a:pPr>
            <a:r>
              <a:rPr lang="en-US" noProof="0" dirty="0">
                <a:latin typeface="Times New Roman" panose="02020603050405020304" pitchFamily="18" charset="0"/>
                <a:cs typeface="Times New Roman" panose="02020603050405020304" pitchFamily="18" charset="0"/>
                <a:sym typeface="Arial" panose="020B0604020202020204" pitchFamily="34" charset="0"/>
              </a:rPr>
              <a:t>Writing a Web Projects(cont1..)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468630" y="1061720"/>
            <a:ext cx="11113770" cy="4936490"/>
          </a:xfrm>
          <a:prstGeom prst="rect">
            <a:avLst/>
          </a:prstGeom>
          <a:noFill/>
        </p:spPr>
        <p:txBody>
          <a:bodyPr wrap="square" rtlCol="0" anchor="t">
            <a:noAutofit/>
          </a:bodyPr>
          <a:lstStyle/>
          <a:p>
            <a:pPr marL="527050" indent="-514350" algn="just">
              <a:spcBef>
                <a:spcPts val="315"/>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Phases of writing the web projects</a:t>
            </a: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(cont..) </a:t>
            </a:r>
          </a:p>
          <a:p>
            <a:pPr marL="527050" indent="-514350" algn="just">
              <a:spcBef>
                <a:spcPts val="315"/>
              </a:spcBef>
              <a:spcAft>
                <a:spcPct val="0"/>
              </a:spcAft>
              <a:buClr>
                <a:srgbClr val="000000"/>
              </a:buClr>
              <a:buFont typeface="Arial" panose="020B0604020202020204" pitchFamily="34" charset="0"/>
              <a:buNone/>
            </a:pPr>
            <a:endParaRPr lang="en-US" altLang="en-US" sz="1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27100" lvl="2" algn="just">
              <a:spcBef>
                <a:spcPts val="315"/>
              </a:spcBef>
              <a:spcAft>
                <a:spcPct val="0"/>
              </a:spcAft>
              <a:buClr>
                <a:srgbClr val="000000"/>
              </a:buClr>
              <a:buFont typeface="Wingdings" panose="05000000000000000000" pitchFamily="2" charset="2"/>
              <a:buChar char="v"/>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Identify your target users</a:t>
            </a:r>
          </a:p>
          <a:p>
            <a:pPr marL="927100" lvl="2" algn="just">
              <a:spcBef>
                <a:spcPts val="315"/>
              </a:spcBef>
              <a:spcAft>
                <a:spcPct val="0"/>
              </a:spcAft>
              <a:buClr>
                <a:srgbClr val="000000"/>
              </a:buClr>
            </a:pPr>
            <a:endParaRPr lang="en-US" altLang="en-US" sz="20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384300" lvl="3" algn="just">
              <a:spcBef>
                <a:spcPts val="11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The matter of a website will be determined by the  users whom you want to visit the site. This is totally  depend upon</a:t>
            </a:r>
          </a:p>
          <a:p>
            <a:pPr marL="2413000" lvl="4" indent="-571500" algn="just">
              <a:spcBef>
                <a:spcPts val="750"/>
              </a:spcBef>
              <a:spcAft>
                <a:spcPct val="0"/>
              </a:spcAft>
              <a:buClr>
                <a:srgbClr val="000000"/>
              </a:buClr>
              <a:buFont typeface="Arial" panose="020B0604020202020204" pitchFamily="34" charset="0"/>
              <a:buAutoNum type="romanLcPeriod"/>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Market research</a:t>
            </a:r>
          </a:p>
          <a:p>
            <a:pPr marL="2413000" lvl="4" indent="-571500" algn="just">
              <a:spcBef>
                <a:spcPts val="775"/>
              </a:spcBef>
              <a:spcAft>
                <a:spcPct val="0"/>
              </a:spcAft>
              <a:buClr>
                <a:srgbClr val="000000"/>
              </a:buClr>
              <a:buFont typeface="Arial" panose="020B0604020202020204" pitchFamily="34" charset="0"/>
              <a:buAutoNum type="romanLcPeriod"/>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Focus group</a:t>
            </a:r>
          </a:p>
          <a:p>
            <a:pPr marL="2413000" lvl="4" indent="-571500" algn="just">
              <a:spcBef>
                <a:spcPts val="775"/>
              </a:spcBef>
              <a:spcAft>
                <a:spcPct val="0"/>
              </a:spcAft>
              <a:buClr>
                <a:srgbClr val="000000"/>
              </a:buClr>
              <a:buFont typeface="Arial" panose="020B0604020202020204" pitchFamily="34" charset="0"/>
              <a:buAutoNum type="romanLcPeriod"/>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Understanding the audiences</a:t>
            </a:r>
          </a:p>
          <a:p>
            <a:pPr marL="2413000" lvl="4" indent="-571500" algn="just">
              <a:spcBef>
                <a:spcPts val="775"/>
              </a:spcBef>
              <a:spcAft>
                <a:spcPct val="0"/>
              </a:spcAft>
              <a:buClr>
                <a:srgbClr val="000000"/>
              </a:buClr>
              <a:buFont typeface="Arial" panose="020B0604020202020204" pitchFamily="34" charset="0"/>
              <a:buAutoNum type="romanLcPeriod"/>
            </a:pPr>
            <a:endParaRPr lang="en-US" altLang="en-US" sz="6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27100" lvl="2" algn="just">
              <a:spcBef>
                <a:spcPts val="775"/>
              </a:spcBef>
              <a:spcAft>
                <a:spcPct val="0"/>
              </a:spcAft>
              <a:buClr>
                <a:srgbClr val="000000"/>
              </a:buClr>
              <a:buFont typeface="Wingdings" panose="05000000000000000000" pitchFamily="2" charset="2"/>
              <a:buChar char="v"/>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Determine the scope</a:t>
            </a:r>
          </a:p>
          <a:p>
            <a:pPr marL="2413000" lvl="4" indent="-571500" algn="just">
              <a:spcBef>
                <a:spcPts val="775"/>
              </a:spcBef>
              <a:spcAft>
                <a:spcPct val="0"/>
              </a:spcAft>
              <a:buClr>
                <a:srgbClr val="000000"/>
              </a:buClr>
              <a:buFont typeface="Wingdings" panose="05000000000000000000" pitchFamily="2" charset="2"/>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By supporting documents  and client’s approval.</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50</a:t>
            </a:fld>
            <a:endParaRPr lang="en-US"/>
          </a:p>
        </p:txBody>
      </p:sp>
      <p:sp>
        <p:nvSpPr>
          <p:cNvPr id="7" name="Title 1"/>
          <p:cNvSpPr txBox="1"/>
          <p:nvPr/>
        </p:nvSpPr>
        <p:spPr>
          <a:xfrm>
            <a:off x="2971800" y="4445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atin typeface="Times New Roman" panose="02020603050405020304" pitchFamily="18" charset="0"/>
                <a:cs typeface="Times New Roman" panose="02020603050405020304" pitchFamily="18" charset="0"/>
                <a:sym typeface="Arial" panose="020B0604020202020204" pitchFamily="34" charset="0"/>
              </a:rPr>
              <a:t>Writing a Web Projects(cont1..)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574040" y="1062990"/>
            <a:ext cx="10961370" cy="4724400"/>
          </a:xfrm>
          <a:prstGeom prst="rect">
            <a:avLst/>
          </a:prstGeom>
          <a:noFill/>
        </p:spPr>
        <p:txBody>
          <a:bodyPr wrap="square" rtlCol="0" anchor="t">
            <a:noAutofit/>
          </a:bodyPr>
          <a:lstStyle/>
          <a:p>
            <a:pPr marL="527050" indent="-514350" algn="just">
              <a:spcBef>
                <a:spcPts val="315"/>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Phases of writing the web projects</a:t>
            </a: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(cont..) </a:t>
            </a:r>
          </a:p>
          <a:p>
            <a:pPr marL="957580" lvl="1" indent="-487680" algn="just">
              <a:spcBef>
                <a:spcPts val="490"/>
              </a:spcBef>
              <a:spcAft>
                <a:spcPct val="0"/>
              </a:spcAft>
              <a:buClr>
                <a:srgbClr val="000000"/>
              </a:buClr>
              <a:buFont typeface="Arial" panose="020B0604020202020204" pitchFamily="34" charset="0"/>
              <a:buChar cha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Budget </a:t>
            </a:r>
          </a:p>
          <a:p>
            <a:pPr marL="1395730" lvl="3" indent="-381000" algn="just">
              <a:spcBef>
                <a:spcPts val="390"/>
              </a:spcBef>
              <a:spcAft>
                <a:spcPct val="0"/>
              </a:spcAft>
              <a:buClr>
                <a:srgbClr val="000000"/>
              </a:buClr>
              <a:buFont typeface="Wingdings" panose="05000000000000000000" pitchFamily="2" charset="2"/>
              <a:buChar char="v"/>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Assumption for budgets.</a:t>
            </a:r>
          </a:p>
          <a:p>
            <a:pPr marL="1395730" lvl="3" indent="-381000" algn="just">
              <a:spcBef>
                <a:spcPts val="390"/>
              </a:spcBef>
              <a:spcAft>
                <a:spcPct val="0"/>
              </a:spcAft>
              <a:buClr>
                <a:srgbClr val="000000"/>
              </a:buClr>
              <a:buFont typeface="Wingdings" panose="05000000000000000000" pitchFamily="2" charset="2"/>
              <a:buChar char="v"/>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Budget categories.</a:t>
            </a:r>
          </a:p>
          <a:p>
            <a:pPr marL="1395730" lvl="3" indent="-381000" algn="just">
              <a:spcBef>
                <a:spcPts val="390"/>
              </a:spcBef>
              <a:spcAft>
                <a:spcPct val="0"/>
              </a:spcAft>
              <a:buClr>
                <a:srgbClr val="000000"/>
              </a:buClr>
              <a:buFont typeface="Wingdings" panose="05000000000000000000" pitchFamily="2" charset="2"/>
              <a:buChar char="v"/>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Determine hidden costs and tools.</a:t>
            </a:r>
          </a:p>
          <a:p>
            <a:pPr marL="527050" indent="-514350" algn="just">
              <a:spcBef>
                <a:spcPts val="15"/>
              </a:spcBef>
              <a:spcAft>
                <a:spcPct val="0"/>
              </a:spcAft>
              <a:buClr>
                <a:srgbClr val="000000"/>
              </a:buClr>
              <a:buFont typeface="Arial" panose="020B0604020202020204" pitchFamily="34" charset="0"/>
              <a:buNone/>
            </a:pPr>
            <a:endParaRPr lang="en-US" altLang="en-US"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527050" indent="-514350" algn="just">
              <a:spcBef>
                <a:spcPts val="15"/>
              </a:spcBef>
              <a:spcAft>
                <a:spcPct val="0"/>
              </a:spcAft>
              <a:buClr>
                <a:srgbClr val="000000"/>
              </a:buClr>
              <a:buFont typeface="Arial" panose="020B0604020202020204" pitchFamily="34" charset="0"/>
              <a:buNone/>
            </a:pPr>
            <a:endParaRPr lang="en-US" altLang="en-US"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27100"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Planning issues:</a:t>
            </a: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927100" lvl="2" algn="just">
              <a:spcBef>
                <a:spcPts val="365"/>
              </a:spcBef>
              <a:spcAft>
                <a:spcPct val="0"/>
              </a:spcAft>
              <a:buClr>
                <a:srgbClr val="000000"/>
              </a:buClr>
              <a:buFont typeface="Wingdings" panose="05000000000000000000" pitchFamily="2" charset="2"/>
              <a:buChar char="v"/>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Discuss client’s existing information system.</a:t>
            </a:r>
          </a:p>
          <a:p>
            <a:pPr marL="927100" lvl="2" algn="just">
              <a:spcBef>
                <a:spcPts val="365"/>
              </a:spcBef>
              <a:spcAft>
                <a:spcPct val="0"/>
              </a:spcAft>
              <a:buClr>
                <a:srgbClr val="000000"/>
              </a:buClr>
              <a:buFont typeface="Wingdings" panose="05000000000000000000" pitchFamily="2" charset="2"/>
              <a:buChar char="v"/>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Project team and developing infrastructure.</a:t>
            </a:r>
          </a:p>
          <a:p>
            <a:pPr marL="927100" lvl="2" algn="just">
              <a:spcBef>
                <a:spcPts val="390"/>
              </a:spcBef>
              <a:spcAft>
                <a:spcPct val="0"/>
              </a:spcAft>
              <a:buClr>
                <a:srgbClr val="000000"/>
              </a:buClr>
              <a:buFont typeface="Wingdings" panose="05000000000000000000" pitchFamily="2" charset="2"/>
              <a:buChar char="v"/>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Where the website will place.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51</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algn="ctr" defTabSz="914400" eaLnBrk="1" fontAlgn="auto" hangingPunct="1">
              <a:spcAft>
                <a:spcPts val="0"/>
              </a:spcAft>
              <a:buClrTx/>
              <a:buSzTx/>
              <a:buFontTx/>
              <a:buNone/>
              <a:defRPr/>
            </a:pPr>
            <a:r>
              <a:rPr lang="en-US" noProof="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Connecting To Internet</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515620" y="1064260"/>
            <a:ext cx="11066780" cy="4933950"/>
          </a:xfrm>
          <a:prstGeom prst="rect">
            <a:avLst/>
          </a:prstGeom>
          <a:noFill/>
        </p:spPr>
        <p:txBody>
          <a:bodyPr wrap="square" rtlCol="0" anchor="t">
            <a:noAutofit/>
          </a:bodyPr>
          <a:lstStyle/>
          <a:p>
            <a:pPr marL="114300" indent="0">
              <a:spcBef>
                <a:spcPts val="365"/>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Telephone</a:t>
            </a:r>
          </a:p>
          <a:p>
            <a:pPr lvl="1" algn="just">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A Telephone is a device that converts voice communication into electrical signals that can be transferred to other telephones and heard. </a:t>
            </a:r>
          </a:p>
          <a:p>
            <a:pPr lvl="1"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1" algn="just">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Telephones enable people to communicate with other people all over the world and is widely credited as being first invented by Alexandra Graham Bell in 1876.</a:t>
            </a:r>
          </a:p>
          <a:p>
            <a:pPr lvl="1" algn="just">
              <a:spcBef>
                <a:spcPts val="365"/>
              </a:spcBef>
              <a:spcAft>
                <a:spcPct val="0"/>
              </a:spcAft>
              <a:buClr>
                <a:srgbClr val="000000"/>
              </a:buClr>
              <a:buFont typeface="Arial" panose="020B0604020202020204" pitchFamily="34" charset="0"/>
              <a:buChar cha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1" algn="just">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There are three basic phones in use today. The classic corded telephone, which could be rotary dial like or have buttons, the cordless or wireless phone, and the cell phone</a:t>
            </a:r>
          </a:p>
          <a:p>
            <a:pPr lvl="1" algn="just">
              <a:spcBef>
                <a:spcPts val="365"/>
              </a:spcBef>
              <a:spcAft>
                <a:spcPct val="0"/>
              </a:spcAft>
              <a:buClr>
                <a:srgbClr val="000000"/>
              </a:buClr>
              <a:buFont typeface="Arial" panose="020B0604020202020204" pitchFamily="34" charset="0"/>
              <a:buChar cha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52</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algn="ctr" defTabSz="914400" eaLnBrk="1" fontAlgn="auto" hangingPunct="1">
              <a:spcAft>
                <a:spcPts val="0"/>
              </a:spcAft>
              <a:buClrTx/>
              <a:buSzTx/>
              <a:buFontTx/>
              <a:buNone/>
              <a:defRPr/>
            </a:pPr>
            <a:r>
              <a:rPr lang="en-US" noProof="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Connecting To Internet(cont1..)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517525" y="1013460"/>
            <a:ext cx="10989310" cy="4878705"/>
          </a:xfrm>
          <a:prstGeom prst="rect">
            <a:avLst/>
          </a:prstGeom>
          <a:noFill/>
        </p:spPr>
        <p:txBody>
          <a:bodyPr wrap="square" rtlCol="0" anchor="t">
            <a:noAutofit/>
          </a:bodyPr>
          <a:lstStyle/>
          <a:p>
            <a:pPr marL="114300" indent="0">
              <a:spcBef>
                <a:spcPts val="365"/>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Cable</a:t>
            </a:r>
          </a:p>
          <a:p>
            <a:pPr marL="114300" indent="0">
              <a:spcBef>
                <a:spcPts val="365"/>
              </a:spcBef>
              <a:spcAft>
                <a:spcPct val="0"/>
              </a:spcAft>
              <a:buClr>
                <a:srgbClr val="000000"/>
              </a:buClr>
              <a:buFont typeface="Arial" panose="020B0604020202020204" pitchFamily="34" charset="0"/>
              <a:buNone/>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 </a:t>
            </a: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cable</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is one or more wires covered in a plastic covering that connects a computer to a power source or other device. </a:t>
            </a:r>
          </a:p>
          <a:p>
            <a:pPr marL="114300" indent="0">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spcBef>
                <a:spcPts val="365"/>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Two Types of computer cables</a:t>
            </a:r>
          </a:p>
          <a:p>
            <a:pPr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 data cable  </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is a cable that provides communication between devices. </a:t>
            </a:r>
          </a:p>
          <a:p>
            <a:pPr lvl="2"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spcBef>
                <a:spcPts val="365"/>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For example, the data cable that connects your monitor to your computer and allows your computer to display a picture on the monitor such as SATA and USB etc.</a:t>
            </a:r>
          </a:p>
          <a:p>
            <a:pPr lvl="2"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 power cable  </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is any cable that powers the device.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53</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Connecting To Internet(cont1..)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609600" y="909955"/>
            <a:ext cx="10899775" cy="5150485"/>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Types of Cables:</a:t>
            </a:r>
            <a:endParaRPr lang="en-US" altLang="en-US" sz="2400" b="1" u="sng"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AT</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 Used with early keyboard.</a:t>
            </a:r>
          </a:p>
          <a:p>
            <a:pPr lvl="2"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ATA -</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Used with hard drives and disc drives.</a:t>
            </a:r>
          </a:p>
          <a:p>
            <a:pPr lvl="2"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CAT5</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 Used with network cards.</a:t>
            </a:r>
          </a:p>
          <a:p>
            <a:pPr lvl="2"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Coaxial </a:t>
            </a:r>
            <a:r>
              <a:rPr lang="en-US" altLang="en-US" sz="2200" b="1" dirty="0">
                <a:solidFill>
                  <a:srgbClr val="7F7F7F"/>
                </a:solidFill>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Used with </a:t>
            </a:r>
            <a:r>
              <a:rPr lang="en-US" altLang="en-US" sz="2200" dirty="0">
                <a:solidFill>
                  <a:srgbClr val="595959"/>
                </a:solidFill>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TV</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and Projectors.</a:t>
            </a:r>
          </a:p>
          <a:p>
            <a:pPr lvl="2"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DVI</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 Used with Monitors Projectors, and other display</a:t>
            </a:r>
          </a:p>
          <a:p>
            <a:pPr lvl="2" algn="just">
              <a:spcBef>
                <a:spcPts val="365"/>
              </a:spcBef>
              <a:spcAft>
                <a:spcPct val="0"/>
              </a:spcAft>
              <a:buClr>
                <a:srgbClr val="000000"/>
              </a:buClr>
              <a:buFont typeface="Arial" panose="020B0604020202020204" pitchFamily="34" charset="0"/>
              <a:buNone/>
            </a:pPr>
            <a:endParaRPr lang="en-GB"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E-SATA</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 Used with external drives.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54</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Connecting To Internet(cont1..)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489585" y="1294765"/>
            <a:ext cx="10993755" cy="4453890"/>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Types of Cable</a:t>
            </a:r>
          </a:p>
          <a:p>
            <a:pPr marL="114300" indent="0" algn="just">
              <a:spcBef>
                <a:spcPts val="365"/>
              </a:spcBef>
              <a:spcAft>
                <a:spcPct val="0"/>
              </a:spcAft>
              <a:buClr>
                <a:srgbClr val="000000"/>
              </a:buClr>
              <a:buFont typeface="Arial" panose="020B0604020202020204" pitchFamily="34" charset="0"/>
              <a:buNone/>
            </a:pPr>
            <a:endParaRPr lang="en-US" altLang="en-US" sz="2400" b="1" u="sng"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MDI</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 Used with musical keyboards and other equipment.</a:t>
            </a:r>
          </a:p>
          <a:p>
            <a:pPr lvl="2"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Mini Plug</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 Used with headphone, microphone and speakers.</a:t>
            </a:r>
          </a:p>
          <a:p>
            <a:pPr lvl="2"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Molex</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 Power cable used inside your computer.</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55</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Connecting To Internet(cont1..)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30860" y="1288415"/>
            <a:ext cx="11094085" cy="4574540"/>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Satellite Connection </a:t>
            </a:r>
          </a:p>
          <a:p>
            <a:pPr marL="114300" indent="0" algn="just">
              <a:spcBef>
                <a:spcPts val="365"/>
              </a:spcBef>
              <a:spcAft>
                <a:spcPct val="0"/>
              </a:spcAft>
              <a:buClr>
                <a:srgbClr val="000000"/>
              </a:buClr>
              <a:buFont typeface="Arial" panose="020B0604020202020204" pitchFamily="34" charset="0"/>
              <a:buNone/>
            </a:pPr>
            <a:endPar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1" algn="just">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A satellite connection uses broadband but does not require cable or phone lines.</a:t>
            </a:r>
          </a:p>
          <a:p>
            <a:pPr lvl="1"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1" algn="just">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It connects to the Internet through satellites orbiting the Earth. </a:t>
            </a:r>
          </a:p>
          <a:p>
            <a:pPr lvl="1"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1" algn="just">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It can be used almost anywhere in the world, but the connection may be affected by weather patterns.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56</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Connecting To Internet(cont1..)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49580" y="1165860"/>
            <a:ext cx="11109325" cy="4538980"/>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Satellite Connection(</a:t>
            </a: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cont..)</a:t>
            </a: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a:t>
            </a:r>
          </a:p>
          <a:p>
            <a:pPr marL="114300" indent="0" algn="just">
              <a:spcBef>
                <a:spcPts val="365"/>
              </a:spcBef>
              <a:spcAft>
                <a:spcPct val="0"/>
              </a:spcAft>
              <a:buClr>
                <a:srgbClr val="000000"/>
              </a:buClr>
              <a:buFont typeface="Arial" panose="020B0604020202020204" pitchFamily="34" charset="0"/>
              <a:buNone/>
            </a:pPr>
            <a:endPar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1" algn="just">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A satellite connection also relays data on a delay, so it is not the best option for people who use real-time applications, like gaming or video conferencing.</a:t>
            </a:r>
          </a:p>
          <a:p>
            <a:pPr lvl="1"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1" algn="just">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A satellite Internet connection is an arrangement in which the upstream (outgoing) and the downstream (incoming) data are sent from, and arrive at, a computer through a satellite.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57</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algn="ctr" defTabSz="914400" eaLnBrk="1" fontAlgn="auto" hangingPunct="1">
              <a:spcAft>
                <a:spcPts val="0"/>
              </a:spcAft>
              <a:buClrTx/>
              <a:buSzTx/>
              <a:buFontTx/>
              <a:buNone/>
              <a:defRPr/>
            </a:pPr>
            <a:r>
              <a:rPr lang="en-US" noProof="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Daily Quiz</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386080" y="1116965"/>
            <a:ext cx="11249660" cy="5039360"/>
          </a:xfrm>
          <a:prstGeom prst="rect">
            <a:avLst/>
          </a:prstGeom>
          <a:noFill/>
        </p:spPr>
        <p:txBody>
          <a:bodyPr wrap="square" rtlCol="0" anchor="t">
            <a:noAutofit/>
          </a:bodyPr>
          <a:lstStyle/>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1.) A program that is used to view websites is called a</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(A) Browser</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(B) Web viewer</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(C) Spreadsheet</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(D) Word processor</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2.) Which of the following is not a type of broadband internet connection?</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(A) Satellite</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(B) DSL</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(C) Dial up</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(D) Cable</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3.) Servers are computers that provide resources to other computers connected to a</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(A) Client</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(B) Mainframe</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(C) Supercomputer</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(D) Network</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58</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Daily Quiz</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04495" y="977900"/>
            <a:ext cx="11320145" cy="5085080"/>
          </a:xfrm>
          <a:prstGeom prst="rect">
            <a:avLst/>
          </a:prstGeom>
          <a:noFill/>
        </p:spPr>
        <p:txBody>
          <a:bodyPr wrap="square" rtlCol="0" anchor="t">
            <a:noAutofit/>
          </a:bodyPr>
          <a:lstStyle/>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4.) Sending an E-mail is similar to</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(A) Sending a package</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(B) Talking on the phone</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(C) Writing a letter</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(D) Drawing a picture</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5.) ARPANET stands for</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(A) Advanced Rehearse Projects Agency Network</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(B) Advanced Research Projects Agency Newark</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(C) Advanced Research Projects Agency Network</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(D) None of these</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6.) The process of connecting to the internet account is</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(A) Sing in</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(B) Sing out</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(C) Login</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(D) Logout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59</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algn="ctr" defTabSz="914400" eaLnBrk="1" fontAlgn="auto" hangingPunct="1">
              <a:spcAft>
                <a:spcPts val="0"/>
              </a:spcAft>
              <a:buClrTx/>
              <a:buSzTx/>
              <a:buFontTx/>
              <a:buNone/>
              <a:defRPr/>
            </a:pPr>
            <a:r>
              <a:rPr lang="en-IN" noProof="0" dirty="0">
                <a:solidFill>
                  <a:srgbClr val="000000"/>
                </a:solidFill>
                <a:latin typeface="Arial" panose="020B0604020202020204" pitchFamily="34" charset="0"/>
                <a:cs typeface="Arial" panose="020B0604020202020204" pitchFamily="34" charset="0"/>
                <a:sym typeface="Arial" panose="020B0604020202020204" pitchFamily="34" charset="0"/>
              </a:rPr>
              <a:t>Introduction to Internet services and tools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04495" y="1106170"/>
            <a:ext cx="11320145" cy="4646295"/>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Introduction To Internet Services</a:t>
            </a:r>
          </a:p>
          <a:p>
            <a:pPr marL="114300" indent="0" algn="just">
              <a:spcBef>
                <a:spcPts val="365"/>
              </a:spcBef>
              <a:spcAft>
                <a:spcPct val="0"/>
              </a:spcAft>
              <a:buClr>
                <a:srgbClr val="000000"/>
              </a:buClr>
              <a:buFont typeface="Arial" panose="020B0604020202020204" pitchFamily="34" charset="0"/>
              <a:buNone/>
            </a:pPr>
            <a:endParaRPr lang="en-GB" altLang="en-US" sz="28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1" algn="just">
              <a:spcBef>
                <a:spcPts val="365"/>
              </a:spcBef>
              <a:spcAft>
                <a:spcPct val="0"/>
              </a:spcAft>
              <a:buClr>
                <a:srgbClr val="000000"/>
              </a:buClr>
              <a:buFont typeface="Arial" panose="020B0604020202020204" pitchFamily="34" charset="0"/>
              <a:buChar char="•"/>
            </a:pP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Common Protocol Used To Provide Internet Services</a:t>
            </a:r>
          </a:p>
          <a:p>
            <a:pPr lvl="2" algn="just">
              <a:spcBef>
                <a:spcPts val="365"/>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The File Transfer Protocol (</a:t>
            </a: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FTP</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is a standard network protocol used to transfer computer files from one host to another host over a TCP-based network, such as the Internet</a:t>
            </a:r>
          </a:p>
          <a:p>
            <a:pPr lvl="2" algn="just">
              <a:spcBef>
                <a:spcPts val="365"/>
              </a:spcBef>
              <a:spcAft>
                <a:spcPct val="0"/>
              </a:spcAft>
              <a:buClr>
                <a:srgbClr val="000000"/>
              </a:buClr>
              <a:buFont typeface="Arial" panose="020B0604020202020204" pitchFamily="34" charset="0"/>
              <a:buNone/>
            </a:pPr>
            <a:endParaRPr lang="en-GB"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Telnet</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is a network protocol used on the Internet or local area networks to provide a bidirectional interactive text-oriented communication facility using a virtual terminal connection.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60</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algn="ctr" defTabSz="914400" eaLnBrk="1" fontAlgn="auto" hangingPunct="1">
              <a:spcAft>
                <a:spcPts val="0"/>
              </a:spcAft>
              <a:buClrTx/>
              <a:buSzTx/>
              <a:buFontTx/>
              <a:buNone/>
              <a:defRPr/>
            </a:pPr>
            <a:r>
              <a:rPr lang="en-IN" noProof="0" dirty="0">
                <a:solidFill>
                  <a:srgbClr val="000000"/>
                </a:solidFill>
                <a:latin typeface="Arial" panose="020B0604020202020204" pitchFamily="34" charset="0"/>
                <a:cs typeface="Arial" panose="020B0604020202020204" pitchFamily="34" charset="0"/>
                <a:sym typeface="Arial" panose="020B0604020202020204" pitchFamily="34" charset="0"/>
              </a:rPr>
              <a:t>Introduction to Internet services and tools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97840" y="934720"/>
            <a:ext cx="10948035" cy="4876800"/>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Introduction To Internet Services</a:t>
            </a: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(cont..)</a:t>
            </a:r>
          </a:p>
          <a:p>
            <a:pPr marL="114300" indent="0" algn="just">
              <a:spcBef>
                <a:spcPts val="365"/>
              </a:spcBef>
              <a:spcAft>
                <a:spcPct val="0"/>
              </a:spcAft>
              <a:buClr>
                <a:srgbClr val="000000"/>
              </a:buClr>
              <a:buFont typeface="Arial" panose="020B0604020202020204" pitchFamily="34" charset="0"/>
              <a:buNone/>
            </a:pPr>
            <a:endPar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buFont typeface="Wingdings" panose="05000000000000000000" pitchFamily="2" charset="2"/>
              <a:buChar char="v"/>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RSH</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Remote Shell allows you to send single commands to the remote server. </a:t>
            </a:r>
          </a:p>
          <a:p>
            <a:pPr marL="114300" indent="0"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buFont typeface="Wingdings" panose="05000000000000000000" pitchFamily="2" charset="2"/>
              <a:buChar char="v"/>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RCP</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Remote Copy provides the capability to copy files to and from the remote server without the need to resort to FTP or NFS (Network File System, the UNIX form of folder sharing</a:t>
            </a:r>
          </a:p>
          <a:p>
            <a:pPr marL="114300" indent="0"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buFont typeface="Wingdings" panose="05000000000000000000" pitchFamily="2" charset="2"/>
              <a:buChar char="v"/>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NNTP(Network News)-</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Reading and posting USENET news)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61</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IN" noProof="0" dirty="0">
                <a:solidFill>
                  <a:srgbClr val="000000"/>
                </a:solidFill>
                <a:latin typeface="Arial" panose="020B0604020202020204" pitchFamily="34" charset="0"/>
                <a:cs typeface="Arial" panose="020B0604020202020204" pitchFamily="34" charset="0"/>
                <a:sym typeface="Arial" panose="020B0604020202020204" pitchFamily="34" charset="0"/>
              </a:rPr>
              <a:t>Introduction to Internet services and tools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362585" y="1158875"/>
            <a:ext cx="11146790" cy="4969510"/>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Introduction To Internet Services</a:t>
            </a:r>
            <a:r>
              <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(cont..)</a:t>
            </a:r>
          </a:p>
          <a:p>
            <a:pPr marL="114300" indent="0" algn="just">
              <a:spcBef>
                <a:spcPts val="365"/>
              </a:spcBef>
              <a:spcAft>
                <a:spcPct val="0"/>
              </a:spcAft>
              <a:buClr>
                <a:srgbClr val="000000"/>
              </a:buClr>
              <a:buFont typeface="Arial" panose="020B0604020202020204" pitchFamily="34" charset="0"/>
              <a:buNone/>
            </a:pPr>
            <a:endParaRPr lang="en-US" alt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HTTP(Hypertext Transfer Protocol)-(</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Transferring documents on the Web)</a:t>
            </a:r>
          </a:p>
          <a:p>
            <a:pPr marL="114300" indent="0" algn="just">
              <a:spcBef>
                <a:spcPts val="365"/>
              </a:spcBef>
              <a:spcAft>
                <a:spcPct val="0"/>
              </a:spcAft>
              <a:buClr>
                <a:srgbClr val="000000"/>
              </a:buClr>
            </a:pPr>
            <a:endParaRPr lang="en-GB"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SMTP(Simple Mail Transfer Protocol)-</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(Sending mail)</a:t>
            </a:r>
          </a:p>
          <a:p>
            <a:pPr marL="114300" indent="0" algn="just">
              <a:spcBef>
                <a:spcPts val="365"/>
              </a:spcBef>
              <a:spcAft>
                <a:spcPct val="0"/>
              </a:spcAft>
              <a:buClr>
                <a:srgbClr val="000000"/>
              </a:buCl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14300" indent="0"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POP3(Post Office Protocol)</a:t>
            </a:r>
            <a:r>
              <a:rPr lang="en-US" altLang="en-US" sz="2200" b="1" u="sng"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(Reading Mail) </a:t>
            </a:r>
          </a:p>
          <a:p>
            <a:pPr marL="114300" indent="0" algn="just">
              <a:spcBef>
                <a:spcPts val="365"/>
              </a:spcBef>
              <a:spcAft>
                <a:spcPct val="0"/>
              </a:spcAft>
              <a:buClr>
                <a:srgbClr val="000000"/>
              </a:buClr>
              <a:buFont typeface="Arial" panose="020B0604020202020204" pitchFamily="34" charset="0"/>
              <a:buNone/>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a:t>
            </a:r>
          </a:p>
          <a:p>
            <a:pPr marL="114300" indent="0"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Post Office Protocol</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a:t>
            </a: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POP</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t>
            </a:r>
            <a:r>
              <a:rPr lang="en-US" altLang="en-US" sz="2400" dirty="0">
                <a:latin typeface="Arial" panose="020B0604020202020204"/>
                <a:ea typeface="Arial" panose="020B0604020202020204"/>
                <a:cs typeface="Arial" panose="020B0604020202020204"/>
                <a:sym typeface="Arial" panose="020B0604020202020204" pitchFamily="34" charset="0"/>
              </a:rPr>
              <a:t> </a:t>
            </a: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protocol used by local e-mail clients to retrieve e-mail from a remote server over a TCP/IP connection</a:t>
            </a:r>
            <a:r>
              <a:rPr lang="en-US" altLang="en-US" sz="2400" dirty="0">
                <a:latin typeface="Arial" panose="020B0604020202020204"/>
                <a:ea typeface="Arial" panose="020B0604020202020204"/>
                <a:cs typeface="Arial" panose="020B0604020202020204"/>
                <a:sym typeface="Arial" panose="020B0604020202020204" pitchFamily="34" charset="0"/>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62</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Introduction to client-server computing</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74675" y="1076960"/>
            <a:ext cx="10871200" cy="4815205"/>
          </a:xfrm>
          <a:prstGeom prst="rect">
            <a:avLst/>
          </a:prstGeom>
          <a:noFill/>
        </p:spPr>
        <p:txBody>
          <a:bodyPr wrap="square" rtlCol="0" anchor="t">
            <a:noAutofit/>
          </a:bodyPr>
          <a:lstStyle/>
          <a:p>
            <a:pPr marL="571500" lvl="1" indent="0" algn="just">
              <a:spcBef>
                <a:spcPts val="365"/>
              </a:spcBef>
              <a:spcAft>
                <a:spcPct val="0"/>
              </a:spcAft>
              <a:buClr>
                <a:srgbClr val="000000"/>
              </a:buClr>
              <a:buFont typeface="Arial" panose="020B0604020202020204" pitchFamily="34" charset="0"/>
              <a:buNone/>
            </a:pPr>
            <a:r>
              <a:rPr sz="2800" b="1" dirty="0">
                <a:latin typeface="Times New Roman" panose="02020603050405020304" pitchFamily="18" charset="0"/>
                <a:ea typeface="Arial" panose="020B0604020202020204"/>
                <a:cs typeface="Trebuchet MS" panose="020B0603020202020204" pitchFamily="34" charset="0"/>
                <a:sym typeface="Arial" panose="020B0604020202020204" pitchFamily="34" charset="0"/>
              </a:rPr>
              <a:t>Client/Server Definition</a:t>
            </a:r>
          </a:p>
          <a:p>
            <a:pPr lvl="2" algn="just">
              <a:spcBef>
                <a:spcPts val="365"/>
              </a:spcBef>
              <a:spcAft>
                <a:spcPct val="0"/>
              </a:spcAft>
              <a:buClr>
                <a:srgbClr val="000000"/>
              </a:buCl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 client/server computing “server software accepts requests for data  from client software and returns the  results to the client”</a:t>
            </a:r>
          </a:p>
          <a:p>
            <a:pPr lvl="2" algn="just">
              <a:spcBef>
                <a:spcPts val="365"/>
              </a:spcBef>
              <a:spcAft>
                <a:spcPct val="0"/>
              </a:spcAft>
              <a:buClr>
                <a:srgbClr val="000000"/>
              </a:buClr>
            </a:pPr>
            <a:endPar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571500" lvl="1" indent="0" algn="just">
              <a:spcBef>
                <a:spcPts val="365"/>
              </a:spcBef>
              <a:spcAft>
                <a:spcPct val="0"/>
              </a:spcAft>
              <a:buClr>
                <a:srgbClr val="000000"/>
              </a:buClr>
              <a:buFont typeface="Arial" panose="020B0604020202020204" pitchFamily="34" charset="0"/>
              <a:buNone/>
            </a:pPr>
            <a:r>
              <a:rPr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Elements of C-S Computing</a:t>
            </a:r>
          </a:p>
          <a:p>
            <a:pPr lvl="4" algn="just">
              <a:spcBef>
                <a:spcPts val="365"/>
              </a:spcBef>
              <a:spcAft>
                <a:spcPct val="0"/>
              </a:spcAft>
              <a:buClr>
                <a:srgbClr val="000000"/>
              </a:buClr>
              <a:buFont typeface="Arial" panose="020B0604020202020204" pitchFamily="34" charset="0"/>
              <a:buChar cha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 Client</a:t>
            </a:r>
          </a:p>
          <a:p>
            <a:pPr lvl="3" algn="just">
              <a:spcBef>
                <a:spcPts val="365"/>
              </a:spcBef>
              <a:spcAft>
                <a:spcPct val="0"/>
              </a:spcAft>
              <a:buClr>
                <a:srgbClr val="000000"/>
              </a:buClr>
              <a:buFont typeface="Arial" panose="020B0604020202020204" pitchFamily="34" charset="0"/>
              <a:buNone/>
            </a:pPr>
            <a:endParaRPr sz="18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4" algn="just">
              <a:spcBef>
                <a:spcPts val="365"/>
              </a:spcBef>
              <a:spcAft>
                <a:spcPct val="0"/>
              </a:spcAft>
              <a:buClr>
                <a:srgbClr val="000000"/>
              </a:buClr>
              <a:buFont typeface="Arial" panose="020B0604020202020204" pitchFamily="34" charset="0"/>
              <a:buChar cha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 Server</a:t>
            </a:r>
          </a:p>
          <a:p>
            <a:pPr lvl="3" algn="just">
              <a:spcBef>
                <a:spcPts val="365"/>
              </a:spcBef>
              <a:spcAft>
                <a:spcPct val="0"/>
              </a:spcAft>
              <a:buClr>
                <a:srgbClr val="000000"/>
              </a:buClr>
              <a:buFont typeface="Arial" panose="020B0604020202020204" pitchFamily="34" charset="0"/>
              <a:buNone/>
            </a:pPr>
            <a:endParaRPr sz="18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4" algn="just">
              <a:spcBef>
                <a:spcPts val="365"/>
              </a:spcBef>
              <a:spcAft>
                <a:spcPct val="0"/>
              </a:spcAft>
              <a:buClr>
                <a:srgbClr val="000000"/>
              </a:buClr>
              <a:buFont typeface="Arial" panose="020B0604020202020204" pitchFamily="34" charset="0"/>
              <a:buChar cha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And a network</a:t>
            </a:r>
          </a:p>
          <a:p>
            <a:pPr lvl="4" algn="just">
              <a:spcBef>
                <a:spcPts val="365"/>
              </a:spcBef>
              <a:spcAft>
                <a:spcPct val="0"/>
              </a:spcAft>
              <a:buClr>
                <a:srgbClr val="000000"/>
              </a:buClr>
              <a:buFont typeface="Arial" panose="020B0604020202020204" pitchFamily="34" charset="0"/>
              <a:buChar char="•"/>
            </a:pPr>
            <a:endParaRPr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4" algn="just">
              <a:spcBef>
                <a:spcPts val="365"/>
              </a:spcBef>
              <a:spcAft>
                <a:spcPct val="0"/>
              </a:spcAft>
              <a:buClr>
                <a:srgbClr val="000000"/>
              </a:buClr>
              <a:buFont typeface="Arial" panose="020B0604020202020204" pitchFamily="34" charset="0"/>
              <a:buChar cha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In client-server	computing major focus is on SOFTWARE</a:t>
            </a:r>
            <a:endParaRPr 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63</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Introduction to client-server computing</a:t>
            </a:r>
            <a:endParaRPr lang="en-US" dirty="0"/>
          </a:p>
        </p:txBody>
      </p:sp>
      <p:pic>
        <p:nvPicPr>
          <p:cNvPr id="2" name="Picture 1" descr="A black and red logo&#10;&#10;Description automatically genera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78856" name="Picture 8" descr="File:Client-server-model.svg - Wikimedia Commons"/>
          <p:cNvPicPr>
            <a:picLocks noGrp="1" noChangeAspect="1"/>
          </p:cNvPicPr>
          <p:nvPr>
            <p:ph type="pic" idx="1"/>
            <p:custDataLst>
              <p:tags r:id="rId1"/>
            </p:custDataLst>
          </p:nvPr>
        </p:nvPicPr>
        <p:blipFill>
          <a:blip r:embed="rId5"/>
          <a:stretch>
            <a:fillRect/>
          </a:stretch>
        </p:blipFill>
        <p:spPr>
          <a:xfrm>
            <a:off x="1219200" y="1935480"/>
            <a:ext cx="8917940" cy="4237355"/>
          </a:xfrm>
          <a:prstGeom prst="rect">
            <a:avLst/>
          </a:prstGeom>
          <a:noFill/>
          <a:ln w="9525">
            <a:noFill/>
          </a:ln>
        </p:spPr>
      </p:pic>
      <p:sp>
        <p:nvSpPr>
          <p:cNvPr id="9" name="Google Shape;126;p16"/>
          <p:cNvSpPr>
            <a:spLocks noGrp="1"/>
          </p:cNvSpPr>
          <p:nvPr>
            <p:ph type="body" sz="half" idx="2"/>
            <p:custDataLst>
              <p:tags r:id="rId2"/>
            </p:custDataLst>
          </p:nvPr>
        </p:nvSpPr>
        <p:spPr>
          <a:xfrm>
            <a:off x="1752812" y="990283"/>
            <a:ext cx="7315200" cy="804862"/>
          </a:xfrm>
        </p:spPr>
        <p:txBody>
          <a:bodyPr vert="horz" wrap="square" lIns="91425" tIns="45700" rIns="91425" bIns="45700" anchor="t" anchorCtr="0"/>
          <a:lstStyle/>
          <a:p>
            <a:pPr lvl="3" algn="just">
              <a:spcBef>
                <a:spcPts val="365"/>
              </a:spcBef>
              <a:spcAft>
                <a:spcPct val="0"/>
              </a:spcAft>
              <a:buClr>
                <a:srgbClr val="000000"/>
              </a:buClr>
              <a:buFont typeface="Arial" panose="020B0604020202020204" pitchFamily="34" charset="0"/>
              <a:buNone/>
            </a:pPr>
            <a:r>
              <a:rPr lang="en-US" altLang="en-US"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 Client/Server Computing</a:t>
            </a:r>
            <a:endParaRPr lang="en-US" altLang="en-US" sz="2800" b="1" dirty="0">
              <a:latin typeface="Times New Roman" panose="02020603050405020304" pitchFamily="18" charset="0"/>
              <a:ea typeface="Times New Roman" panose="02020603050405020304" pitchFamily="18" charset="0"/>
              <a:cs typeface="Arial" panose="020B0604020202020204"/>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8856"/>
                                        </p:tgtEl>
                                        <p:attrNameLst>
                                          <p:attrName>style.visibility</p:attrName>
                                        </p:attrNameLst>
                                      </p:cBhvr>
                                      <p:to>
                                        <p:strVal val="visible"/>
                                      </p:to>
                                    </p:set>
                                    <p:anim calcmode="lin" valueType="num">
                                      <p:cBhvr additive="base">
                                        <p:cTn id="7" dur="500" fill="hold"/>
                                        <p:tgtEl>
                                          <p:spTgt spid="78856"/>
                                        </p:tgtEl>
                                        <p:attrNameLst>
                                          <p:attrName>ppt_x</p:attrName>
                                        </p:attrNameLst>
                                      </p:cBhvr>
                                      <p:tavLst>
                                        <p:tav tm="0">
                                          <p:val>
                                            <p:strVal val="#ppt_x"/>
                                          </p:val>
                                        </p:tav>
                                        <p:tav tm="100000">
                                          <p:val>
                                            <p:strVal val="#ppt_x"/>
                                          </p:val>
                                        </p:tav>
                                      </p:tavLst>
                                    </p:anim>
                                    <p:anim calcmode="lin" valueType="num">
                                      <p:cBhvr additive="base">
                                        <p:cTn id="8" dur="500" fill="hold"/>
                                        <p:tgtEl>
                                          <p:spTgt spid="7885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additive="base">
                                        <p:cTn id="1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64</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algn="ctr" defTabSz="914400" eaLnBrk="1" fontAlgn="auto" hangingPunct="1">
              <a:spcAft>
                <a:spcPts val="0"/>
              </a:spcAft>
              <a:buClrTx/>
              <a:buSzTx/>
              <a:buFontTx/>
              <a:buNone/>
              <a:defRPr/>
            </a:pPr>
            <a:r>
              <a:rPr lang="en-US" noProof="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Introduction to client-server computing</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609600" y="1139825"/>
            <a:ext cx="10873105" cy="4959350"/>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Categories of Server</a:t>
            </a:r>
          </a:p>
          <a:p>
            <a:pPr lvl="2" algn="just">
              <a:spcBef>
                <a:spcPts val="365"/>
              </a:spcBef>
              <a:spcAft>
                <a:spcPct val="0"/>
              </a:spcAft>
              <a:buClr>
                <a:srgbClr val="000000"/>
              </a:buClr>
              <a:buFont typeface="Arial" panose="020B0604020202020204" pitchFamily="34" charset="0"/>
              <a:buNone/>
            </a:pPr>
            <a:endParaRPr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752475" lvl="1" indent="-282575" algn="just">
              <a:lnSpc>
                <a:spcPct val="90000"/>
              </a:lnSpc>
              <a:spcBef>
                <a:spcPts val="475"/>
              </a:spcBef>
              <a:spcAft>
                <a:spcPct val="0"/>
              </a:spcAft>
              <a:buClr>
                <a:srgbClr val="000000"/>
              </a:buClr>
              <a:buFont typeface="Arial" panose="020B0604020202020204" pitchFamily="34" charset="0"/>
              <a:buChar char="•"/>
            </a:pPr>
            <a:r>
              <a:rPr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File Server </a:t>
            </a:r>
          </a:p>
          <a:p>
            <a:pPr marL="114300" indent="0" algn="just">
              <a:lnSpc>
                <a:spcPct val="90000"/>
              </a:lnSpc>
              <a:spcBef>
                <a:spcPts val="475"/>
              </a:spcBef>
              <a:spcAft>
                <a:spcPct val="0"/>
              </a:spcAft>
              <a:buClr>
                <a:srgbClr val="000000"/>
              </a:buClr>
              <a:buFont typeface="Arial" panose="020B0604020202020204" pitchFamily="34" charset="0"/>
              <a:buNone/>
            </a:pPr>
            <a:endParaRPr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lnSpc>
                <a:spcPct val="90000"/>
              </a:lnSpc>
              <a:spcBef>
                <a:spcPts val="475"/>
              </a:spcBef>
              <a:spcAft>
                <a:spcPct val="0"/>
              </a:spcAft>
              <a:buClr>
                <a:srgbClr val="000000"/>
              </a:buCl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File Servers manage a work group’s  application and data files, so that they may  be shared by the group.</a:t>
            </a:r>
          </a:p>
          <a:p>
            <a:pPr marL="752475" lvl="1" indent="-282575" algn="just">
              <a:lnSpc>
                <a:spcPct val="90000"/>
              </a:lnSpc>
              <a:spcBef>
                <a:spcPts val="475"/>
              </a:spcBef>
              <a:spcAft>
                <a:spcPct val="0"/>
              </a:spcAft>
              <a:buClr>
                <a:srgbClr val="000000"/>
              </a:buClr>
              <a:buFont typeface="Arial" panose="020B0604020202020204" pitchFamily="34" charset="0"/>
              <a:buNone/>
            </a:pPr>
            <a:endPar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752475" lvl="1" indent="-282575" algn="just">
              <a:lnSpc>
                <a:spcPct val="90000"/>
              </a:lnSpc>
              <a:spcBef>
                <a:spcPts val="475"/>
              </a:spcBef>
              <a:spcAft>
                <a:spcPct val="0"/>
              </a:spcAft>
              <a:buClr>
                <a:srgbClr val="000000"/>
              </a:buClr>
              <a:buFont typeface="Arial" panose="020B0604020202020204" pitchFamily="34" charset="0"/>
              <a:buChar char="•"/>
            </a:pPr>
            <a:r>
              <a:rPr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Data Server</a:t>
            </a:r>
          </a:p>
          <a:p>
            <a:pPr marL="114300" indent="0" algn="just">
              <a:lnSpc>
                <a:spcPct val="90000"/>
              </a:lnSpc>
              <a:spcBef>
                <a:spcPts val="475"/>
              </a:spcBef>
              <a:spcAft>
                <a:spcPct val="0"/>
              </a:spcAft>
              <a:buClr>
                <a:srgbClr val="000000"/>
              </a:buClr>
              <a:buFont typeface="Arial" panose="020B0604020202020204" pitchFamily="34" charset="0"/>
              <a:buNone/>
            </a:pPr>
            <a:endParaRPr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lvl="2" algn="just">
              <a:lnSpc>
                <a:spcPct val="90000"/>
              </a:lnSpc>
              <a:spcBef>
                <a:spcPts val="475"/>
              </a:spcBef>
              <a:spcAft>
                <a:spcPct val="0"/>
              </a:spcAft>
              <a:buClr>
                <a:srgbClr val="000000"/>
              </a:buCl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It used only for data storage and management</a:t>
            </a:r>
          </a:p>
          <a:p>
            <a:pPr marL="752475" lvl="1" indent="-282575" algn="just">
              <a:lnSpc>
                <a:spcPct val="90000"/>
              </a:lnSpc>
              <a:spcBef>
                <a:spcPts val="475"/>
              </a:spcBef>
              <a:spcAft>
                <a:spcPct val="0"/>
              </a:spcAft>
              <a:buClr>
                <a:srgbClr val="000000"/>
              </a:buClr>
              <a:buFont typeface="Arial" panose="020B0604020202020204" pitchFamily="34" charset="0"/>
              <a:buNone/>
            </a:pPr>
            <a:endPar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752475" lvl="1" indent="-282575" algn="just">
              <a:lnSpc>
                <a:spcPct val="90000"/>
              </a:lnSpc>
              <a:spcBef>
                <a:spcPts val="475"/>
              </a:spcBef>
              <a:spcAft>
                <a:spcPct val="0"/>
              </a:spcAft>
              <a:buClr>
                <a:srgbClr val="000000"/>
              </a:buClr>
              <a:buFont typeface="Arial" panose="020B0604020202020204" pitchFamily="34" charset="0"/>
              <a:buChar char="•"/>
            </a:pPr>
            <a:r>
              <a:rPr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Compute Server</a:t>
            </a:r>
            <a:endParaRPr lang="en-US"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65</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R="0" algn="ctr" defTabSz="914400" eaLnBrk="1" fontAlgn="auto" hangingPunct="1">
              <a:spcAft>
                <a:spcPts val="0"/>
              </a:spcAft>
              <a:buClrTx/>
              <a:buSzTx/>
              <a:buFontTx/>
              <a:buNone/>
              <a:defRPr/>
            </a:pPr>
            <a:r>
              <a:rPr lang="en-US" noProof="0" dirty="0">
                <a:solidFill>
                  <a:srgbClr val="000000"/>
                </a:solidFill>
                <a:latin typeface="Times New Roman" panose="02020603050405020304" pitchFamily="18" charset="0"/>
                <a:cs typeface="Times New Roman" panose="02020603050405020304" pitchFamily="18" charset="0"/>
                <a:sym typeface="Arial" panose="020B0604020202020204" pitchFamily="34" charset="0"/>
              </a:rPr>
              <a:t>Introduction to client-server computing</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44195" y="1129665"/>
            <a:ext cx="10888980" cy="4808220"/>
          </a:xfrm>
          <a:prstGeom prst="rect">
            <a:avLst/>
          </a:prstGeom>
          <a:noFill/>
        </p:spPr>
        <p:txBody>
          <a:bodyPr wrap="square" rtlCol="0" anchor="t">
            <a:noAutofit/>
          </a:bodyPr>
          <a:lstStyle/>
          <a:p>
            <a:pPr marL="1028700" lvl="2" indent="0" algn="just">
              <a:spcBef>
                <a:spcPts val="365"/>
              </a:spcBef>
              <a:spcAft>
                <a:spcPct val="0"/>
              </a:spcAft>
              <a:buClr>
                <a:srgbClr val="000000"/>
              </a:buClr>
              <a:buFont typeface="Arial" panose="020B0604020202020204" pitchFamily="34" charset="0"/>
              <a:buNone/>
            </a:pPr>
            <a:r>
              <a:rPr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Categories of Server</a:t>
            </a:r>
            <a:r>
              <a:rPr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(cont..)</a:t>
            </a:r>
            <a:endParaRPr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028700" lvl="2" indent="0" algn="just">
              <a:spcBef>
                <a:spcPts val="365"/>
              </a:spcBef>
              <a:spcAft>
                <a:spcPct val="0"/>
              </a:spcAft>
              <a:buClr>
                <a:srgbClr val="000000"/>
              </a:buClr>
              <a:buFont typeface="Arial" panose="020B0604020202020204" pitchFamily="34" charset="0"/>
              <a:buNone/>
            </a:pPr>
            <a:endParaRPr sz="28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295275" indent="-282575" algn="just">
              <a:lnSpc>
                <a:spcPct val="90000"/>
              </a:lnSpc>
              <a:spcBef>
                <a:spcPts val="475"/>
              </a:spcBef>
              <a:spcAft>
                <a:spcPct val="0"/>
              </a:spcAft>
              <a:buClr>
                <a:srgbClr val="000000"/>
              </a:buClr>
            </a:pPr>
            <a:r>
              <a:rPr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Database Server</a:t>
            </a:r>
          </a:p>
          <a:p>
            <a:pPr marL="295275" indent="-282575" algn="just">
              <a:lnSpc>
                <a:spcPct val="90000"/>
              </a:lnSpc>
              <a:spcBef>
                <a:spcPts val="475"/>
              </a:spcBef>
              <a:spcAft>
                <a:spcPct val="0"/>
              </a:spcAft>
              <a:buClr>
                <a:srgbClr val="000000"/>
              </a:buClr>
              <a:buFont typeface="Arial" panose="020B0604020202020204" pitchFamily="34" charset="0"/>
              <a:buNone/>
            </a:pPr>
            <a:endParaRPr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028700" lvl="2" indent="0" algn="just">
              <a:lnSpc>
                <a:spcPts val="3025"/>
              </a:lnSpc>
              <a:spcBef>
                <a:spcPts val="650"/>
              </a:spcBef>
              <a:spcAft>
                <a:spcPct val="0"/>
              </a:spcAft>
              <a:buClr>
                <a:srgbClr val="000000"/>
              </a:buCl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Accepts requests for data, retrieves the data  from its database</a:t>
            </a:r>
          </a:p>
          <a:p>
            <a:pPr marL="1028700" lvl="2" indent="0" algn="just">
              <a:lnSpc>
                <a:spcPts val="3025"/>
              </a:lnSpc>
              <a:spcBef>
                <a:spcPts val="650"/>
              </a:spcBef>
              <a:spcAft>
                <a:spcPct val="0"/>
              </a:spcAft>
              <a:buClr>
                <a:srgbClr val="000000"/>
              </a:buClr>
              <a:buFont typeface="Arial" panose="020B0604020202020204" pitchFamily="34" charset="0"/>
              <a:buNone/>
            </a:pPr>
            <a:endPar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295275" indent="-282575" algn="just">
              <a:lnSpc>
                <a:spcPts val="3025"/>
              </a:lnSpc>
              <a:spcBef>
                <a:spcPts val="650"/>
              </a:spcBef>
              <a:spcAft>
                <a:spcPct val="0"/>
              </a:spcAft>
              <a:buClr>
                <a:srgbClr val="000000"/>
              </a:buClr>
            </a:pPr>
            <a:r>
              <a:rPr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Communication Server</a:t>
            </a:r>
          </a:p>
          <a:p>
            <a:pPr marL="295275" indent="-282575" algn="just">
              <a:lnSpc>
                <a:spcPts val="3025"/>
              </a:lnSpc>
              <a:spcBef>
                <a:spcPts val="650"/>
              </a:spcBef>
              <a:spcAft>
                <a:spcPct val="0"/>
              </a:spcAft>
              <a:buClr>
                <a:srgbClr val="000000"/>
              </a:buClr>
            </a:pPr>
            <a:endParaRPr sz="24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marL="1028700" lvl="2" indent="0" algn="just">
              <a:lnSpc>
                <a:spcPts val="3025"/>
              </a:lnSpc>
              <a:spcBef>
                <a:spcPts val="650"/>
              </a:spcBef>
              <a:spcAft>
                <a:spcPct val="0"/>
              </a:spcAft>
              <a:buClr>
                <a:srgbClr val="000000"/>
              </a:buCl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Provides gateway to other LANs, networks &amp; Computers</a:t>
            </a:r>
          </a:p>
          <a:p>
            <a:pPr marL="752475" lvl="1" indent="-282575" algn="just">
              <a:lnSpc>
                <a:spcPct val="90000"/>
              </a:lnSpc>
              <a:spcBef>
                <a:spcPts val="475"/>
              </a:spcBef>
              <a:spcAft>
                <a:spcPct val="0"/>
              </a:spcAft>
              <a:buClr>
                <a:srgbClr val="000000"/>
              </a:buClr>
              <a:buFont typeface="Arial" panose="020B0604020202020204" pitchFamily="34" charset="0"/>
              <a:buChar char="•"/>
            </a:pPr>
            <a:endParaRPr 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66</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Daily Quiz</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17195" y="1086485"/>
            <a:ext cx="11165205" cy="5370830"/>
          </a:xfrm>
          <a:prstGeom prst="rect">
            <a:avLst/>
          </a:prstGeom>
          <a:noFill/>
        </p:spPr>
        <p:txBody>
          <a:bodyPr wrap="square" rtlCol="0" anchor="t">
            <a:noAutofit/>
          </a:bodyPr>
          <a:lstStyle/>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1.)----- is whatever you’re using to interact with the internet</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(A) client</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(B) HTTP</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(C) server</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(D) navigation</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2.) The-------is about communication between web clients and web servers.</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(A) client</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(B) HTTP</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(C) server</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(D) navigation</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3.) Communication between client computers and web servers is done by sending ---</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and receiving-------</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(A)client server</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(B) HTTP request HTTP responses</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(C) server client</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(D) navigation browser</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67</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Daily Quiz</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22605" y="977900"/>
            <a:ext cx="10910570" cy="4901565"/>
          </a:xfrm>
          <a:prstGeom prst="rect">
            <a:avLst/>
          </a:prstGeom>
          <a:noFill/>
        </p:spPr>
        <p:txBody>
          <a:bodyPr wrap="square" rtlCol="0" anchor="t">
            <a:spAutoFit/>
          </a:bodyPr>
          <a:lstStyle/>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4.) A client (a browser) sends an---------to the web</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(A) client</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(B) HTTP Request</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(C) server</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(D) navigation</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5.) The-------request to the server for any information</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(A) client</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(B) HTTP</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(C) server</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(D) navigation</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6.) </a:t>
            </a:r>
            <a:r>
              <a:rPr lang="en-US" altLang="en-US" dirty="0">
                <a:latin typeface="Arial" panose="020B0604020202020204"/>
                <a:ea typeface="Arial" panose="020B0604020202020204"/>
                <a:cs typeface="Arial" panose="020B0604020202020204"/>
                <a:sym typeface="Arial" panose="020B0604020202020204" pitchFamily="34" charset="0"/>
              </a:rPr>
              <a:t>The--------provide the information to the client </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(A)client server</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(B) HTTP request HTTP responses</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(C) server </a:t>
            </a:r>
          </a:p>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Calibri" panose="020F0502020204030204" charset="0"/>
              </a:rPr>
              <a:t>            (D) navigation browser</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68</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US"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Previous Topics: </a:t>
            </a:r>
            <a:r>
              <a:rPr lang="en-US" noProof="0" dirty="0">
                <a:ln>
                  <a:noFill/>
                </a:ln>
                <a:effectLst/>
                <a:uLnTx/>
                <a:uFillTx/>
                <a:latin typeface="Times New Roman" panose="02020603050405020304" pitchFamily="18" charset="0"/>
                <a:cs typeface="Times New Roman" panose="02020603050405020304" pitchFamily="18" charset="0"/>
                <a:sym typeface="Arial" panose="020B0604020202020204" pitchFamily="34" charset="0"/>
              </a:rPr>
              <a:t>Recap</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427990" y="1075055"/>
            <a:ext cx="11194415" cy="4813935"/>
          </a:xfrm>
          <a:prstGeom prst="rect">
            <a:avLst/>
          </a:prstGeom>
          <a:noFill/>
        </p:spPr>
        <p:txBody>
          <a:bodyPr wrap="square" rtlCol="0" anchor="t">
            <a:noAutofit/>
          </a:bodyPr>
          <a:lstStyle/>
          <a:p>
            <a:pPr marL="114300" indent="0" algn="just" eaLnBrk="1" hangingPunct="1">
              <a:spcBef>
                <a:spcPts val="365"/>
              </a:spcBef>
              <a:spcAft>
                <a:spcPct val="0"/>
              </a:spcAft>
              <a:buClr>
                <a:srgbClr val="000000"/>
              </a:buClr>
            </a:pPr>
            <a:r>
              <a:rPr lang="en-US" altLang="en-US" sz="2400" dirty="0">
                <a:latin typeface="Times New Roman" panose="02020603050405020304" pitchFamily="18" charset="0"/>
                <a:ea typeface="Arial" panose="020B0604020202020204"/>
                <a:cs typeface="Calibri" panose="020F0502020204030204" charset="0"/>
                <a:sym typeface="Calibri" panose="020F0502020204030204" charset="0"/>
              </a:rPr>
              <a:t>Protocols governing web, and internet services and tools that connect to the internet.</a:t>
            </a:r>
          </a:p>
          <a:p>
            <a:pPr marL="114300" indent="0" algn="just" eaLnBrk="1" hangingPunct="1">
              <a:spcBef>
                <a:spcPts val="365"/>
              </a:spcBef>
              <a:spcAft>
                <a:spcPct val="0"/>
              </a:spcAft>
              <a:buClr>
                <a:srgbClr val="000000"/>
              </a:buClr>
              <a:buFont typeface="Arial" panose="020B0604020202020204" pitchFamily="34" charset="0"/>
              <a:buNone/>
            </a:pPr>
            <a:endParaRPr lang="en-US" altLang="en-US" sz="2400" dirty="0">
              <a:latin typeface="Times New Roman" panose="02020603050405020304" pitchFamily="18" charset="0"/>
              <a:ea typeface="Arial" panose="020B0604020202020204"/>
              <a:cs typeface="Calibri" panose="020F0502020204030204" charset="0"/>
              <a:sym typeface="Calibri" panose="020F0502020204030204" charset="0"/>
            </a:endParaRPr>
          </a:p>
          <a:p>
            <a:pPr marL="114300" indent="0" algn="just" eaLnBrk="1" hangingPunct="1">
              <a:spcBef>
                <a:spcPts val="365"/>
              </a:spcBef>
              <a:spcAft>
                <a:spcPct val="0"/>
              </a:spcAft>
              <a:buClr>
                <a:srgbClr val="000000"/>
              </a:buClr>
              <a:buFont typeface="Arial" panose="020B0604020202020204" pitchFamily="34" charset="0"/>
              <a:buNone/>
            </a:pPr>
            <a:r>
              <a:rPr lang="en-US" altLang="en-US" sz="2400" dirty="0">
                <a:latin typeface="Times New Roman" panose="02020603050405020304" pitchFamily="18" charset="0"/>
                <a:ea typeface="Arial" panose="020B0604020202020204"/>
                <a:cs typeface="Calibri" panose="020F0502020204030204" charset="0"/>
                <a:sym typeface="Calibri" panose="020F0502020204030204" charset="0"/>
              </a:rPr>
              <a:t> </a:t>
            </a:r>
          </a:p>
          <a:p>
            <a:pPr marL="114300" indent="0" algn="just" eaLnBrk="1" hangingPunct="1">
              <a:spcBef>
                <a:spcPts val="365"/>
              </a:spcBef>
              <a:spcAft>
                <a:spcPct val="0"/>
              </a:spcAft>
              <a:buClr>
                <a:srgbClr val="000000"/>
              </a:buClr>
            </a:pPr>
            <a:r>
              <a:rPr lang="en-US" altLang="en-US" sz="2400" dirty="0">
                <a:latin typeface="Times New Roman" panose="02020603050405020304" pitchFamily="18" charset="0"/>
                <a:ea typeface="Arial" panose="020B0604020202020204"/>
                <a:cs typeface="Calibri" panose="020F0502020204030204" charset="0"/>
                <a:sym typeface="Calibri" panose="020F0502020204030204" charset="0"/>
              </a:rPr>
              <a:t> It was also discussed about the history of web.</a:t>
            </a:r>
          </a:p>
          <a:p>
            <a:pPr marL="114300" indent="0" algn="just" eaLnBrk="1" hangingPunct="1">
              <a:spcBef>
                <a:spcPts val="365"/>
              </a:spcBef>
              <a:spcAft>
                <a:spcPct val="0"/>
              </a:spcAft>
              <a:buClr>
                <a:srgbClr val="000000"/>
              </a:buClr>
              <a:buFont typeface="Arial" panose="020B0604020202020204" pitchFamily="34" charset="0"/>
              <a:buNone/>
            </a:pPr>
            <a:endParaRPr lang="en-US" altLang="en-US" sz="2400" dirty="0">
              <a:latin typeface="Times New Roman" panose="02020603050405020304" pitchFamily="18" charset="0"/>
              <a:ea typeface="Arial" panose="020B0604020202020204"/>
              <a:cs typeface="Calibri" panose="020F0502020204030204" charset="0"/>
              <a:sym typeface="Calibri" panose="020F0502020204030204" charset="0"/>
            </a:endParaRPr>
          </a:p>
          <a:p>
            <a:pPr marL="114300" indent="0" algn="just" eaLnBrk="1" hangingPunct="1">
              <a:spcBef>
                <a:spcPts val="365"/>
              </a:spcBef>
              <a:spcAft>
                <a:spcPct val="0"/>
              </a:spcAft>
              <a:buClr>
                <a:srgbClr val="000000"/>
              </a:buClr>
            </a:pPr>
            <a:endParaRPr lang="en-US" altLang="en-US" sz="2400" dirty="0">
              <a:latin typeface="Times New Roman" panose="02020603050405020304" pitchFamily="18" charset="0"/>
              <a:ea typeface="Arial" panose="020B0604020202020204"/>
              <a:cs typeface="Calibri" panose="020F0502020204030204" charset="0"/>
              <a:sym typeface="Calibri" panose="020F0502020204030204" charset="0"/>
            </a:endParaRPr>
          </a:p>
          <a:p>
            <a:pPr marL="114300" indent="0" algn="just" eaLnBrk="1" hangingPunct="1">
              <a:spcBef>
                <a:spcPts val="365"/>
              </a:spcBef>
              <a:spcAft>
                <a:spcPct val="0"/>
              </a:spcAft>
              <a:buClr>
                <a:srgbClr val="000000"/>
              </a:buClr>
            </a:pPr>
            <a:r>
              <a:rPr lang="en-US" altLang="en-US" sz="2400" dirty="0">
                <a:latin typeface="Times New Roman" panose="02020603050405020304" pitchFamily="18" charset="0"/>
                <a:ea typeface="Arial" panose="020B0604020202020204"/>
                <a:cs typeface="Calibri" panose="020F0502020204030204" charset="0"/>
                <a:sym typeface="Calibri" panose="020F0502020204030204" charset="0"/>
              </a:rPr>
              <a:t>We had also discuss Cyber Laws  and Website and its classification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69</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Previous Topics: </a:t>
            </a:r>
            <a:r>
              <a:rPr lang="en-US" noProof="0" dirty="0">
                <a:ln>
                  <a:noFill/>
                </a:ln>
                <a:effectLst/>
                <a:uLnTx/>
                <a:uFillTx/>
                <a:latin typeface="Times New Roman" panose="02020603050405020304" pitchFamily="18" charset="0"/>
                <a:cs typeface="Times New Roman" panose="02020603050405020304" pitchFamily="18" charset="0"/>
                <a:sym typeface="Arial" panose="020B0604020202020204" pitchFamily="34" charset="0"/>
              </a:rPr>
              <a:t>Recap(Cont..)</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338455" y="972185"/>
            <a:ext cx="11297285" cy="4638040"/>
          </a:xfrm>
          <a:prstGeom prst="rect">
            <a:avLst/>
          </a:prstGeom>
          <a:noFill/>
        </p:spPr>
        <p:txBody>
          <a:bodyPr wrap="square" rtlCol="0" anchor="t">
            <a:noAutofit/>
          </a:bodyPr>
          <a:lstStyle/>
          <a:p>
            <a:pPr marL="114300" indent="0" algn="just" eaLnBrk="1" hangingPunct="1">
              <a:spcBef>
                <a:spcPts val="365"/>
              </a:spcBef>
              <a:spcAft>
                <a:spcPct val="0"/>
              </a:spcAft>
              <a:buClr>
                <a:srgbClr val="000000"/>
              </a:buClr>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The above topic was focused on the Web Application with its examples and phases.</a:t>
            </a:r>
          </a:p>
          <a:p>
            <a:pPr marL="114300" indent="0" algn="just" eaLnBrk="1" hangingPunct="1">
              <a:spcBef>
                <a:spcPts val="365"/>
              </a:spcBef>
              <a:spcAft>
                <a:spcPct val="0"/>
              </a:spcAft>
              <a:buClr>
                <a:srgbClr val="000000"/>
              </a:buClr>
              <a:buFont typeface="Arial" panose="020B0604020202020204" pitchFamily="34" charset="0"/>
              <a:buNone/>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 </a:t>
            </a:r>
          </a:p>
          <a:p>
            <a:pPr marL="114300" indent="0" algn="just" eaLnBrk="1" hangingPunct="1">
              <a:spcBef>
                <a:spcPts val="365"/>
              </a:spcBef>
              <a:spcAft>
                <a:spcPct val="0"/>
              </a:spcAft>
              <a:buClr>
                <a:srgbClr val="000000"/>
              </a:buClr>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 It was also discussed about the connection of Internet through:- </a:t>
            </a:r>
          </a:p>
          <a:p>
            <a:pPr lvl="1" algn="just" eaLnBrk="1" hangingPunct="1">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Telephone</a:t>
            </a:r>
          </a:p>
          <a:p>
            <a:pPr lvl="1" algn="just" eaLnBrk="1" hangingPunct="1">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Cables and its types </a:t>
            </a:r>
          </a:p>
          <a:p>
            <a:pPr lvl="1" algn="just" eaLnBrk="1" hangingPunct="1">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Satellite Connection.</a:t>
            </a:r>
          </a:p>
          <a:p>
            <a:pPr marL="114300" indent="0" algn="just" eaLnBrk="1" hangingPunct="1">
              <a:spcBef>
                <a:spcPts val="365"/>
              </a:spcBef>
              <a:spcAft>
                <a:spcPct val="0"/>
              </a:spcAft>
              <a:buClr>
                <a:srgbClr val="000000"/>
              </a:buClr>
            </a:pP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114300" indent="0" algn="just" eaLnBrk="1" hangingPunct="1">
              <a:spcBef>
                <a:spcPts val="365"/>
              </a:spcBef>
              <a:spcAft>
                <a:spcPct val="0"/>
              </a:spcAft>
              <a:buClr>
                <a:srgbClr val="000000"/>
              </a:buClr>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 We have also discussed about the client server computing and Categories of Server.</a:t>
            </a:r>
          </a:p>
          <a:p>
            <a:pPr marL="114300" indent="0" algn="just" eaLnBrk="1" hangingPunct="1">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114300" indent="0" algn="just" eaLnBrk="1" hangingPunct="1">
              <a:spcBef>
                <a:spcPts val="365"/>
              </a:spcBef>
              <a:spcAft>
                <a:spcPct val="0"/>
              </a:spcAft>
              <a:buClr>
                <a:srgbClr val="000000"/>
              </a:buClr>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How to write the web project in the previous topic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70</a:t>
            </a:fld>
            <a:endParaRPr lang="en-US"/>
          </a:p>
        </p:txBody>
      </p:sp>
      <p:sp>
        <p:nvSpPr>
          <p:cNvPr id="7" name="Title 1"/>
          <p:cNvSpPr txBox="1"/>
          <p:nvPr/>
        </p:nvSpPr>
        <p:spPr>
          <a:xfrm>
            <a:off x="2895600" y="0"/>
            <a:ext cx="7772400" cy="1181735"/>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sz="180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Topic Objective/Outcome</a:t>
            </a: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panose="020B0604020202020204"/>
            </a:endParaRPr>
          </a:p>
          <a:p>
            <a:pPr marL="0" marR="0" lvl="0" indent="0" algn="just" defTabSz="914400" rtl="0" eaLnBrk="0" fontAlgn="auto" latinLnBrk="0" hangingPunct="0">
              <a:lnSpc>
                <a:spcPct val="100000"/>
              </a:lnSpc>
              <a:spcBef>
                <a:spcPct val="0"/>
              </a:spcBef>
              <a:spcAft>
                <a:spcPts val="0"/>
              </a:spcAft>
              <a:buClrTx/>
              <a:buSzTx/>
              <a:buFontTx/>
              <a:buNone/>
              <a:defRPr/>
            </a:pPr>
            <a:r>
              <a:rPr lang="en-US" sz="1800" b="1"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 Topics: </a:t>
            </a:r>
            <a:r>
              <a:rPr lang="en-US" sz="1800" b="1" noProof="0" dirty="0">
                <a:ln>
                  <a:noFill/>
                </a:ln>
                <a:effectLst/>
                <a:uLnTx/>
                <a:uFillTx/>
                <a:sym typeface="Arial" panose="020B0604020202020204" pitchFamily="34" charset="0"/>
              </a:rPr>
              <a:t>Web Hosting Basics, Types of Hosting Packages, </a:t>
            </a:r>
            <a:endParaRPr kumimoji="0" lang="en-US" sz="1800" b="1" i="0" u="none" strike="noStrike" kern="1200" cap="none" spc="0" normalizeH="0" baseline="0" noProof="0" dirty="0">
              <a:ln>
                <a:noFill/>
              </a:ln>
              <a:solidFill>
                <a:schemeClr val="dk1"/>
              </a:solidFill>
              <a:effectLst/>
              <a:uLnTx/>
              <a:uFillTx/>
              <a:latin typeface="+mn-lt"/>
              <a:ea typeface="+mn-ea"/>
              <a:cs typeface="+mn-cs"/>
              <a:sym typeface="Arial" panose="020B0604020202020204" pitchFamily="34" charset="0"/>
            </a:endParaRPr>
          </a:p>
          <a:p>
            <a:pPr marL="0" marR="0" lvl="0" indent="0" algn="just" defTabSz="914400" rtl="0" eaLnBrk="0" fontAlgn="auto" latinLnBrk="0" hangingPunct="0">
              <a:lnSpc>
                <a:spcPct val="100000"/>
              </a:lnSpc>
              <a:spcBef>
                <a:spcPct val="0"/>
              </a:spcBef>
              <a:spcAft>
                <a:spcPts val="0"/>
              </a:spcAft>
              <a:buClrTx/>
              <a:buSzTx/>
              <a:buFontTx/>
              <a:buNone/>
              <a:defRPr/>
            </a:pPr>
            <a:r>
              <a:rPr lang="en-US" sz="1800" b="1" noProof="0" dirty="0">
                <a:ln>
                  <a:noFill/>
                </a:ln>
                <a:effectLst/>
                <a:uLnTx/>
                <a:uFillTx/>
                <a:sym typeface="Arial" panose="020B0604020202020204" pitchFamily="34" charset="0"/>
              </a:rPr>
              <a:t>                    Introduction to Web testing, Functional Testing,</a:t>
            </a:r>
            <a:endParaRPr kumimoji="0" lang="en-US" sz="1800" b="1" i="0" u="none" strike="noStrike" kern="1200" cap="none" spc="0" normalizeH="0" baseline="0" noProof="0" dirty="0">
              <a:ln>
                <a:noFill/>
              </a:ln>
              <a:solidFill>
                <a:schemeClr val="dk1"/>
              </a:solidFill>
              <a:effectLst/>
              <a:uLnTx/>
              <a:uFillTx/>
              <a:latin typeface="+mn-lt"/>
              <a:ea typeface="+mn-ea"/>
              <a:cs typeface="+mn-cs"/>
              <a:sym typeface="Arial" panose="020B0604020202020204" pitchFamily="34" charset="0"/>
            </a:endParaRPr>
          </a:p>
          <a:p>
            <a:pPr marL="0" marR="0" lvl="0" indent="0" algn="just" defTabSz="914400" rtl="0" eaLnBrk="0" fontAlgn="auto" latinLnBrk="0" hangingPunct="0">
              <a:lnSpc>
                <a:spcPct val="100000"/>
              </a:lnSpc>
              <a:spcBef>
                <a:spcPct val="0"/>
              </a:spcBef>
              <a:spcAft>
                <a:spcPts val="0"/>
              </a:spcAft>
              <a:buClrTx/>
              <a:buSzTx/>
              <a:buFontTx/>
              <a:buNone/>
              <a:defRPr/>
            </a:pPr>
            <a:r>
              <a:rPr lang="en-US" sz="1800" b="1" noProof="0" dirty="0">
                <a:ln>
                  <a:noFill/>
                </a:ln>
                <a:effectLst/>
                <a:uLnTx/>
                <a:uFillTx/>
                <a:sym typeface="Arial" panose="020B0604020202020204" pitchFamily="34" charset="0"/>
              </a:rPr>
              <a:t>              Usability &amp; Visual Testing, Performance &amp; Load Testing</a:t>
            </a:r>
            <a:r>
              <a:rPr lang="en-IN" sz="1800" noProof="0" dirty="0">
                <a:ln>
                  <a:noFill/>
                </a:ln>
                <a:effectLst/>
                <a:uLnTx/>
                <a:uFillTx/>
                <a:sym typeface="Arial" panose="020B0604020202020204" pitchFamily="34" charset="0"/>
              </a:rPr>
              <a:t>.  </a:t>
            </a:r>
            <a:r>
              <a:rPr lang="en-US" sz="1800" b="1" noProof="0" dirty="0">
                <a:ln>
                  <a:noFill/>
                </a:ln>
                <a:effectLst/>
                <a:uLnTx/>
                <a:uFillTx/>
                <a:latin typeface="Times New Roman" panose="02020603050405020304" pitchFamily="18" charset="0"/>
                <a:cs typeface="Times New Roman" panose="02020603050405020304" pitchFamily="18" charset="0"/>
                <a:sym typeface="Arial" panose="020B0604020202020204" pitchFamily="34" charset="0"/>
              </a:rPr>
              <a:t>(CO1 )</a:t>
            </a:r>
            <a:endParaRPr lang="en-US" sz="1800"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54355" y="1496060"/>
            <a:ext cx="10902315" cy="4378325"/>
          </a:xfrm>
          <a:prstGeom prst="rect">
            <a:avLst/>
          </a:prstGeom>
          <a:noFill/>
        </p:spPr>
        <p:txBody>
          <a:bodyPr wrap="square" rtlCol="0" anchor="t">
            <a:noAutofit/>
          </a:bodyPr>
          <a:lstStyle/>
          <a:p>
            <a:pPr marL="114300" indent="0" algn="just" eaLnBrk="1" hangingPunct="1">
              <a:spcBef>
                <a:spcPts val="365"/>
              </a:spcBef>
              <a:spcAft>
                <a:spcPct val="0"/>
              </a:spcAft>
              <a:buClr>
                <a:srgbClr val="000000"/>
              </a:buClr>
              <a:buFont typeface="Arial" panose="020B0604020202020204" pitchFamily="34" charset="0"/>
              <a:buNone/>
            </a:pPr>
            <a:r>
              <a:rPr lang="en-US" altLang="en-US" sz="2400" b="1" dirty="0">
                <a:latin typeface="Times New Roman" panose="02020603050405020304" pitchFamily="18" charset="0"/>
                <a:ea typeface="Arial" panose="020B0604020202020204"/>
                <a:cs typeface="Calibri" panose="020F0502020204030204" charset="0"/>
                <a:sym typeface="Calibri" panose="020F0502020204030204" charset="0"/>
              </a:rPr>
              <a:t>Objective of the above topics:</a:t>
            </a:r>
          </a:p>
          <a:p>
            <a:pPr marL="114300" indent="0" algn="just" eaLnBrk="1" hangingPunct="1">
              <a:spcBef>
                <a:spcPts val="365"/>
              </a:spcBef>
              <a:spcAft>
                <a:spcPct val="0"/>
              </a:spcAft>
              <a:buClr>
                <a:srgbClr val="000000"/>
              </a:buClr>
              <a:buFont typeface="Arial" panose="020B0604020202020204" pitchFamily="34" charset="0"/>
              <a:buNone/>
            </a:pPr>
            <a:endParaRPr lang="en-US" altLang="en-US" sz="2400" b="1" dirty="0">
              <a:latin typeface="Times New Roman" panose="02020603050405020304" pitchFamily="18" charset="0"/>
              <a:ea typeface="Arial" panose="020B0604020202020204"/>
              <a:cs typeface="Calibri" panose="020F0502020204030204" charset="0"/>
              <a:sym typeface="Calibri" panose="020F0502020204030204" charset="0"/>
            </a:endParaRPr>
          </a:p>
          <a:p>
            <a:pPr marL="571500" lvl="1" indent="0" algn="just" eaLnBrk="1" hangingPunct="1">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To know the basics of web hosting and hosting packages.</a:t>
            </a:r>
          </a:p>
          <a:p>
            <a:pPr marL="571500" lvl="1" indent="0" algn="just" eaLnBrk="1" hangingPunct="1">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571500" lvl="1" indent="0" algn="just" eaLnBrk="1" hangingPunct="1">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To get the knowledge about Web Testing.</a:t>
            </a:r>
          </a:p>
          <a:p>
            <a:pPr marL="571500" lvl="1" indent="0" algn="just" eaLnBrk="1" hangingPunct="1">
              <a:spcBef>
                <a:spcPts val="365"/>
              </a:spcBef>
              <a:spcAft>
                <a:spcPct val="0"/>
              </a:spcAft>
              <a:buClr>
                <a:srgbClr val="000000"/>
              </a:buClr>
              <a:buFont typeface="Arial" panose="020B0604020202020204" pitchFamily="34" charset="0"/>
              <a:buChar char="•"/>
            </a:pP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571500" lvl="1" indent="0" algn="just" eaLnBrk="1" hangingPunct="1">
              <a:spcBef>
                <a:spcPts val="365"/>
              </a:spcBef>
              <a:spcAft>
                <a:spcPct val="0"/>
              </a:spcAft>
              <a:buClr>
                <a:srgbClr val="000000"/>
              </a:buClr>
              <a:buFont typeface="Arial" panose="020B0604020202020204" pitchFamily="34" charset="0"/>
              <a:buChar char="•"/>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To learn how testing is used in a web server and how to test a website?</a:t>
            </a:r>
          </a:p>
          <a:p>
            <a:pPr marL="114300" indent="0" algn="just" eaLnBrk="1" hangingPunct="1">
              <a:spcBef>
                <a:spcPts val="365"/>
              </a:spcBef>
              <a:spcAft>
                <a:spcPct val="0"/>
              </a:spcAft>
              <a:buClr>
                <a:srgbClr val="000000"/>
              </a:buClr>
            </a:pP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71</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n>
                  <a:noFill/>
                </a:ln>
                <a:solidFill>
                  <a:srgbClr val="000000"/>
                </a:solidFill>
                <a:effectLst/>
                <a:uLnTx/>
                <a:uFillTx/>
                <a:latin typeface="Times New Roman" panose="02020603050405020304" pitchFamily="18" charset="0"/>
                <a:cs typeface="Times New Roman" panose="02020603050405020304" pitchFamily="18" charset="0"/>
                <a:sym typeface="Arial" panose="020B0604020202020204"/>
              </a:rPr>
              <a:t>Web Hosting Basics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11175" y="1159510"/>
            <a:ext cx="11048365" cy="4651375"/>
          </a:xfrm>
          <a:prstGeom prst="rect">
            <a:avLst/>
          </a:prstGeom>
          <a:noFill/>
        </p:spPr>
        <p:txBody>
          <a:bodyPr wrap="square" rtlCol="0" anchor="t">
            <a:noAutofit/>
          </a:bodyPr>
          <a:lstStyle/>
          <a:p>
            <a:pPr>
              <a:spcBef>
                <a:spcPts val="365"/>
              </a:spcBef>
              <a:spcAft>
                <a:spcPct val="0"/>
              </a:spcAft>
              <a:buClr>
                <a:srgbClr val="000000"/>
              </a:buClr>
            </a:pPr>
            <a:r>
              <a:rPr lang="en-US" altLang="en-US" sz="2000" dirty="0">
                <a:latin typeface="Arial" panose="020B0604020202020204"/>
                <a:ea typeface="Arial" panose="020B0604020202020204"/>
                <a:cs typeface="Arial" panose="020B0604020202020204"/>
                <a:sym typeface="Arial" panose="020B0604020202020204" pitchFamily="34" charset="0"/>
              </a:rPr>
              <a:t>When a hosting provider allocates space on a web server for a website to store its files, they are hosting a website. </a:t>
            </a:r>
          </a:p>
          <a:p>
            <a:pPr>
              <a:spcBef>
                <a:spcPts val="365"/>
              </a:spcBef>
              <a:spcAft>
                <a:spcPct val="0"/>
              </a:spcAft>
              <a:buClr>
                <a:srgbClr val="000000"/>
              </a:buClr>
            </a:pPr>
            <a:r>
              <a:rPr lang="en-US" altLang="en-US" sz="2000" dirty="0">
                <a:latin typeface="Arial" panose="020B0604020202020204"/>
                <a:ea typeface="Arial" panose="020B0604020202020204"/>
                <a:cs typeface="Arial" panose="020B0604020202020204"/>
                <a:sym typeface="Arial" panose="020B0604020202020204" pitchFamily="34" charset="0"/>
              </a:rPr>
              <a:t>Web hosting makes the files that comprise a website (code, images, etc.) available for viewing online.</a:t>
            </a:r>
          </a:p>
          <a:p>
            <a:pPr>
              <a:spcBef>
                <a:spcPts val="365"/>
              </a:spcBef>
              <a:spcAft>
                <a:spcPct val="0"/>
              </a:spcAft>
              <a:buClr>
                <a:srgbClr val="000000"/>
              </a:buClr>
            </a:pPr>
            <a:r>
              <a:rPr lang="en-US" altLang="en-US" sz="2000" dirty="0">
                <a:latin typeface="Arial" panose="020B0604020202020204"/>
                <a:ea typeface="Arial" panose="020B0604020202020204"/>
                <a:cs typeface="Arial" panose="020B0604020202020204"/>
                <a:sym typeface="Arial" panose="020B0604020202020204" pitchFamily="34" charset="0"/>
              </a:rPr>
              <a:t>web hosting is the process of renting or buying space to house a website on the World Wide Web. </a:t>
            </a:r>
          </a:p>
          <a:p>
            <a:pPr>
              <a:spcBef>
                <a:spcPts val="365"/>
              </a:spcBef>
              <a:spcAft>
                <a:spcPct val="0"/>
              </a:spcAft>
              <a:buClr>
                <a:srgbClr val="000000"/>
              </a:buClr>
            </a:pPr>
            <a:r>
              <a:rPr lang="en-US" altLang="en-US" sz="2000" dirty="0">
                <a:latin typeface="Arial" panose="020B0604020202020204"/>
                <a:ea typeface="Arial" panose="020B0604020202020204"/>
                <a:cs typeface="Arial" panose="020B0604020202020204"/>
                <a:sym typeface="Arial" panose="020B0604020202020204" pitchFamily="34" charset="0"/>
              </a:rPr>
              <a:t>Website content such as HTML, CSS, and images has to be housed on a server to be viewable online.</a:t>
            </a:r>
          </a:p>
          <a:p>
            <a:pPr>
              <a:spcBef>
                <a:spcPts val="365"/>
              </a:spcBef>
              <a:spcAft>
                <a:spcPct val="0"/>
              </a:spcAft>
              <a:buClr>
                <a:srgbClr val="000000"/>
              </a:buClr>
            </a:pPr>
            <a:r>
              <a:rPr lang="en-US" altLang="en-US" sz="2000" dirty="0">
                <a:latin typeface="Arial" panose="020B0604020202020204"/>
                <a:ea typeface="Arial" panose="020B0604020202020204"/>
                <a:cs typeface="Arial" panose="020B0604020202020204"/>
                <a:sym typeface="Arial" panose="020B0604020202020204" pitchFamily="34" charset="0"/>
              </a:rPr>
              <a:t>Web hosting service providers have the servers, connectivity, and associated services to host websites.</a:t>
            </a:r>
          </a:p>
          <a:p>
            <a:pPr>
              <a:spcBef>
                <a:spcPts val="365"/>
              </a:spcBef>
              <a:spcAft>
                <a:spcPct val="0"/>
              </a:spcAft>
              <a:buClr>
                <a:srgbClr val="000000"/>
              </a:buClr>
            </a:pPr>
            <a:r>
              <a:rPr lang="en-US" altLang="en-US" sz="2000" dirty="0">
                <a:latin typeface="Arial" panose="020B0604020202020204"/>
                <a:ea typeface="Arial" panose="020B0604020202020204"/>
                <a:cs typeface="Arial" panose="020B0604020202020204"/>
                <a:sym typeface="Arial" panose="020B0604020202020204" pitchFamily="34" charset="0"/>
              </a:rPr>
              <a:t>Choosing the right hosting plan will mean having access to the right allocation of resources to keep your website loading quickly and reliably for your visitors.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72</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IN" noProof="0" dirty="0">
                <a:ln>
                  <a:noFill/>
                </a:ln>
                <a:effectLst/>
                <a:uLnTx/>
                <a:uFillTx/>
                <a:cs typeface="Arial" panose="020B0604020202020204" pitchFamily="34" charset="0"/>
                <a:sym typeface="Arial" panose="020B0604020202020204" pitchFamily="34" charset="0"/>
              </a:rPr>
              <a:t>Types of Hosting Packages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22910" y="947420"/>
            <a:ext cx="10984230" cy="5197475"/>
          </a:xfrm>
          <a:prstGeom prst="rect">
            <a:avLst/>
          </a:prstGeom>
          <a:noFill/>
        </p:spPr>
        <p:txBody>
          <a:bodyPr wrap="square" rtlCol="0" anchor="t">
            <a:noAutofit/>
          </a:bodyPr>
          <a:lstStyle/>
          <a:p>
            <a:pPr marL="114300" indent="0">
              <a:spcBef>
                <a:spcPts val="365"/>
              </a:spcBef>
              <a:spcAft>
                <a:spcPct val="0"/>
              </a:spcAft>
              <a:buClr>
                <a:srgbClr val="000000"/>
              </a:buClr>
              <a:buFont typeface="Arial" panose="020B0604020202020204" pitchFamily="34" charset="0"/>
              <a:buNone/>
            </a:pPr>
            <a:r>
              <a:rPr sz="1600" b="1" dirty="0">
                <a:latin typeface="Arial" panose="020B0604020202020204"/>
                <a:ea typeface="Arial" panose="020B0604020202020204"/>
                <a:cs typeface="Arial" panose="020B0604020202020204"/>
                <a:sym typeface="Arial" panose="020B0604020202020204" pitchFamily="34" charset="0"/>
              </a:rPr>
              <a:t>There are the six types of web hosting:</a:t>
            </a:r>
          </a:p>
          <a:p>
            <a:pPr marL="114300" indent="0">
              <a:spcBef>
                <a:spcPts val="365"/>
              </a:spcBef>
              <a:spcAft>
                <a:spcPct val="0"/>
              </a:spcAft>
              <a:buClr>
                <a:srgbClr val="000000"/>
              </a:buClr>
            </a:pPr>
            <a:r>
              <a:rPr sz="1600" dirty="0">
                <a:latin typeface="Arial" panose="020B0604020202020204"/>
                <a:ea typeface="Arial" panose="020B0604020202020204"/>
                <a:cs typeface="Arial" panose="020B0604020202020204"/>
                <a:sym typeface="Arial" panose="020B0604020202020204" pitchFamily="34" charset="0"/>
              </a:rPr>
              <a:t>Shared hosting</a:t>
            </a:r>
          </a:p>
          <a:p>
            <a:pPr marL="114300" indent="0">
              <a:spcBef>
                <a:spcPts val="365"/>
              </a:spcBef>
              <a:spcAft>
                <a:spcPct val="0"/>
              </a:spcAft>
              <a:buClr>
                <a:srgbClr val="000000"/>
              </a:buClr>
            </a:pPr>
            <a:r>
              <a:rPr lang="nb-NO" altLang="x-none" sz="1600" dirty="0">
                <a:latin typeface="Arial" panose="020B0604020202020204"/>
                <a:ea typeface="Arial" panose="020B0604020202020204"/>
                <a:cs typeface="Arial" panose="020B0604020202020204"/>
                <a:sym typeface="Arial" panose="020B0604020202020204" pitchFamily="34" charset="0"/>
              </a:rPr>
              <a:t>Virtual private server (VPS) hosting</a:t>
            </a:r>
          </a:p>
          <a:p>
            <a:pPr marL="114300" indent="0">
              <a:spcBef>
                <a:spcPts val="365"/>
              </a:spcBef>
              <a:spcAft>
                <a:spcPct val="0"/>
              </a:spcAft>
              <a:buClr>
                <a:srgbClr val="000000"/>
              </a:buClr>
            </a:pPr>
            <a:r>
              <a:rPr sz="1600" dirty="0">
                <a:latin typeface="Arial" panose="020B0604020202020204"/>
                <a:ea typeface="Arial" panose="020B0604020202020204"/>
                <a:cs typeface="Arial" panose="020B0604020202020204"/>
                <a:sym typeface="Arial" panose="020B0604020202020204" pitchFamily="34" charset="0"/>
              </a:rPr>
              <a:t>Dedicated server hosting</a:t>
            </a:r>
          </a:p>
          <a:p>
            <a:pPr marL="114300" indent="0">
              <a:spcBef>
                <a:spcPts val="365"/>
              </a:spcBef>
              <a:spcAft>
                <a:spcPct val="0"/>
              </a:spcAft>
              <a:buClr>
                <a:srgbClr val="000000"/>
              </a:buClr>
            </a:pPr>
            <a:r>
              <a:rPr sz="1600" dirty="0">
                <a:latin typeface="Arial" panose="020B0604020202020204"/>
                <a:ea typeface="Arial" panose="020B0604020202020204"/>
                <a:cs typeface="Arial" panose="020B0604020202020204"/>
                <a:sym typeface="Arial" panose="020B0604020202020204" pitchFamily="34" charset="0"/>
              </a:rPr>
              <a:t>Cloud hosting</a:t>
            </a:r>
          </a:p>
          <a:p>
            <a:pPr marL="114300" indent="0">
              <a:spcBef>
                <a:spcPts val="365"/>
              </a:spcBef>
              <a:spcAft>
                <a:spcPct val="0"/>
              </a:spcAft>
              <a:buClr>
                <a:srgbClr val="000000"/>
              </a:buClr>
            </a:pPr>
            <a:r>
              <a:rPr sz="1600" dirty="0">
                <a:latin typeface="Arial" panose="020B0604020202020204"/>
                <a:ea typeface="Arial" panose="020B0604020202020204"/>
                <a:cs typeface="Arial" panose="020B0604020202020204"/>
                <a:sym typeface="Arial" panose="020B0604020202020204" pitchFamily="34" charset="0"/>
              </a:rPr>
              <a:t>Managed hosting</a:t>
            </a:r>
          </a:p>
          <a:p>
            <a:pPr marL="114300" indent="0">
              <a:spcBef>
                <a:spcPts val="365"/>
              </a:spcBef>
              <a:spcAft>
                <a:spcPct val="0"/>
              </a:spcAft>
              <a:buClr>
                <a:srgbClr val="000000"/>
              </a:buClr>
            </a:pPr>
            <a:r>
              <a:rPr sz="1600" dirty="0">
                <a:latin typeface="Arial" panose="020B0604020202020204"/>
                <a:ea typeface="Arial" panose="020B0604020202020204"/>
                <a:cs typeface="Arial" panose="020B0604020202020204"/>
                <a:sym typeface="Arial" panose="020B0604020202020204" pitchFamily="34" charset="0"/>
              </a:rPr>
              <a:t>Colocation</a:t>
            </a:r>
          </a:p>
          <a:p>
            <a:pPr marL="114300" indent="0">
              <a:spcBef>
                <a:spcPts val="365"/>
              </a:spcBef>
              <a:spcAft>
                <a:spcPct val="0"/>
              </a:spcAft>
              <a:buClr>
                <a:srgbClr val="000000"/>
              </a:buClr>
            </a:pPr>
            <a:endParaRPr sz="1600" b="1"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Arial" panose="020B0604020202020204" pitchFamily="34" charset="0"/>
              <a:buNone/>
            </a:pPr>
            <a:r>
              <a:rPr sz="1600" b="1" dirty="0">
                <a:latin typeface="Arial" panose="020B0604020202020204"/>
                <a:ea typeface="Arial" panose="020B0604020202020204"/>
                <a:cs typeface="Arial" panose="020B0604020202020204"/>
                <a:sym typeface="Arial" panose="020B0604020202020204" pitchFamily="34" charset="0"/>
              </a:rPr>
              <a:t>Shared hosting</a:t>
            </a:r>
          </a:p>
          <a:p>
            <a:pPr lvl="1">
              <a:spcBef>
                <a:spcPts val="365"/>
              </a:spcBef>
              <a:spcAft>
                <a:spcPct val="0"/>
              </a:spcAft>
              <a:buClr>
                <a:srgbClr val="000000"/>
              </a:buClr>
              <a:buFont typeface="Wingdings" panose="05000000000000000000" pitchFamily="2" charset="2"/>
              <a:buChar char="Ø"/>
            </a:pPr>
            <a:r>
              <a:rPr sz="1600" dirty="0">
                <a:latin typeface="Arial" panose="020B0604020202020204"/>
                <a:ea typeface="Arial" panose="020B0604020202020204"/>
                <a:cs typeface="Arial" panose="020B0604020202020204"/>
                <a:sym typeface="Arial" panose="020B0604020202020204" pitchFamily="34" charset="0"/>
              </a:rPr>
              <a:t>Shared hosting allows multiple websites to utilize a single server. Usually, you’ll have no idea who or what websites you’re sharing the resources of a server with. Each customer will usually have a limit on the total amount of server resources they can use, but this will be defined by your hosting package.</a:t>
            </a:r>
          </a:p>
          <a:p>
            <a:pPr lvl="1">
              <a:spcBef>
                <a:spcPts val="365"/>
              </a:spcBef>
              <a:spcAft>
                <a:spcPct val="0"/>
              </a:spcAft>
              <a:buClr>
                <a:srgbClr val="000000"/>
              </a:buClr>
              <a:buFont typeface="Wingdings" panose="05000000000000000000" pitchFamily="2" charset="2"/>
              <a:buChar char="Ø"/>
            </a:pPr>
            <a:endParaRPr sz="1600" dirty="0">
              <a:latin typeface="Arial" panose="020B0604020202020204"/>
              <a:ea typeface="Arial" panose="020B0604020202020204"/>
              <a:cs typeface="Arial" panose="020B0604020202020204"/>
              <a:sym typeface="Arial" panose="020B0604020202020204" pitchFamily="34" charset="0"/>
            </a:endParaRPr>
          </a:p>
          <a:p>
            <a:pPr lvl="1">
              <a:spcBef>
                <a:spcPts val="365"/>
              </a:spcBef>
              <a:spcAft>
                <a:spcPct val="0"/>
              </a:spcAft>
              <a:buClr>
                <a:srgbClr val="000000"/>
              </a:buClr>
              <a:buFont typeface="Wingdings" panose="05000000000000000000" pitchFamily="2" charset="2"/>
              <a:buChar char="Ø"/>
            </a:pPr>
            <a:r>
              <a:rPr sz="1600" dirty="0">
                <a:latin typeface="Arial" panose="020B0604020202020204"/>
                <a:ea typeface="Arial" panose="020B0604020202020204"/>
                <a:cs typeface="Arial" panose="020B0604020202020204"/>
                <a:sym typeface="Arial" panose="020B0604020202020204" pitchFamily="34" charset="0"/>
              </a:rPr>
              <a:t>Shared hosting is easily the cheapest and most economical option for your needs. However, the cheap price comes with limitations, which we’ll get to below. Since most hosting companies will offer the same amount of space and storage it’s important to choose a company you can trust.</a:t>
            </a:r>
            <a:endParaRPr lang="en-US" sz="1600" dirty="0">
              <a:latin typeface="Arial" panose="020B0604020202020204"/>
              <a:ea typeface="Arial" panose="020B0604020202020204"/>
              <a:cs typeface="Arial" panose="020B0604020202020204"/>
              <a:sym typeface="Arial" panose="020B060402020202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73</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IN" noProof="0" dirty="0">
                <a:ln>
                  <a:noFill/>
                </a:ln>
                <a:effectLst/>
                <a:uLnTx/>
                <a:uFillTx/>
                <a:cs typeface="Arial" panose="020B0604020202020204" pitchFamily="34" charset="0"/>
                <a:sym typeface="Arial" panose="020B0604020202020204" pitchFamily="34" charset="0"/>
              </a:rPr>
              <a:t>Types of Hosting Packages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40690" y="1188720"/>
            <a:ext cx="11217910" cy="4787900"/>
          </a:xfrm>
          <a:prstGeom prst="rect">
            <a:avLst/>
          </a:prstGeom>
          <a:noFill/>
        </p:spPr>
        <p:txBody>
          <a:bodyPr wrap="square" rtlCol="0" anchor="t">
            <a:noAutofit/>
          </a:bodyPr>
          <a:lstStyle/>
          <a:p>
            <a:pPr marL="114300" indent="0">
              <a:spcBef>
                <a:spcPts val="365"/>
              </a:spcBef>
              <a:spcAft>
                <a:spcPct val="0"/>
              </a:spcAft>
              <a:buClr>
                <a:srgbClr val="000000"/>
              </a:buClr>
              <a:buFont typeface="Arial" panose="020B0604020202020204" pitchFamily="34" charset="0"/>
              <a:buNone/>
            </a:pPr>
            <a:r>
              <a:rPr lang="nb-NO" altLang="x-none" b="1" dirty="0">
                <a:latin typeface="Arial" panose="020B0604020202020204"/>
                <a:ea typeface="Arial" panose="020B0604020202020204"/>
                <a:cs typeface="Arial" panose="020B0604020202020204"/>
                <a:sym typeface="Arial" panose="020B0604020202020204" pitchFamily="34" charset="0"/>
              </a:rPr>
              <a:t>Virtual private server (VPS) hosting</a:t>
            </a:r>
            <a:endParaRPr lang="nb-NO" altLang="x-none" sz="1800" b="1"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A VPS hosting plan is the ultimate middle ground between a shared server and a dedicated server.</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It’s ideal for website owners that need more control, but don’t necessarily need a dedicated server.</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VPS hosting provides website owners with more customization and storage space, but  still they are not able to handle incredibly high traffic levels or spikes in usage meaning that the site performance can still be affected by other sites on the server.</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VPS hosting is used by website owners who want dedicated hosting but don’t have the technical knowledge needed. </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VPS hosting offers the cost benefits of shared hosting with the control of dedicated hosting.</a:t>
            </a:r>
            <a:endParaRPr lang="en-US" dirty="0">
              <a:latin typeface="Arial" panose="020B0604020202020204"/>
              <a:ea typeface="Arial" panose="020B0604020202020204"/>
              <a:cs typeface="Arial" panose="020B0604020202020204"/>
              <a:sym typeface="Arial" panose="020B060402020202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74</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IN" noProof="0" dirty="0">
                <a:ln>
                  <a:noFill/>
                </a:ln>
                <a:effectLst/>
                <a:uLnTx/>
                <a:uFillTx/>
                <a:cs typeface="Arial" panose="020B0604020202020204" pitchFamily="34" charset="0"/>
                <a:sym typeface="Arial" panose="020B0604020202020204" pitchFamily="34" charset="0"/>
              </a:rPr>
              <a:t>Types of Hosting Packages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391160" y="947420"/>
            <a:ext cx="11366500" cy="5312410"/>
          </a:xfrm>
          <a:prstGeom prst="rect">
            <a:avLst/>
          </a:prstGeom>
          <a:noFill/>
        </p:spPr>
        <p:txBody>
          <a:bodyPr wrap="square" rtlCol="0" anchor="t">
            <a:noAutofit/>
          </a:bodyPr>
          <a:lstStyle/>
          <a:p>
            <a:pPr marL="114300" indent="0">
              <a:spcBef>
                <a:spcPts val="365"/>
              </a:spcBef>
              <a:spcAft>
                <a:spcPct val="0"/>
              </a:spcAft>
              <a:buClr>
                <a:srgbClr val="000000"/>
              </a:buClr>
              <a:buFont typeface="Arial" panose="020B0604020202020204" pitchFamily="34" charset="0"/>
              <a:buNone/>
            </a:pPr>
            <a:r>
              <a:rPr b="1" dirty="0">
                <a:latin typeface="Arial" panose="020B0604020202020204"/>
                <a:ea typeface="Arial" panose="020B0604020202020204"/>
                <a:cs typeface="Arial" panose="020B0604020202020204"/>
                <a:sym typeface="Arial" panose="020B0604020202020204" pitchFamily="34" charset="0"/>
              </a:rPr>
              <a:t>Dedicated server hosting</a:t>
            </a:r>
            <a:endParaRPr sz="1800" b="1"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Dedicated hosting gives website owners the most control over the server that their website is  stored on.</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Customer has full root and admin access, so he can control everything from security to operating system that you run.</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Dedicated servers cost are one of the most expensive web hosting options.</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Used by website owners with high levels of website traffic, and those who are in need of complete control of their servers.</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A high level of technical expertise is required for the installation and ongoing management of the server. </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Arial" panose="020B0604020202020204" pitchFamily="34" charset="0"/>
              <a:buNone/>
            </a:pPr>
            <a:endParaRPr sz="1800" b="1"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Arial" panose="020B0604020202020204" pitchFamily="34" charset="0"/>
              <a:buNone/>
            </a:pPr>
            <a:r>
              <a:rPr b="1" dirty="0">
                <a:latin typeface="Arial" panose="020B0604020202020204"/>
                <a:ea typeface="Arial" panose="020B0604020202020204"/>
                <a:cs typeface="Arial" panose="020B0604020202020204"/>
                <a:sym typeface="Arial" panose="020B0604020202020204" pitchFamily="34" charset="0"/>
              </a:rPr>
              <a:t>Cloud hosting</a:t>
            </a:r>
            <a:endParaRPr sz="1800" b="1"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It’s a hosting solution that works via a network and enables companies to consume the computing resource like a utility.</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This allows users to employ as many resources as they need without having to build and maintain their own computing infrastructure. </a:t>
            </a:r>
            <a:endParaRPr sz="1800" b="1"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Cloud-based hosting is scalable, meaning your site can grow over time, using as many resources as it requires and while the website owner only pays for what they need.</a:t>
            </a:r>
            <a:endParaRPr lang="en-US" dirty="0">
              <a:latin typeface="Arial" panose="020B0604020202020204"/>
              <a:ea typeface="Arial" panose="020B0604020202020204"/>
              <a:cs typeface="Arial" panose="020B0604020202020204"/>
              <a:sym typeface="Arial" panose="020B060402020202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75</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IN" noProof="0" dirty="0">
                <a:ln>
                  <a:noFill/>
                </a:ln>
                <a:effectLst/>
                <a:uLnTx/>
                <a:uFillTx/>
                <a:cs typeface="Arial" panose="020B0604020202020204" pitchFamily="34" charset="0"/>
                <a:sym typeface="Arial" panose="020B0604020202020204" pitchFamily="34" charset="0"/>
              </a:rPr>
              <a:t>Types of Hosting Packages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22910" y="947420"/>
            <a:ext cx="11163300" cy="5282565"/>
          </a:xfrm>
          <a:prstGeom prst="rect">
            <a:avLst/>
          </a:prstGeom>
          <a:noFill/>
        </p:spPr>
        <p:txBody>
          <a:bodyPr wrap="square" rtlCol="0" anchor="t">
            <a:noAutofit/>
          </a:bodyPr>
          <a:lstStyle/>
          <a:p>
            <a:pPr marL="114300" indent="0">
              <a:spcBef>
                <a:spcPts val="365"/>
              </a:spcBef>
              <a:spcAft>
                <a:spcPct val="0"/>
              </a:spcAft>
              <a:buClr>
                <a:srgbClr val="000000"/>
              </a:buClr>
              <a:buFont typeface="Arial" panose="020B0604020202020204" pitchFamily="34" charset="0"/>
              <a:buNone/>
            </a:pPr>
            <a:r>
              <a:rPr sz="2200" b="1" dirty="0">
                <a:latin typeface="Arial" panose="020B0604020202020204"/>
                <a:ea typeface="Arial" panose="020B0604020202020204"/>
                <a:cs typeface="Arial" panose="020B0604020202020204"/>
                <a:sym typeface="Arial" panose="020B0604020202020204" pitchFamily="34" charset="0"/>
              </a:rPr>
              <a:t>Managed hosting</a:t>
            </a: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Hosting companies provide technical services such as hardware and software setup and configuration, maintenance, hardware replacement, technical support, patching, updating and monitoring. </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With managed hosting, the provider looks after the day-to-day management of the hardware, operating systems and standardized applications.</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Arial" panose="020B0604020202020204" pitchFamily="34" charset="0"/>
              <a:buNone/>
            </a:pPr>
            <a:endParaRPr sz="1800" b="1"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Arial" panose="020B0604020202020204" pitchFamily="34" charset="0"/>
              <a:buNone/>
            </a:pPr>
            <a:r>
              <a:rPr sz="2200" b="1" dirty="0">
                <a:latin typeface="Arial" panose="020B0604020202020204"/>
                <a:ea typeface="Arial" panose="020B0604020202020204"/>
                <a:cs typeface="Arial" panose="020B0604020202020204"/>
                <a:sym typeface="Arial" panose="020B0604020202020204" pitchFamily="34" charset="0"/>
              </a:rPr>
              <a:t>Colocation</a:t>
            </a: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Instead of keeping servers in-house or at a private data center, you may choose to ”‘co-locate” your equipment by renting space in a colocation center. </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he center will provide the power, bandwidth, IP address and cooling systems that your server requires. Space is rented out in racks and cabinets.</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Colocation gives access to higher levels of bandwidth than a normal office server room at a much lower cost. </a:t>
            </a:r>
            <a:endParaRPr sz="1800"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Wingdings" panose="05000000000000000000" pitchFamily="2" charset="2"/>
              <a:buChar char="Ø"/>
            </a:pPr>
            <a:r>
              <a:rPr dirty="0">
                <a:latin typeface="Arial" panose="020B0604020202020204"/>
                <a:ea typeface="Arial" panose="020B0604020202020204"/>
                <a:cs typeface="Arial" panose="020B0604020202020204"/>
                <a:sym typeface="Arial" panose="020B0604020202020204" pitchFamily="34" charset="0"/>
              </a:rPr>
              <a:t>You’re left to your own devices (literally) and will be expected to take care of everything including the hardware, software and services.</a:t>
            </a:r>
            <a:endParaRPr lang="en-US" dirty="0">
              <a:latin typeface="Arial" panose="020B0604020202020204"/>
              <a:ea typeface="Arial" panose="020B0604020202020204"/>
              <a:cs typeface="Arial" panose="020B0604020202020204"/>
              <a:sym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76</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IN" noProof="0" dirty="0">
                <a:ln>
                  <a:noFill/>
                </a:ln>
                <a:effectLst/>
                <a:uLnTx/>
                <a:uFillTx/>
                <a:cs typeface="Arial" panose="020B0604020202020204" pitchFamily="34" charset="0"/>
                <a:sym typeface="Arial" panose="020B0604020202020204" pitchFamily="34" charset="0"/>
              </a:rPr>
              <a:t>Introduction to Web Testing</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00685" y="1091565"/>
            <a:ext cx="11284585" cy="4914900"/>
          </a:xfrm>
          <a:prstGeom prst="rect">
            <a:avLst/>
          </a:prstGeom>
          <a:noFill/>
        </p:spPr>
        <p:txBody>
          <a:bodyPr wrap="square" rtlCol="0" anchor="t">
            <a:noAutofit/>
          </a:bodyPr>
          <a:lstStyle/>
          <a:p>
            <a:pPr>
              <a:spcBef>
                <a:spcPts val="365"/>
              </a:spcBef>
              <a:spcAft>
                <a:spcPct val="0"/>
              </a:spcAft>
              <a:buClr>
                <a:srgbClr val="000000"/>
              </a:buClr>
              <a:buFont typeface="Wingdings" panose="05000000000000000000" pitchFamily="2" charset="2"/>
              <a:buChar char="Ø"/>
            </a:pPr>
            <a:endParaRPr lang="en-US" altLang="en-US" sz="1800" b="1" dirty="0">
              <a:latin typeface="+mn-lt"/>
              <a:ea typeface="Arial" panose="020B0604020202020204"/>
              <a:cs typeface="+mn-lt"/>
              <a:sym typeface="Arial" panose="020B0604020202020204" pitchFamily="34" charset="0"/>
            </a:endParaRPr>
          </a:p>
          <a:p>
            <a:pPr marL="342900" indent="-342900">
              <a:spcBef>
                <a:spcPts val="365"/>
              </a:spcBef>
              <a:spcAft>
                <a:spcPct val="0"/>
              </a:spcAft>
              <a:buClr>
                <a:srgbClr val="000000"/>
              </a:buClr>
              <a:buFont typeface="Arial" panose="020B0604020202020204" pitchFamily="34" charset="0"/>
              <a:buChar char="•"/>
            </a:pPr>
            <a:r>
              <a:rPr lang="en-US" altLang="en-US" sz="2400" dirty="0">
                <a:solidFill>
                  <a:srgbClr val="282828"/>
                </a:solidFill>
                <a:ea typeface="Arial" panose="020B0604020202020204"/>
                <a:cs typeface="+mn-lt"/>
                <a:sym typeface="Arial" panose="020B0604020202020204" pitchFamily="34" charset="0"/>
              </a:rPr>
              <a:t>Web testing, at its core, is simply checking your web application or your website for problems before you make that web application or website live. Web testing is designed to check all aspects of the web application’s functionality, including looking for bugs with usability, compatibility, security, and general performance. </a:t>
            </a:r>
            <a:endParaRPr lang="en-US" altLang="en-US" sz="2400" dirty="0">
              <a:solidFill>
                <a:srgbClr val="282828"/>
              </a:solidFill>
              <a:latin typeface="+mn-lt"/>
              <a:ea typeface="Arial" panose="020B0604020202020204"/>
              <a:cs typeface="+mn-lt"/>
              <a:sym typeface="Arial" panose="020B0604020202020204" pitchFamily="34" charset="0"/>
            </a:endParaRPr>
          </a:p>
          <a:p>
            <a:pPr marL="342900" indent="-342900">
              <a:spcBef>
                <a:spcPts val="365"/>
              </a:spcBef>
              <a:spcAft>
                <a:spcPct val="0"/>
              </a:spcAft>
              <a:buClr>
                <a:srgbClr val="000000"/>
              </a:buClr>
              <a:buFont typeface="Arial" panose="020B0604020202020204" pitchFamily="34" charset="0"/>
              <a:buChar char="•"/>
            </a:pPr>
            <a:r>
              <a:rPr lang="en-US" altLang="en-US" sz="2400" dirty="0">
                <a:solidFill>
                  <a:srgbClr val="282828"/>
                </a:solidFill>
                <a:ea typeface="Arial" panose="020B0604020202020204"/>
                <a:cs typeface="+mn-lt"/>
                <a:sym typeface="Arial" panose="020B0604020202020204" pitchFamily="34" charset="0"/>
              </a:rPr>
              <a:t>Web testing is a crucial part of assembling any web application or website, as you don’t want to invest the many resources in time and money you’ve spent developing this web application and then have it run into immediate problems upon release. We have seen that happen before, and it isn’t pretty.  </a:t>
            </a:r>
            <a:endParaRPr lang="en-US" altLang="en-US" sz="2400" dirty="0">
              <a:solidFill>
                <a:srgbClr val="282828"/>
              </a:solidFill>
              <a:latin typeface="+mn-lt"/>
              <a:ea typeface="Arial" panose="020B0604020202020204"/>
              <a:cs typeface="+mn-lt"/>
              <a:sym typeface="Arial" panose="020B0604020202020204" pitchFamily="34" charset="0"/>
            </a:endParaRPr>
          </a:p>
          <a:p>
            <a:pPr algn="just">
              <a:spcBef>
                <a:spcPts val="365"/>
              </a:spcBef>
              <a:spcAft>
                <a:spcPct val="0"/>
              </a:spcAft>
              <a:buClr>
                <a:srgbClr val="000000"/>
              </a:buClr>
            </a:pPr>
            <a:endParaRPr lang="en-US" altLang="en-US" sz="2400" dirty="0">
              <a:solidFill>
                <a:srgbClr val="282828"/>
              </a:solidFill>
              <a:latin typeface="+mn-lt"/>
              <a:ea typeface="Arial" panose="020B0604020202020204"/>
              <a:cs typeface="+mn-lt"/>
              <a:sym typeface="Arial" panose="020B060402020202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77</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IN" noProof="0" dirty="0">
                <a:ln>
                  <a:noFill/>
                </a:ln>
                <a:effectLst/>
                <a:uLnTx/>
                <a:uFillTx/>
                <a:sym typeface="Arial" panose="020B0604020202020204" pitchFamily="34" charset="0"/>
              </a:rPr>
              <a:t>Functional Testing</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01650" y="1120775"/>
            <a:ext cx="11007725" cy="4577715"/>
          </a:xfrm>
          <a:prstGeom prst="rect">
            <a:avLst/>
          </a:prstGeom>
          <a:noFill/>
        </p:spPr>
        <p:txBody>
          <a:bodyPr wrap="square" rtlCol="0" anchor="t">
            <a:noAutofit/>
          </a:bodyPr>
          <a:lstStyle/>
          <a:p>
            <a:pPr algn="just">
              <a:spcBef>
                <a:spcPts val="365"/>
              </a:spcBef>
              <a:spcAft>
                <a:spcPct val="0"/>
              </a:spcAft>
              <a:buClr>
                <a:srgbClr val="000000"/>
              </a:buClr>
              <a:buFont typeface="Wingdings" panose="05000000000000000000" pitchFamily="2" charset="2"/>
              <a:buChar char="Ø"/>
            </a:pPr>
            <a:r>
              <a:rPr lang="en-US" altLang="en-US" dirty="0">
                <a:latin typeface="Arial" panose="020B0604020202020204"/>
                <a:ea typeface="Arial" panose="020B0604020202020204"/>
                <a:cs typeface="Arial" panose="020B0604020202020204"/>
                <a:sym typeface="Arial" panose="020B0604020202020204" pitchFamily="34" charset="0"/>
              </a:rPr>
              <a:t>Functional testing is a stage in the software delivery lifecycle (also referred to as a ‘process’) in which quality engineers verify whether the application under test’s features behaves as per their requirements. </a:t>
            </a:r>
            <a:endParaRPr lang="en-US" altLang="en-US" sz="1800" dirty="0">
              <a:latin typeface="Arial" panose="020B0604020202020204"/>
              <a:ea typeface="Arial" panose="020B0604020202020204"/>
              <a:cs typeface="Arial" panose="020B0604020202020204"/>
              <a:sym typeface="Arial" panose="020B0604020202020204" pitchFamily="34" charset="0"/>
            </a:endParaRPr>
          </a:p>
          <a:p>
            <a:pPr algn="just">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     Here are some typical examples of functional testing:</a:t>
            </a:r>
            <a:endParaRPr lang="en-US" altLang="en-US" sz="1800" dirty="0">
              <a:latin typeface="Arial" panose="020B0604020202020204"/>
              <a:ea typeface="Arial" panose="020B0604020202020204"/>
              <a:cs typeface="Arial" panose="020B0604020202020204"/>
              <a:sym typeface="Arial" panose="020B0604020202020204" pitchFamily="34" charset="0"/>
            </a:endParaRPr>
          </a:p>
          <a:p>
            <a:pPr algn="just">
              <a:spcBef>
                <a:spcPts val="365"/>
              </a:spcBef>
              <a:spcAft>
                <a:spcPct val="0"/>
              </a:spcAft>
              <a:buClr>
                <a:srgbClr val="000000"/>
              </a:buClr>
              <a:buFont typeface="Wingdings" panose="05000000000000000000" pitchFamily="2" charset="2"/>
              <a:buChar char="Ø"/>
            </a:pPr>
            <a:r>
              <a:rPr lang="en-US" altLang="en-US" dirty="0">
                <a:latin typeface="Arial" panose="020B0604020202020204"/>
                <a:ea typeface="Arial" panose="020B0604020202020204"/>
                <a:cs typeface="Arial" panose="020B0604020202020204"/>
                <a:sym typeface="Arial" panose="020B0604020202020204" pitchFamily="34" charset="0"/>
              </a:rPr>
              <a:t>Do appropriate error messages appear when users input the incorrect information (e.g. invalid email address, card number)?</a:t>
            </a:r>
            <a:endParaRPr lang="en-US" altLang="en-US" sz="1800" dirty="0">
              <a:latin typeface="Arial" panose="020B0604020202020204"/>
              <a:ea typeface="Arial" panose="020B0604020202020204"/>
              <a:cs typeface="Arial" panose="020B0604020202020204"/>
              <a:sym typeface="Arial" panose="020B0604020202020204" pitchFamily="34" charset="0"/>
            </a:endParaRPr>
          </a:p>
          <a:p>
            <a:pPr algn="just">
              <a:spcBef>
                <a:spcPts val="365"/>
              </a:spcBef>
              <a:spcAft>
                <a:spcPct val="0"/>
              </a:spcAft>
              <a:buClr>
                <a:srgbClr val="000000"/>
              </a:buClr>
              <a:buFont typeface="Wingdings" panose="05000000000000000000" pitchFamily="2" charset="2"/>
              <a:buChar char="Ø"/>
            </a:pPr>
            <a:r>
              <a:rPr lang="en-US" altLang="en-US" dirty="0">
                <a:latin typeface="Arial" panose="020B0604020202020204"/>
                <a:ea typeface="Arial" panose="020B0604020202020204"/>
                <a:cs typeface="Arial" panose="020B0604020202020204"/>
                <a:sym typeface="Arial" panose="020B0604020202020204" pitchFamily="34" charset="0"/>
              </a:rPr>
              <a:t>Can users request to change their credentials (e.g. user name, passwords, etc.,...)?</a:t>
            </a:r>
            <a:endParaRPr lang="en-US" altLang="en-US" sz="1800" dirty="0">
              <a:latin typeface="Arial" panose="020B0604020202020204"/>
              <a:ea typeface="Arial" panose="020B0604020202020204"/>
              <a:cs typeface="Arial" panose="020B0604020202020204"/>
              <a:sym typeface="Arial" panose="020B0604020202020204" pitchFamily="34" charset="0"/>
            </a:endParaRPr>
          </a:p>
          <a:p>
            <a:pPr algn="just">
              <a:spcBef>
                <a:spcPts val="365"/>
              </a:spcBef>
              <a:spcAft>
                <a:spcPct val="0"/>
              </a:spcAft>
              <a:buClr>
                <a:srgbClr val="000000"/>
              </a:buClr>
              <a:buFont typeface="Wingdings" panose="05000000000000000000" pitchFamily="2" charset="2"/>
              <a:buChar char="Ø"/>
            </a:pPr>
            <a:r>
              <a:rPr lang="en-US" altLang="en-US" dirty="0">
                <a:latin typeface="Arial" panose="020B0604020202020204"/>
                <a:ea typeface="Arial" panose="020B0604020202020204"/>
                <a:cs typeface="Arial" panose="020B0604020202020204"/>
                <a:sym typeface="Arial" panose="020B0604020202020204" pitchFamily="34" charset="0"/>
              </a:rPr>
              <a:t>Can users log in with the new credentials? </a:t>
            </a:r>
            <a:endParaRPr lang="en-US" altLang="en-US" sz="1800" dirty="0">
              <a:latin typeface="Arial" panose="020B0604020202020204"/>
              <a:ea typeface="Arial" panose="020B0604020202020204"/>
              <a:cs typeface="Arial" panose="020B0604020202020204"/>
              <a:sym typeface="Arial" panose="020B0604020202020204" pitchFamily="34" charset="0"/>
            </a:endParaRPr>
          </a:p>
          <a:p>
            <a:pPr algn="just">
              <a:spcBef>
                <a:spcPts val="365"/>
              </a:spcBef>
              <a:spcAft>
                <a:spcPct val="0"/>
              </a:spcAft>
              <a:buClr>
                <a:srgbClr val="000000"/>
              </a:buClr>
              <a:buFont typeface="Arial" panose="020B0604020202020204" pitchFamily="34" charset="0"/>
              <a:buNone/>
            </a:pPr>
            <a:endParaRPr lang="en-US" altLang="en-US" sz="1800" dirty="0">
              <a:latin typeface="Arial" panose="020B0604020202020204"/>
              <a:ea typeface="Arial" panose="020B0604020202020204"/>
              <a:cs typeface="Arial" panose="020B0604020202020204"/>
              <a:sym typeface="Arial" panose="020B0604020202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78</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IN" noProof="0" dirty="0">
                <a:ln>
                  <a:noFill/>
                </a:ln>
                <a:effectLst/>
                <a:uLnTx/>
                <a:uFillTx/>
                <a:sym typeface="Arial" panose="020B0604020202020204" pitchFamily="34" charset="0"/>
              </a:rPr>
              <a:t>Functional Testing Vs Non Functional Testing</a:t>
            </a:r>
            <a:endParaRPr lang="en-US" dirty="0"/>
          </a:p>
        </p:txBody>
      </p:sp>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3" name="Content Placeholder 2"/>
          <p:cNvGraphicFramePr>
            <a:graphicFrameLocks noGrp="1"/>
          </p:cNvGraphicFramePr>
          <p:nvPr>
            <p:ph idx="1"/>
            <p:custDataLst>
              <p:tags r:id="rId1"/>
            </p:custDataLst>
          </p:nvPr>
        </p:nvGraphicFramePr>
        <p:xfrm>
          <a:off x="609600" y="1360170"/>
          <a:ext cx="10972800" cy="4765675"/>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79425">
                <a:tc>
                  <a:txBody>
                    <a:bodyPr/>
                    <a:lstStyle/>
                    <a:p>
                      <a:r>
                        <a:rPr lang="en-IN" sz="1200">
                          <a:effectLst/>
                        </a:rPr>
                        <a:t> </a:t>
                      </a: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IN" sz="1200" b="1">
                          <a:effectLst/>
                          <a:latin typeface="Arial" panose="020B0604020202020204" pitchFamily="34" charset="0"/>
                        </a:rPr>
                        <a:t>Functional Testing</a:t>
                      </a:r>
                      <a:endParaRPr lang="en-IN" sz="1200">
                        <a:effectLst/>
                      </a:endParaRP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IN" sz="1200" b="1">
                          <a:effectLst/>
                          <a:latin typeface="Arial" panose="020B0604020202020204" pitchFamily="34" charset="0"/>
                        </a:rPr>
                        <a:t>Non-functional testing</a:t>
                      </a:r>
                      <a:endParaRPr lang="en-IN" sz="1200">
                        <a:effectLst/>
                      </a:endParaRP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466215">
                <a:tc>
                  <a:txBody>
                    <a:bodyPr/>
                    <a:lstStyle/>
                    <a:p>
                      <a:r>
                        <a:rPr lang="en-IN" sz="1200" b="1">
                          <a:effectLst/>
                          <a:latin typeface="Arial" panose="020B0604020202020204" pitchFamily="34" charset="0"/>
                        </a:rPr>
                        <a:t>Method</a:t>
                      </a:r>
                      <a:endParaRPr lang="en-IN" sz="1200">
                        <a:effectLst/>
                      </a:endParaRP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b="0">
                          <a:effectLst/>
                          <a:latin typeface="Arial" panose="020B0604020202020204" pitchFamily="34" charset="0"/>
                        </a:rPr>
                        <a:t>Normally performed under the black-box method. In which the testers only validate with inputs and outputs instead of the internal structure of the system.</a:t>
                      </a:r>
                      <a:endParaRPr lang="en-US" sz="1200">
                        <a:effectLst/>
                      </a:endParaRP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b="0" dirty="0">
                          <a:effectLst/>
                          <a:latin typeface="Arial" panose="020B0604020202020204" pitchFamily="34" charset="0"/>
                        </a:rPr>
                        <a:t>Normally performed under the white-box method. In which the tester is made aware of the system’s internal design to generate test cases accordingly.</a:t>
                      </a:r>
                      <a:endParaRPr lang="en-US" sz="1200" dirty="0">
                        <a:effectLst/>
                      </a:endParaRP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71880">
                <a:tc>
                  <a:txBody>
                    <a:bodyPr/>
                    <a:lstStyle/>
                    <a:p>
                      <a:r>
                        <a:rPr lang="en-IN" sz="1200" b="1">
                          <a:effectLst/>
                          <a:latin typeface="Arial" panose="020B0604020202020204" pitchFamily="34" charset="0"/>
                        </a:rPr>
                        <a:t>Areas of concern</a:t>
                      </a:r>
                      <a:endParaRPr lang="en-IN" sz="1200">
                        <a:effectLst/>
                      </a:endParaRP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b="0">
                          <a:effectLst/>
                          <a:latin typeface="Arial" panose="020B0604020202020204" pitchFamily="34" charset="0"/>
                        </a:rPr>
                        <a:t>Whether or not the system’s outputs satisfy the specification or requirements given</a:t>
                      </a:r>
                      <a:endParaRPr lang="en-US" sz="1200">
                        <a:effectLst/>
                      </a:endParaRP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b="0">
                          <a:effectLst/>
                          <a:latin typeface="Arial" panose="020B0604020202020204" pitchFamily="34" charset="0"/>
                        </a:rPr>
                        <a:t>The system’s performance, stability, security, usability, etc.</a:t>
                      </a:r>
                      <a:endParaRPr lang="en-US" sz="1200">
                        <a:effectLst/>
                      </a:endParaRP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76910">
                <a:tc>
                  <a:txBody>
                    <a:bodyPr/>
                    <a:lstStyle/>
                    <a:p>
                      <a:r>
                        <a:rPr lang="en-IN" sz="1200" b="1">
                          <a:effectLst/>
                          <a:latin typeface="Arial" panose="020B0604020202020204" pitchFamily="34" charset="0"/>
                        </a:rPr>
                        <a:t>Inputs</a:t>
                      </a:r>
                      <a:endParaRPr lang="en-IN" sz="1200">
                        <a:effectLst/>
                      </a:endParaRP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IN" sz="1200" b="0" dirty="0">
                          <a:effectLst/>
                          <a:latin typeface="Arial" panose="020B0604020202020204" pitchFamily="34" charset="0"/>
                        </a:rPr>
                        <a:t>Business requirements, client’s specifications</a:t>
                      </a:r>
                      <a:endParaRPr lang="en-IN" sz="1200" dirty="0">
                        <a:effectLst/>
                      </a:endParaRP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IN" sz="1200" b="0">
                          <a:effectLst/>
                          <a:latin typeface="Arial" panose="020B0604020202020204" pitchFamily="34" charset="0"/>
                        </a:rPr>
                        <a:t>Speed, throughput, scalability, etc.</a:t>
                      </a:r>
                      <a:endParaRPr lang="en-IN" sz="1200">
                        <a:effectLst/>
                      </a:endParaRP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71245">
                <a:tc>
                  <a:txBody>
                    <a:bodyPr/>
                    <a:lstStyle/>
                    <a:p>
                      <a:r>
                        <a:rPr lang="en-IN" sz="1200" b="1">
                          <a:effectLst/>
                          <a:latin typeface="Arial" panose="020B0604020202020204" pitchFamily="34" charset="0"/>
                        </a:rPr>
                        <a:t>Examples</a:t>
                      </a:r>
                      <a:endParaRPr lang="en-IN" sz="1200">
                        <a:effectLst/>
                      </a:endParaRP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b="0" i="0" dirty="0">
                          <a:solidFill>
                            <a:srgbClr val="282828"/>
                          </a:solidFill>
                          <a:effectLst/>
                          <a:latin typeface="Arial" panose="020B0604020202020204" pitchFamily="34" charset="0"/>
                          <a:cs typeface="Arial" panose="020B0604020202020204" pitchFamily="34" charset="0"/>
                        </a:rPr>
                        <a:t>Unit testing</a:t>
                      </a:r>
                    </a:p>
                    <a:p>
                      <a:r>
                        <a:rPr lang="en-US" sz="1200" b="0" i="0" dirty="0">
                          <a:solidFill>
                            <a:srgbClr val="282828"/>
                          </a:solidFill>
                          <a:effectLst/>
                          <a:latin typeface="Arial" panose="020B0604020202020204" pitchFamily="34" charset="0"/>
                          <a:cs typeface="Arial" panose="020B0604020202020204" pitchFamily="34" charset="0"/>
                        </a:rPr>
                        <a:t>API testing </a:t>
                      </a:r>
                    </a:p>
                    <a:p>
                      <a:r>
                        <a:rPr lang="en-US" sz="1200" b="0" i="0" dirty="0">
                          <a:solidFill>
                            <a:srgbClr val="282828"/>
                          </a:solidFill>
                          <a:effectLst/>
                          <a:latin typeface="Arial" panose="020B0604020202020204" pitchFamily="34" charset="0"/>
                          <a:cs typeface="Arial" panose="020B0604020202020204" pitchFamily="34" charset="0"/>
                        </a:rPr>
                        <a:t>Regression testing (can be both functional and non-functional)</a:t>
                      </a: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b="0" i="0" dirty="0">
                          <a:solidFill>
                            <a:srgbClr val="282828"/>
                          </a:solidFill>
                          <a:effectLst/>
                          <a:latin typeface="Arial" panose="020B0604020202020204" pitchFamily="34" charset="0"/>
                          <a:cs typeface="Arial" panose="020B0604020202020204" pitchFamily="34" charset="0"/>
                        </a:rPr>
                        <a:t>Security testing</a:t>
                      </a:r>
                    </a:p>
                    <a:p>
                      <a:r>
                        <a:rPr lang="en-US" sz="1200" b="0" i="0" dirty="0">
                          <a:solidFill>
                            <a:srgbClr val="282828"/>
                          </a:solidFill>
                          <a:effectLst/>
                          <a:latin typeface="Arial" panose="020B0604020202020204" pitchFamily="34" charset="0"/>
                          <a:cs typeface="Arial" panose="020B0604020202020204" pitchFamily="34" charset="0"/>
                        </a:rPr>
                        <a:t>Performance testing</a:t>
                      </a:r>
                    </a:p>
                    <a:p>
                      <a:r>
                        <a:rPr lang="en-US" sz="1200" b="0" i="0" dirty="0">
                          <a:solidFill>
                            <a:srgbClr val="282828"/>
                          </a:solidFill>
                          <a:effectLst/>
                          <a:latin typeface="Arial" panose="020B0604020202020204" pitchFamily="34" charset="0"/>
                          <a:cs typeface="Arial" panose="020B0604020202020204" pitchFamily="34" charset="0"/>
                        </a:rPr>
                        <a:t>Load testing</a:t>
                      </a:r>
                    </a:p>
                    <a:p>
                      <a:r>
                        <a:rPr lang="en-US" sz="1200" b="0" i="0" dirty="0">
                          <a:solidFill>
                            <a:srgbClr val="282828"/>
                          </a:solidFill>
                          <a:effectLst/>
                          <a:latin typeface="Arial" panose="020B0604020202020204" pitchFamily="34" charset="0"/>
                          <a:cs typeface="Arial" panose="020B0604020202020204" pitchFamily="34" charset="0"/>
                        </a:rPr>
                        <a:t>Stress testing</a:t>
                      </a:r>
                    </a:p>
                  </a:txBody>
                  <a:tcPr marL="133879" marR="133879" marT="133904" marB="13390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79</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IN" noProof="0" dirty="0">
                <a:ln>
                  <a:noFill/>
                </a:ln>
                <a:effectLst/>
                <a:uLnTx/>
                <a:uFillTx/>
                <a:sym typeface="Arial" panose="020B0604020202020204" pitchFamily="34" charset="0"/>
              </a:rPr>
              <a:t>Usability &amp; Visual Testing</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23240" y="1255395"/>
            <a:ext cx="11125200" cy="4285615"/>
          </a:xfrm>
          <a:prstGeom prst="rect">
            <a:avLst/>
          </a:prstGeom>
          <a:noFill/>
        </p:spPr>
        <p:txBody>
          <a:bodyPr wrap="square" rtlCol="0" anchor="t">
            <a:noAutofit/>
          </a:bodyPr>
          <a:lstStyle/>
          <a:p>
            <a:pPr algn="just">
              <a:spcBef>
                <a:spcPts val="365"/>
              </a:spcBef>
              <a:spcAft>
                <a:spcPct val="0"/>
              </a:spcAft>
              <a:buClr>
                <a:srgbClr val="000000"/>
              </a:buClr>
            </a:pPr>
            <a:r>
              <a:rPr sz="2200" dirty="0">
                <a:solidFill>
                  <a:srgbClr val="333333"/>
                </a:solidFill>
                <a:latin typeface="Arial" panose="020B0604020202020204"/>
                <a:ea typeface="Arial" panose="020B0604020202020204"/>
                <a:cs typeface="Arial" panose="020B0604020202020204"/>
                <a:sym typeface="Arial" panose="020B0604020202020204" pitchFamily="34" charset="0"/>
              </a:rPr>
              <a:t>Usability testing refers to evaluating a product or service by testing it with representative users. Typically, during a test, participants will try to complete typical tasks while observers watch, listen and takes notes.  The goal is to identify any usability problems, collect qualitative and quantitative data and determine the participant's satisfaction with the product.</a:t>
            </a:r>
          </a:p>
          <a:p>
            <a:pPr algn="just">
              <a:spcBef>
                <a:spcPts val="365"/>
              </a:spcBef>
              <a:spcAft>
                <a:spcPct val="0"/>
              </a:spcAft>
              <a:buClr>
                <a:srgbClr val="000000"/>
              </a:buClr>
            </a:pPr>
            <a:r>
              <a:rPr sz="2200" dirty="0">
                <a:solidFill>
                  <a:srgbClr val="333333"/>
                </a:solidFill>
                <a:latin typeface="Arial" panose="020B0604020202020204"/>
                <a:ea typeface="Arial" panose="020B0604020202020204"/>
                <a:cs typeface="Arial" panose="020B0604020202020204"/>
                <a:sym typeface="Arial" panose="020B0604020202020204" pitchFamily="34" charset="0"/>
              </a:rPr>
              <a:t>To </a:t>
            </a:r>
            <a:r>
              <a:rPr sz="2200" dirty="0">
                <a:solidFill>
                  <a:srgbClr val="333333"/>
                </a:solidFill>
                <a:latin typeface="Arial" panose="020B0604020202020204"/>
                <a:ea typeface="Arial" panose="020B0604020202020204"/>
                <a:cs typeface="Arial" panose="020B0604020202020204"/>
                <a:sym typeface="Arial" panose="020B0604020202020204" pitchFamily="34" charset="0"/>
                <a:hlinkClick r:id="rId3"/>
              </a:rPr>
              <a:t>run an effective usability test</a:t>
            </a:r>
            <a:r>
              <a:rPr sz="2200" dirty="0">
                <a:solidFill>
                  <a:srgbClr val="333333"/>
                </a:solidFill>
                <a:latin typeface="Arial" panose="020B0604020202020204"/>
                <a:ea typeface="Arial" panose="020B0604020202020204"/>
                <a:cs typeface="Arial" panose="020B0604020202020204"/>
                <a:sym typeface="Arial" panose="020B0604020202020204" pitchFamily="34" charset="0"/>
              </a:rPr>
              <a:t>, you need to develop a solid </a:t>
            </a:r>
            <a:r>
              <a:rPr sz="2200" dirty="0">
                <a:solidFill>
                  <a:srgbClr val="333333"/>
                </a:solidFill>
                <a:latin typeface="Arial" panose="020B0604020202020204"/>
                <a:ea typeface="Arial" panose="020B0604020202020204"/>
                <a:cs typeface="Arial" panose="020B0604020202020204"/>
                <a:sym typeface="Arial" panose="020B0604020202020204" pitchFamily="34" charset="0"/>
                <a:hlinkClick r:id="rId4"/>
              </a:rPr>
              <a:t>test plan</a:t>
            </a:r>
            <a:r>
              <a:rPr sz="2200" dirty="0">
                <a:solidFill>
                  <a:srgbClr val="333333"/>
                </a:solidFill>
                <a:latin typeface="Arial" panose="020B0604020202020204"/>
                <a:ea typeface="Arial" panose="020B0604020202020204"/>
                <a:cs typeface="Arial" panose="020B0604020202020204"/>
                <a:sym typeface="Arial" panose="020B0604020202020204" pitchFamily="34" charset="0"/>
              </a:rPr>
              <a:t>, </a:t>
            </a:r>
            <a:r>
              <a:rPr sz="2200" dirty="0">
                <a:solidFill>
                  <a:srgbClr val="333333"/>
                </a:solidFill>
                <a:latin typeface="Arial" panose="020B0604020202020204"/>
                <a:ea typeface="Arial" panose="020B0604020202020204"/>
                <a:cs typeface="Arial" panose="020B0604020202020204"/>
                <a:sym typeface="Arial" panose="020B0604020202020204" pitchFamily="34" charset="0"/>
                <a:hlinkClick r:id="rId5"/>
              </a:rPr>
              <a:t>recruit participants</a:t>
            </a:r>
            <a:r>
              <a:rPr sz="2200" dirty="0">
                <a:solidFill>
                  <a:srgbClr val="333333"/>
                </a:solidFill>
                <a:latin typeface="Arial" panose="020B0604020202020204"/>
                <a:ea typeface="Arial" panose="020B0604020202020204"/>
                <a:cs typeface="Arial" panose="020B0604020202020204"/>
                <a:sym typeface="Arial" panose="020B0604020202020204" pitchFamily="34" charset="0"/>
              </a:rPr>
              <a:t>, and then </a:t>
            </a:r>
            <a:r>
              <a:rPr sz="2200" dirty="0">
                <a:solidFill>
                  <a:srgbClr val="333333"/>
                </a:solidFill>
                <a:latin typeface="Arial" panose="020B0604020202020204"/>
                <a:ea typeface="Arial" panose="020B0604020202020204"/>
                <a:cs typeface="Arial" panose="020B0604020202020204"/>
                <a:sym typeface="Arial" panose="020B0604020202020204" pitchFamily="34" charset="0"/>
                <a:hlinkClick r:id="rId6"/>
              </a:rPr>
              <a:t>analyze and report your findings</a:t>
            </a:r>
            <a:r>
              <a:rPr sz="2800" dirty="0">
                <a:solidFill>
                  <a:srgbClr val="333333"/>
                </a:solidFill>
                <a:latin typeface="Helvetica" pitchFamily="34" charset="0"/>
                <a:ea typeface="Arial" panose="020B0604020202020204"/>
                <a:cs typeface="Arial" panose="020B0604020202020204"/>
                <a:sym typeface="Arial" panose="020B0604020202020204" pitchFamily="34" charset="0"/>
              </a:rPr>
              <a:t>.</a:t>
            </a:r>
            <a:endParaRPr lang="en-US" sz="2800" dirty="0">
              <a:solidFill>
                <a:srgbClr val="333333"/>
              </a:solidFill>
              <a:latin typeface="Helvetica" pitchFamily="34" charset="0"/>
              <a:ea typeface="Arial" panose="020B0604020202020204"/>
              <a:cs typeface="Arial" panose="020B0604020202020204"/>
              <a:sym typeface="Arial" panose="020B06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80</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IN" noProof="0" dirty="0">
                <a:ln>
                  <a:noFill/>
                </a:ln>
                <a:effectLst/>
                <a:uLnTx/>
                <a:uFillTx/>
                <a:sym typeface="Arial" panose="020B0604020202020204" pitchFamily="34" charset="0"/>
              </a:rPr>
              <a:t>Visual Testing</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56895" y="1154430"/>
            <a:ext cx="11092180" cy="4961890"/>
          </a:xfrm>
          <a:prstGeom prst="rect">
            <a:avLst/>
          </a:prstGeom>
          <a:noFill/>
        </p:spPr>
        <p:txBody>
          <a:bodyPr wrap="square" rtlCol="0" anchor="t">
            <a:noAutofit/>
          </a:bodyPr>
          <a:lstStyle/>
          <a:p>
            <a:pPr marL="342900" indent="-342900">
              <a:spcBef>
                <a:spcPts val="365"/>
              </a:spcBef>
              <a:spcAft>
                <a:spcPct val="0"/>
              </a:spcAft>
              <a:buClr>
                <a:srgbClr val="000000"/>
              </a:buClr>
              <a:buFont typeface="Arial" panose="020B0604020202020204" pitchFamily="34" charset="0"/>
              <a:buChar char="•"/>
            </a:pPr>
            <a:r>
              <a:rPr lang="en-US" altLang="en-US" sz="2200" dirty="0">
                <a:latin typeface="Arial" panose="020B0604020202020204"/>
                <a:ea typeface="Arial" panose="020B0604020202020204"/>
                <a:cs typeface="Arial" panose="020B0604020202020204"/>
                <a:sym typeface="Arial" panose="020B0604020202020204" pitchFamily="34" charset="0"/>
              </a:rPr>
              <a:t>Visual testing is a software testing technique that evaluates the visual appearance and behavior of a software application’s user interface (UI) or graphical user interface (GUI). Visual testing aims to verify that the application’s visual elements like colors, images, fonts, and layouts, are displayed correctly and consistently across different devices, operating systems, and browsers.​</a:t>
            </a:r>
          </a:p>
          <a:p>
            <a:pPr marL="342900" indent="-342900">
              <a:spcBef>
                <a:spcPts val="365"/>
              </a:spcBef>
              <a:spcAft>
                <a:spcPct val="0"/>
              </a:spcAft>
              <a:buClr>
                <a:srgbClr val="000000"/>
              </a:buClr>
              <a:buFont typeface="Arial" panose="020B0604020202020204" pitchFamily="34" charset="0"/>
              <a:buChar char="•"/>
            </a:pPr>
            <a:r>
              <a:rPr lang="en-US" altLang="en-US" sz="2200" dirty="0">
                <a:latin typeface="Arial" panose="020B0604020202020204"/>
                <a:ea typeface="Arial" panose="020B0604020202020204"/>
                <a:cs typeface="Arial" panose="020B0604020202020204"/>
                <a:sym typeface="Arial" panose="020B0604020202020204" pitchFamily="34" charset="0"/>
              </a:rPr>
              <a:t>Visual testing ensures that the user interface (UI) of the developed product appears as intended for users. It accomplishes this through several key benefits, including:</a:t>
            </a:r>
          </a:p>
          <a:p>
            <a:pPr marL="342900" indent="-342900">
              <a:spcBef>
                <a:spcPts val="365"/>
              </a:spcBef>
              <a:spcAft>
                <a:spcPct val="0"/>
              </a:spcAft>
              <a:buClr>
                <a:srgbClr val="000000"/>
              </a:buClr>
              <a:buFont typeface="Arial" panose="020B0604020202020204" pitchFamily="34" charset="0"/>
              <a:buChar char="•"/>
            </a:pPr>
            <a:r>
              <a:rPr lang="en-US" altLang="en-US" sz="2200" dirty="0">
                <a:latin typeface="Arial" panose="020B0604020202020204"/>
                <a:ea typeface="Arial" panose="020B0604020202020204"/>
                <a:cs typeface="Arial" panose="020B0604020202020204"/>
                <a:sym typeface="Arial" panose="020B0604020202020204" pitchFamily="34" charset="0"/>
              </a:rPr>
              <a:t>Identifying defects or issues in the UI interface.</a:t>
            </a:r>
          </a:p>
          <a:p>
            <a:pPr marL="342900" indent="-342900">
              <a:spcBef>
                <a:spcPts val="365"/>
              </a:spcBef>
              <a:spcAft>
                <a:spcPct val="0"/>
              </a:spcAft>
              <a:buClr>
                <a:srgbClr val="000000"/>
              </a:buClr>
              <a:buFont typeface="Arial" panose="020B0604020202020204" pitchFamily="34" charset="0"/>
              <a:buChar char="•"/>
            </a:pPr>
            <a:r>
              <a:rPr lang="en-US" altLang="en-US" sz="2200" dirty="0">
                <a:latin typeface="Arial" panose="020B0604020202020204"/>
                <a:ea typeface="Arial" panose="020B0604020202020204"/>
                <a:cs typeface="Arial" panose="020B0604020202020204"/>
                <a:sym typeface="Arial" panose="020B0604020202020204" pitchFamily="34" charset="0"/>
              </a:rPr>
              <a:t>Detecting variations in the UI that do not match the baseline snapshots.</a:t>
            </a:r>
          </a:p>
          <a:p>
            <a:pPr marL="342900" indent="-342900">
              <a:spcBef>
                <a:spcPts val="365"/>
              </a:spcBef>
              <a:spcAft>
                <a:spcPct val="0"/>
              </a:spcAft>
              <a:buClr>
                <a:srgbClr val="000000"/>
              </a:buClr>
              <a:buFont typeface="Arial" panose="020B0604020202020204" pitchFamily="34" charset="0"/>
              <a:buChar char="•"/>
            </a:pPr>
            <a:r>
              <a:rPr lang="en-US" altLang="en-US" sz="2200" dirty="0">
                <a:latin typeface="Arial" panose="020B0604020202020204"/>
                <a:ea typeface="Arial" panose="020B0604020202020204"/>
                <a:cs typeface="Arial" panose="020B0604020202020204"/>
                <a:sym typeface="Arial" panose="020B0604020202020204" pitchFamily="34" charset="0"/>
              </a:rPr>
              <a:t>Creating specialized visual test cases that cover functional points.</a:t>
            </a:r>
          </a:p>
          <a:p>
            <a:pPr marL="342900" indent="-342900">
              <a:spcBef>
                <a:spcPts val="365"/>
              </a:spcBef>
              <a:spcAft>
                <a:spcPct val="0"/>
              </a:spcAft>
              <a:buClr>
                <a:srgbClr val="000000"/>
              </a:buClr>
              <a:buFont typeface="Arial" panose="020B0604020202020204" pitchFamily="34" charset="0"/>
              <a:buChar char="•"/>
            </a:pPr>
            <a:r>
              <a:rPr lang="en-US" altLang="en-US" sz="2200" dirty="0">
                <a:latin typeface="Arial" panose="020B0604020202020204"/>
                <a:ea typeface="Arial" panose="020B0604020202020204"/>
                <a:cs typeface="Arial" panose="020B0604020202020204"/>
                <a:sym typeface="Arial" panose="020B0604020202020204" pitchFamily="34" charset="0"/>
              </a:rPr>
              <a:t>Identify visual bugs on different browsers</a:t>
            </a:r>
            <a:r>
              <a:rPr lang="en-US" altLang="en-US" sz="2000" dirty="0">
                <a:latin typeface="Arial" panose="020B0604020202020204"/>
                <a:ea typeface="Arial" panose="020B0604020202020204"/>
                <a:cs typeface="Arial" panose="020B0604020202020204"/>
                <a:sym typeface="Arial" panose="020B0604020202020204" pitchFamily="34" charset="0"/>
              </a:rPr>
              <a: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81</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IN" noProof="0" dirty="0">
                <a:ln>
                  <a:noFill/>
                </a:ln>
                <a:effectLst/>
                <a:uLnTx/>
                <a:uFillTx/>
                <a:sym typeface="Arial" panose="020B0604020202020204" pitchFamily="34" charset="0"/>
              </a:rPr>
              <a:t>Performance &amp; Load Testing</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17195" y="955675"/>
            <a:ext cx="11308080" cy="5219065"/>
          </a:xfrm>
          <a:prstGeom prst="rect">
            <a:avLst/>
          </a:prstGeom>
          <a:noFill/>
        </p:spPr>
        <p:txBody>
          <a:bodyPr wrap="square" rtlCol="0" anchor="t">
            <a:noAutofit/>
          </a:bodyPr>
          <a:lstStyle/>
          <a:p>
            <a:pPr marL="114300" indent="0" algn="just">
              <a:spcBef>
                <a:spcPts val="365"/>
              </a:spcBef>
              <a:spcAft>
                <a:spcPct val="0"/>
              </a:spcAft>
              <a:buClr>
                <a:srgbClr val="000000"/>
              </a:buClr>
              <a:buFont typeface="Arial" panose="020B0604020202020204" pitchFamily="34" charset="0"/>
              <a:buNone/>
            </a:pPr>
            <a:r>
              <a:rPr lang="en-US" altLang="en-US" sz="2000" dirty="0">
                <a:latin typeface="Arial" panose="020B0604020202020204"/>
                <a:ea typeface="Arial" panose="020B0604020202020204"/>
                <a:cs typeface="Arial" panose="020B0604020202020204"/>
                <a:sym typeface="Arial" panose="020B0604020202020204" pitchFamily="34" charset="0"/>
              </a:rPr>
              <a:t>Performance testing is a type of testing that is performed for verifying the performance of a system and to monitor the behavior of the system under stress. It tells about the reliability, stability, response time, and scalability of a system. On the other hand, load testing is primarily aimed for identifying the behavior of a system under the expected load</a:t>
            </a:r>
            <a:r>
              <a:rPr lang="en-US" altLang="en-US" sz="2000" b="1" dirty="0">
                <a:latin typeface="Arial" panose="020B0604020202020204"/>
                <a:ea typeface="Arial" panose="020B0604020202020204"/>
                <a:cs typeface="Arial" panose="020B0604020202020204"/>
                <a:sym typeface="Arial" panose="020B0604020202020204" pitchFamily="34" charset="0"/>
              </a:rPr>
              <a:t>.</a:t>
            </a:r>
          </a:p>
          <a:p>
            <a:pPr marL="114300" indent="0">
              <a:spcBef>
                <a:spcPts val="365"/>
              </a:spcBef>
              <a:spcAft>
                <a:spcPct val="0"/>
              </a:spcAft>
              <a:buClr>
                <a:srgbClr val="000000"/>
              </a:buClr>
              <a:buFont typeface="Arial" panose="020B0604020202020204" pitchFamily="34" charset="0"/>
              <a:buNone/>
            </a:pPr>
            <a:endParaRPr lang="en-US" altLang="en-US" sz="2000" b="1" dirty="0">
              <a:latin typeface="Arial" panose="020B0604020202020204"/>
              <a:ea typeface="Arial" panose="020B0604020202020204"/>
              <a:cs typeface="Arial" panose="020B0604020202020204"/>
              <a:sym typeface="Arial" panose="020B0604020202020204" pitchFamily="34" charset="0"/>
            </a:endParaRPr>
          </a:p>
          <a:p>
            <a:pPr marL="114300" indent="0">
              <a:spcBef>
                <a:spcPts val="365"/>
              </a:spcBef>
              <a:spcAft>
                <a:spcPct val="0"/>
              </a:spcAft>
              <a:buClr>
                <a:srgbClr val="000000"/>
              </a:buClr>
              <a:buFont typeface="Arial" panose="020B0604020202020204" pitchFamily="34" charset="0"/>
              <a:buNone/>
            </a:pPr>
            <a:r>
              <a:rPr lang="en-US" altLang="en-US" sz="2000" b="1" dirty="0">
                <a:latin typeface="Arial" panose="020B0604020202020204"/>
                <a:ea typeface="Arial" panose="020B0604020202020204"/>
                <a:cs typeface="Arial" panose="020B0604020202020204"/>
                <a:sym typeface="Arial" panose="020B0604020202020204" pitchFamily="34" charset="0"/>
              </a:rPr>
              <a:t>What is Performance Testing?</a:t>
            </a:r>
          </a:p>
          <a:p>
            <a:pPr marL="114300" indent="0">
              <a:spcBef>
                <a:spcPts val="365"/>
              </a:spcBef>
              <a:spcAft>
                <a:spcPct val="0"/>
              </a:spcAft>
              <a:buClr>
                <a:srgbClr val="000000"/>
              </a:buClr>
              <a:buFont typeface="Arial" panose="020B0604020202020204" pitchFamily="34" charset="0"/>
              <a:buNone/>
            </a:pPr>
            <a:endParaRPr lang="en-US" altLang="en-US" sz="2000" dirty="0">
              <a:latin typeface="Arial" panose="020B0604020202020204"/>
              <a:ea typeface="Arial" panose="020B0604020202020204"/>
              <a:cs typeface="Arial" panose="020B0604020202020204"/>
              <a:sym typeface="Arial" panose="020B0604020202020204" pitchFamily="34" charset="0"/>
            </a:endParaRPr>
          </a:p>
          <a:p>
            <a:pPr marL="114300" indent="0" algn="just">
              <a:spcBef>
                <a:spcPts val="365"/>
              </a:spcBef>
              <a:spcAft>
                <a:spcPct val="0"/>
              </a:spcAft>
              <a:buClr>
                <a:srgbClr val="000000"/>
              </a:buClr>
              <a:buFont typeface="Arial" panose="020B0604020202020204" pitchFamily="34" charset="0"/>
              <a:buNone/>
            </a:pPr>
            <a:r>
              <a:rPr lang="en-US" altLang="en-US" sz="2000" dirty="0">
                <a:latin typeface="Arial" panose="020B0604020202020204"/>
                <a:ea typeface="Arial" panose="020B0604020202020204"/>
                <a:cs typeface="Arial" panose="020B0604020202020204"/>
                <a:sym typeface="Arial" panose="020B0604020202020204" pitchFamily="34" charset="0"/>
              </a:rPr>
              <a:t>Performance testing is performed over the software to test its performance under a particular workload for its sensitivity, reaction time and its stability. Performance testing is basically a superset of stress testing.</a:t>
            </a:r>
          </a:p>
          <a:p>
            <a:pPr marL="114300" indent="0" algn="just">
              <a:spcBef>
                <a:spcPts val="365"/>
              </a:spcBef>
              <a:spcAft>
                <a:spcPct val="0"/>
              </a:spcAft>
              <a:buClr>
                <a:srgbClr val="000000"/>
              </a:buClr>
              <a:buFont typeface="Arial" panose="020B0604020202020204" pitchFamily="34" charset="0"/>
              <a:buNone/>
            </a:pPr>
            <a:r>
              <a:rPr lang="en-US" altLang="en-US" sz="2000" dirty="0">
                <a:latin typeface="Arial" panose="020B0604020202020204"/>
                <a:ea typeface="Arial" panose="020B0604020202020204"/>
                <a:cs typeface="Arial" panose="020B0604020202020204"/>
                <a:sym typeface="Arial" panose="020B0604020202020204" pitchFamily="34" charset="0"/>
              </a:rPr>
              <a:t>The primary goal of performing performance testing is to set the standards and benchmarks for the product. Performance testing indicates how the product behaves under regular parameters. Checking for concurrent users and response time is an example of performance testing.</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82</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IN" noProof="0" dirty="0">
                <a:ln>
                  <a:noFill/>
                </a:ln>
                <a:effectLst/>
                <a:uLnTx/>
                <a:uFillTx/>
                <a:sym typeface="Arial" panose="020B0604020202020204" pitchFamily="34" charset="0"/>
              </a:rPr>
              <a:t>Performance &amp; Load Testing</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67055" y="1143000"/>
            <a:ext cx="11015980" cy="4573270"/>
          </a:xfrm>
          <a:prstGeom prst="rect">
            <a:avLst/>
          </a:prstGeom>
          <a:noFill/>
        </p:spPr>
        <p:txBody>
          <a:bodyPr wrap="square" rtlCol="0" anchor="t">
            <a:noAutofit/>
          </a:bodyPr>
          <a:lstStyle/>
          <a:p>
            <a:pPr marL="285750" indent="-285750">
              <a:spcBef>
                <a:spcPts val="365"/>
              </a:spcBef>
              <a:spcAft>
                <a:spcPct val="0"/>
              </a:spcAft>
              <a:buClr>
                <a:srgbClr val="000000"/>
              </a:buClr>
              <a:buFont typeface="Arial" panose="020B0604020202020204" pitchFamily="34" charset="0"/>
              <a:buChar char="•"/>
            </a:pPr>
            <a:r>
              <a:rPr lang="en-US" altLang="en-US" dirty="0">
                <a:latin typeface="Arial" panose="020B0604020202020204"/>
                <a:ea typeface="Arial" panose="020B0604020202020204"/>
                <a:cs typeface="Arial" panose="020B0604020202020204"/>
                <a:sym typeface="Arial" panose="020B0604020202020204" pitchFamily="34" charset="0"/>
              </a:rPr>
              <a:t>Load testing checks the performance of a software to check its performance under real life-based loads. In other words, load testing is a type of testing that checks the behavior of a system under the expected load. To perform the load testing of a system, we first need to know the expected load on the application in real life.</a:t>
            </a:r>
            <a:endParaRPr lang="en-US" altLang="en-US" sz="1800" dirty="0">
              <a:latin typeface="Arial" panose="020B0604020202020204"/>
              <a:ea typeface="Arial" panose="020B0604020202020204"/>
              <a:cs typeface="Arial" panose="020B0604020202020204"/>
              <a:sym typeface="Arial" panose="020B0604020202020204" pitchFamily="34" charset="0"/>
            </a:endParaRPr>
          </a:p>
          <a:p>
            <a:pPr>
              <a:spcBef>
                <a:spcPts val="365"/>
              </a:spcBef>
              <a:spcAft>
                <a:spcPct val="0"/>
              </a:spcAft>
              <a:buClr>
                <a:srgbClr val="000000"/>
              </a:buClr>
            </a:pPr>
            <a:endParaRPr lang="en-US" altLang="en-US" sz="1800" dirty="0">
              <a:latin typeface="Arial" panose="020B0604020202020204"/>
              <a:ea typeface="Arial" panose="020B0604020202020204"/>
              <a:cs typeface="Arial" panose="020B0604020202020204"/>
              <a:sym typeface="Arial" panose="020B0604020202020204" pitchFamily="34" charset="0"/>
            </a:endParaRPr>
          </a:p>
          <a:p>
            <a:pPr marL="285750" indent="-285750">
              <a:spcBef>
                <a:spcPts val="365"/>
              </a:spcBef>
              <a:spcAft>
                <a:spcPct val="0"/>
              </a:spcAft>
              <a:buClr>
                <a:srgbClr val="000000"/>
              </a:buClr>
              <a:buFont typeface="Arial" panose="020B0604020202020204" pitchFamily="34" charset="0"/>
              <a:buChar char="•"/>
            </a:pPr>
            <a:r>
              <a:rPr lang="en-US" altLang="en-US" dirty="0">
                <a:latin typeface="Arial" panose="020B0604020202020204"/>
                <a:ea typeface="Arial" panose="020B0604020202020204"/>
                <a:cs typeface="Arial" panose="020B0604020202020204"/>
                <a:sym typeface="Arial" panose="020B0604020202020204" pitchFamily="34" charset="0"/>
              </a:rPr>
              <a:t>Load testing collects all the data about response time, reliability, and stability of the system, and then analyzes the data to find the inconsistencies. Basically, the load test is performed to ensure the stable operation of a system under an expected load.</a:t>
            </a:r>
            <a:endParaRPr lang="en-US" altLang="en-US" sz="1800" dirty="0">
              <a:latin typeface="Arial" panose="020B0604020202020204"/>
              <a:ea typeface="Arial" panose="020B0604020202020204"/>
              <a:cs typeface="Arial" panose="020B0604020202020204"/>
              <a:sym typeface="Arial" panose="020B0604020202020204" pitchFamily="34" charset="0"/>
            </a:endParaRPr>
          </a:p>
          <a:p>
            <a:pPr>
              <a:spcBef>
                <a:spcPts val="365"/>
              </a:spcBef>
              <a:spcAft>
                <a:spcPct val="0"/>
              </a:spcAft>
              <a:buClr>
                <a:srgbClr val="000000"/>
              </a:buClr>
            </a:pPr>
            <a:endParaRPr lang="en-US" altLang="en-US" sz="1800" dirty="0">
              <a:latin typeface="Arial" panose="020B0604020202020204"/>
              <a:ea typeface="Arial" panose="020B0604020202020204"/>
              <a:cs typeface="Arial" panose="020B0604020202020204"/>
              <a:sym typeface="Arial" panose="020B0604020202020204" pitchFamily="34" charset="0"/>
            </a:endParaRPr>
          </a:p>
          <a:p>
            <a:pPr marL="285750" indent="-285750">
              <a:spcBef>
                <a:spcPts val="365"/>
              </a:spcBef>
              <a:spcAft>
                <a:spcPct val="0"/>
              </a:spcAft>
              <a:buClr>
                <a:srgbClr val="000000"/>
              </a:buClr>
              <a:buFont typeface="Arial" panose="020B0604020202020204" pitchFamily="34" charset="0"/>
              <a:buChar char="•"/>
            </a:pPr>
            <a:r>
              <a:rPr lang="en-US" altLang="en-US" dirty="0">
                <a:latin typeface="Arial" panose="020B0604020202020204"/>
                <a:ea typeface="Arial" panose="020B0604020202020204"/>
                <a:cs typeface="Arial" panose="020B0604020202020204"/>
                <a:sym typeface="Arial" panose="020B0604020202020204" pitchFamily="34" charset="0"/>
              </a:rPr>
              <a:t>The greatest advantage of load testing is that it helps in understanding the expected load that a system can handle so that we can reduce the risk of a failure.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83</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IN" noProof="0" dirty="0">
                <a:ln>
                  <a:noFill/>
                </a:ln>
                <a:effectLst/>
                <a:uLnTx/>
                <a:uFillTx/>
                <a:sym typeface="Arial" panose="020B0604020202020204" pitchFamily="34" charset="0"/>
              </a:rPr>
              <a:t>Performance &amp; Load Testing</a:t>
            </a:r>
            <a:endParaRPr lang="en-US" dirty="0"/>
          </a:p>
        </p:txBody>
      </p:sp>
      <p:pic>
        <p:nvPicPr>
          <p:cNvPr id="2" name="Picture 1" descr="A black and red logo&#10;&#10;Description automatically generated"/>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33162" name="Rectangle 9"/>
          <p:cNvSpPr/>
          <p:nvPr>
            <p:custDataLst>
              <p:tags r:id="rId1"/>
            </p:custDataLst>
          </p:nvPr>
        </p:nvSpPr>
        <p:spPr>
          <a:xfrm>
            <a:off x="209550" y="1277938"/>
            <a:ext cx="11922125" cy="277812"/>
          </a:xfrm>
          <a:prstGeom prst="rect">
            <a:avLst/>
          </a:prstGeom>
          <a:noFill/>
          <a:ln w="9525">
            <a:noFill/>
          </a:ln>
        </p:spPr>
        <p:txBody>
          <a:bodyPr anchor="ctr" anchorCtr="0">
            <a:spAutoFit/>
          </a:bodyPr>
          <a:lstStyle>
            <a:lvl1pPr marL="342900" indent="-3429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1pPr>
            <a:lvl2pPr marL="742950" lvl="1" indent="-28575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2pPr>
            <a:lvl3pPr marL="1143000" lvl="2"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3pPr>
            <a:lvl4pPr marL="1600200" lvl="3"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4pPr>
            <a:lvl5pPr marL="2057400" lvl="4" indent="-228600" algn="l" rtl="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a:ea typeface="Arial" panose="020B0604020202020204"/>
                <a:cs typeface="Arial" panose="020B0604020202020204"/>
                <a:sym typeface="Arial" panose="020B0604020202020204" pitchFamily="34" charset="0"/>
              </a:defRPr>
            </a:lvl5pPr>
          </a:lstStyle>
          <a:p>
            <a:pPr marL="0" lvl="0" indent="0" algn="just">
              <a:buClrTx/>
              <a:buFontTx/>
              <a:buNone/>
            </a:pPr>
            <a:r>
              <a:rPr lang="en-US" altLang="en-US" sz="1200" dirty="0">
                <a:latin typeface="Arial Black" panose="020B0A04020102020204" pitchFamily="34" charset="0"/>
              </a:rPr>
              <a:t>The following are some of the important differences between Performance Testing and Load Testing </a:t>
            </a:r>
            <a:r>
              <a:rPr lang="en-US" altLang="en-US" sz="1200" dirty="0">
                <a:latin typeface="Nunito" pitchFamily="2" charset="0"/>
              </a:rPr>
              <a:t>−</a:t>
            </a:r>
            <a:endParaRPr lang="en-US" altLang="en-US" dirty="0"/>
          </a:p>
        </p:txBody>
      </p:sp>
      <p:graphicFrame>
        <p:nvGraphicFramePr>
          <p:cNvPr id="3" name="Content Placeholder 2"/>
          <p:cNvGraphicFramePr>
            <a:graphicFrameLocks noGrp="1"/>
          </p:cNvGraphicFramePr>
          <p:nvPr>
            <p:ph idx="1"/>
            <p:custDataLst>
              <p:tags r:id="rId2"/>
            </p:custDataLst>
          </p:nvPr>
        </p:nvGraphicFramePr>
        <p:xfrm>
          <a:off x="609600" y="1600201"/>
          <a:ext cx="10972800" cy="4888230"/>
        </p:xfrm>
        <a:graphic>
          <a:graphicData uri="http://schemas.openxmlformats.org/drawingml/2006/table">
            <a:tbl>
              <a:tblPr/>
              <a:tblGrid>
                <a:gridCol w="3642360">
                  <a:extLst>
                    <a:ext uri="{9D8B030D-6E8A-4147-A177-3AD203B41FA5}">
                      <a16:colId xmlns:a16="http://schemas.microsoft.com/office/drawing/2014/main" val="20000"/>
                    </a:ext>
                  </a:extLst>
                </a:gridCol>
                <a:gridCol w="3664585">
                  <a:extLst>
                    <a:ext uri="{9D8B030D-6E8A-4147-A177-3AD203B41FA5}">
                      <a16:colId xmlns:a16="http://schemas.microsoft.com/office/drawing/2014/main" val="20001"/>
                    </a:ext>
                  </a:extLst>
                </a:gridCol>
                <a:gridCol w="3665855">
                  <a:extLst>
                    <a:ext uri="{9D8B030D-6E8A-4147-A177-3AD203B41FA5}">
                      <a16:colId xmlns:a16="http://schemas.microsoft.com/office/drawing/2014/main" val="20002"/>
                    </a:ext>
                  </a:extLst>
                </a:gridCol>
              </a:tblGrid>
              <a:tr h="332740">
                <a:tc>
                  <a:txBody>
                    <a:bodyPr/>
                    <a:lstStyle/>
                    <a:p>
                      <a:pPr algn="ctr" fontAlgn="ctr"/>
                      <a:r>
                        <a:rPr lang="en-IN" sz="1600" b="1" dirty="0">
                          <a:solidFill>
                            <a:srgbClr val="000000"/>
                          </a:solidFill>
                          <a:effectLst/>
                        </a:rPr>
                        <a:t>Key</a:t>
                      </a:r>
                    </a:p>
                  </a:txBody>
                  <a:tcPr marL="36952" marR="36952" marT="36947" marB="3694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ctr"/>
                      <a:r>
                        <a:rPr lang="en-IN" sz="1600" b="1" dirty="0">
                          <a:solidFill>
                            <a:srgbClr val="000000"/>
                          </a:solidFill>
                          <a:effectLst/>
                        </a:rPr>
                        <a:t>Performance Testing</a:t>
                      </a:r>
                    </a:p>
                  </a:txBody>
                  <a:tcPr marL="36952" marR="36952" marT="36947" marB="3694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ctr"/>
                      <a:r>
                        <a:rPr lang="en-IN" sz="1600" b="1" dirty="0">
                          <a:solidFill>
                            <a:srgbClr val="000000"/>
                          </a:solidFill>
                          <a:effectLst/>
                        </a:rPr>
                        <a:t>Load Testing</a:t>
                      </a:r>
                    </a:p>
                  </a:txBody>
                  <a:tcPr marL="36952" marR="36952" marT="36947" marB="3694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927329">
                <a:tc>
                  <a:txBody>
                    <a:bodyPr/>
                    <a:lstStyle/>
                    <a:p>
                      <a:pPr algn="just" fontAlgn="ctr"/>
                      <a:r>
                        <a:rPr lang="en-IN" sz="1400" b="1" dirty="0">
                          <a:solidFill>
                            <a:srgbClr val="000000"/>
                          </a:solidFill>
                          <a:effectLst/>
                        </a:rPr>
                        <a:t>Purpose</a:t>
                      </a:r>
                    </a:p>
                  </a:txBody>
                  <a:tcPr marL="36952" marR="36952" marT="36947" marB="3694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dirty="0">
                          <a:solidFill>
                            <a:srgbClr val="000000"/>
                          </a:solidFill>
                          <a:effectLst/>
                        </a:rPr>
                        <a:t>Performance testing tests the system performance under varying loads.</a:t>
                      </a:r>
                    </a:p>
                  </a:txBody>
                  <a:tcPr marL="36952" marR="36952" marT="36947" marB="3694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dirty="0">
                          <a:solidFill>
                            <a:srgbClr val="000000"/>
                          </a:solidFill>
                          <a:effectLst/>
                        </a:rPr>
                        <a:t>Load testing tests the system performance for multiple users using the application at the same time.</a:t>
                      </a:r>
                    </a:p>
                  </a:txBody>
                  <a:tcPr marL="36952" marR="36952" marT="36947" marB="3694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970">
                <a:tc>
                  <a:txBody>
                    <a:bodyPr/>
                    <a:lstStyle/>
                    <a:p>
                      <a:pPr algn="l" fontAlgn="ctr"/>
                      <a:r>
                        <a:rPr lang="en-IN" sz="1400" b="1" dirty="0">
                          <a:solidFill>
                            <a:srgbClr val="000000"/>
                          </a:solidFill>
                          <a:effectLst/>
                        </a:rPr>
                        <a:t>Threshold</a:t>
                      </a:r>
                    </a:p>
                  </a:txBody>
                  <a:tcPr marL="36952" marR="36952" marT="36947" marB="3694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dirty="0">
                          <a:solidFill>
                            <a:srgbClr val="000000"/>
                          </a:solidFill>
                          <a:effectLst/>
                        </a:rPr>
                        <a:t>Performance testing is conducted at below and above threshold limits.</a:t>
                      </a:r>
                    </a:p>
                  </a:txBody>
                  <a:tcPr marL="36952" marR="36952" marT="36947" marB="3694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a:solidFill>
                            <a:srgbClr val="000000"/>
                          </a:solidFill>
                          <a:effectLst/>
                        </a:rPr>
                        <a:t>Load testing is conducted at threshold limits.</a:t>
                      </a:r>
                    </a:p>
                  </a:txBody>
                  <a:tcPr marL="36952" marR="36952" marT="36947" marB="3694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79070">
                <a:tc>
                  <a:txBody>
                    <a:bodyPr/>
                    <a:lstStyle/>
                    <a:p>
                      <a:pPr algn="l" fontAlgn="ctr"/>
                      <a:r>
                        <a:rPr lang="en-IN" sz="1400" b="1">
                          <a:solidFill>
                            <a:srgbClr val="000000"/>
                          </a:solidFill>
                          <a:effectLst/>
                        </a:rPr>
                        <a:t>Result</a:t>
                      </a:r>
                    </a:p>
                  </a:txBody>
                  <a:tcPr marL="36952" marR="36952" marT="36947" marB="3694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dirty="0">
                          <a:solidFill>
                            <a:srgbClr val="000000"/>
                          </a:solidFill>
                          <a:effectLst/>
                        </a:rPr>
                        <a:t>Performance testing ensures that the system is performing perfectly under varying loads.</a:t>
                      </a:r>
                    </a:p>
                  </a:txBody>
                  <a:tcPr marL="36952" marR="36952" marT="36947" marB="3694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a:solidFill>
                            <a:srgbClr val="000000"/>
                          </a:solidFill>
                          <a:effectLst/>
                        </a:rPr>
                        <a:t>Load testing ensures that the system can handle how many users at a time without performance degradation.</a:t>
                      </a:r>
                    </a:p>
                  </a:txBody>
                  <a:tcPr marL="36952" marR="36952" marT="36947" marB="3694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970">
                <a:tc>
                  <a:txBody>
                    <a:bodyPr/>
                    <a:lstStyle/>
                    <a:p>
                      <a:pPr algn="l" fontAlgn="ctr"/>
                      <a:r>
                        <a:rPr lang="en-IN" sz="1400" b="1">
                          <a:solidFill>
                            <a:srgbClr val="000000"/>
                          </a:solidFill>
                          <a:effectLst/>
                        </a:rPr>
                        <a:t>Result</a:t>
                      </a:r>
                    </a:p>
                  </a:txBody>
                  <a:tcPr marL="36952" marR="36952" marT="36947" marB="3694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a:solidFill>
                            <a:srgbClr val="000000"/>
                          </a:solidFill>
                          <a:effectLst/>
                        </a:rPr>
                        <a:t>Performance testing checks the performance of the system.</a:t>
                      </a:r>
                    </a:p>
                  </a:txBody>
                  <a:tcPr marL="36952" marR="36952" marT="36947" marB="3694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dirty="0">
                          <a:solidFill>
                            <a:srgbClr val="000000"/>
                          </a:solidFill>
                          <a:effectLst/>
                        </a:rPr>
                        <a:t>Load testing checks the operational capacity of the system.</a:t>
                      </a:r>
                    </a:p>
                  </a:txBody>
                  <a:tcPr marL="36952" marR="36952" marT="36947" marB="3694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0611">
                <a:tc>
                  <a:txBody>
                    <a:bodyPr/>
                    <a:lstStyle/>
                    <a:p>
                      <a:pPr algn="l" fontAlgn="ctr"/>
                      <a:r>
                        <a:rPr lang="en-IN" sz="1400" b="1">
                          <a:solidFill>
                            <a:srgbClr val="000000"/>
                          </a:solidFill>
                          <a:effectLst/>
                        </a:rPr>
                        <a:t>Cost</a:t>
                      </a:r>
                    </a:p>
                  </a:txBody>
                  <a:tcPr marL="36952" marR="36952" marT="36947" marB="3694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a:solidFill>
                            <a:srgbClr val="000000"/>
                          </a:solidFill>
                          <a:effectLst/>
                        </a:rPr>
                        <a:t>Performance testing tools are not much costly.</a:t>
                      </a:r>
                    </a:p>
                  </a:txBody>
                  <a:tcPr marL="36952" marR="36952" marT="36947" marB="3694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dirty="0">
                          <a:solidFill>
                            <a:srgbClr val="000000"/>
                          </a:solidFill>
                          <a:effectLst/>
                        </a:rPr>
                        <a:t>Load testing tools are very costly.</a:t>
                      </a:r>
                    </a:p>
                  </a:txBody>
                  <a:tcPr marL="36952" marR="36952" marT="36947" marB="3694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20448">
                <a:tc>
                  <a:txBody>
                    <a:bodyPr/>
                    <a:lstStyle/>
                    <a:p>
                      <a:pPr algn="l" fontAlgn="ctr"/>
                      <a:r>
                        <a:rPr lang="en-IN" sz="1400" b="1">
                          <a:solidFill>
                            <a:srgbClr val="000000"/>
                          </a:solidFill>
                          <a:effectLst/>
                        </a:rPr>
                        <a:t>Targets</a:t>
                      </a:r>
                    </a:p>
                  </a:txBody>
                  <a:tcPr marL="36952" marR="36952" marT="36947" marB="3694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a:solidFill>
                            <a:srgbClr val="000000"/>
                          </a:solidFill>
                          <a:effectLst/>
                        </a:rPr>
                        <a:t>Performance testing checks the reliability, scalability, and speed of the system.</a:t>
                      </a:r>
                    </a:p>
                  </a:txBody>
                  <a:tcPr marL="36952" marR="36952" marT="36947" marB="3694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400" b="1" dirty="0">
                          <a:solidFill>
                            <a:srgbClr val="000000"/>
                          </a:solidFill>
                          <a:effectLst/>
                        </a:rPr>
                        <a:t>Load testing checks the sustainability of the system.</a:t>
                      </a:r>
                    </a:p>
                  </a:txBody>
                  <a:tcPr marL="36952" marR="36952" marT="36947" marB="36947">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84</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US" noProof="0" dirty="0">
                <a:ln>
                  <a:noFill/>
                </a:ln>
                <a:effectLst/>
                <a:uLnTx/>
                <a:uFillTx/>
                <a:latin typeface="Times New Roman" panose="02020603050405020304" pitchFamily="18" charset="0"/>
                <a:cs typeface="Times New Roman" panose="02020603050405020304" pitchFamily="18" charset="0"/>
                <a:sym typeface="Arial" panose="020B0604020202020204" pitchFamily="34" charset="0"/>
              </a:rPr>
              <a:t>Daily Quiz</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11810" y="963930"/>
            <a:ext cx="11099800" cy="5035550"/>
          </a:xfrm>
          <a:prstGeom prst="rect">
            <a:avLst/>
          </a:prstGeom>
          <a:noFill/>
        </p:spPr>
        <p:txBody>
          <a:bodyPr wrap="square" rtlCol="0" anchor="t">
            <a:noAutofit/>
          </a:bodyPr>
          <a:lstStyle/>
          <a:p>
            <a:pPr>
              <a:spcBef>
                <a:spcPts val="365"/>
              </a:spcBef>
              <a:spcAft>
                <a:spcPct val="0"/>
              </a:spcAft>
              <a:buClr>
                <a:srgbClr val="000000"/>
              </a:buClr>
            </a:pPr>
            <a:r>
              <a:rPr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What are shared on the Internet and are called as Web pages?</a:t>
            </a:r>
          </a:p>
          <a:p>
            <a:pPr>
              <a:spcBef>
                <a:spcPts val="365"/>
              </a:spcBef>
              <a:spcAft>
                <a:spcPct val="0"/>
              </a:spcAft>
              <a:buClr>
                <a:srgbClr val="000000"/>
              </a:buClr>
              <a:buFont typeface="Arial" panose="020B0604020202020204" pitchFamily="34" charset="0"/>
              <a:buAutoNum type="alphaLcParen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Programs</a:t>
            </a:r>
          </a:p>
          <a:p>
            <a:pPr>
              <a:spcBef>
                <a:spcPts val="365"/>
              </a:spcBef>
              <a:spcAft>
                <a:spcPct val="0"/>
              </a:spcAft>
              <a:buClr>
                <a:srgbClr val="000000"/>
              </a:buClr>
              <a:buFont typeface="Arial" panose="020B0604020202020204" pitchFamily="34" charset="0"/>
              <a:buAutoNum type="alphaLcParen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Cables</a:t>
            </a:r>
          </a:p>
          <a:p>
            <a:pPr>
              <a:spcBef>
                <a:spcPts val="365"/>
              </a:spcBef>
              <a:spcAft>
                <a:spcPct val="0"/>
              </a:spcAft>
              <a:buClr>
                <a:srgbClr val="000000"/>
              </a:buClr>
              <a:buFont typeface="Arial" panose="020B0604020202020204" pitchFamily="34" charset="0"/>
              <a:buAutoNum type="alphaLcParen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Hypertext documents</a:t>
            </a:r>
          </a:p>
          <a:p>
            <a:pPr>
              <a:spcBef>
                <a:spcPts val="365"/>
              </a:spcBef>
              <a:spcAft>
                <a:spcPct val="0"/>
              </a:spcAft>
              <a:buClr>
                <a:srgbClr val="000000"/>
              </a:buClr>
              <a:buFont typeface="Arial" panose="020B0604020202020204" pitchFamily="34" charset="0"/>
              <a:buAutoNum type="alphaLcParen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None</a:t>
            </a:r>
          </a:p>
          <a:p>
            <a:pPr>
              <a:spcBef>
                <a:spcPts val="365"/>
              </a:spcBef>
              <a:spcAft>
                <a:spcPct val="0"/>
              </a:spcAft>
              <a:buClr>
                <a:srgbClr val="000000"/>
              </a:buClr>
              <a:buFont typeface="Arial" panose="020B0604020202020204" pitchFamily="34" charset="0"/>
              <a:buNone/>
            </a:pPr>
            <a:endParaRPr sz="2000" dirty="0">
              <a:latin typeface="Arial" panose="020B0604020202020204"/>
              <a:ea typeface="Arial" panose="020B0604020202020204"/>
              <a:cs typeface="Arial" panose="020B0604020202020204"/>
              <a:sym typeface="Arial" panose="020B0604020202020204" pitchFamily="34" charset="0"/>
            </a:endParaRPr>
          </a:p>
          <a:p>
            <a:pPr>
              <a:spcBef>
                <a:spcPts val="365"/>
              </a:spcBef>
              <a:spcAft>
                <a:spcPct val="0"/>
              </a:spcAft>
              <a:buClr>
                <a:srgbClr val="000000"/>
              </a:buClr>
            </a:pPr>
            <a:r>
              <a:rPr lang="en-US" altLang="en-US" sz="2000" dirty="0">
                <a:latin typeface="Arial" panose="020B0604020202020204"/>
                <a:ea typeface="Arial" panose="020B0604020202020204"/>
                <a:cs typeface="Tahoma" panose="020B0604030504040204" pitchFamily="34" charset="0"/>
                <a:sym typeface="Arial" panose="020B0604020202020204" pitchFamily="34" charset="0"/>
              </a:rPr>
              <a:t> </a:t>
            </a:r>
            <a:r>
              <a:rPr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What is the name of the location address of the hypertext documents?</a:t>
            </a:r>
          </a:p>
          <a:p>
            <a:pPr>
              <a:spcBef>
                <a:spcPts val="365"/>
              </a:spcBef>
              <a:spcAft>
                <a:spcPct val="0"/>
              </a:spcAft>
              <a:buClr>
                <a:srgbClr val="000000"/>
              </a:buClr>
              <a:buFont typeface="Arial" panose="020B0604020202020204" pitchFamily="34" charset="0"/>
              <a:buAutoNum type="alphaLcParen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Uniform Resource Locator</a:t>
            </a:r>
          </a:p>
          <a:p>
            <a:pPr>
              <a:spcBef>
                <a:spcPts val="365"/>
              </a:spcBef>
              <a:spcAft>
                <a:spcPct val="0"/>
              </a:spcAft>
              <a:buClr>
                <a:srgbClr val="000000"/>
              </a:buClr>
              <a:buFont typeface="Arial" panose="020B0604020202020204" pitchFamily="34" charset="0"/>
              <a:buAutoNum type="alphaLcParen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Web server</a:t>
            </a:r>
          </a:p>
          <a:p>
            <a:pPr>
              <a:spcBef>
                <a:spcPts val="365"/>
              </a:spcBef>
              <a:spcAft>
                <a:spcPct val="0"/>
              </a:spcAft>
              <a:buClr>
                <a:srgbClr val="000000"/>
              </a:buClr>
              <a:buFont typeface="Arial" panose="020B0604020202020204" pitchFamily="34" charset="0"/>
              <a:buAutoNum type="alphaLcParen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File</a:t>
            </a:r>
          </a:p>
          <a:p>
            <a:pPr>
              <a:spcBef>
                <a:spcPts val="365"/>
              </a:spcBef>
              <a:spcAft>
                <a:spcPct val="0"/>
              </a:spcAft>
              <a:buClr>
                <a:srgbClr val="000000"/>
              </a:buClr>
              <a:buFont typeface="Arial" panose="020B0604020202020204" pitchFamily="34" charset="0"/>
              <a:buAutoNum type="alphaLcParen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Web address</a:t>
            </a:r>
            <a:endParaRPr 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85</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US" noProof="0" dirty="0">
                <a:ln>
                  <a:noFill/>
                </a:ln>
                <a:effectLst/>
                <a:uLnTx/>
                <a:uFillTx/>
                <a:latin typeface="Times New Roman" panose="02020603050405020304" pitchFamily="18" charset="0"/>
                <a:cs typeface="Times New Roman" panose="02020603050405020304" pitchFamily="18" charset="0"/>
                <a:sym typeface="Arial" panose="020B0604020202020204" pitchFamily="34" charset="0"/>
              </a:rPr>
              <a:t>Daily Quiz(cont..)</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19430" y="990600"/>
            <a:ext cx="11085195" cy="5108575"/>
          </a:xfrm>
          <a:prstGeom prst="rect">
            <a:avLst/>
          </a:prstGeom>
          <a:noFill/>
        </p:spPr>
        <p:txBody>
          <a:bodyPr wrap="square" rtlCol="0" anchor="t">
            <a:noAutofit/>
          </a:bodyPr>
          <a:lstStyle/>
          <a:p>
            <a:pPr algn="just">
              <a:spcBef>
                <a:spcPts val="365"/>
              </a:spcBef>
              <a:spcAft>
                <a:spcPct val="0"/>
              </a:spcAft>
              <a:buClr>
                <a:srgbClr val="000000"/>
              </a:buClr>
            </a:pPr>
            <a:r>
              <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Which of the following is true about public access modifier?</a:t>
            </a:r>
          </a:p>
          <a:p>
            <a:pPr>
              <a:spcBef>
                <a:spcPts val="365"/>
              </a:spcBef>
              <a:spcAft>
                <a:spcPct val="0"/>
              </a:spcAft>
              <a:buClr>
                <a:srgbClr val="000000"/>
              </a:buClr>
              <a:buFont typeface="Arial" panose="020B0604020202020204" pitchFamily="34" charset="0"/>
              <a:buAutoNum type="alphaLcParen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Variables, methods and constructors which are declared public can be accessed by any class.</a:t>
            </a:r>
            <a:endPar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a:spcBef>
                <a:spcPts val="365"/>
              </a:spcBef>
              <a:spcAft>
                <a:spcPct val="0"/>
              </a:spcAft>
              <a:buClr>
                <a:srgbClr val="000000"/>
              </a:buClr>
              <a:buFont typeface="Arial" panose="020B0604020202020204" pitchFamily="34" charset="0"/>
              <a:buAutoNum type="alphaLcParen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Variables, methods and constructors which are declared public can be accessed by any class lying in same package.</a:t>
            </a:r>
            <a:endPar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a:spcBef>
                <a:spcPts val="365"/>
              </a:spcBef>
              <a:spcAft>
                <a:spcPct val="0"/>
              </a:spcAft>
              <a:buClr>
                <a:srgbClr val="000000"/>
              </a:buClr>
              <a:buFont typeface="Arial" panose="020B0604020202020204" pitchFamily="34" charset="0"/>
              <a:buAutoNum type="alphaLcParen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Variables, methods and constructors which are declared public in the superclass can be accessed only by its child class.</a:t>
            </a:r>
            <a:endPar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a:spcBef>
                <a:spcPts val="365"/>
              </a:spcBef>
              <a:spcAft>
                <a:spcPct val="0"/>
              </a:spcAft>
              <a:buClr>
                <a:srgbClr val="000000"/>
              </a:buClr>
              <a:buFont typeface="Arial" panose="020B0604020202020204" pitchFamily="34" charset="0"/>
              <a:buAutoNum type="alphaLcParen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None of the above.</a:t>
            </a:r>
            <a:endParaRPr lang="en-US" altLang="en-US"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a:spcBef>
                <a:spcPts val="365"/>
              </a:spcBef>
              <a:spcAft>
                <a:spcPct val="0"/>
              </a:spcAft>
              <a:buClr>
                <a:srgbClr val="000000"/>
              </a:buClr>
            </a:pPr>
            <a:r>
              <a:rPr sz="2200" b="1"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Which program is used by web clients to view the web pages?</a:t>
            </a:r>
          </a:p>
          <a:p>
            <a:pPr>
              <a:spcBef>
                <a:spcPts val="365"/>
              </a:spcBef>
              <a:spcAft>
                <a:spcPct val="0"/>
              </a:spcAft>
              <a:buClr>
                <a:srgbClr val="000000"/>
              </a:buClr>
              <a:buFont typeface="Arial" panose="020B0604020202020204" pitchFamily="34" charset="0"/>
              <a:buAutoNum type="alphaLcParen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Web browser</a:t>
            </a:r>
          </a:p>
          <a:p>
            <a:pPr>
              <a:spcBef>
                <a:spcPts val="365"/>
              </a:spcBef>
              <a:spcAft>
                <a:spcPct val="0"/>
              </a:spcAft>
              <a:buClr>
                <a:srgbClr val="000000"/>
              </a:buClr>
              <a:buFont typeface="Arial" panose="020B0604020202020204" pitchFamily="34" charset="0"/>
              <a:buAutoNum type="alphaLcParen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Protocol</a:t>
            </a:r>
          </a:p>
          <a:p>
            <a:pPr>
              <a:spcBef>
                <a:spcPts val="365"/>
              </a:spcBef>
              <a:spcAft>
                <a:spcPct val="0"/>
              </a:spcAft>
              <a:buClr>
                <a:srgbClr val="000000"/>
              </a:buClr>
              <a:buFont typeface="Arial" panose="020B0604020202020204" pitchFamily="34" charset="0"/>
              <a:buAutoNum type="alphaLcParen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Web server</a:t>
            </a:r>
          </a:p>
          <a:p>
            <a:pPr>
              <a:spcBef>
                <a:spcPts val="365"/>
              </a:spcBef>
              <a:spcAft>
                <a:spcPct val="0"/>
              </a:spcAft>
              <a:buClr>
                <a:srgbClr val="000000"/>
              </a:buClr>
              <a:buFont typeface="Arial" panose="020B0604020202020204" pitchFamily="34" charset="0"/>
              <a:buAutoNum type="alphaLcParenR"/>
            </a:pPr>
            <a:r>
              <a:rPr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 Search Engine</a:t>
            </a:r>
          </a:p>
          <a:p>
            <a:pPr algn="just">
              <a:spcBef>
                <a:spcPts val="365"/>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ea typeface="Arial" panose="020B0604020202020204"/>
              <a:cs typeface="Tahoma" panose="020B0604030504040204" pitchFamily="34" charset="0"/>
              <a:sym typeface="Arial" panose="020B0604020202020204" pitchFamily="34" charset="0"/>
            </a:endParaRPr>
          </a:p>
          <a:p>
            <a:pPr>
              <a:spcBef>
                <a:spcPts val="365"/>
              </a:spcBef>
              <a:spcAft>
                <a:spcPct val="0"/>
              </a:spcAft>
              <a:buClr>
                <a:srgbClr val="000000"/>
              </a:buClr>
              <a:buFont typeface="Arial" panose="020B0604020202020204" pitchFamily="34" charset="0"/>
              <a:buNone/>
            </a:pPr>
            <a:endParaRPr lang="en-US" altLang="en-US" b="1" dirty="0">
              <a:latin typeface="Arial" panose="020B0604020202020204"/>
              <a:ea typeface="Arial" panose="020B0604020202020204"/>
              <a:cs typeface="Arial" panose="020B0604020202020204"/>
              <a:sym typeface="Arial" panose="020B0604020202020204" pitchFamily="34" charset="0"/>
            </a:endParaRPr>
          </a:p>
          <a:p>
            <a:pPr>
              <a:spcBef>
                <a:spcPts val="365"/>
              </a:spcBef>
              <a:spcAft>
                <a:spcPct val="0"/>
              </a:spcAft>
              <a:buClr>
                <a:srgbClr val="000000"/>
              </a:buClr>
              <a:buFont typeface="Arial" panose="020B0604020202020204" pitchFamily="34" charset="0"/>
              <a:buNone/>
            </a:pPr>
            <a:endParaRPr lang="en-US" altLang="en-US" b="1" dirty="0">
              <a:latin typeface="Arial" panose="020B0604020202020204"/>
              <a:ea typeface="Arial" panose="020B0604020202020204"/>
              <a:cs typeface="Arial" panose="020B0604020202020204"/>
              <a:sym typeface="Arial" panose="020B060402020202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86</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kern="0" noProof="0" dirty="0">
                <a:ln>
                  <a:noFill/>
                </a:ln>
                <a:effectLst/>
                <a:uLnTx/>
                <a:uFillTx/>
                <a:latin typeface="Times New Roman" panose="02020603050405020304" pitchFamily="18" charset="0"/>
                <a:cs typeface="Times New Roman" panose="02020603050405020304" pitchFamily="18" charset="0"/>
                <a:sym typeface="Arial" panose="020B0604020202020204"/>
              </a:rPr>
              <a:t>Daily Quiz(Cont..)</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349250" y="984885"/>
            <a:ext cx="11352530" cy="5228590"/>
          </a:xfrm>
          <a:prstGeom prst="rect">
            <a:avLst/>
          </a:prstGeom>
          <a:noFill/>
        </p:spPr>
        <p:txBody>
          <a:bodyPr wrap="square" rtlCol="0" anchor="t">
            <a:noAutofit/>
          </a:bodyPr>
          <a:lstStyle/>
          <a:p>
            <a:pPr marL="457200" marR="0" indent="-457200" algn="just" defTabSz="914400" fontAlgn="auto">
              <a:spcBef>
                <a:spcPts val="0"/>
              </a:spcBef>
              <a:spcAft>
                <a:spcPts val="0"/>
              </a:spcAft>
              <a:buClr>
                <a:srgbClr val="000000"/>
              </a:buClr>
              <a:buSzTx/>
              <a:buFont typeface="Arial" panose="020B0604020202020204"/>
              <a:buAutoNum type="alphaLcParenBoth"/>
              <a:defRPr/>
            </a:pPr>
            <a:r>
              <a:rPr lang="en-US" sz="2200" kern="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The following “Things to consider” while planning a website:</a:t>
            </a: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r>
              <a:rPr lang="en-US" sz="2200" kern="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(i) Purpose of website 		(ii) Target audience</a:t>
            </a: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r>
              <a:rPr lang="en-US" sz="2200" kern="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(iii) Website </a:t>
            </a:r>
            <a:r>
              <a:rPr lang="en-US" sz="2200" kern="0" noProof="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contents 		(</a:t>
            </a:r>
            <a:r>
              <a:rPr lang="en-US" sz="2200" kern="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iv) All of these</a:t>
            </a: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r>
              <a:rPr lang="en-US" sz="2200" kern="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(b) The initial stage of planning your website is to:</a:t>
            </a: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r>
              <a:rPr lang="en-US" sz="2200" kern="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(i) Identify the target audience    (ii) Identity the Purpose of the Site</a:t>
            </a: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r>
              <a:rPr lang="en-US" sz="2200" kern="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(iii) Budgeting                             (iv) Prepare Blue Print</a:t>
            </a: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r>
              <a:rPr lang="en-US" sz="2200" kern="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(c) Which of following are the are web site design consideration and principles?</a:t>
            </a: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r>
              <a:rPr lang="en-US" sz="2200" kern="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(i) Easy to read                            (ii)Easy to navigate</a:t>
            </a:r>
            <a:endParaRPr kumimoji="0" lang="en-US" sz="2200" kern="0" cap="none" spc="0" normalizeH="0" baseline="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endParaRPr>
          </a:p>
          <a:p>
            <a:pPr marR="0" algn="just" defTabSz="914400" fontAlgn="auto">
              <a:spcBef>
                <a:spcPts val="0"/>
              </a:spcBef>
              <a:spcAft>
                <a:spcPts val="0"/>
              </a:spcAft>
              <a:buClr>
                <a:srgbClr val="000000"/>
              </a:buClr>
              <a:buSzTx/>
              <a:buFont typeface="Arial" panose="020B0604020202020204"/>
              <a:buNone/>
              <a:defRPr/>
            </a:pPr>
            <a:r>
              <a:rPr lang="en-US" sz="2200" kern="0" noProof="0" dirty="0">
                <a:solidFill>
                  <a:srgbClr val="000000"/>
                </a:solidFill>
                <a:latin typeface="Times New Roman" panose="02020603050405020304" pitchFamily="18" charset="0"/>
                <a:ea typeface="Arial" panose="020B0604020202020204"/>
                <a:cs typeface="Times New Roman" panose="02020603050405020304" pitchFamily="18" charset="0"/>
                <a:sym typeface="Arial" panose="020B0604020202020204"/>
              </a:rPr>
              <a:t>(iii) Quick download 		(iv) All of these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87</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noProof="0" dirty="0">
                <a:ln>
                  <a:noFill/>
                </a:ln>
                <a:effectLst/>
                <a:uLnTx/>
                <a:uFillTx/>
                <a:latin typeface="Times New Roman" panose="02020603050405020304" pitchFamily="18" charset="0"/>
                <a:cs typeface="Times New Roman" panose="02020603050405020304" pitchFamily="18" charset="0"/>
                <a:sym typeface="Arial" panose="020B0604020202020204"/>
              </a:rPr>
              <a:t>Weekly Assignment</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346710" y="912495"/>
            <a:ext cx="11415395" cy="5396230"/>
          </a:xfrm>
          <a:prstGeom prst="rect">
            <a:avLst/>
          </a:prstGeom>
          <a:noFill/>
        </p:spPr>
        <p:txBody>
          <a:bodyPr wrap="square" rtlCol="0" anchor="t">
            <a:noAutofit/>
          </a:bodyPr>
          <a:lstStyle/>
          <a:p>
            <a:pPr marL="628650"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Explain the following:</a:t>
            </a:r>
            <a:r>
              <a:rPr lang="en-US" altLang="en-US" sz="2200" b="1" dirty="0">
                <a:latin typeface="Times New Roman" panose="02020603050405020304" pitchFamily="18" charset="0"/>
                <a:ea typeface="Arial" panose="020B0604020202020204"/>
                <a:cs typeface="Calibri" panose="020F0502020204030204" charset="0"/>
                <a:sym typeface="Calibri" panose="020F0502020204030204" charset="0"/>
              </a:rPr>
              <a:t> [CO1] </a:t>
            </a: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1085850" lvl="1"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URL</a:t>
            </a:r>
          </a:p>
          <a:p>
            <a:pPr marL="1085850" lvl="1"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domain name space </a:t>
            </a:r>
          </a:p>
          <a:p>
            <a:pPr marL="1085850" lvl="1"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Domain name server</a:t>
            </a:r>
          </a:p>
          <a:p>
            <a:pPr marL="628650"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Explain the term protocol. List all the commonly used web protocols. </a:t>
            </a:r>
            <a:r>
              <a:rPr lang="en-US" altLang="en-US" sz="2200" b="1" dirty="0">
                <a:latin typeface="Times New Roman" panose="02020603050405020304" pitchFamily="18" charset="0"/>
                <a:ea typeface="Arial" panose="020B0604020202020204"/>
                <a:cs typeface="Calibri" panose="020F0502020204030204" charset="0"/>
                <a:sym typeface="Calibri" panose="020F0502020204030204" charset="0"/>
              </a:rPr>
              <a:t>[CO1]</a:t>
            </a: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628650"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Explain the role of web server on the internet. </a:t>
            </a:r>
            <a:r>
              <a:rPr lang="en-US" altLang="en-US" sz="2200" b="1" dirty="0">
                <a:latin typeface="Times New Roman" panose="02020603050405020304" pitchFamily="18" charset="0"/>
                <a:ea typeface="Arial" panose="020B0604020202020204"/>
                <a:cs typeface="Calibri" panose="020F0502020204030204" charset="0"/>
                <a:sym typeface="Calibri" panose="020F0502020204030204" charset="0"/>
              </a:rPr>
              <a:t>[CO1]</a:t>
            </a: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628650"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Explain the working of web with proper diagram. </a:t>
            </a:r>
            <a:r>
              <a:rPr lang="en-US" altLang="en-US" sz="2200" b="1" dirty="0">
                <a:latin typeface="Times New Roman" panose="02020603050405020304" pitchFamily="18" charset="0"/>
                <a:ea typeface="Arial" panose="020B0604020202020204"/>
                <a:cs typeface="Calibri" panose="020F0502020204030204" charset="0"/>
                <a:sym typeface="Calibri" panose="020F0502020204030204" charset="0"/>
              </a:rPr>
              <a:t>[CO1]</a:t>
            </a: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628650"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Give </a:t>
            </a:r>
            <a:r>
              <a:rPr lang="en-US" altLang="en-US" sz="2200" b="1" dirty="0">
                <a:latin typeface="Times New Roman" panose="02020603050405020304" pitchFamily="18" charset="0"/>
                <a:ea typeface="Arial" panose="020B0604020202020204"/>
                <a:cs typeface="Calibri" panose="020F0502020204030204" charset="0"/>
                <a:sym typeface="Calibri" panose="020F0502020204030204" charset="0"/>
              </a:rPr>
              <a:t>examples</a:t>
            </a: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 of each: static and dynamic website.</a:t>
            </a:r>
            <a:r>
              <a:rPr lang="en-US" altLang="en-US" sz="2200" b="1" dirty="0">
                <a:latin typeface="Times New Roman" panose="02020603050405020304" pitchFamily="18" charset="0"/>
                <a:ea typeface="Arial" panose="020B0604020202020204"/>
                <a:cs typeface="Calibri" panose="020F0502020204030204" charset="0"/>
                <a:sym typeface="Calibri" panose="020F0502020204030204" charset="0"/>
              </a:rPr>
              <a:t>[CO1]</a:t>
            </a: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628650"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Describe domain name space and domain name server.</a:t>
            </a:r>
            <a:r>
              <a:rPr lang="en-US" altLang="en-US" sz="2200" b="1" dirty="0">
                <a:latin typeface="Times New Roman" panose="02020603050405020304" pitchFamily="18" charset="0"/>
                <a:ea typeface="Arial" panose="020B0604020202020204"/>
                <a:cs typeface="Calibri" panose="020F0502020204030204" charset="0"/>
                <a:sym typeface="Calibri" panose="020F0502020204030204" charset="0"/>
              </a:rPr>
              <a:t> [CO1]</a:t>
            </a: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628650"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Describe all the steps of web site hosting.</a:t>
            </a:r>
            <a:r>
              <a:rPr lang="en-US" altLang="en-US" sz="2200" b="1" dirty="0">
                <a:latin typeface="Times New Roman" panose="02020603050405020304" pitchFamily="18" charset="0"/>
                <a:ea typeface="Arial" panose="020B0604020202020204"/>
                <a:cs typeface="Calibri" panose="020F0502020204030204" charset="0"/>
                <a:sym typeface="Calibri" panose="020F0502020204030204" charset="0"/>
              </a:rPr>
              <a:t> [CO1]</a:t>
            </a: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628650"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Explain Hypertext and Hypermedia.</a:t>
            </a:r>
            <a:r>
              <a:rPr lang="en-US" altLang="en-US" sz="2200" b="1" dirty="0">
                <a:latin typeface="Times New Roman" panose="02020603050405020304" pitchFamily="18" charset="0"/>
                <a:ea typeface="Arial" panose="020B0604020202020204"/>
                <a:cs typeface="Calibri" panose="020F0502020204030204" charset="0"/>
                <a:sym typeface="Calibri" panose="020F0502020204030204" charset="0"/>
              </a:rPr>
              <a:t> [CO1]</a:t>
            </a: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628650"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What do you understand by a markup language? List all the types of markup languages.</a:t>
            </a:r>
            <a:r>
              <a:rPr lang="en-US" altLang="en-US" sz="2200" b="1" dirty="0">
                <a:latin typeface="Times New Roman" panose="02020603050405020304" pitchFamily="18" charset="0"/>
                <a:ea typeface="Arial" panose="020B0604020202020204"/>
                <a:cs typeface="Calibri" panose="020F0502020204030204" charset="0"/>
                <a:sym typeface="Calibri" panose="020F0502020204030204" charset="0"/>
              </a:rPr>
              <a:t> [CO1]</a:t>
            </a:r>
            <a:endPar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endParaRPr>
          </a:p>
          <a:p>
            <a:pPr marL="628650" indent="-514350" eaLnBrk="1" hangingPunct="1">
              <a:spcBef>
                <a:spcPts val="365"/>
              </a:spcBef>
              <a:spcAft>
                <a:spcPct val="0"/>
              </a:spcAft>
              <a:buClr>
                <a:srgbClr val="000000"/>
              </a:buClr>
              <a:buFont typeface="Arial" panose="020B0604020202020204" pitchFamily="34" charset="0"/>
              <a:buAutoNum type="arabicPeriod"/>
            </a:pPr>
            <a:r>
              <a:rPr lang="en-US" altLang="en-US" sz="2200" dirty="0">
                <a:latin typeface="Times New Roman" panose="02020603050405020304" pitchFamily="18" charset="0"/>
                <a:ea typeface="Arial" panose="020B0604020202020204"/>
                <a:cs typeface="Calibri" panose="020F0502020204030204" charset="0"/>
                <a:sym typeface="Calibri" panose="020F0502020204030204" charset="0"/>
              </a:rPr>
              <a:t>Explain HTML with basic structure of an HTML document.</a:t>
            </a:r>
            <a:r>
              <a:rPr lang="en-US" altLang="en-US" sz="2200" b="1" dirty="0">
                <a:latin typeface="Times New Roman" panose="02020603050405020304" pitchFamily="18" charset="0"/>
                <a:ea typeface="Arial" panose="020B0604020202020204"/>
                <a:cs typeface="Calibri" panose="020F0502020204030204" charset="0"/>
                <a:sym typeface="Calibri" panose="020F0502020204030204" charset="0"/>
              </a:rPr>
              <a:t> [CO1]</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88</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buClr>
                <a:srgbClr val="000000"/>
              </a:buClr>
              <a:buFont typeface="Calibri" panose="020F0502020204030204" charset="0"/>
              <a:buNone/>
            </a:pPr>
            <a:r>
              <a:rPr lang="en-US" noProof="0" dirty="0">
                <a:ln>
                  <a:noFill/>
                </a:ln>
                <a:effectLst/>
                <a:uLnTx/>
                <a:uFillTx/>
                <a:latin typeface="Times New Roman" panose="02020603050405020304" pitchFamily="18" charset="0"/>
                <a:cs typeface="Times New Roman" panose="02020603050405020304" pitchFamily="18" charset="0"/>
                <a:sym typeface="Arial" panose="020B0604020202020204"/>
              </a:rPr>
              <a:t>MCQ 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65455" y="991870"/>
            <a:ext cx="11093450" cy="5323205"/>
          </a:xfrm>
          <a:prstGeom prst="rect">
            <a:avLst/>
          </a:prstGeom>
          <a:noFill/>
        </p:spPr>
        <p:txBody>
          <a:bodyPr wrap="square" rtlCol="0" anchor="t">
            <a:noAutofit/>
          </a:bodyPr>
          <a:lstStyle/>
          <a:p>
            <a:pPr algn="just" eaLnBrk="1" hangingPunct="1">
              <a:spcBef>
                <a:spcPts val="365"/>
              </a:spcBef>
              <a:spcAft>
                <a:spcPct val="0"/>
              </a:spcAft>
              <a:buClr>
                <a:srgbClr val="000000"/>
              </a:buClr>
            </a:pPr>
            <a:r>
              <a:rPr sz="2200" dirty="0">
                <a:latin typeface="Times New Roman" panose="02020603050405020304" pitchFamily="18" charset="0"/>
                <a:ea typeface="Arial" panose="020B0604020202020204"/>
                <a:cs typeface="Calibri" panose="020F0502020204030204" charset="0"/>
                <a:sym typeface="Calibri" panose="020F0502020204030204" charset="0"/>
              </a:rPr>
              <a:t>Who is making web standards</a:t>
            </a: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Netscape</a:t>
            </a: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Microsoft</a:t>
            </a:r>
          </a:p>
          <a:p>
            <a:pPr algn="just" eaLnBrk="1" hangingPunct="1">
              <a:spcBef>
                <a:spcPts val="365"/>
              </a:spcBef>
              <a:spcAft>
                <a:spcPct val="0"/>
              </a:spcAft>
              <a:buClr>
                <a:srgbClr val="000000"/>
              </a:buClr>
              <a:buFont typeface="Arial" panose="020B0604020202020204" pitchFamily="34" charset="0"/>
              <a:buAutoNum type="alphaLcPeriod"/>
            </a:pPr>
            <a:r>
              <a:rPr sz="2200" b="1" dirty="0">
                <a:latin typeface="Times New Roman" panose="02020603050405020304" pitchFamily="18" charset="0"/>
                <a:ea typeface="Arial" panose="020B0604020202020204"/>
                <a:cs typeface="Calibri" panose="020F0502020204030204" charset="0"/>
                <a:sym typeface="Calibri" panose="020F0502020204030204" charset="0"/>
              </a:rPr>
              <a:t>WWWC</a:t>
            </a:r>
            <a:endParaRPr sz="2200" dirty="0">
              <a:latin typeface="Times New Roman" panose="02020603050405020304" pitchFamily="18" charset="0"/>
              <a:ea typeface="Arial" panose="020B0604020202020204"/>
              <a:cs typeface="Calibri" panose="020F0502020204030204" charset="0"/>
              <a:sym typeface="Calibri" panose="020F0502020204030204" charset="0"/>
            </a:endParaRPr>
          </a:p>
          <a:p>
            <a:pPr algn="just" eaLnBrk="1" hangingPunct="1">
              <a:spcBef>
                <a:spcPts val="365"/>
              </a:spcBef>
              <a:spcAft>
                <a:spcPct val="0"/>
              </a:spcAft>
              <a:buClr>
                <a:srgbClr val="000000"/>
              </a:buClr>
            </a:pPr>
            <a:r>
              <a:rPr sz="2200" dirty="0">
                <a:latin typeface="Times New Roman" panose="02020603050405020304" pitchFamily="18" charset="0"/>
                <a:ea typeface="Arial" panose="020B0604020202020204"/>
                <a:cs typeface="Calibri" panose="020F0502020204030204" charset="0"/>
                <a:sym typeface="Calibri" panose="020F0502020204030204" charset="0"/>
              </a:rPr>
              <a:t>Range of Heading tags in HTML</a:t>
            </a: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&lt;h1&gt; to &lt;h3&gt;</a:t>
            </a: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&lt;h1&gt; to &lt;h8&gt;</a:t>
            </a:r>
          </a:p>
          <a:p>
            <a:pPr algn="just" eaLnBrk="1" hangingPunct="1">
              <a:spcBef>
                <a:spcPts val="365"/>
              </a:spcBef>
              <a:spcAft>
                <a:spcPct val="0"/>
              </a:spcAft>
              <a:buClr>
                <a:srgbClr val="000000"/>
              </a:buClr>
              <a:buFont typeface="Arial" panose="020B0604020202020204" pitchFamily="34" charset="0"/>
              <a:buAutoNum type="alphaLcPeriod"/>
            </a:pPr>
            <a:r>
              <a:rPr sz="2200" b="1" dirty="0">
                <a:latin typeface="Times New Roman" panose="02020603050405020304" pitchFamily="18" charset="0"/>
                <a:ea typeface="Arial" panose="020B0604020202020204"/>
                <a:cs typeface="Calibri" panose="020F0502020204030204" charset="0"/>
                <a:sym typeface="Calibri" panose="020F0502020204030204" charset="0"/>
              </a:rPr>
              <a:t>&lt;h1&gt; to &lt;h6&gt;</a:t>
            </a:r>
            <a:endParaRPr sz="2200" dirty="0">
              <a:latin typeface="Times New Roman" panose="02020603050405020304" pitchFamily="18" charset="0"/>
              <a:ea typeface="Arial" panose="020B0604020202020204"/>
              <a:cs typeface="Calibri" panose="020F0502020204030204" charset="0"/>
              <a:sym typeface="Calibri" panose="020F0502020204030204" charset="0"/>
            </a:endParaRP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&lt;h1&gt; to &lt;h9&gt;</a:t>
            </a:r>
          </a:p>
          <a:p>
            <a:pPr algn="just" eaLnBrk="1" hangingPunct="1">
              <a:spcBef>
                <a:spcPts val="365"/>
              </a:spcBef>
              <a:spcAft>
                <a:spcPct val="0"/>
              </a:spcAft>
              <a:buClr>
                <a:srgbClr val="000000"/>
              </a:buClr>
            </a:pPr>
            <a:r>
              <a:rPr sz="2200" dirty="0">
                <a:latin typeface="Times New Roman" panose="02020603050405020304" pitchFamily="18" charset="0"/>
                <a:ea typeface="Arial" panose="020B0604020202020204"/>
                <a:cs typeface="Calibri" panose="020F0502020204030204" charset="0"/>
                <a:sym typeface="Calibri" panose="020F0502020204030204" charset="0"/>
              </a:rPr>
              <a:t>What does HTML stand for ?</a:t>
            </a: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Hyperlinks and Text Markup Language </a:t>
            </a: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Home Tool Markup Language </a:t>
            </a:r>
          </a:p>
          <a:p>
            <a:pPr algn="just" eaLnBrk="1" hangingPunct="1">
              <a:spcBef>
                <a:spcPts val="365"/>
              </a:spcBef>
              <a:spcAft>
                <a:spcPct val="0"/>
              </a:spcAft>
              <a:buClr>
                <a:srgbClr val="000000"/>
              </a:buClr>
              <a:buFont typeface="Arial" panose="020B0604020202020204" pitchFamily="34" charset="0"/>
              <a:buAutoNum type="alphaLcPeriod"/>
            </a:pPr>
            <a:r>
              <a:rPr sz="2200" b="1" dirty="0">
                <a:latin typeface="Times New Roman" panose="02020603050405020304" pitchFamily="18" charset="0"/>
                <a:ea typeface="Arial" panose="020B0604020202020204"/>
                <a:cs typeface="Calibri" panose="020F0502020204030204" charset="0"/>
                <a:sym typeface="Calibri" panose="020F0502020204030204" charset="0"/>
              </a:rPr>
              <a:t>Hyper Text Markup Language </a:t>
            </a:r>
            <a:endParaRPr sz="2200" dirty="0">
              <a:latin typeface="Times New Roman" panose="02020603050405020304" pitchFamily="18" charset="0"/>
              <a:ea typeface="Arial" panose="020B0604020202020204"/>
              <a:cs typeface="Calibri" panose="020F0502020204030204" charset="0"/>
              <a:sym typeface="Calibri" panose="020F0502020204030204" charset="0"/>
            </a:endParaRP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Home Text Markup Language </a:t>
            </a:r>
            <a:endParaRPr lang="en-US" sz="2200" dirty="0">
              <a:latin typeface="Times New Roman" panose="02020603050405020304" pitchFamily="18" charset="0"/>
              <a:ea typeface="Arial" panose="020B0604020202020204"/>
              <a:cs typeface="Calibri" panose="020F0502020204030204" charset="0"/>
              <a:sym typeface="Calibri" panose="020F050202020403020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89</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noProof="0" dirty="0">
                <a:ln>
                  <a:noFill/>
                </a:ln>
                <a:effectLst/>
                <a:uLnTx/>
                <a:uFillTx/>
                <a:latin typeface="Times New Roman" panose="02020603050405020304" pitchFamily="18" charset="0"/>
                <a:cs typeface="Times New Roman" panose="02020603050405020304" pitchFamily="18" charset="0"/>
                <a:sym typeface="Arial" panose="020B0604020202020204"/>
              </a:rPr>
              <a:t>MCQ s(Cont..)</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67360" y="947420"/>
            <a:ext cx="11167745" cy="5405120"/>
          </a:xfrm>
          <a:prstGeom prst="rect">
            <a:avLst/>
          </a:prstGeom>
          <a:noFill/>
        </p:spPr>
        <p:txBody>
          <a:bodyPr wrap="square" rtlCol="0" anchor="t">
            <a:noAutofit/>
          </a:bodyPr>
          <a:lstStyle/>
          <a:p>
            <a:pPr algn="just" eaLnBrk="1" hangingPunct="1">
              <a:spcBef>
                <a:spcPts val="365"/>
              </a:spcBef>
              <a:spcAft>
                <a:spcPct val="0"/>
              </a:spcAft>
              <a:buClr>
                <a:srgbClr val="000000"/>
              </a:buClr>
            </a:pPr>
            <a:r>
              <a:rPr sz="2200" dirty="0">
                <a:latin typeface="Times New Roman" panose="02020603050405020304" pitchFamily="18" charset="0"/>
                <a:ea typeface="Arial" panose="020B0604020202020204"/>
                <a:cs typeface="Calibri" panose="020F0502020204030204" charset="0"/>
                <a:sym typeface="Calibri" panose="020F0502020204030204" charset="0"/>
              </a:rPr>
              <a:t>Web is a huge collection of </a:t>
            </a:r>
            <a:r>
              <a:rPr sz="2200" dirty="0">
                <a:latin typeface="Times New Roman" panose="02020603050405020304" pitchFamily="18" charset="0"/>
                <a:ea typeface="Calibri" panose="020F0502020204030204" charset="0"/>
                <a:cs typeface="Arial" panose="020B0604020202020204"/>
                <a:sym typeface="Calibri" panose="020F0502020204030204" charset="0"/>
              </a:rPr>
              <a:t>………</a:t>
            </a:r>
            <a:r>
              <a:rPr sz="2200" dirty="0">
                <a:latin typeface="Times New Roman" panose="02020603050405020304" pitchFamily="18" charset="0"/>
                <a:ea typeface="Arial" panose="020B0604020202020204"/>
                <a:cs typeface="Calibri" panose="020F0502020204030204" charset="0"/>
                <a:sym typeface="Calibri" panose="020F0502020204030204" charset="0"/>
              </a:rPr>
              <a:t>..of information linked to each other around the globe.</a:t>
            </a:r>
          </a:p>
          <a:p>
            <a:pPr algn="just" eaLnBrk="1" hangingPunct="1">
              <a:spcBef>
                <a:spcPts val="365"/>
              </a:spcBef>
              <a:spcAft>
                <a:spcPct val="0"/>
              </a:spcAft>
              <a:buClr>
                <a:srgbClr val="000000"/>
              </a:buClr>
              <a:buFont typeface="Arial" panose="020B0604020202020204" pitchFamily="34" charset="0"/>
              <a:buAutoNum type="alphaLcPeriod"/>
            </a:pPr>
            <a:r>
              <a:rPr sz="2200" b="1" dirty="0">
                <a:latin typeface="Times New Roman" panose="02020603050405020304" pitchFamily="18" charset="0"/>
                <a:ea typeface="Arial" panose="020B0604020202020204"/>
                <a:cs typeface="Calibri" panose="020F0502020204030204" charset="0"/>
                <a:sym typeface="Calibri" panose="020F0502020204030204" charset="0"/>
              </a:rPr>
              <a:t>Pages</a:t>
            </a:r>
            <a:endParaRPr sz="2200" dirty="0">
              <a:latin typeface="Times New Roman" panose="02020603050405020304" pitchFamily="18" charset="0"/>
              <a:ea typeface="Arial" panose="020B0604020202020204"/>
              <a:cs typeface="Calibri" panose="020F0502020204030204" charset="0"/>
              <a:sym typeface="Calibri" panose="020F0502020204030204" charset="0"/>
            </a:endParaRP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Website </a:t>
            </a: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HTML </a:t>
            </a:r>
          </a:p>
          <a:p>
            <a:pPr algn="just" eaLnBrk="1" hangingPunct="1">
              <a:spcBef>
                <a:spcPts val="365"/>
              </a:spcBef>
              <a:spcAft>
                <a:spcPct val="0"/>
              </a:spcAft>
              <a:buClr>
                <a:srgbClr val="000000"/>
              </a:buClr>
            </a:pPr>
            <a:r>
              <a:rPr sz="2200" dirty="0">
                <a:latin typeface="Times New Roman" panose="02020603050405020304" pitchFamily="18" charset="0"/>
                <a:ea typeface="Arial" panose="020B0604020202020204"/>
                <a:cs typeface="Calibri" panose="020F0502020204030204" charset="0"/>
                <a:sym typeface="Calibri" panose="020F0502020204030204" charset="0"/>
              </a:rPr>
              <a:t>Father of WWW</a:t>
            </a: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J.T. Thomson</a:t>
            </a: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Dennis Ritchie</a:t>
            </a:r>
          </a:p>
          <a:p>
            <a:pPr algn="just" eaLnBrk="1" hangingPunct="1">
              <a:spcBef>
                <a:spcPts val="365"/>
              </a:spcBef>
              <a:spcAft>
                <a:spcPct val="0"/>
              </a:spcAft>
              <a:buClr>
                <a:srgbClr val="000000"/>
              </a:buClr>
              <a:buFont typeface="Arial" panose="020B0604020202020204" pitchFamily="34" charset="0"/>
              <a:buAutoNum type="alphaLcPeriod"/>
            </a:pPr>
            <a:r>
              <a:rPr sz="2200" b="1" dirty="0">
                <a:latin typeface="Times New Roman" panose="02020603050405020304" pitchFamily="18" charset="0"/>
                <a:ea typeface="Arial" panose="020B0604020202020204"/>
                <a:cs typeface="Calibri" panose="020F0502020204030204" charset="0"/>
                <a:sym typeface="Calibri" panose="020F0502020204030204" charset="0"/>
              </a:rPr>
              <a:t>Tim Berners-Lee</a:t>
            </a:r>
            <a:endParaRPr sz="2200" dirty="0">
              <a:latin typeface="Times New Roman" panose="02020603050405020304" pitchFamily="18" charset="0"/>
              <a:ea typeface="Arial" panose="020B0604020202020204"/>
              <a:cs typeface="Calibri" panose="020F0502020204030204" charset="0"/>
              <a:sym typeface="Calibri" panose="020F0502020204030204" charset="0"/>
            </a:endParaRPr>
          </a:p>
          <a:p>
            <a:pPr algn="just" eaLnBrk="1" hangingPunct="1">
              <a:spcBef>
                <a:spcPts val="365"/>
              </a:spcBef>
              <a:spcAft>
                <a:spcPct val="0"/>
              </a:spcAft>
              <a:buClr>
                <a:srgbClr val="000000"/>
              </a:buClr>
            </a:pPr>
            <a:r>
              <a:rPr sz="2200" dirty="0">
                <a:latin typeface="Times New Roman" panose="02020603050405020304" pitchFamily="18" charset="0"/>
                <a:ea typeface="Arial" panose="020B0604020202020204"/>
                <a:cs typeface="Calibri" panose="020F0502020204030204" charset="0"/>
                <a:sym typeface="Calibri" panose="020F0502020204030204" charset="0"/>
              </a:rPr>
              <a:t>Who is responsible for creating the look and feel of a site?</a:t>
            </a: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Creative Lead</a:t>
            </a: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Programmer</a:t>
            </a:r>
          </a:p>
          <a:p>
            <a:pPr algn="just" eaLnBrk="1" hangingPunct="1">
              <a:spcBef>
                <a:spcPts val="365"/>
              </a:spcBef>
              <a:spcAft>
                <a:spcPct val="0"/>
              </a:spcAft>
              <a:buClr>
                <a:srgbClr val="000000"/>
              </a:buClr>
              <a:buFont typeface="Arial" panose="020B0604020202020204" pitchFamily="34" charset="0"/>
              <a:buAutoNum type="alphaLcPeriod"/>
            </a:pPr>
            <a:r>
              <a:rPr sz="2200" dirty="0">
                <a:latin typeface="Times New Roman" panose="02020603050405020304" pitchFamily="18" charset="0"/>
                <a:ea typeface="Arial" panose="020B0604020202020204"/>
                <a:cs typeface="Calibri" panose="020F0502020204030204" charset="0"/>
                <a:sym typeface="Calibri" panose="020F0502020204030204" charset="0"/>
              </a:rPr>
              <a:t>Analyst</a:t>
            </a:r>
          </a:p>
          <a:p>
            <a:pPr algn="just" eaLnBrk="1" hangingPunct="1">
              <a:spcBef>
                <a:spcPts val="365"/>
              </a:spcBef>
              <a:spcAft>
                <a:spcPct val="0"/>
              </a:spcAft>
              <a:buClr>
                <a:srgbClr val="000000"/>
              </a:buClr>
              <a:buFont typeface="Arial" panose="020B0604020202020204" pitchFamily="34" charset="0"/>
              <a:buAutoNum type="alphaLcPeriod"/>
            </a:pPr>
            <a:r>
              <a:rPr sz="2200" b="1" dirty="0">
                <a:latin typeface="Times New Roman" panose="02020603050405020304" pitchFamily="18" charset="0"/>
                <a:ea typeface="Arial" panose="020B0604020202020204"/>
                <a:cs typeface="Calibri" panose="020F0502020204030204" charset="0"/>
                <a:sym typeface="Calibri" panose="020F0502020204030204" charset="0"/>
              </a:rPr>
              <a:t>Designer</a:t>
            </a:r>
            <a:endParaRPr lang="en-US" sz="2200" b="1" dirty="0">
              <a:latin typeface="Times New Roman" panose="02020603050405020304" pitchFamily="18" charset="0"/>
              <a:ea typeface="Arial" panose="020B0604020202020204"/>
              <a:cs typeface="Calibri" panose="020F0502020204030204" charset="0"/>
              <a:sym typeface="Calibri" panose="020F050202020403020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90</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noProof="0" dirty="0">
                <a:ln>
                  <a:noFill/>
                </a:ln>
                <a:effectLst/>
                <a:uLnTx/>
                <a:uFillTx/>
                <a:latin typeface="Times New Roman" panose="02020603050405020304" pitchFamily="18" charset="0"/>
                <a:cs typeface="Times New Roman" panose="02020603050405020304" pitchFamily="18" charset="0"/>
                <a:sym typeface="Arial" panose="020B0604020202020204"/>
              </a:rPr>
              <a:t>MCQ s(Cont..)</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436880" y="1167130"/>
            <a:ext cx="11224895" cy="4839970"/>
          </a:xfrm>
          <a:prstGeom prst="rect">
            <a:avLst/>
          </a:prstGeom>
          <a:noFill/>
        </p:spPr>
        <p:txBody>
          <a:bodyPr wrap="square" rtlCol="0" anchor="t">
            <a:noAutofit/>
          </a:bodyPr>
          <a:lstStyle/>
          <a:p>
            <a:pPr marL="114300" indent="0">
              <a:spcBef>
                <a:spcPts val="365"/>
              </a:spcBef>
              <a:spcAft>
                <a:spcPct val="0"/>
              </a:spcAft>
              <a:buClr>
                <a:srgbClr val="000000"/>
              </a:buClr>
              <a:buFont typeface="Arial" panose="020B0604020202020204" pitchFamily="34" charset="0"/>
              <a:buNone/>
            </a:pPr>
            <a:r>
              <a:rPr lang="en-US" altLang="en-US" dirty="0">
                <a:latin typeface="Arial" panose="020B0604020202020204"/>
                <a:ea typeface="Arial" panose="020B0604020202020204"/>
                <a:cs typeface="Arial" panose="020B0604020202020204"/>
                <a:sym typeface="Arial" panose="020B0604020202020204" pitchFamily="34" charset="0"/>
              </a:rPr>
              <a:t>Which of the following are information retrieval services on the internet?</a:t>
            </a:r>
            <a:br>
              <a:rPr lang="en-US" altLang="en-US" dirty="0">
                <a:latin typeface="Arial" panose="020B0604020202020204"/>
                <a:ea typeface="Arial" panose="020B0604020202020204"/>
                <a:cs typeface="Arial" panose="020B0604020202020204"/>
                <a:sym typeface="Arial" panose="020B0604020202020204" pitchFamily="34" charset="0"/>
              </a:rPr>
            </a:br>
            <a:r>
              <a:rPr lang="en-US" altLang="en-US" dirty="0">
                <a:latin typeface="Arial" panose="020B0604020202020204"/>
                <a:ea typeface="Arial" panose="020B0604020202020204"/>
                <a:cs typeface="Arial" panose="020B0604020202020204"/>
                <a:sym typeface="Arial" panose="020B0604020202020204" pitchFamily="34" charset="0"/>
              </a:rPr>
              <a:t>i) World Wide Web  ii) File Transfer Protocol  iii) Telnet  iv) Email</a:t>
            </a:r>
            <a:br>
              <a:rPr lang="en-US" altLang="en-US" dirty="0">
                <a:latin typeface="Arial" panose="020B0604020202020204"/>
                <a:ea typeface="Arial" panose="020B0604020202020204"/>
                <a:cs typeface="Arial" panose="020B0604020202020204"/>
                <a:sym typeface="Arial" panose="020B0604020202020204" pitchFamily="34" charset="0"/>
              </a:rPr>
            </a:br>
            <a:r>
              <a:rPr lang="en-US" altLang="en-US" dirty="0">
                <a:latin typeface="Arial" panose="020B0604020202020204"/>
                <a:ea typeface="Arial" panose="020B0604020202020204"/>
                <a:cs typeface="Arial" panose="020B0604020202020204"/>
                <a:sym typeface="Arial" panose="020B0604020202020204" pitchFamily="34" charset="0"/>
              </a:rPr>
              <a:t>A) i, ii and iv only</a:t>
            </a:r>
            <a:br>
              <a:rPr lang="en-US" altLang="en-US" dirty="0">
                <a:latin typeface="Arial" panose="020B0604020202020204"/>
                <a:ea typeface="Arial" panose="020B0604020202020204"/>
                <a:cs typeface="Arial" panose="020B0604020202020204"/>
                <a:sym typeface="Arial" panose="020B0604020202020204" pitchFamily="34" charset="0"/>
              </a:rPr>
            </a:br>
            <a:r>
              <a:rPr lang="en-US" altLang="en-US" dirty="0">
                <a:latin typeface="Arial" panose="020B0604020202020204"/>
                <a:ea typeface="Arial" panose="020B0604020202020204"/>
                <a:cs typeface="Arial" panose="020B0604020202020204"/>
                <a:sym typeface="Arial" panose="020B0604020202020204" pitchFamily="34" charset="0"/>
              </a:rPr>
              <a:t>B) ii, iii and iv only</a:t>
            </a:r>
            <a:br>
              <a:rPr lang="en-US" altLang="en-US" dirty="0">
                <a:latin typeface="Arial" panose="020B0604020202020204"/>
                <a:ea typeface="Arial" panose="020B0604020202020204"/>
                <a:cs typeface="Arial" panose="020B0604020202020204"/>
                <a:sym typeface="Arial" panose="020B0604020202020204" pitchFamily="34" charset="0"/>
              </a:rPr>
            </a:br>
            <a:r>
              <a:rPr lang="en-US" altLang="en-US" b="1" dirty="0">
                <a:latin typeface="Arial" panose="020B0604020202020204"/>
                <a:ea typeface="Arial" panose="020B0604020202020204"/>
                <a:cs typeface="Arial" panose="020B0604020202020204"/>
                <a:sym typeface="Arial" panose="020B0604020202020204" pitchFamily="34" charset="0"/>
              </a:rPr>
              <a:t>C) i, ii and iii only</a:t>
            </a:r>
            <a:br>
              <a:rPr lang="en-US" altLang="en-US" b="1" dirty="0">
                <a:latin typeface="Arial" panose="020B0604020202020204"/>
                <a:ea typeface="Arial" panose="020B0604020202020204"/>
                <a:cs typeface="Arial" panose="020B0604020202020204"/>
                <a:sym typeface="Arial" panose="020B0604020202020204" pitchFamily="34" charset="0"/>
              </a:rPr>
            </a:br>
            <a:r>
              <a:rPr lang="en-US" altLang="en-US" dirty="0">
                <a:latin typeface="Arial" panose="020B0604020202020204"/>
                <a:ea typeface="Arial" panose="020B0604020202020204"/>
                <a:cs typeface="Arial" panose="020B0604020202020204"/>
                <a:sym typeface="Arial" panose="020B0604020202020204" pitchFamily="34" charset="0"/>
              </a:rPr>
              <a:t>D) All i, ii, iii and iv</a:t>
            </a:r>
            <a:br>
              <a:rPr lang="en-US" altLang="en-US" dirty="0">
                <a:latin typeface="Arial" panose="020B0604020202020204"/>
                <a:ea typeface="Arial" panose="020B0604020202020204"/>
                <a:cs typeface="Arial" panose="020B0604020202020204"/>
                <a:sym typeface="Arial" panose="020B0604020202020204" pitchFamily="34" charset="0"/>
              </a:rPr>
            </a:br>
            <a:br>
              <a:rPr lang="en-US" altLang="en-US" dirty="0">
                <a:latin typeface="Arial" panose="020B0604020202020204"/>
                <a:ea typeface="Arial" panose="020B0604020202020204"/>
                <a:cs typeface="Arial" panose="020B0604020202020204"/>
                <a:sym typeface="Arial" panose="020B0604020202020204" pitchFamily="34" charset="0"/>
              </a:rPr>
            </a:br>
            <a:r>
              <a:rPr lang="en-US" altLang="en-US" dirty="0">
                <a:latin typeface="Arial" panose="020B0604020202020204"/>
                <a:ea typeface="Arial" panose="020B0604020202020204"/>
                <a:cs typeface="Arial" panose="020B0604020202020204"/>
                <a:sym typeface="Arial" panose="020B0604020202020204" pitchFamily="34" charset="0"/>
              </a:rPr>
              <a:t>. ………….. allows remote accessing to the files which contain programs, technical handouts, reports etc. </a:t>
            </a:r>
            <a:br>
              <a:rPr lang="en-US" altLang="en-US" dirty="0">
                <a:latin typeface="Arial" panose="020B0604020202020204"/>
                <a:ea typeface="Arial" panose="020B0604020202020204"/>
                <a:cs typeface="Arial" panose="020B0604020202020204"/>
                <a:sym typeface="Arial" panose="020B0604020202020204" pitchFamily="34" charset="0"/>
              </a:rPr>
            </a:br>
            <a:r>
              <a:rPr lang="en-US" altLang="en-US" dirty="0">
                <a:latin typeface="Arial" panose="020B0604020202020204"/>
                <a:ea typeface="Arial" panose="020B0604020202020204"/>
                <a:cs typeface="Arial" panose="020B0604020202020204"/>
                <a:sym typeface="Arial" panose="020B0604020202020204" pitchFamily="34" charset="0"/>
              </a:rPr>
              <a:t>A) Remote Desktop</a:t>
            </a:r>
            <a:br>
              <a:rPr lang="en-US" altLang="en-US" dirty="0">
                <a:latin typeface="Arial" panose="020B0604020202020204"/>
                <a:ea typeface="Arial" panose="020B0604020202020204"/>
                <a:cs typeface="Arial" panose="020B0604020202020204"/>
                <a:sym typeface="Arial" panose="020B0604020202020204" pitchFamily="34" charset="0"/>
              </a:rPr>
            </a:br>
            <a:r>
              <a:rPr lang="en-US" altLang="en-US" b="1" dirty="0">
                <a:latin typeface="Arial" panose="020B0604020202020204"/>
                <a:ea typeface="Arial" panose="020B0604020202020204"/>
                <a:cs typeface="Arial" panose="020B0604020202020204"/>
                <a:sym typeface="Arial" panose="020B0604020202020204" pitchFamily="34" charset="0"/>
              </a:rPr>
              <a:t>B) FTP </a:t>
            </a:r>
            <a:br>
              <a:rPr lang="en-US" altLang="en-US" b="1" dirty="0">
                <a:latin typeface="Arial" panose="020B0604020202020204"/>
                <a:ea typeface="Arial" panose="020B0604020202020204"/>
                <a:cs typeface="Arial" panose="020B0604020202020204"/>
                <a:sym typeface="Arial" panose="020B0604020202020204" pitchFamily="34" charset="0"/>
              </a:rPr>
            </a:br>
            <a:r>
              <a:rPr lang="en-US" altLang="en-US" dirty="0">
                <a:latin typeface="Arial" panose="020B0604020202020204"/>
                <a:ea typeface="Arial" panose="020B0604020202020204"/>
                <a:cs typeface="Arial" panose="020B0604020202020204"/>
                <a:sym typeface="Arial" panose="020B0604020202020204" pitchFamily="34" charset="0"/>
              </a:rPr>
              <a:t>C) Telnet</a:t>
            </a:r>
            <a:br>
              <a:rPr lang="en-US" altLang="en-US" dirty="0">
                <a:latin typeface="Arial" panose="020B0604020202020204"/>
                <a:ea typeface="Arial" panose="020B0604020202020204"/>
                <a:cs typeface="Arial" panose="020B0604020202020204"/>
                <a:sym typeface="Arial" panose="020B0604020202020204" pitchFamily="34" charset="0"/>
              </a:rPr>
            </a:br>
            <a:r>
              <a:rPr lang="en-US" altLang="en-US" dirty="0">
                <a:latin typeface="Arial" panose="020B0604020202020204"/>
                <a:ea typeface="Arial" panose="020B0604020202020204"/>
                <a:cs typeface="Arial" panose="020B0604020202020204"/>
                <a:sym typeface="Arial" panose="020B0604020202020204" pitchFamily="34" charset="0"/>
              </a:rPr>
              <a:t>D) Chat</a:t>
            </a:r>
            <a:br>
              <a:rPr lang="en-US" altLang="en-US" dirty="0">
                <a:latin typeface="Arial" panose="020B0604020202020204"/>
                <a:ea typeface="Arial" panose="020B0604020202020204"/>
                <a:cs typeface="Arial" panose="020B0604020202020204"/>
                <a:sym typeface="Arial" panose="020B0604020202020204" pitchFamily="34" charset="0"/>
              </a:rPr>
            </a:br>
            <a:endParaRPr lang="en-US" altLang="en-US" dirty="0">
              <a:latin typeface="Arial" panose="020B0604020202020204"/>
              <a:ea typeface="Arial" panose="020B0604020202020204"/>
              <a:cs typeface="Arial" panose="020B0604020202020204"/>
              <a:sym typeface="Arial" panose="020B0604020202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91</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Glossary Questions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360680" y="1014095"/>
            <a:ext cx="11224895" cy="5007610"/>
          </a:xfrm>
          <a:prstGeom prst="rect">
            <a:avLst/>
          </a:prstGeom>
          <a:noFill/>
        </p:spPr>
        <p:txBody>
          <a:bodyPr wrap="square" rtlCol="0" anchor="t">
            <a:noAutofit/>
          </a:bodyPr>
          <a:lstStyle/>
          <a:p>
            <a:pPr marL="0" lvl="0" indent="0">
              <a:buClrTx/>
              <a:buFontTx/>
              <a:buNone/>
            </a:pPr>
            <a:r>
              <a:rPr lang="en-US" altLang="en-US" dirty="0">
                <a:sym typeface="+mn-ea"/>
              </a:rPr>
              <a:t>………….. allows remote accessing to the files which contain programs, technical handouts, reports etc. </a:t>
            </a:r>
            <a:br>
              <a:rPr lang="en-US" altLang="en-US" dirty="0">
                <a:sym typeface="+mn-ea"/>
              </a:rPr>
            </a:br>
            <a:r>
              <a:rPr lang="en-US" altLang="en-US" dirty="0">
                <a:sym typeface="+mn-ea"/>
              </a:rPr>
              <a:t>A) Remote Desktop</a:t>
            </a:r>
            <a:br>
              <a:rPr lang="en-US" altLang="en-US" dirty="0">
                <a:sym typeface="+mn-ea"/>
              </a:rPr>
            </a:br>
            <a:r>
              <a:rPr lang="en-US" altLang="en-US" dirty="0">
                <a:sym typeface="+mn-ea"/>
              </a:rPr>
              <a:t>B) FTP </a:t>
            </a:r>
            <a:br>
              <a:rPr lang="en-US" altLang="en-US" dirty="0">
                <a:sym typeface="+mn-ea"/>
              </a:rPr>
            </a:br>
            <a:r>
              <a:rPr lang="en-US" altLang="en-US" dirty="0">
                <a:sym typeface="+mn-ea"/>
              </a:rPr>
              <a:t>C) Telnet</a:t>
            </a:r>
            <a:br>
              <a:rPr lang="en-US" altLang="en-US" dirty="0">
                <a:sym typeface="+mn-ea"/>
              </a:rPr>
            </a:br>
            <a:r>
              <a:rPr lang="en-US" altLang="en-US" dirty="0">
                <a:sym typeface="+mn-ea"/>
              </a:rPr>
              <a:t>D) Chat</a:t>
            </a:r>
            <a:br>
              <a:rPr lang="en-US" altLang="en-US" dirty="0">
                <a:sym typeface="+mn-ea"/>
              </a:rPr>
            </a:br>
            <a:r>
              <a:rPr lang="en-US" altLang="en-US" dirty="0">
                <a:sym typeface="+mn-ea"/>
              </a:rPr>
              <a:t> ……………. is a global hypertext system that was initially developed in 1989 by Tim Berners Lee. </a:t>
            </a:r>
            <a:br>
              <a:rPr lang="en-US" altLang="en-US" dirty="0">
                <a:sym typeface="+mn-ea"/>
              </a:rPr>
            </a:br>
            <a:r>
              <a:rPr lang="en-US" altLang="en-US" dirty="0">
                <a:sym typeface="+mn-ea"/>
              </a:rPr>
              <a:t>A) FTP</a:t>
            </a:r>
            <a:br>
              <a:rPr lang="en-US" altLang="en-US" dirty="0">
                <a:sym typeface="+mn-ea"/>
              </a:rPr>
            </a:br>
            <a:r>
              <a:rPr lang="en-US" altLang="en-US" dirty="0">
                <a:sym typeface="+mn-ea"/>
              </a:rPr>
              <a:t>B) Telnet</a:t>
            </a:r>
            <a:br>
              <a:rPr lang="en-US" altLang="en-US" dirty="0">
                <a:sym typeface="+mn-ea"/>
              </a:rPr>
            </a:br>
            <a:r>
              <a:rPr lang="en-US" altLang="en-US" dirty="0">
                <a:sym typeface="+mn-ea"/>
              </a:rPr>
              <a:t>C) www</a:t>
            </a:r>
            <a:br>
              <a:rPr lang="en-US" altLang="en-US" dirty="0">
                <a:sym typeface="+mn-ea"/>
              </a:rPr>
            </a:br>
            <a:r>
              <a:rPr lang="en-US" altLang="en-US" dirty="0">
                <a:sym typeface="+mn-ea"/>
              </a:rPr>
              <a:t>D) email </a:t>
            </a:r>
            <a:endParaRPr lang="en-US" altLang="en-US" sz="1800" dirty="0"/>
          </a:p>
          <a:p>
            <a:pPr marL="0" lvl="0" indent="0">
              <a:buClrTx/>
              <a:buFontTx/>
              <a:buNone/>
            </a:pPr>
            <a:r>
              <a:rPr lang="en-US" altLang="en-US" dirty="0">
                <a:sym typeface="+mn-ea"/>
              </a:rPr>
              <a:t>The ……………. application is built with a protocol interpreter, a data transfer, process and user interface.</a:t>
            </a:r>
            <a:br>
              <a:rPr lang="en-US" altLang="en-US" dirty="0">
                <a:sym typeface="+mn-ea"/>
              </a:rPr>
            </a:br>
            <a:r>
              <a:rPr lang="en-US" altLang="en-US" dirty="0">
                <a:sym typeface="+mn-ea"/>
              </a:rPr>
              <a:t>A) TCP</a:t>
            </a:r>
            <a:br>
              <a:rPr lang="en-US" altLang="en-US" dirty="0">
                <a:sym typeface="+mn-ea"/>
              </a:rPr>
            </a:br>
            <a:r>
              <a:rPr lang="en-US" altLang="en-US" dirty="0">
                <a:sym typeface="+mn-ea"/>
              </a:rPr>
              <a:t>B) FTP</a:t>
            </a:r>
            <a:br>
              <a:rPr lang="en-US" altLang="en-US" dirty="0">
                <a:sym typeface="+mn-ea"/>
              </a:rPr>
            </a:br>
            <a:r>
              <a:rPr lang="en-US" altLang="en-US" dirty="0">
                <a:sym typeface="+mn-ea"/>
              </a:rPr>
              <a:t>C) Telnet</a:t>
            </a:r>
            <a:br>
              <a:rPr lang="en-US" altLang="en-US" dirty="0">
                <a:sym typeface="+mn-ea"/>
              </a:rPr>
            </a:br>
            <a:r>
              <a:rPr lang="en-US" altLang="en-US" dirty="0">
                <a:sym typeface="+mn-ea"/>
              </a:rPr>
              <a:t>D) Chat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92</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base" latinLnBrk="0" hangingPunct="1">
              <a:lnSpc>
                <a:spcPct val="100000"/>
              </a:lnSpc>
              <a:spcBef>
                <a:spcPct val="0"/>
              </a:spcBef>
              <a:spcAft>
                <a:spcPct val="0"/>
              </a:spcAft>
              <a:buClrTx/>
              <a:buSzTx/>
              <a:buFontTx/>
              <a:buNone/>
              <a:defRPr/>
            </a:pPr>
            <a:r>
              <a:rPr lang="en-US" noProof="0" dirty="0">
                <a:ln>
                  <a:noFill/>
                </a:ln>
                <a:effectLst/>
                <a:uLnTx/>
                <a:uFillTx/>
                <a:sym typeface="Arial" panose="020B0604020202020204" pitchFamily="34" charset="0"/>
              </a:rPr>
              <a:t>Glossary Questions </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14655" y="1045210"/>
            <a:ext cx="11287125" cy="5047615"/>
          </a:xfrm>
          <a:prstGeom prst="rect">
            <a:avLst/>
          </a:prstGeom>
          <a:noFill/>
        </p:spPr>
        <p:txBody>
          <a:bodyPr wrap="square" rtlCol="0" anchor="t">
            <a:noAutofit/>
          </a:bodyPr>
          <a:lstStyle/>
          <a:p>
            <a:pPr marL="0" lvl="0" indent="0">
              <a:buClrTx/>
              <a:buFontTx/>
              <a:buNone/>
            </a:pPr>
            <a:r>
              <a:rPr lang="en-US" altLang="en-US" dirty="0">
                <a:sym typeface="+mn-ea"/>
              </a:rPr>
              <a:t>ARPANET used the concept of packet switching network consisting of subnet and …………… computers. </a:t>
            </a:r>
            <a:br>
              <a:rPr lang="en-US" altLang="en-US" dirty="0">
                <a:sym typeface="+mn-ea"/>
              </a:rPr>
            </a:br>
            <a:r>
              <a:rPr lang="en-US" altLang="en-US" dirty="0">
                <a:sym typeface="+mn-ea"/>
              </a:rPr>
              <a:t>A) local</a:t>
            </a:r>
            <a:br>
              <a:rPr lang="en-US" altLang="en-US" dirty="0">
                <a:sym typeface="+mn-ea"/>
              </a:rPr>
            </a:br>
            <a:r>
              <a:rPr lang="en-US" altLang="en-US" dirty="0">
                <a:sym typeface="+mn-ea"/>
              </a:rPr>
              <a:t>B) remote</a:t>
            </a:r>
            <a:br>
              <a:rPr lang="en-US" altLang="en-US" dirty="0">
                <a:sym typeface="+mn-ea"/>
              </a:rPr>
            </a:br>
            <a:r>
              <a:rPr lang="en-US" altLang="en-US" dirty="0">
                <a:sym typeface="+mn-ea"/>
              </a:rPr>
              <a:t>C) </a:t>
            </a:r>
            <a:r>
              <a:rPr lang="en-US" altLang="en-US" b="1" dirty="0">
                <a:sym typeface="+mn-ea"/>
              </a:rPr>
              <a:t>host</a:t>
            </a:r>
            <a:br>
              <a:rPr lang="en-US" altLang="en-US" dirty="0">
                <a:sym typeface="+mn-ea"/>
              </a:rPr>
            </a:br>
            <a:r>
              <a:rPr lang="en-US" altLang="en-US" dirty="0">
                <a:sym typeface="+mn-ea"/>
              </a:rPr>
              <a:t>D) network</a:t>
            </a:r>
            <a:endParaRPr lang="en-US" altLang="en-US" sz="1800" dirty="0"/>
          </a:p>
          <a:p>
            <a:pPr marL="0" lvl="0" indent="0">
              <a:buClrTx/>
              <a:buFontTx/>
              <a:buNone/>
            </a:pPr>
            <a:endParaRPr lang="en-US" altLang="en-US" sz="1800" dirty="0"/>
          </a:p>
          <a:p>
            <a:pPr marL="0" lvl="0" indent="0">
              <a:buClrTx/>
              <a:buFontTx/>
              <a:buNone/>
            </a:pPr>
            <a:r>
              <a:rPr lang="en-US" altLang="en-US" dirty="0">
                <a:sym typeface="+mn-ea"/>
              </a:rPr>
              <a:t>Internet was possible because of the use of the TCP/IP reference model and ……………… protocol stack.</a:t>
            </a:r>
            <a:br>
              <a:rPr lang="en-US" altLang="en-US" dirty="0">
                <a:sym typeface="+mn-ea"/>
              </a:rPr>
            </a:br>
            <a:r>
              <a:rPr lang="en-US" altLang="en-US" dirty="0">
                <a:sym typeface="+mn-ea"/>
              </a:rPr>
              <a:t>A) FTP</a:t>
            </a:r>
            <a:br>
              <a:rPr lang="en-US" altLang="en-US" dirty="0">
                <a:sym typeface="+mn-ea"/>
              </a:rPr>
            </a:br>
            <a:r>
              <a:rPr lang="en-US" altLang="en-US" dirty="0">
                <a:sym typeface="+mn-ea"/>
              </a:rPr>
              <a:t>B) </a:t>
            </a:r>
            <a:r>
              <a:rPr lang="en-US" altLang="en-US" b="1" dirty="0">
                <a:sym typeface="+mn-ea"/>
              </a:rPr>
              <a:t>TCP/IP</a:t>
            </a:r>
            <a:br>
              <a:rPr lang="en-US" altLang="en-US" dirty="0">
                <a:sym typeface="+mn-ea"/>
              </a:rPr>
            </a:br>
            <a:r>
              <a:rPr lang="en-US" altLang="en-US" dirty="0">
                <a:sym typeface="+mn-ea"/>
              </a:rPr>
              <a:t>C) DHCP</a:t>
            </a:r>
            <a:br>
              <a:rPr lang="en-US" altLang="en-US" dirty="0">
                <a:sym typeface="+mn-ea"/>
              </a:rPr>
            </a:br>
            <a:r>
              <a:rPr lang="en-US" altLang="en-US" dirty="0">
                <a:sym typeface="+mn-ea"/>
              </a:rPr>
              <a:t>D) UDP</a:t>
            </a:r>
            <a:endParaRPr lang="en-US" altLang="en-US" sz="1800" dirty="0"/>
          </a:p>
          <a:p>
            <a:pPr marL="0" lvl="0" indent="0">
              <a:buClrTx/>
              <a:buFontTx/>
              <a:buNone/>
            </a:pPr>
            <a:r>
              <a:rPr lang="en-US" altLang="en-US" dirty="0">
                <a:sym typeface="+mn-ea"/>
              </a:rPr>
              <a:t>………………. was created for organizing machines into domains and map hostname onto IP address. </a:t>
            </a:r>
            <a:br>
              <a:rPr lang="en-US" altLang="en-US" dirty="0">
                <a:sym typeface="+mn-ea"/>
              </a:rPr>
            </a:br>
            <a:r>
              <a:rPr lang="en-US" altLang="en-US" dirty="0">
                <a:sym typeface="+mn-ea"/>
              </a:rPr>
              <a:t>A) Domain Addressing System</a:t>
            </a:r>
            <a:br>
              <a:rPr lang="en-US" altLang="en-US" dirty="0">
                <a:sym typeface="+mn-ea"/>
              </a:rPr>
            </a:br>
            <a:r>
              <a:rPr lang="en-US" altLang="en-US" dirty="0">
                <a:sym typeface="+mn-ea"/>
              </a:rPr>
              <a:t>B) </a:t>
            </a:r>
            <a:r>
              <a:rPr lang="en-US" altLang="en-US" b="1" dirty="0">
                <a:sym typeface="+mn-ea"/>
              </a:rPr>
              <a:t>Domain Naming System</a:t>
            </a:r>
            <a:br>
              <a:rPr lang="en-US" altLang="en-US" dirty="0">
                <a:sym typeface="+mn-ea"/>
              </a:rPr>
            </a:br>
            <a:r>
              <a:rPr lang="en-US" altLang="en-US" dirty="0">
                <a:sym typeface="+mn-ea"/>
              </a:rPr>
              <a:t>C) Host Naming System</a:t>
            </a:r>
            <a:br>
              <a:rPr lang="en-US" altLang="en-US" dirty="0">
                <a:sym typeface="+mn-ea"/>
              </a:rPr>
            </a:br>
            <a:r>
              <a:rPr lang="en-US" altLang="en-US" dirty="0">
                <a:sym typeface="+mn-ea"/>
              </a:rPr>
              <a:t>D) Domain Mapping System</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93</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Sessional Papers</a:t>
            </a:r>
            <a:endParaRPr lang="en-US" dirty="0"/>
          </a:p>
        </p:txBody>
      </p:sp>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43367" name="Picture 1"/>
          <p:cNvPicPr>
            <a:picLocks noGrp="1" noChangeAspect="1"/>
          </p:cNvPicPr>
          <p:nvPr>
            <p:ph idx="1"/>
            <p:custDataLst>
              <p:tags r:id="rId1"/>
            </p:custDataLst>
          </p:nvPr>
        </p:nvPicPr>
        <p:blipFill>
          <a:blip r:embed="rId4"/>
          <a:stretch>
            <a:fillRect/>
          </a:stretch>
        </p:blipFill>
        <p:spPr>
          <a:xfrm>
            <a:off x="685800" y="1095375"/>
            <a:ext cx="10896600" cy="5031105"/>
          </a:xfrm>
          <a:prstGeom prst="rect">
            <a:avLst/>
          </a:prstGeom>
          <a:noFill/>
          <a:ln w="9525">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94</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Sessional Papers</a:t>
            </a:r>
            <a:endParaRPr lang="en-US" dirty="0"/>
          </a:p>
        </p:txBody>
      </p:sp>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45415" name="Picture 2"/>
          <p:cNvPicPr>
            <a:picLocks noGrp="1" noChangeAspect="1"/>
          </p:cNvPicPr>
          <p:nvPr>
            <p:ph idx="1"/>
            <p:custDataLst>
              <p:tags r:id="rId1"/>
            </p:custDataLst>
          </p:nvPr>
        </p:nvPicPr>
        <p:blipFill>
          <a:blip r:embed="rId4"/>
          <a:stretch>
            <a:fillRect/>
          </a:stretch>
        </p:blipFill>
        <p:spPr>
          <a:xfrm>
            <a:off x="486410" y="1162050"/>
            <a:ext cx="11329035" cy="4952365"/>
          </a:xfrm>
          <a:prstGeom prst="rect">
            <a:avLst/>
          </a:prstGeom>
          <a:noFill/>
          <a:ln w="9525">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95</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base" latinLnBrk="0" hangingPunct="1">
              <a:lnSpc>
                <a:spcPct val="100000"/>
              </a:lnSpc>
              <a:spcBef>
                <a:spcPct val="0"/>
              </a:spcBef>
              <a:spcAft>
                <a:spcPct val="0"/>
              </a:spcAft>
              <a:buClrTx/>
              <a:buSzTx/>
              <a:buFontTx/>
              <a:buNone/>
              <a:defRPr/>
            </a:pPr>
            <a:r>
              <a:rPr lang="en-US" noProof="0" dirty="0">
                <a:ln>
                  <a:noFill/>
                </a:ln>
                <a:effectLst/>
                <a:uLnTx/>
                <a:uFillTx/>
                <a:sym typeface="Arial" panose="020B0604020202020204" pitchFamily="34" charset="0"/>
              </a:rPr>
              <a:t>Sessional Papers</a:t>
            </a:r>
            <a:endParaRPr lang="en-US" dirty="0"/>
          </a:p>
        </p:txBody>
      </p:sp>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47462" name="Picture 1"/>
          <p:cNvPicPr>
            <a:picLocks noGrp="1" noChangeAspect="1"/>
          </p:cNvPicPr>
          <p:nvPr>
            <p:ph idx="1"/>
            <p:custDataLst>
              <p:tags r:id="rId1"/>
            </p:custDataLst>
          </p:nvPr>
        </p:nvPicPr>
        <p:blipFill>
          <a:blip r:embed="rId4"/>
          <a:stretch>
            <a:fillRect/>
          </a:stretch>
        </p:blipFill>
        <p:spPr>
          <a:xfrm>
            <a:off x="689610" y="1053465"/>
            <a:ext cx="10797540" cy="5196205"/>
          </a:xfrm>
          <a:prstGeom prst="rect">
            <a:avLst/>
          </a:prstGeom>
          <a:noFill/>
          <a:ln w="9525">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96</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base" latinLnBrk="0" hangingPunct="1">
              <a:lnSpc>
                <a:spcPct val="100000"/>
              </a:lnSpc>
              <a:spcBef>
                <a:spcPct val="0"/>
              </a:spcBef>
              <a:spcAft>
                <a:spcPct val="0"/>
              </a:spcAft>
              <a:buClrTx/>
              <a:buSzTx/>
              <a:buFontTx/>
              <a:buNone/>
              <a:defRPr/>
            </a:pPr>
            <a:r>
              <a:rPr lang="en-US" noProof="0" dirty="0">
                <a:ln>
                  <a:noFill/>
                </a:ln>
                <a:effectLst/>
                <a:uLnTx/>
                <a:uFillTx/>
                <a:sym typeface="Arial" panose="020B0604020202020204" pitchFamily="34" charset="0"/>
              </a:rPr>
              <a:t>Sessional Papers</a:t>
            </a:r>
            <a:endParaRPr lang="en-US" dirty="0"/>
          </a:p>
        </p:txBody>
      </p:sp>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49510" name="Picture 2"/>
          <p:cNvPicPr>
            <a:picLocks noGrp="1" noChangeAspect="1"/>
          </p:cNvPicPr>
          <p:nvPr>
            <p:ph idx="1"/>
            <p:custDataLst>
              <p:tags r:id="rId1"/>
            </p:custDataLst>
          </p:nvPr>
        </p:nvPicPr>
        <p:blipFill>
          <a:blip r:embed="rId4"/>
          <a:stretch>
            <a:fillRect/>
          </a:stretch>
        </p:blipFill>
        <p:spPr>
          <a:xfrm>
            <a:off x="928370" y="1301115"/>
            <a:ext cx="10626725" cy="4721225"/>
          </a:xfrm>
          <a:prstGeom prst="rect">
            <a:avLst/>
          </a:prstGeom>
          <a:noFill/>
          <a:ln w="9525">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97</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Old Question Paper </a:t>
            </a:r>
            <a:endParaRPr lang="en-US" dirty="0"/>
          </a:p>
        </p:txBody>
      </p:sp>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51557" name="Picture 10"/>
          <p:cNvPicPr>
            <a:picLocks noGrp="1" noChangeAspect="1"/>
          </p:cNvPicPr>
          <p:nvPr>
            <p:ph idx="1"/>
            <p:custDataLst>
              <p:tags r:id="rId1"/>
            </p:custDataLst>
          </p:nvPr>
        </p:nvPicPr>
        <p:blipFill>
          <a:blip r:embed="rId4"/>
          <a:stretch>
            <a:fillRect/>
          </a:stretch>
        </p:blipFill>
        <p:spPr>
          <a:xfrm>
            <a:off x="770255" y="1131570"/>
            <a:ext cx="10664190" cy="4994910"/>
          </a:xfrm>
          <a:prstGeom prst="rect">
            <a:avLst/>
          </a:prstGeom>
          <a:noFill/>
          <a:ln w="9525">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98</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Old Question Paper(cont..) </a:t>
            </a:r>
            <a:endParaRPr lang="en-US" dirty="0"/>
          </a:p>
        </p:txBody>
      </p:sp>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53605" name="Picture 2"/>
          <p:cNvPicPr>
            <a:picLocks noGrp="1" noChangeAspect="1"/>
          </p:cNvPicPr>
          <p:nvPr>
            <p:ph idx="1"/>
            <p:custDataLst>
              <p:tags r:id="rId1"/>
            </p:custDataLst>
          </p:nvPr>
        </p:nvPicPr>
        <p:blipFill>
          <a:blip r:embed="rId4"/>
          <a:stretch>
            <a:fillRect/>
          </a:stretch>
        </p:blipFill>
        <p:spPr>
          <a:xfrm>
            <a:off x="571500" y="1278890"/>
            <a:ext cx="11165205" cy="4789170"/>
          </a:xfrm>
          <a:prstGeom prst="rect">
            <a:avLst/>
          </a:prstGeom>
          <a:noFill/>
          <a:ln w="9525">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99</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Old Question Paper(cont..) </a:t>
            </a:r>
            <a:endParaRPr lang="en-US" dirty="0"/>
          </a:p>
        </p:txBody>
      </p:sp>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55653" name="Picture 2"/>
          <p:cNvPicPr>
            <a:picLocks noGrp="1" noChangeAspect="1"/>
          </p:cNvPicPr>
          <p:nvPr>
            <p:ph idx="1"/>
            <p:custDataLst>
              <p:tags r:id="rId1"/>
            </p:custDataLst>
          </p:nvPr>
        </p:nvPicPr>
        <p:blipFill>
          <a:blip r:embed="rId4"/>
          <a:stretch>
            <a:fillRect/>
          </a:stretch>
        </p:blipFill>
        <p:spPr>
          <a:xfrm>
            <a:off x="387350" y="1172845"/>
            <a:ext cx="11015345" cy="4953635"/>
          </a:xfrm>
          <a:prstGeom prst="rect">
            <a:avLst/>
          </a:prstGeom>
          <a:noFill/>
          <a:ln w="9525">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100</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Expected Questions for University Exam</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530860" y="1161415"/>
            <a:ext cx="11220450" cy="4347845"/>
          </a:xfrm>
          <a:prstGeom prst="rect">
            <a:avLst/>
          </a:prstGeom>
          <a:noFill/>
        </p:spPr>
        <p:txBody>
          <a:bodyPr wrap="square" rtlCol="0" anchor="t">
            <a:noAutofit/>
          </a:bodyPr>
          <a:lstStyle/>
          <a:p>
            <a:pPr marL="342900" indent="-342900" algn="just">
              <a:spcBef>
                <a:spcPts val="365"/>
              </a:spcBef>
              <a:spcAft>
                <a:spcPct val="0"/>
              </a:spcAft>
              <a:buClr>
                <a:srgbClr val="000000"/>
              </a:buClr>
              <a:buFont typeface="Arial" panose="020B0604020202020204" pitchFamily="34" charset="0"/>
              <a:buChar char="•"/>
            </a:pPr>
            <a:r>
              <a:rPr lang="en-US" altLang="en-US" sz="2200" dirty="0">
                <a:latin typeface="Arial" panose="020B0604020202020204"/>
                <a:ea typeface="Arial" panose="020B0604020202020204"/>
                <a:cs typeface="Arial" panose="020B0604020202020204"/>
                <a:sym typeface="Arial" panose="020B0604020202020204" pitchFamily="34" charset="0"/>
              </a:rPr>
              <a:t>Discuss the various protocols  in details that are governing web</a:t>
            </a:r>
          </a:p>
          <a:p>
            <a:pPr algn="just">
              <a:spcBef>
                <a:spcPts val="365"/>
              </a:spcBef>
              <a:spcAft>
                <a:spcPct val="0"/>
              </a:spcAft>
              <a:buClr>
                <a:srgbClr val="000000"/>
              </a:buClr>
            </a:pPr>
            <a:endParaRPr lang="en-US" altLang="en-US" sz="2200" dirty="0">
              <a:latin typeface="Arial" panose="020B0604020202020204"/>
              <a:ea typeface="Arial" panose="020B0604020202020204"/>
              <a:cs typeface="Arial" panose="020B0604020202020204"/>
              <a:sym typeface="Arial" panose="020B0604020202020204" pitchFamily="34" charset="0"/>
            </a:endParaRPr>
          </a:p>
          <a:p>
            <a:pPr marL="342900" indent="-342900" algn="just">
              <a:spcBef>
                <a:spcPts val="365"/>
              </a:spcBef>
              <a:spcAft>
                <a:spcPct val="0"/>
              </a:spcAft>
              <a:buClr>
                <a:srgbClr val="000000"/>
              </a:buClr>
              <a:buFont typeface="Arial" panose="020B0604020202020204" pitchFamily="34" charset="0"/>
              <a:buChar char="•"/>
            </a:pPr>
            <a:r>
              <a:rPr lang="en-US" altLang="en-US" sz="2200" dirty="0">
                <a:latin typeface="Arial" panose="020B0604020202020204"/>
                <a:ea typeface="Arial" panose="020B0604020202020204"/>
                <a:cs typeface="Arial" panose="020B0604020202020204"/>
                <a:sym typeface="Arial" panose="020B0604020202020204" pitchFamily="34" charset="0"/>
              </a:rPr>
              <a:t>Explain various types of tools available to design a website</a:t>
            </a:r>
          </a:p>
          <a:p>
            <a:pPr algn="just">
              <a:spcBef>
                <a:spcPts val="365"/>
              </a:spcBef>
              <a:spcAft>
                <a:spcPct val="0"/>
              </a:spcAft>
              <a:buClr>
                <a:srgbClr val="000000"/>
              </a:buClr>
            </a:pPr>
            <a:endParaRPr lang="en-US" altLang="en-US" sz="2200" dirty="0">
              <a:latin typeface="Arial" panose="020B0604020202020204"/>
              <a:ea typeface="Arial" panose="020B0604020202020204"/>
              <a:cs typeface="Arial" panose="020B0604020202020204"/>
              <a:sym typeface="Arial" panose="020B0604020202020204" pitchFamily="34" charset="0"/>
            </a:endParaRPr>
          </a:p>
          <a:p>
            <a:pPr marL="342900" indent="-342900" algn="just">
              <a:spcBef>
                <a:spcPts val="365"/>
              </a:spcBef>
              <a:spcAft>
                <a:spcPct val="0"/>
              </a:spcAft>
              <a:buClr>
                <a:srgbClr val="000000"/>
              </a:buClr>
              <a:buFont typeface="Arial" panose="020B0604020202020204" pitchFamily="34" charset="0"/>
              <a:buChar char="•"/>
            </a:pPr>
            <a:r>
              <a:rPr lang="en-US" altLang="en-US" sz="2200" dirty="0">
                <a:latin typeface="Arial" panose="020B0604020202020204"/>
                <a:ea typeface="Arial" panose="020B0604020202020204"/>
                <a:cs typeface="Arial" panose="020B0604020202020204"/>
                <a:sym typeface="Arial" panose="020B0604020202020204" pitchFamily="34" charset="0"/>
              </a:rPr>
              <a:t>Discuss the process involve in web hosting with help of example</a:t>
            </a:r>
          </a:p>
          <a:p>
            <a:pPr algn="just">
              <a:spcBef>
                <a:spcPts val="365"/>
              </a:spcBef>
              <a:spcAft>
                <a:spcPct val="0"/>
              </a:spcAft>
              <a:buClr>
                <a:srgbClr val="000000"/>
              </a:buClr>
            </a:pPr>
            <a:endParaRPr lang="en-US" altLang="en-US" sz="2200" dirty="0">
              <a:latin typeface="Arial" panose="020B0604020202020204"/>
              <a:ea typeface="Arial" panose="020B0604020202020204"/>
              <a:cs typeface="Arial" panose="020B0604020202020204"/>
              <a:sym typeface="Arial" panose="020B0604020202020204" pitchFamily="34" charset="0"/>
            </a:endParaRPr>
          </a:p>
          <a:p>
            <a:pPr marL="342900" indent="-342900" algn="just">
              <a:spcBef>
                <a:spcPts val="365"/>
              </a:spcBef>
              <a:spcAft>
                <a:spcPct val="0"/>
              </a:spcAft>
              <a:buClr>
                <a:srgbClr val="000000"/>
              </a:buClr>
              <a:buFont typeface="Arial" panose="020B0604020202020204" pitchFamily="34" charset="0"/>
              <a:buChar char="•"/>
            </a:pPr>
            <a:r>
              <a:rPr lang="en-US" altLang="en-US" sz="2200" dirty="0">
                <a:latin typeface="Arial" panose="020B0604020202020204"/>
                <a:ea typeface="Arial" panose="020B0604020202020204"/>
                <a:cs typeface="Arial" panose="020B0604020202020204"/>
                <a:sym typeface="Arial" panose="020B0604020202020204" pitchFamily="34" charset="0"/>
              </a:rPr>
              <a:t>Explain the various types server involve in client/server model</a:t>
            </a:r>
          </a:p>
          <a:p>
            <a:pPr algn="just">
              <a:spcBef>
                <a:spcPts val="365"/>
              </a:spcBef>
              <a:spcAft>
                <a:spcPct val="0"/>
              </a:spcAft>
              <a:buClr>
                <a:srgbClr val="000000"/>
              </a:buClr>
            </a:pPr>
            <a:endParaRPr lang="en-US" altLang="en-US" sz="2200" dirty="0">
              <a:latin typeface="Arial" panose="020B0604020202020204"/>
              <a:ea typeface="Arial" panose="020B0604020202020204"/>
              <a:cs typeface="Arial" panose="020B0604020202020204"/>
              <a:sym typeface="Arial" panose="020B0604020202020204" pitchFamily="34" charset="0"/>
            </a:endParaRPr>
          </a:p>
          <a:p>
            <a:pPr marL="342900" indent="-342900" algn="just">
              <a:spcBef>
                <a:spcPts val="365"/>
              </a:spcBef>
              <a:spcAft>
                <a:spcPct val="0"/>
              </a:spcAft>
              <a:buClr>
                <a:srgbClr val="000000"/>
              </a:buClr>
              <a:buFont typeface="Arial" panose="020B0604020202020204" pitchFamily="34" charset="0"/>
              <a:buChar char="•"/>
            </a:pPr>
            <a:r>
              <a:rPr lang="en-IN" altLang="en-US" sz="2200" dirty="0">
                <a:latin typeface="Arial" panose="020B0604020202020204"/>
                <a:ea typeface="Arial" panose="020B0604020202020204"/>
                <a:cs typeface="Arial" panose="020B0604020202020204"/>
                <a:sym typeface="Arial" panose="020B0604020202020204" pitchFamily="34" charset="0"/>
              </a:rPr>
              <a:t>Elaborate the complete process for creating Emails in Cpanel.</a:t>
            </a:r>
          </a:p>
          <a:p>
            <a:pPr algn="just">
              <a:spcBef>
                <a:spcPts val="365"/>
              </a:spcBef>
              <a:spcAft>
                <a:spcPct val="0"/>
              </a:spcAft>
              <a:buClr>
                <a:srgbClr val="000000"/>
              </a:buClr>
            </a:pPr>
            <a:endParaRPr lang="en-IN" altLang="en-US" sz="2200" dirty="0">
              <a:latin typeface="Arial" panose="020B0604020202020204"/>
              <a:ea typeface="Arial" panose="020B0604020202020204"/>
              <a:cs typeface="Arial" panose="020B0604020202020204"/>
              <a:sym typeface="Arial" panose="020B0604020202020204" pitchFamily="34" charset="0"/>
            </a:endParaRPr>
          </a:p>
          <a:p>
            <a:pPr marL="342900" indent="-342900" algn="just">
              <a:spcBef>
                <a:spcPts val="365"/>
              </a:spcBef>
              <a:spcAft>
                <a:spcPct val="0"/>
              </a:spcAft>
              <a:buClr>
                <a:srgbClr val="000000"/>
              </a:buClr>
              <a:buFont typeface="Arial" panose="020B0604020202020204" pitchFamily="34" charset="0"/>
              <a:buChar char="•"/>
            </a:pPr>
            <a:r>
              <a:rPr lang="en-IN" altLang="en-US" sz="2200" dirty="0">
                <a:latin typeface="Arial" panose="020B0604020202020204"/>
                <a:ea typeface="Arial" panose="020B0604020202020204"/>
                <a:cs typeface="Arial" panose="020B0604020202020204"/>
                <a:sym typeface="Arial" panose="020B0604020202020204" pitchFamily="34" charset="0"/>
              </a:rPr>
              <a:t>Discuss various types of hosting packages for registering domains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101</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noProof="0" dirty="0">
                <a:ln>
                  <a:noFill/>
                </a:ln>
                <a:effectLst/>
                <a:uLnTx/>
                <a:uFillTx/>
                <a:latin typeface="Times New Roman" panose="02020603050405020304" pitchFamily="18" charset="0"/>
                <a:cs typeface="Times New Roman" panose="02020603050405020304" pitchFamily="18" charset="0"/>
                <a:sym typeface="Arial" panose="020B0604020202020204" pitchFamily="34" charset="0"/>
              </a:rPr>
              <a:t>References</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408305" y="1228725"/>
            <a:ext cx="10998200" cy="4457065"/>
          </a:xfrm>
          <a:prstGeom prst="rect">
            <a:avLst/>
          </a:prstGeom>
          <a:noFill/>
        </p:spPr>
        <p:txBody>
          <a:bodyPr wrap="square" rtlCol="0" anchor="t">
            <a:noAutofit/>
          </a:bodyPr>
          <a:lstStyle/>
          <a:p>
            <a:pPr>
              <a:spcBef>
                <a:spcPts val="365"/>
              </a:spcBef>
              <a:spcAft>
                <a:spcPct val="0"/>
              </a:spcAft>
              <a:buClr>
                <a:srgbClr val="000000"/>
              </a:buClr>
              <a:buFont typeface="Wingdings" panose="05000000000000000000" pitchFamily="2" charset="2"/>
              <a:buChar char="§"/>
            </a:pPr>
            <a:r>
              <a:rPr sz="2200" dirty="0">
                <a:latin typeface="Arial" panose="020B0604020202020204"/>
                <a:ea typeface="Arial" panose="020B0604020202020204"/>
                <a:cs typeface="Arial" panose="020B0604020202020204"/>
                <a:sym typeface="Arial" panose="020B0604020202020204" pitchFamily="34" charset="0"/>
              </a:rPr>
              <a:t>Burdman, Jessica, “Collaborative Web Development” Addison Wesley</a:t>
            </a:r>
          </a:p>
          <a:p>
            <a:pPr>
              <a:spcBef>
                <a:spcPts val="365"/>
              </a:spcBef>
              <a:spcAft>
                <a:spcPct val="0"/>
              </a:spcAft>
              <a:buClr>
                <a:srgbClr val="000000"/>
              </a:buClr>
              <a:buFont typeface="Arial" panose="020B0604020202020204" pitchFamily="34" charset="0"/>
              <a:buNone/>
            </a:pPr>
            <a:endParaRPr sz="2200" dirty="0">
              <a:latin typeface="Arial" panose="020B0604020202020204"/>
              <a:ea typeface="Arial" panose="020B0604020202020204"/>
              <a:cs typeface="Arial" panose="020B0604020202020204"/>
              <a:sym typeface="Arial" panose="020B0604020202020204" pitchFamily="34" charset="0"/>
            </a:endParaRPr>
          </a:p>
          <a:p>
            <a:pPr>
              <a:spcBef>
                <a:spcPts val="365"/>
              </a:spcBef>
              <a:spcAft>
                <a:spcPct val="0"/>
              </a:spcAft>
              <a:buClr>
                <a:srgbClr val="000000"/>
              </a:buClr>
              <a:buFont typeface="Wingdings" panose="05000000000000000000" pitchFamily="2" charset="2"/>
              <a:buChar char="§"/>
            </a:pPr>
            <a:r>
              <a:rPr sz="2200" dirty="0">
                <a:latin typeface="Arial" panose="020B0604020202020204"/>
                <a:ea typeface="Arial" panose="020B0604020202020204"/>
                <a:cs typeface="Arial" panose="020B0604020202020204"/>
                <a:sym typeface="Arial" panose="020B0604020202020204" pitchFamily="34" charset="0"/>
              </a:rPr>
              <a:t>Xavier, C, “ Web Technology and Design” , New Age International</a:t>
            </a:r>
          </a:p>
          <a:p>
            <a:pPr>
              <a:spcBef>
                <a:spcPts val="365"/>
              </a:spcBef>
              <a:spcAft>
                <a:spcPct val="0"/>
              </a:spcAft>
              <a:buClr>
                <a:srgbClr val="000000"/>
              </a:buClr>
              <a:buFont typeface="Arial" panose="020B0604020202020204" pitchFamily="34" charset="0"/>
              <a:buNone/>
            </a:pPr>
            <a:endParaRPr sz="2200" dirty="0">
              <a:latin typeface="Arial" panose="020B0604020202020204"/>
              <a:ea typeface="Arial" panose="020B0604020202020204"/>
              <a:cs typeface="Arial" panose="020B0604020202020204"/>
              <a:sym typeface="Arial" panose="020B0604020202020204" pitchFamily="34" charset="0"/>
            </a:endParaRPr>
          </a:p>
          <a:p>
            <a:pPr>
              <a:spcBef>
                <a:spcPts val="365"/>
              </a:spcBef>
              <a:spcAft>
                <a:spcPct val="0"/>
              </a:spcAft>
              <a:buClr>
                <a:srgbClr val="000000"/>
              </a:buClr>
              <a:buFont typeface="Wingdings" panose="05000000000000000000" pitchFamily="2" charset="2"/>
              <a:buChar char="§"/>
            </a:pPr>
            <a:r>
              <a:rPr sz="2200" dirty="0">
                <a:latin typeface="Arial" panose="020B0604020202020204"/>
                <a:ea typeface="Arial" panose="020B0604020202020204"/>
                <a:cs typeface="Arial" panose="020B0604020202020204"/>
                <a:sym typeface="Arial" panose="020B0604020202020204" pitchFamily="34" charset="0"/>
              </a:rPr>
              <a:t>Ivan Bayross,” HTML, DHTML, Java Script, Perl &amp; CGI”, BPB Publication</a:t>
            </a:r>
            <a:endParaRPr lang="en-US" sz="2200" dirty="0">
              <a:latin typeface="Arial" panose="020B0604020202020204"/>
              <a:ea typeface="Arial" panose="020B0604020202020204"/>
              <a:cs typeface="Arial" panose="020B0604020202020204"/>
              <a:sym typeface="Arial" panose="020B0604020202020204" pitchFamily="3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102</a:t>
            </a:fld>
            <a:endParaRPr lang="en-US"/>
          </a:p>
        </p:txBody>
      </p:sp>
      <p:sp>
        <p:nvSpPr>
          <p:cNvPr id="7" name="Title 1"/>
          <p:cNvSpPr txBox="1"/>
          <p:nvPr/>
        </p:nvSpPr>
        <p:spPr>
          <a:xfrm>
            <a:off x="2895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0" fontAlgn="auto" latinLnBrk="0" hangingPunct="0">
              <a:lnSpc>
                <a:spcPct val="100000"/>
              </a:lnSpc>
              <a:spcBef>
                <a:spcPct val="0"/>
              </a:spcBef>
              <a:spcAft>
                <a:spcPts val="0"/>
              </a:spcAft>
              <a:buClrTx/>
              <a:buSzTx/>
              <a:buFontTx/>
              <a:buNone/>
              <a:defRPr/>
            </a:pPr>
            <a:r>
              <a:rPr lang="en-US" noProof="0" dirty="0">
                <a:ln>
                  <a:noFill/>
                </a:ln>
                <a:effectLst/>
                <a:uLnTx/>
                <a:uFillTx/>
                <a:sym typeface="Arial" panose="020B0604020202020204" pitchFamily="34" charset="0"/>
              </a:rPr>
              <a:t>Recap of Unit 1</a:t>
            </a:r>
            <a:endParaRPr lang="en-US" dirty="0"/>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Text Box 7"/>
          <p:cNvSpPr txBox="1"/>
          <p:nvPr/>
        </p:nvSpPr>
        <p:spPr>
          <a:xfrm>
            <a:off x="609600" y="1263015"/>
            <a:ext cx="11155045" cy="4395470"/>
          </a:xfrm>
          <a:prstGeom prst="rect">
            <a:avLst/>
          </a:prstGeom>
          <a:noFill/>
        </p:spPr>
        <p:txBody>
          <a:bodyPr wrap="square" rtlCol="0" anchor="t">
            <a:noAutofit/>
          </a:bodyPr>
          <a:lstStyle/>
          <a:p>
            <a:pPr>
              <a:spcBef>
                <a:spcPts val="365"/>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Discussed about  the history of web development strategies and protocols governing web with various types of internet services and tools.</a:t>
            </a:r>
          </a:p>
          <a:p>
            <a:pPr>
              <a:spcBef>
                <a:spcPts val="365"/>
              </a:spcBef>
              <a:spcAft>
                <a:spcPct val="0"/>
              </a:spcAft>
              <a:buClr>
                <a:srgbClr val="000000"/>
              </a:buCl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a:spcBef>
                <a:spcPts val="365"/>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Discussed about various types server with the help of client server computing concepts.</a:t>
            </a:r>
          </a:p>
          <a:p>
            <a:pPr>
              <a:spcBef>
                <a:spcPts val="365"/>
              </a:spcBef>
              <a:spcAft>
                <a:spcPct val="0"/>
              </a:spcAft>
              <a:buClr>
                <a:srgbClr val="000000"/>
              </a:buCl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a:spcBef>
                <a:spcPts val="365"/>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Discussed the various type of hosting packages</a:t>
            </a:r>
          </a:p>
          <a:p>
            <a:pPr>
              <a:spcBef>
                <a:spcPts val="365"/>
              </a:spcBef>
              <a:spcAft>
                <a:spcPct val="0"/>
              </a:spcAft>
              <a:buClr>
                <a:srgbClr val="000000"/>
              </a:buClr>
            </a:pPr>
            <a:endPar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endParaRPr>
          </a:p>
          <a:p>
            <a:pPr>
              <a:spcBef>
                <a:spcPts val="365"/>
              </a:spcBef>
              <a:spcAft>
                <a:spcPct val="0"/>
              </a:spcAft>
              <a:buClr>
                <a:srgbClr val="000000"/>
              </a:buClr>
            </a:pPr>
            <a:r>
              <a:rPr lang="en-US" altLang="en-US" sz="2200" dirty="0">
                <a:latin typeface="Times New Roman" panose="02020603050405020304" pitchFamily="18" charset="0"/>
                <a:ea typeface="Arial" panose="020B0604020202020204"/>
                <a:cs typeface="Times New Roman" panose="02020603050405020304" pitchFamily="18" charset="0"/>
                <a:sym typeface="Arial" panose="020B0604020202020204" pitchFamily="34" charset="0"/>
              </a:rPr>
              <a:t>Discussed about various protocols governing web</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7E1CD5-B77C-4297-B253-FC7E83FBE415}" type="datetime1">
              <a:rPr lang="en-US" smtClean="0"/>
              <a:t>11/7/2024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nl-NL"/>
              <a:t>Vaishali Mishra             WT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t>103</a:t>
            </a:fld>
            <a:endParaRPr lang="en-US"/>
          </a:p>
        </p:txBody>
      </p:sp>
      <p:pic>
        <p:nvPicPr>
          <p:cNvPr id="2" name="Picture 1" descr="A black and red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Text Box 2"/>
          <p:cNvSpPr txBox="1"/>
          <p:nvPr/>
        </p:nvSpPr>
        <p:spPr>
          <a:xfrm>
            <a:off x="3454400" y="2372995"/>
            <a:ext cx="6683375" cy="1427480"/>
          </a:xfrm>
          <a:prstGeom prst="rect">
            <a:avLst/>
          </a:prstGeom>
          <a:noFill/>
        </p:spPr>
        <p:txBody>
          <a:bodyPr wrap="square" rtlCol="0" anchor="t">
            <a:noAutofit/>
          </a:bodyPr>
          <a:lstStyle/>
          <a:p>
            <a:r>
              <a:rPr lang="en-US" sz="6600" b="1" kern="0" noProof="0" dirty="0">
                <a:ln w="22225">
                  <a:solidFill>
                    <a:schemeClr val="accent2"/>
                  </a:solidFill>
                  <a:prstDash val="solid"/>
                </a:ln>
                <a:solidFill>
                  <a:schemeClr val="accent2">
                    <a:lumMod val="40000"/>
                    <a:lumOff val="60000"/>
                  </a:schemeClr>
                </a:solidFill>
                <a:effectLst/>
                <a:uLnTx/>
                <a:uFillTx/>
                <a:latin typeface="Arial" panose="020B0604020202020204"/>
                <a:ea typeface="Arial" panose="020B0604020202020204"/>
                <a:cs typeface="Arial" panose="020B0604020202020204"/>
                <a:sym typeface="Arial" panose="020B0604020202020204" pitchFamily="34" charset="0"/>
              </a:rP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809*157"/>
  <p:tag name="TABLE_ENDDRAG_RECT" val="69*289*809*157"/>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792*155"/>
  <p:tag name="TABLE_ENDDRAG_RECT" val="84*126*792*155"/>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793*139"/>
  <p:tag name="TABLE_ENDDRAG_RECT" val="90*376*793*139"/>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785*97"/>
  <p:tag name="TABLE_ENDDRAG_RECT" val="96*162*785*97"/>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793*83"/>
  <p:tag name="TABLE_ENDDRAG_RECT" val="96*285*793*83"/>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790*83"/>
  <p:tag name="TABLE_ENDDRAG_RECT" val="95*401*790*83"/>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853*108"/>
  <p:tag name="TABLE_ENDDRAG_RECT" val="54*156*853*108"/>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 name="TABLE_ENDDRAG_ORIGIN_RECT" val="857*97"/>
  <p:tag name="TABLE_ENDDRAG_RECT" val="54*324*857*97"/>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7969</Words>
  <Application>Microsoft Office PowerPoint</Application>
  <PresentationFormat>Widescreen</PresentationFormat>
  <Paragraphs>1292</Paragraphs>
  <Slides>103</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103</vt:i4>
      </vt:variant>
    </vt:vector>
  </HeadingPairs>
  <TitlesOfParts>
    <vt:vector size="114" baseType="lpstr">
      <vt:lpstr>Arial</vt:lpstr>
      <vt:lpstr>Arial Black</vt:lpstr>
      <vt:lpstr>Calibri</vt:lpstr>
      <vt:lpstr>Helvetica</vt:lpstr>
      <vt:lpstr>Nunito</vt:lpstr>
      <vt:lpstr>Roboto</vt:lpstr>
      <vt:lpstr>Times New Roman</vt:lpstr>
      <vt:lpstr>Wingdings</vt:lpstr>
      <vt:lpstr>Wingdings 2</vt:lpstr>
      <vt:lpstr>Office Theme</vt:lpstr>
      <vt:lpstr>1_Office Theme</vt:lpstr>
      <vt:lpstr>Noida Institute of Engineering and Technology, Greater Noida</vt:lpstr>
      <vt:lpstr> Faculty Profile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vaishali Mishra</cp:lastModifiedBy>
  <cp:revision>160</cp:revision>
  <dcterms:created xsi:type="dcterms:W3CDTF">2006-08-16T00:00:00Z</dcterms:created>
  <dcterms:modified xsi:type="dcterms:W3CDTF">2024-11-07T15:17:38Z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F5FBAFB6E6474EC4963784C64F376704_13</vt:lpwstr>
  </property>
  <property fmtid="{D5CDD505-2E9C-101B-9397-08002B2CF9AE}" pid="3" name="KSOProductBuildVer">
    <vt:lpwstr>1033-12.2.0.17119</vt:lpwstr>
  </property>
</Properties>
</file>