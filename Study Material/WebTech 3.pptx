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handoutMasterIdLst>
    <p:handoutMasterId r:id="rId83"/>
  </p:handoutMasterIdLst>
  <p:sldIdLst>
    <p:sldId id="256" r:id="rId2"/>
    <p:sldId id="285" r:id="rId3"/>
    <p:sldId id="286" r:id="rId4"/>
    <p:sldId id="291" r:id="rId5"/>
    <p:sldId id="357" r:id="rId6"/>
    <p:sldId id="366" r:id="rId7"/>
    <p:sldId id="367" r:id="rId8"/>
    <p:sldId id="368" r:id="rId9"/>
    <p:sldId id="369" r:id="rId10"/>
    <p:sldId id="382" r:id="rId11"/>
    <p:sldId id="370" r:id="rId12"/>
    <p:sldId id="371" r:id="rId13"/>
    <p:sldId id="373" r:id="rId14"/>
    <p:sldId id="374" r:id="rId15"/>
    <p:sldId id="272" r:id="rId16"/>
    <p:sldId id="271" r:id="rId17"/>
    <p:sldId id="282" r:id="rId18"/>
    <p:sldId id="309" r:id="rId19"/>
    <p:sldId id="281" r:id="rId20"/>
    <p:sldId id="276" r:id="rId21"/>
    <p:sldId id="280" r:id="rId22"/>
    <p:sldId id="295" r:id="rId23"/>
    <p:sldId id="310" r:id="rId24"/>
    <p:sldId id="311" r:id="rId25"/>
    <p:sldId id="312" r:id="rId26"/>
    <p:sldId id="313" r:id="rId27"/>
    <p:sldId id="314" r:id="rId28"/>
    <p:sldId id="315" r:id="rId29"/>
    <p:sldId id="316" r:id="rId30"/>
    <p:sldId id="326" r:id="rId31"/>
    <p:sldId id="317" r:id="rId32"/>
    <p:sldId id="327" r:id="rId33"/>
    <p:sldId id="318" r:id="rId34"/>
    <p:sldId id="319" r:id="rId35"/>
    <p:sldId id="320" r:id="rId36"/>
    <p:sldId id="321" r:id="rId37"/>
    <p:sldId id="328" r:id="rId38"/>
    <p:sldId id="322" r:id="rId39"/>
    <p:sldId id="323" r:id="rId40"/>
    <p:sldId id="324" r:id="rId41"/>
    <p:sldId id="325" r:id="rId42"/>
    <p:sldId id="329" r:id="rId43"/>
    <p:sldId id="330" r:id="rId44"/>
    <p:sldId id="331" r:id="rId45"/>
    <p:sldId id="332" r:id="rId46"/>
    <p:sldId id="333" r:id="rId47"/>
    <p:sldId id="334" r:id="rId48"/>
    <p:sldId id="335" r:id="rId49"/>
    <p:sldId id="336" r:id="rId50"/>
    <p:sldId id="337" r:id="rId51"/>
    <p:sldId id="338" r:id="rId52"/>
    <p:sldId id="339" r:id="rId53"/>
    <p:sldId id="340" r:id="rId54"/>
    <p:sldId id="341" r:id="rId55"/>
    <p:sldId id="342" r:id="rId56"/>
    <p:sldId id="343" r:id="rId57"/>
    <p:sldId id="344" r:id="rId58"/>
    <p:sldId id="345" r:id="rId59"/>
    <p:sldId id="346" r:id="rId60"/>
    <p:sldId id="347" r:id="rId61"/>
    <p:sldId id="348" r:id="rId62"/>
    <p:sldId id="349" r:id="rId63"/>
    <p:sldId id="350" r:id="rId64"/>
    <p:sldId id="351" r:id="rId65"/>
    <p:sldId id="352" r:id="rId66"/>
    <p:sldId id="353" r:id="rId67"/>
    <p:sldId id="354" r:id="rId68"/>
    <p:sldId id="355" r:id="rId69"/>
    <p:sldId id="296" r:id="rId70"/>
    <p:sldId id="308" r:id="rId71"/>
    <p:sldId id="307" r:id="rId72"/>
    <p:sldId id="306" r:id="rId73"/>
    <p:sldId id="305" r:id="rId74"/>
    <p:sldId id="275" r:id="rId75"/>
    <p:sldId id="390" r:id="rId76"/>
    <p:sldId id="391" r:id="rId77"/>
    <p:sldId id="392" r:id="rId78"/>
    <p:sldId id="393" r:id="rId79"/>
    <p:sldId id="394" r:id="rId80"/>
    <p:sldId id="395"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56" autoAdjust="0"/>
    <p:restoredTop sz="66824" autoAdjust="0"/>
  </p:normalViewPr>
  <p:slideViewPr>
    <p:cSldViewPr>
      <p:cViewPr>
        <p:scale>
          <a:sx n="100" d="100"/>
          <a:sy n="100" d="100"/>
        </p:scale>
        <p:origin x="624" y="68"/>
      </p:cViewPr>
      <p:guideLst>
        <p:guide orient="horz" pos="2160"/>
        <p:guide pos="2880"/>
      </p:guideLst>
    </p:cSldViewPr>
  </p:slideViewPr>
  <p:outlineViewPr>
    <p:cViewPr>
      <p:scale>
        <a:sx n="33" d="100"/>
        <a:sy n="33" d="100"/>
      </p:scale>
      <p:origin x="246" y="87858"/>
    </p:cViewPr>
  </p:outlin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11/16/2022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11/16/2022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a:headEnd/>
            <a:tailEnd/>
          </a:ln>
        </p:spPr>
      </p:sp>
      <p:sp>
        <p:nvSpPr>
          <p:cNvPr id="18435" name="Notes Placeholder 2"/>
          <p:cNvSpPr txBox="1">
            <a:spLocks noGrp="1"/>
          </p:cNvSpPr>
          <p:nvPr>
            <p:ph type="body" idx="1"/>
          </p:nvPr>
        </p:nvSpPr>
        <p:spPr>
          <a:ln/>
        </p:spPr>
        <p:txBody>
          <a:bodyPr/>
          <a:lstStyle/>
          <a:p>
            <a:endParaRPr lang="en-US" altLang="en-US">
              <a:latin typeface="Arial" pitchFamily="34" charset="0"/>
              <a:cs typeface="Arial" pitchFamily="34" charset="0"/>
            </a:endParaRPr>
          </a:p>
        </p:txBody>
      </p:sp>
      <p:sp>
        <p:nvSpPr>
          <p:cNvPr id="18436" name="Slide Number Placeholder 3"/>
          <p:cNvSpPr>
            <a:spLocks noGrp="1"/>
          </p:cNvSpPr>
          <p:nvPr>
            <p:ph type="sldNum" sz="quarter" idx="12"/>
          </p:nvPr>
        </p:nvSpPr>
        <p:spPr>
          <a:noFill/>
        </p:spPr>
        <p:txBody>
          <a:bodyPr/>
          <a:lstStyle/>
          <a:p>
            <a:fld id="{4311BAD6-DA92-4B12-B3DA-26C82A3D478E}" type="slidenum">
              <a:rPr lang="en-US" altLang="en-US"/>
              <a:pPr/>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2" name="Google Shape;123;p4:notes"/>
          <p:cNvSpPr txBox="1">
            <a:spLocks noGrp="1"/>
          </p:cNvSpPr>
          <p:nvPr>
            <p:ph type="body" idx="1"/>
          </p:nvPr>
        </p:nvSpPr>
        <p:spPr/>
        <p:txBody>
          <a:bodyPr/>
          <a:lstStyle/>
          <a:p>
            <a:pPr marL="0" indent="0" eaLnBrk="1" hangingPunct="1">
              <a:buSzPts val="1400"/>
            </a:pPr>
            <a:endParaRPr lang="en-US" altLang="en-US" sz="1200">
              <a:latin typeface="Calibri" panose="020F0502020204030204" pitchFamily="34" charset="0"/>
              <a:cs typeface="Arial" panose="020B0604020202020204" pitchFamily="34" charset="0"/>
              <a:sym typeface="Calibri" panose="020F0502020204030204" pitchFamily="34" charset="0"/>
            </a:endParaRPr>
          </a:p>
        </p:txBody>
      </p:sp>
      <p:sp>
        <p:nvSpPr>
          <p:cNvPr id="40963" name="Google Shape;124;p4:notes"/>
          <p:cNvSpPr>
            <a:spLocks noGrp="1" noRot="1" noChangeAspect="1" noTextEdit="1"/>
          </p:cNvSpPr>
          <p:nvPr>
            <p:ph type="sldImg" idx="2"/>
          </p:nvPr>
        </p:nvSpPr>
        <p:spPr>
          <a:ln>
            <a:miter lim="800000"/>
            <a:headEnd/>
            <a:tailEnd/>
          </a:ln>
        </p:spPr>
      </p:sp>
    </p:spTree>
    <p:extLst>
      <p:ext uri="{BB962C8B-B14F-4D97-AF65-F5344CB8AC3E}">
        <p14:creationId xmlns:p14="http://schemas.microsoft.com/office/powerpoint/2010/main" val="3732742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2" name="Google Shape;102;p2:notes"/>
          <p:cNvSpPr>
            <a:spLocks noGrp="1" noRot="1" noChangeAspect="1" noTextEdit="1"/>
          </p:cNvSpPr>
          <p:nvPr>
            <p:ph type="sldImg" idx="2"/>
          </p:nvPr>
        </p:nvSpPr>
        <p:spPr>
          <a:noFill/>
          <a:ln cap="flat">
            <a:headEnd/>
            <a:tailEnd/>
          </a:ln>
        </p:spPr>
      </p:sp>
      <p:sp>
        <p:nvSpPr>
          <p:cNvPr id="40963" name="Google Shape;103;p2:notes"/>
          <p:cNvSpPr txBox="1">
            <a:spLocks noGrp="1"/>
          </p:cNvSpPr>
          <p:nvPr>
            <p:ph type="body" idx="1"/>
          </p:nvPr>
        </p:nvSpPr>
        <p:spPr>
          <a:noFill/>
        </p:spPr>
        <p:txBody>
          <a:bodyPr/>
          <a:lstStyle/>
          <a:p>
            <a:pPr marL="0" indent="0" eaLnBrk="1" hangingPunct="1">
              <a:buSzPts val="1400"/>
            </a:pPr>
            <a:endParaRPr lang="en-US" altLang="en-US" sz="1200">
              <a:latin typeface="Calibri" pitchFamily="34" charset="0"/>
              <a:cs typeface="Calibri" pitchFamily="34" charset="0"/>
              <a:sym typeface="Calibri" pitchFamily="34" charset="0"/>
            </a:endParaRPr>
          </a:p>
        </p:txBody>
      </p:sp>
      <p:sp>
        <p:nvSpPr>
          <p:cNvPr id="40964" name="Google Shape;104;p2:notes"/>
          <p:cNvSpPr>
            <a:spLocks noGrp="1"/>
          </p:cNvSpPr>
          <p:nvPr>
            <p:ph type="sldNum" sz="quarter" idx="12"/>
          </p:nvPr>
        </p:nvSpPr>
        <p:spPr>
          <a:noFill/>
        </p:spPr>
        <p:txBody>
          <a:bodyPr/>
          <a:lstStyle/>
          <a:p>
            <a:fld id="{324A4126-A91C-4C61-9B6D-6DAC8E99AECB}" type="slidenum">
              <a:rPr lang="en-US" altLang="en-US" sz="1400">
                <a:latin typeface="Arial" pitchFamily="34" charset="0"/>
                <a:cs typeface="Arial" pitchFamily="34" charset="0"/>
                <a:sym typeface="Arial" pitchFamily="34" charset="0"/>
              </a:rPr>
              <a:pPr/>
              <a:t>12</a:t>
            </a:fld>
            <a:endParaRPr lang="en-US" altLang="en-US" sz="1400">
              <a:latin typeface="Arial" pitchFamily="34" charset="0"/>
              <a:cs typeface="Arial" pitchFamily="34" charset="0"/>
              <a:sym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a:ln>
            <a:headEnd/>
            <a:tailEnd/>
          </a:ln>
        </p:spPr>
      </p:sp>
      <p:sp>
        <p:nvSpPr>
          <p:cNvPr id="136195"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3619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B6C8605-A532-4FF6-9D52-80B9561890E9}" type="slidenum">
              <a:rPr lang="en-US" altLang="en-US" sz="1200" smtClean="0">
                <a:latin typeface="Calibri" panose="020F0502020204030204" pitchFamily="34" charset="0"/>
                <a:sym typeface="Calibri" panose="020F0502020204030204" pitchFamily="34" charset="0"/>
              </a:rPr>
              <a:pPr/>
              <a:t>75</a:t>
            </a:fld>
            <a:endParaRPr lang="en-US" altLang="en-US" sz="1200">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929101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TextEdit="1"/>
          </p:cNvSpPr>
          <p:nvPr>
            <p:ph type="sldImg"/>
          </p:nvPr>
        </p:nvSpPr>
        <p:spPr>
          <a:ln>
            <a:headEnd/>
            <a:tailEnd/>
          </a:ln>
        </p:spPr>
      </p:sp>
      <p:sp>
        <p:nvSpPr>
          <p:cNvPr id="138243"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3824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FAE46AC9-61D5-4A20-8C79-AA86856B285C}" type="slidenum">
              <a:rPr lang="en-US" altLang="en-US" sz="1200" smtClean="0">
                <a:latin typeface="Calibri" panose="020F0502020204030204" pitchFamily="34" charset="0"/>
                <a:sym typeface="Calibri" panose="020F0502020204030204" pitchFamily="34" charset="0"/>
              </a:rPr>
              <a:pPr/>
              <a:t>76</a:t>
            </a:fld>
            <a:endParaRPr lang="en-US" altLang="en-US" sz="1200">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734879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p:cNvSpPr>
            <a:spLocks noGrp="1" noRot="1" noChangeAspect="1" noTextEdit="1"/>
          </p:cNvSpPr>
          <p:nvPr>
            <p:ph type="sldImg"/>
          </p:nvPr>
        </p:nvSpPr>
        <p:spPr>
          <a:ln>
            <a:headEnd/>
            <a:tailEnd/>
          </a:ln>
        </p:spPr>
      </p:sp>
      <p:sp>
        <p:nvSpPr>
          <p:cNvPr id="140291"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40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3BA6660B-A172-4201-8FFB-7EB74F940A94}" type="slidenum">
              <a:rPr lang="en-US" altLang="en-US" sz="1200" smtClean="0">
                <a:latin typeface="Calibri" panose="020F0502020204030204" pitchFamily="34" charset="0"/>
                <a:sym typeface="Calibri" panose="020F0502020204030204" pitchFamily="34" charset="0"/>
              </a:rPr>
              <a:pPr/>
              <a:t>77</a:t>
            </a:fld>
            <a:endParaRPr lang="en-US" altLang="en-US" sz="1200">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3975026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a:headEnd/>
            <a:tailEnd/>
          </a:ln>
        </p:spPr>
      </p:sp>
      <p:sp>
        <p:nvSpPr>
          <p:cNvPr id="142339"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4234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C54796BA-E701-4218-95B1-6B7EEDCF16AA}" type="slidenum">
              <a:rPr lang="en-US" altLang="en-US" sz="1200" smtClean="0">
                <a:latin typeface="Calibri" panose="020F0502020204030204" pitchFamily="34" charset="0"/>
                <a:sym typeface="Calibri" panose="020F0502020204030204" pitchFamily="34" charset="0"/>
              </a:rPr>
              <a:pPr/>
              <a:t>78</a:t>
            </a:fld>
            <a:endParaRPr lang="en-US" altLang="en-US" sz="1200">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813349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p:cNvSpPr>
            <a:spLocks noGrp="1" noRot="1" noChangeAspect="1" noTextEdit="1"/>
          </p:cNvSpPr>
          <p:nvPr>
            <p:ph type="sldImg"/>
          </p:nvPr>
        </p:nvSpPr>
        <p:spPr>
          <a:ln>
            <a:headEnd/>
            <a:tailEnd/>
          </a:ln>
        </p:spPr>
      </p:sp>
      <p:sp>
        <p:nvSpPr>
          <p:cNvPr id="152579" name="Notes Placeholder 2"/>
          <p:cNvSpPr txBox="1">
            <a:spLocks noGrp="1"/>
          </p:cNvSpPr>
          <p:nvPr>
            <p:ph type="body" idx="1"/>
          </p:nvPr>
        </p:nvSpPr>
        <p:spPr>
          <a:ln/>
        </p:spPr>
        <p:txBody>
          <a:bodyPr/>
          <a:lstStyle/>
          <a:p>
            <a:endParaRPr lang="en-US" altLang="en-US">
              <a:latin typeface="Arial" panose="020B0604020202020204" pitchFamily="34" charset="0"/>
              <a:cs typeface="Arial" panose="020B0604020202020204" pitchFamily="34" charset="0"/>
            </a:endParaRPr>
          </a:p>
        </p:txBody>
      </p:sp>
      <p:sp>
        <p:nvSpPr>
          <p:cNvPr id="15258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7FD30F64-82F8-4A5F-8745-A81C49F3C061}" type="slidenum">
              <a:rPr lang="en-US" altLang="en-US" sz="1200" smtClean="0">
                <a:latin typeface="Calibri" panose="020F0502020204030204" pitchFamily="34" charset="0"/>
                <a:cs typeface="Calibri" panose="020F0502020204030204" pitchFamily="34" charset="0"/>
                <a:sym typeface="Calibri" panose="020F0502020204030204" pitchFamily="34" charset="0"/>
              </a:rPr>
              <a:pPr/>
              <a:t>79</a:t>
            </a:fld>
            <a:endParaRPr lang="en-US" altLang="en-US" sz="1200">
              <a:latin typeface="Calibri" panose="020F0502020204030204" pitchFamily="34" charset="0"/>
              <a:cs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1536124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p:cNvSpPr>
            <a:spLocks noGrp="1" noRot="1" noChangeAspect="1" noTextEdit="1"/>
          </p:cNvSpPr>
          <p:nvPr>
            <p:ph type="sldImg"/>
          </p:nvPr>
        </p:nvSpPr>
        <p:spPr>
          <a:ln>
            <a:headEnd/>
            <a:tailEnd/>
          </a:ln>
        </p:spPr>
      </p:sp>
      <p:sp>
        <p:nvSpPr>
          <p:cNvPr id="154627" name="Notes Placeholder 2"/>
          <p:cNvSpPr txBox="1">
            <a:spLocks noGrp="1"/>
          </p:cNvSpPr>
          <p:nvPr>
            <p:ph type="body" idx="1"/>
          </p:nvPr>
        </p:nvSpPr>
        <p:spPr/>
        <p:txBody>
          <a:bodyPr/>
          <a:lstStyle/>
          <a:p>
            <a:endParaRPr lang="en-US" altLang="en-US">
              <a:latin typeface="Arial" panose="020B0604020202020204" pitchFamily="34" charset="0"/>
              <a:cs typeface="Arial" panose="020B0604020202020204" pitchFamily="34" charset="0"/>
            </a:endParaRPr>
          </a:p>
        </p:txBody>
      </p:sp>
      <p:sp>
        <p:nvSpPr>
          <p:cNvPr id="15462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41DBBE0D-709E-46A7-A7E7-E20FE8D345C7}" type="slidenum">
              <a:rPr lang="en-US" altLang="en-US" sz="1200" smtClean="0">
                <a:latin typeface="Calibri" panose="020F0502020204030204" pitchFamily="34" charset="0"/>
                <a:sym typeface="Calibri" panose="020F0502020204030204" pitchFamily="34" charset="0"/>
              </a:rPr>
              <a:pPr/>
              <a:t>80</a:t>
            </a:fld>
            <a:endParaRPr lang="en-US" altLang="en-US" sz="1200">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729068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367812-8C55-48B8-8539-8A10724DF9EE}" type="datetime1">
              <a:rPr lang="en-US" smtClean="0"/>
              <a:pPr/>
              <a:t>11/16/2022</a:t>
            </a:fld>
            <a:endParaRPr lang="en-US"/>
          </a:p>
        </p:txBody>
      </p:sp>
      <p:sp>
        <p:nvSpPr>
          <p:cNvPr id="5" name="Footer Placeholder 4"/>
          <p:cNvSpPr>
            <a:spLocks noGrp="1"/>
          </p:cNvSpPr>
          <p:nvPr>
            <p:ph type="ftr" sz="quarter" idx="11"/>
          </p:nvPr>
        </p:nvSpPr>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1E5B16-BA7B-4F4D-B25D-A1A8C2941B34}" type="datetime1">
              <a:rPr lang="en-US" smtClean="0"/>
              <a:pPr/>
              <a:t>11/16/2022</a:t>
            </a:fld>
            <a:endParaRPr lang="en-US"/>
          </a:p>
        </p:txBody>
      </p:sp>
      <p:sp>
        <p:nvSpPr>
          <p:cNvPr id="5" name="Footer Placeholder 4"/>
          <p:cNvSpPr>
            <a:spLocks noGrp="1"/>
          </p:cNvSpPr>
          <p:nvPr>
            <p:ph type="ftr" sz="quarter" idx="11"/>
          </p:nvPr>
        </p:nvSpPr>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B2C57-A54E-49D5-BF79-2853955CDB94}" type="datetime1">
              <a:rPr lang="en-US" smtClean="0"/>
              <a:pPr/>
              <a:t>11/16/2022</a:t>
            </a:fld>
            <a:endParaRPr lang="en-US"/>
          </a:p>
        </p:txBody>
      </p:sp>
      <p:sp>
        <p:nvSpPr>
          <p:cNvPr id="5" name="Footer Placeholder 4"/>
          <p:cNvSpPr>
            <a:spLocks noGrp="1"/>
          </p:cNvSpPr>
          <p:nvPr>
            <p:ph type="ftr" sz="quarter" idx="11"/>
          </p:nvPr>
        </p:nvSpPr>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9F31704-FE91-487C-8AA6-9F5B6F5784BC}" type="datetime1">
              <a:rPr lang="en-US" smtClean="0"/>
              <a:pPr/>
              <a:t>11/16/2022</a:t>
            </a:fld>
            <a:endParaRPr lang="en-US"/>
          </a:p>
        </p:txBody>
      </p:sp>
      <p:sp>
        <p:nvSpPr>
          <p:cNvPr id="6" name="Footer Placeholder 5"/>
          <p:cNvSpPr>
            <a:spLocks noGrp="1"/>
          </p:cNvSpPr>
          <p:nvPr>
            <p:ph type="ftr" sz="quarter" idx="11"/>
          </p:nvPr>
        </p:nvSpPr>
        <p:spPr/>
        <p:txBody>
          <a:bodyPr/>
          <a:lstStyle/>
          <a:p>
            <a:r>
              <a:rPr lang="fi-FI" dirty="0"/>
              <a:t>06/15/2022                    Ajeet Kumar          WT     Unit 3</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E4572C-903B-452C-93ED-7E41DC7A3B3D}" type="datetime1">
              <a:rPr lang="en-US" smtClean="0"/>
              <a:pPr/>
              <a:t>11/16/2022</a:t>
            </a:fld>
            <a:endParaRPr lang="en-US"/>
          </a:p>
        </p:txBody>
      </p:sp>
      <p:sp>
        <p:nvSpPr>
          <p:cNvPr id="8" name="Footer Placeholder 7"/>
          <p:cNvSpPr>
            <a:spLocks noGrp="1"/>
          </p:cNvSpPr>
          <p:nvPr>
            <p:ph type="ftr" sz="quarter" idx="11"/>
          </p:nvPr>
        </p:nvSpPr>
        <p:spPr/>
        <p:txBody>
          <a:bodyPr/>
          <a:lstStyle/>
          <a:p>
            <a:r>
              <a:rPr lang="fi-FI" dirty="0"/>
              <a:t>06/15/2022                    Ajeet Kumar          WT     Unit 3</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9C7201-FE42-46F4-A77B-1D85B8AE659A}" type="datetime1">
              <a:rPr lang="en-US" smtClean="0"/>
              <a:pPr/>
              <a:t>11/16/2022</a:t>
            </a:fld>
            <a:endParaRPr lang="en-US"/>
          </a:p>
        </p:txBody>
      </p:sp>
      <p:sp>
        <p:nvSpPr>
          <p:cNvPr id="4" name="Footer Placeholder 3"/>
          <p:cNvSpPr>
            <a:spLocks noGrp="1"/>
          </p:cNvSpPr>
          <p:nvPr>
            <p:ph type="ftr" sz="quarter" idx="11"/>
          </p:nvPr>
        </p:nvSpPr>
        <p:spPr/>
        <p:txBody>
          <a:bodyPr/>
          <a:lstStyle/>
          <a:p>
            <a:r>
              <a:rPr lang="fi-FI" dirty="0"/>
              <a:t>06/15/2022                    Ajeet Kumar          WT     Unit 3</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35320F-BB68-413C-9798-FA635A984966}" type="datetime1">
              <a:rPr lang="en-US" smtClean="0"/>
              <a:pPr/>
              <a:t>11/16/2022</a:t>
            </a:fld>
            <a:endParaRPr lang="en-US"/>
          </a:p>
        </p:txBody>
      </p:sp>
      <p:sp>
        <p:nvSpPr>
          <p:cNvPr id="3" name="Footer Placeholder 2"/>
          <p:cNvSpPr>
            <a:spLocks noGrp="1"/>
          </p:cNvSpPr>
          <p:nvPr>
            <p:ph type="ftr" sz="quarter" idx="11"/>
          </p:nvPr>
        </p:nvSpPr>
        <p:spPr/>
        <p:txBody>
          <a:bodyPr/>
          <a:lstStyle/>
          <a:p>
            <a:r>
              <a:rPr lang="fi-FI" dirty="0"/>
              <a:t>06/15/2022                    Ajeet Kumar          WT     Unit 3</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7C0A97-1A4E-4543-BDBA-921D0EC92DCE}" type="datetime1">
              <a:rPr lang="en-US" smtClean="0"/>
              <a:pPr/>
              <a:t>11/16/2022</a:t>
            </a:fld>
            <a:endParaRPr lang="en-US"/>
          </a:p>
        </p:txBody>
      </p:sp>
      <p:sp>
        <p:nvSpPr>
          <p:cNvPr id="6" name="Footer Placeholder 5"/>
          <p:cNvSpPr>
            <a:spLocks noGrp="1"/>
          </p:cNvSpPr>
          <p:nvPr>
            <p:ph type="ftr" sz="quarter" idx="11"/>
          </p:nvPr>
        </p:nvSpPr>
        <p:spPr/>
        <p:txBody>
          <a:bodyPr/>
          <a:lstStyle/>
          <a:p>
            <a:r>
              <a:rPr lang="fi-FI" dirty="0"/>
              <a:t>06/15/2022                    Ajeet Kumar          WT     Unit 3</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1E8E6D-8455-4E93-8821-1FC340AB0C05}" type="datetime1">
              <a:rPr lang="en-US" smtClean="0"/>
              <a:pPr/>
              <a:t>11/16/2022</a:t>
            </a:fld>
            <a:endParaRPr lang="en-US"/>
          </a:p>
        </p:txBody>
      </p:sp>
      <p:sp>
        <p:nvSpPr>
          <p:cNvPr id="6" name="Footer Placeholder 5"/>
          <p:cNvSpPr>
            <a:spLocks noGrp="1"/>
          </p:cNvSpPr>
          <p:nvPr>
            <p:ph type="ftr" sz="quarter" idx="11"/>
          </p:nvPr>
        </p:nvSpPr>
        <p:spPr/>
        <p:txBody>
          <a:bodyPr/>
          <a:lstStyle/>
          <a:p>
            <a:r>
              <a:rPr lang="fi-FI" dirty="0"/>
              <a:t>06/15/2022                    Ajeet Kumar          WT     Unit 3</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832CAE-0ABB-4420-8B0F-694E383CC1B4}" type="datetime1">
              <a:rPr lang="en-US" smtClean="0"/>
              <a:pPr/>
              <a:t>11/16/2022</a:t>
            </a:fld>
            <a:endParaRPr lang="en-US"/>
          </a:p>
        </p:txBody>
      </p:sp>
      <p:sp>
        <p:nvSpPr>
          <p:cNvPr id="5" name="Footer Placeholder 4"/>
          <p:cNvSpPr>
            <a:spLocks noGrp="1"/>
          </p:cNvSpPr>
          <p:nvPr>
            <p:ph type="ftr" sz="quarter" idx="11"/>
          </p:nvPr>
        </p:nvSpPr>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D04A96-6722-460A-BB43-B12F5E47DCEF}" type="datetime1">
              <a:rPr lang="en-US" smtClean="0"/>
              <a:pPr/>
              <a:t>11/16/2022</a:t>
            </a:fld>
            <a:endParaRPr lang="en-US"/>
          </a:p>
        </p:txBody>
      </p:sp>
      <p:sp>
        <p:nvSpPr>
          <p:cNvPr id="5" name="Footer Placeholder 4"/>
          <p:cNvSpPr>
            <a:spLocks noGrp="1"/>
          </p:cNvSpPr>
          <p:nvPr>
            <p:ph type="ftr" sz="quarter" idx="11"/>
          </p:nvPr>
        </p:nvSpPr>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ED4B40-4F23-4B9A-BD20-94450C7AB885}" type="datetime1">
              <a:rPr lang="en-US" smtClean="0"/>
              <a:pPr/>
              <a:t>11/16/2022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dirty="0"/>
              <a:t>06/15/2022                    Ajeet Kumar          WT     Unit 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image" Target="../media/image8.wmf"/></Relationships>
</file>

<file path=ppt/slides/_rels/slide1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wmf"/><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9.wmf"/><Relationship Id="rId4" Type="http://schemas.openxmlformats.org/officeDocument/2006/relationships/image" Target="../media/image18.wmf"/></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wmf"/><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wmf"/><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4.wmf"/></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wmf"/><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4.wmf"/></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w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w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9.wmf"/></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0.wmf"/><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w3.org/TR/SVG11/types.html"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47.png"/></Relationships>
</file>

<file path=ppt/slides/_rels/slide56.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47.png"/></Relationships>
</file>

<file path=ppt/slides/_rels/slide57.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wmf"/><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51.png"/><Relationship Id="rId4" Type="http://schemas.openxmlformats.org/officeDocument/2006/relationships/image" Target="../media/image54.png"/></Relationships>
</file>

<file path=ppt/slides/_rels/slide60.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6.w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hunlock.com/blogs/Attach_icons_to_anything_with_CSS"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jigsaw.w3.org/css-validator/" TargetMode="External"/><Relationship Id="rId2" Type="http://schemas.openxmlformats.org/officeDocument/2006/relationships/hyperlink" Target="http://validator.w3.org/"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bobby.watchfire.com/" TargetMode="External"/></Relationships>
</file>

<file path=ppt/slides/_rels/slide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websitesetup.org/wp-content/uploads/2020/03/Bootstrap-Cheat-Sheet-websitesetup.org_.pdf" TargetMode="External"/><Relationship Id="rId2" Type="http://schemas.openxmlformats.org/officeDocument/2006/relationships/hyperlink" Target="https://getbootstrap.com/docs/3.3/components/" TargetMode="Externa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youtu.be/1Rs2ND1ryYc" TargetMode="External"/><Relationship Id="rId4" Type="http://schemas.openxmlformats.org/officeDocument/2006/relationships/hyperlink" Target="https://wiki.lib.sun.ac.za/images/0/07/Bootstrap-tutorial.pdf" TargetMode="External"/></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7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447800" y="914400"/>
            <a:ext cx="6400800" cy="1752600"/>
          </a:xfrm>
        </p:spPr>
        <p:style>
          <a:lnRef idx="2">
            <a:schemeClr val="accent5"/>
          </a:lnRef>
          <a:fillRef idx="1">
            <a:schemeClr val="lt1"/>
          </a:fillRef>
          <a:effectRef idx="0">
            <a:schemeClr val="accent5"/>
          </a:effectRef>
          <a:fontRef idx="minor">
            <a:schemeClr val="dk1"/>
          </a:fontRef>
        </p:style>
        <p:txBody>
          <a:bodyPr>
            <a:normAutofit/>
          </a:bodyPr>
          <a:lstStyle/>
          <a:p>
            <a:r>
              <a:rPr lang="en-IN" sz="2500" dirty="0">
                <a:solidFill>
                  <a:schemeClr val="tx1"/>
                </a:solidFill>
              </a:rPr>
              <a:t>Concept of CCS &amp; Bootstrap</a:t>
            </a:r>
            <a:endParaRPr lang="en-US" sz="2500" dirty="0">
              <a:solidFill>
                <a:schemeClr val="tx1"/>
              </a:solidFill>
            </a:endParaRPr>
          </a:p>
        </p:txBody>
      </p:sp>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Ajeet Kumar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Assistant Professor</a:t>
            </a:r>
            <a:r>
              <a:rPr kumimoji="0" lang="en-US" sz="2400" b="0" i="0" u="none" strike="noStrike" kern="1200" cap="none" spc="0" normalizeH="0" noProof="0" dirty="0">
                <a:ln>
                  <a:noFill/>
                </a:ln>
                <a:solidFill>
                  <a:schemeClr val="tx1"/>
                </a:solidFill>
                <a:effectLst/>
                <a:uLnTx/>
                <a:uFillTx/>
                <a:latin typeface="+mn-lt"/>
                <a:ea typeface="+mn-ea"/>
                <a:cs typeface="+mn-cs"/>
              </a:rPr>
              <a:t>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IN" sz="2400" dirty="0">
                <a:solidFill>
                  <a:schemeClr val="tx1"/>
                </a:solidFill>
              </a:rPr>
              <a:t>CSE</a:t>
            </a:r>
            <a:endParaRPr kumimoji="0" lang="en-US" sz="2400" b="0" i="0" u="none" strike="noStrike" kern="1200" cap="none" spc="0" normalizeH="0" noProof="0" dirty="0">
              <a:ln>
                <a:noFill/>
              </a:ln>
              <a:solidFill>
                <a:schemeClr val="tx1"/>
              </a:solidFill>
              <a:effectLst/>
              <a:uLnTx/>
              <a:uFillTx/>
              <a:latin typeface="+mn-lt"/>
              <a:ea typeface="+mn-ea"/>
              <a:cs typeface="+mn-cs"/>
            </a:endParaRP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10" name="Slide Number Placeholder 9"/>
          <p:cNvSpPr>
            <a:spLocks noGrp="1"/>
          </p:cNvSpPr>
          <p:nvPr>
            <p:ph type="sldNum" sz="quarter" idx="12"/>
          </p:nvPr>
        </p:nvSpPr>
        <p:spPr>
          <a:xfrm>
            <a:off x="6588224" y="6294437"/>
            <a:ext cx="2133600" cy="365125"/>
          </a:xfrm>
        </p:spPr>
        <p:txBody>
          <a:bodyPr/>
          <a:lstStyle/>
          <a:p>
            <a:fld id="{B6F15528-21DE-4FAA-801E-634DDDAF4B2B}" type="slidenum">
              <a:rPr lang="en-US" smtClean="0"/>
              <a:pPr/>
              <a:t>1</a:t>
            </a:fld>
            <a:endParaRPr lang="en-US"/>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6477000" y="2590800"/>
            <a:ext cx="1524000" cy="1524000"/>
          </a:xfrm>
          <a:prstGeom prst="rect">
            <a:avLst/>
          </a:prstGeom>
          <a:noFill/>
        </p:spPr>
      </p:pic>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schemeClr val="tx1"/>
                </a:solidFill>
                <a:effectLst/>
                <a:uLnTx/>
                <a:uFillTx/>
                <a:latin typeface="+mn-lt"/>
                <a:ea typeface="+mn-ea"/>
                <a:cs typeface="+mn-cs"/>
              </a:rPr>
              <a:t>Unit:</a:t>
            </a:r>
            <a:r>
              <a:rPr kumimoji="0" lang="en-US" sz="2500" b="0" i="0" u="none" strike="noStrike" kern="1200" cap="none" spc="0" normalizeH="0" noProof="0" dirty="0">
                <a:ln>
                  <a:noFill/>
                </a:ln>
                <a:solidFill>
                  <a:schemeClr val="tx1"/>
                </a:solidFill>
                <a:effectLst/>
                <a:uLnTx/>
                <a:uFillTx/>
                <a:latin typeface="+mn-lt"/>
                <a:ea typeface="+mn-ea"/>
                <a:cs typeface="+mn-cs"/>
              </a:rPr>
              <a:t> </a:t>
            </a:r>
            <a:r>
              <a:rPr lang="en-US" sz="2500" dirty="0">
                <a:solidFill>
                  <a:schemeClr val="tx1"/>
                </a:solidFill>
              </a:rPr>
              <a:t>3</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fi-FI" dirty="0"/>
              <a:t>06/15/2022                    Ajeet Kumar          WT     Unit 3</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IN" sz="2000" dirty="0">
                <a:solidFill>
                  <a:schemeClr val="tx1"/>
                </a:solidFill>
              </a:rPr>
              <a:t>Web Technology Subject Code is not Assigned)</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Course</a:t>
            </a:r>
            <a:r>
              <a:rPr kumimoji="0" lang="en-US" sz="2000" b="0" i="0" u="none" strike="noStrike" kern="1200" cap="none" spc="0" normalizeH="0" noProof="0" dirty="0">
                <a:ln>
                  <a:noFill/>
                </a:ln>
                <a:solidFill>
                  <a:schemeClr val="tx1"/>
                </a:solidFill>
                <a:effectLst/>
                <a:uLnTx/>
                <a:uFillTx/>
                <a:latin typeface="+mn-lt"/>
                <a:ea typeface="+mn-ea"/>
                <a:cs typeface="+mn-cs"/>
              </a:rPr>
              <a:t> Details</a:t>
            </a: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000" b="0" i="0" u="none" strike="noStrike" kern="1200" cap="none" spc="0" normalizeH="0" noProof="0" dirty="0">
                <a:ln>
                  <a:noFill/>
                </a:ln>
                <a:solidFill>
                  <a:schemeClr val="tx1"/>
                </a:solidFill>
                <a:effectLst/>
                <a:uLnTx/>
                <a:uFillTx/>
                <a:latin typeface="+mn-lt"/>
                <a:ea typeface="+mn-ea"/>
                <a:cs typeface="+mn-cs"/>
              </a:rPr>
              <a:t>(Ex: B Tech 5</a:t>
            </a:r>
            <a:r>
              <a:rPr kumimoji="0" lang="en-US" sz="2000" b="0" i="0" u="none" strike="noStrike" kern="1200" cap="none" spc="0" normalizeH="0" baseline="30000" noProof="0" dirty="0">
                <a:ln>
                  <a:noFill/>
                </a:ln>
                <a:solidFill>
                  <a:schemeClr val="tx1"/>
                </a:solidFill>
                <a:effectLst/>
                <a:uLnTx/>
                <a:uFillTx/>
                <a:latin typeface="+mn-lt"/>
                <a:ea typeface="+mn-ea"/>
                <a:cs typeface="+mn-cs"/>
              </a:rPr>
              <a:t>th</a:t>
            </a:r>
            <a:r>
              <a:rPr kumimoji="0" lang="en-US" sz="2000" b="0" i="0" u="none" strike="noStrike" kern="1200" cap="none" spc="0" normalizeH="0" noProof="0" dirty="0">
                <a:ln>
                  <a:noFill/>
                </a:ln>
                <a:solidFill>
                  <a:schemeClr val="tx1"/>
                </a:solidFill>
                <a:effectLst/>
                <a:uLnTx/>
                <a:uFillTx/>
                <a:latin typeface="+mn-lt"/>
                <a:ea typeface="+mn-ea"/>
                <a:cs typeface="+mn-cs"/>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16" name="Picture 15" descr="E:\Master Folder 2017-18\Approved Logo by BOG\NIET logo_.png"/>
          <p:cNvPicPr/>
          <p:nvPr/>
        </p:nvPicPr>
        <p:blipFill>
          <a:blip r:embed="rId5" cstate="print"/>
          <a:srcRect/>
          <a:stretch>
            <a:fillRect/>
          </a:stretch>
        </p:blipFill>
        <p:spPr bwMode="auto">
          <a:xfrm>
            <a:off x="83820" y="159328"/>
            <a:ext cx="1287780" cy="1059872"/>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381000" y="1082064"/>
          <a:ext cx="8405842" cy="5039360"/>
        </p:xfrm>
        <a:graphic>
          <a:graphicData uri="http://schemas.openxmlformats.org/drawingml/2006/table">
            <a:tbl>
              <a:tblPr firstRow="1" bandRow="1">
                <a:tableStyleId>{5C22544A-7EE6-4342-B048-85BDC9FD1C3A}</a:tableStyleId>
              </a:tblPr>
              <a:tblGrid>
                <a:gridCol w="1104027">
                  <a:extLst>
                    <a:ext uri="{9D8B030D-6E8A-4147-A177-3AD203B41FA5}">
                      <a16:colId xmlns:a16="http://schemas.microsoft.com/office/drawing/2014/main" val="20000"/>
                    </a:ext>
                  </a:extLst>
                </a:gridCol>
                <a:gridCol w="6247967">
                  <a:extLst>
                    <a:ext uri="{9D8B030D-6E8A-4147-A177-3AD203B41FA5}">
                      <a16:colId xmlns:a16="http://schemas.microsoft.com/office/drawing/2014/main" val="20001"/>
                    </a:ext>
                  </a:extLst>
                </a:gridCol>
                <a:gridCol w="1053848">
                  <a:extLst>
                    <a:ext uri="{9D8B030D-6E8A-4147-A177-3AD203B41FA5}">
                      <a16:colId xmlns:a16="http://schemas.microsoft.com/office/drawing/2014/main" val="20002"/>
                    </a:ext>
                  </a:extLst>
                </a:gridCol>
              </a:tblGrid>
              <a:tr h="370840">
                <a:tc>
                  <a:txBody>
                    <a:bodyPr/>
                    <a:lstStyle/>
                    <a:p>
                      <a:r>
                        <a:rPr lang="en-IN" dirty="0">
                          <a:latin typeface="Times New Roman" pitchFamily="18" charset="0"/>
                          <a:cs typeface="Times New Roman" pitchFamily="18" charset="0"/>
                        </a:rPr>
                        <a:t>Unit -1</a:t>
                      </a:r>
                      <a:endParaRPr lang="en-US" dirty="0">
                        <a:latin typeface="Times New Roman" pitchFamily="18" charset="0"/>
                        <a:cs typeface="Times New Roman" pitchFamily="18" charset="0"/>
                      </a:endParaRPr>
                    </a:p>
                  </a:txBody>
                  <a:tcPr/>
                </a:tc>
                <a:tc>
                  <a:txBody>
                    <a:bodyPr/>
                    <a:lstStyle/>
                    <a:p>
                      <a:r>
                        <a:rPr lang="en-IN" dirty="0">
                          <a:latin typeface="Times New Roman" pitchFamily="18" charset="0"/>
                          <a:cs typeface="Times New Roman" pitchFamily="18" charset="0"/>
                        </a:rPr>
                        <a:t>Basics of Web Technology</a:t>
                      </a:r>
                      <a:r>
                        <a:rPr lang="en-IN" baseline="0" dirty="0">
                          <a:latin typeface="Times New Roman" pitchFamily="18" charset="0"/>
                          <a:cs typeface="Times New Roman" pitchFamily="18" charset="0"/>
                        </a:rPr>
                        <a:t>  &amp; Web Hosting</a:t>
                      </a:r>
                      <a:endParaRPr lang="en-US" dirty="0">
                        <a:latin typeface="Times New Roman" pitchFamily="18" charset="0"/>
                        <a:cs typeface="Times New Roman" pitchFamily="18" charset="0"/>
                      </a:endParaRPr>
                    </a:p>
                  </a:txBody>
                  <a:tcPr/>
                </a:tc>
                <a:tc>
                  <a:txBody>
                    <a:bodyPr/>
                    <a:lstStyle/>
                    <a:p>
                      <a:r>
                        <a:rPr lang="en-IN" dirty="0">
                          <a:latin typeface="Times New Roman" pitchFamily="18" charset="0"/>
                          <a:cs typeface="Times New Roman" pitchFamily="18" charset="0"/>
                        </a:rPr>
                        <a:t>8 Hours</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370840">
                <a:tc gridSpan="3">
                  <a:txBody>
                    <a:bodyPr/>
                    <a:lstStyle/>
                    <a:p>
                      <a:r>
                        <a:rPr lang="en-US" sz="1800" b="1" kern="1200" dirty="0">
                          <a:solidFill>
                            <a:schemeClr val="dk1"/>
                          </a:solidFill>
                          <a:latin typeface="Times New Roman" pitchFamily="18" charset="0"/>
                          <a:ea typeface="+mn-ea"/>
                          <a:cs typeface="Times New Roman" pitchFamily="18" charset="0"/>
                        </a:rPr>
                        <a:t>Introduction: </a:t>
                      </a:r>
                      <a:r>
                        <a:rPr lang="en-US" sz="1800" kern="1200" dirty="0">
                          <a:solidFill>
                            <a:schemeClr val="dk1"/>
                          </a:solidFill>
                          <a:latin typeface="Times New Roman" pitchFamily="18" charset="0"/>
                          <a:ea typeface="+mn-ea"/>
                          <a:cs typeface="Times New Roman" pitchFamily="18" charset="0"/>
                        </a:rPr>
                        <a:t>Introduction to Web Technology, History of Web and Internet, Connecting to Internet, Introduction to Internet services and tools, Client-Server Computing, Protocols Governing Web, Basic principles involved in developing a web site, Planning process, Types of Websites,WebStandardsandW3C recommendations,</a:t>
                      </a:r>
                    </a:p>
                    <a:p>
                      <a:r>
                        <a:rPr lang="en-IN" sz="1800" b="1" kern="1200" dirty="0">
                          <a:solidFill>
                            <a:schemeClr val="dk1"/>
                          </a:solidFill>
                          <a:latin typeface="Times New Roman" pitchFamily="18" charset="0"/>
                          <a:ea typeface="+mn-ea"/>
                          <a:cs typeface="Times New Roman" pitchFamily="18" charset="0"/>
                        </a:rPr>
                        <a:t>Web Hosting: </a:t>
                      </a:r>
                      <a:r>
                        <a:rPr lang="en-IN" sz="1800" kern="1200" dirty="0">
                          <a:solidFill>
                            <a:schemeClr val="dk1"/>
                          </a:solidFill>
                          <a:latin typeface="Times New Roman" pitchFamily="18" charset="0"/>
                          <a:ea typeface="+mn-ea"/>
                          <a:cs typeface="Times New Roman" pitchFamily="18" charset="0"/>
                        </a:rPr>
                        <a:t>Web Hosting Basics, Types of Hosting Packages, Registering domains, Defining Name Servers, Using Control Panel, Creating Emails in C panel, Using FTP Client, Maintaining a Website.</a:t>
                      </a:r>
                      <a:endParaRPr lang="en-US" dirty="0">
                        <a:latin typeface="Times New Roman" pitchFamily="18" charset="0"/>
                        <a:cs typeface="Times New Roman" pitchFamily="18" charset="0"/>
                      </a:endParaRP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1"/>
                  </a:ext>
                </a:extLst>
              </a:tr>
              <a:tr h="370840">
                <a:tc>
                  <a:txBody>
                    <a:bodyPr/>
                    <a:lstStyle/>
                    <a:p>
                      <a:r>
                        <a:rPr lang="en-IN" dirty="0">
                          <a:latin typeface="Times New Roman" pitchFamily="18" charset="0"/>
                          <a:cs typeface="Times New Roman" pitchFamily="18" charset="0"/>
                        </a:rPr>
                        <a:t>Unit-2</a:t>
                      </a:r>
                      <a:endParaRPr lang="en-US" dirty="0">
                        <a:latin typeface="Times New Roman" pitchFamily="18" charset="0"/>
                        <a:cs typeface="Times New Roman" pitchFamily="18" charset="0"/>
                      </a:endParaRPr>
                    </a:p>
                  </a:txBody>
                  <a:tcPr/>
                </a:tc>
                <a:tc>
                  <a:txBody>
                    <a:bodyPr/>
                    <a:lstStyle/>
                    <a:p>
                      <a:r>
                        <a:rPr lang="en-IN" sz="1800" b="1" kern="1200" dirty="0">
                          <a:solidFill>
                            <a:schemeClr val="dk1"/>
                          </a:solidFill>
                          <a:latin typeface="Times New Roman" pitchFamily="18" charset="0"/>
                          <a:ea typeface="+mn-ea"/>
                          <a:cs typeface="Times New Roman" pitchFamily="18" charset="0"/>
                        </a:rPr>
                        <a:t>Introduction to HTML &amp; XML</a:t>
                      </a:r>
                      <a:endParaRPr lang="en-US" dirty="0">
                        <a:latin typeface="Times New Roman" pitchFamily="18" charset="0"/>
                        <a:cs typeface="Times New Roman" pitchFamily="18" charset="0"/>
                      </a:endParaRPr>
                    </a:p>
                  </a:txBody>
                  <a:tcPr/>
                </a:tc>
                <a:tc>
                  <a:txBody>
                    <a:bodyPr/>
                    <a:lstStyle/>
                    <a:p>
                      <a:r>
                        <a:rPr lang="en-IN" dirty="0"/>
                        <a:t>8 Hours</a:t>
                      </a:r>
                      <a:endParaRPr lang="en-US" dirty="0"/>
                    </a:p>
                  </a:txBody>
                  <a:tcPr/>
                </a:tc>
                <a:extLst>
                  <a:ext uri="{0D108BD9-81ED-4DB2-BD59-A6C34878D82A}">
                    <a16:rowId xmlns:a16="http://schemas.microsoft.com/office/drawing/2014/main" val="10002"/>
                  </a:ext>
                </a:extLst>
              </a:tr>
              <a:tr h="370840">
                <a:tc gridSpan="3">
                  <a:txBody>
                    <a:bodyPr/>
                    <a:lstStyle/>
                    <a:p>
                      <a:r>
                        <a:rPr lang="en-IN" sz="1800" b="1" kern="1200" dirty="0">
                          <a:solidFill>
                            <a:schemeClr val="dk1"/>
                          </a:solidFill>
                          <a:latin typeface="Times New Roman" pitchFamily="18" charset="0"/>
                          <a:ea typeface="+mn-ea"/>
                          <a:cs typeface="Times New Roman" pitchFamily="18" charset="0"/>
                        </a:rPr>
                        <a:t>HTML: </a:t>
                      </a:r>
                      <a:r>
                        <a:rPr lang="en-IN" sz="1800" kern="1200" dirty="0">
                          <a:solidFill>
                            <a:schemeClr val="dk1"/>
                          </a:solidFill>
                          <a:latin typeface="Times New Roman" pitchFamily="18" charset="0"/>
                          <a:ea typeface="+mn-ea"/>
                          <a:cs typeface="Times New Roman" pitchFamily="18" charset="0"/>
                        </a:rPr>
                        <a:t>What is HTML, DOM- Introduction to Document Object Model, Basic structure of an HTML documents, </a:t>
                      </a:r>
                      <a:r>
                        <a:rPr lang="en-IN" sz="1800" kern="1200" dirty="0" err="1">
                          <a:solidFill>
                            <a:schemeClr val="dk1"/>
                          </a:solidFill>
                          <a:latin typeface="Times New Roman" pitchFamily="18" charset="0"/>
                          <a:ea typeface="+mn-ea"/>
                          <a:cs typeface="Times New Roman" pitchFamily="18" charset="0"/>
                        </a:rPr>
                        <a:t>Markup</a:t>
                      </a:r>
                      <a:r>
                        <a:rPr lang="en-IN" sz="1800" kern="1200" dirty="0">
                          <a:solidFill>
                            <a:schemeClr val="dk1"/>
                          </a:solidFill>
                          <a:latin typeface="Times New Roman" pitchFamily="18" charset="0"/>
                          <a:ea typeface="+mn-ea"/>
                          <a:cs typeface="Times New Roman" pitchFamily="18" charset="0"/>
                        </a:rPr>
                        <a:t> Tags, Heading-Paragraphs, Line Breaks, Understand the structure of HTML tables. Lists, Working with Hyperlinks, Image Handling, Understanding Frames and their needs, HTML forms for User inputs. New form Elements- date, number, range, email, search and </a:t>
                      </a:r>
                      <a:r>
                        <a:rPr lang="en-IN" sz="1800" kern="1200" dirty="0" err="1">
                          <a:solidFill>
                            <a:schemeClr val="dk1"/>
                          </a:solidFill>
                          <a:latin typeface="Times New Roman" pitchFamily="18" charset="0"/>
                          <a:ea typeface="+mn-ea"/>
                          <a:cs typeface="Times New Roman" pitchFamily="18" charset="0"/>
                        </a:rPr>
                        <a:t>datalist</a:t>
                      </a:r>
                      <a:r>
                        <a:rPr lang="en-IN" sz="1800" kern="1200" dirty="0">
                          <a:solidFill>
                            <a:schemeClr val="dk1"/>
                          </a:solidFill>
                          <a:latin typeface="Times New Roman" pitchFamily="18" charset="0"/>
                          <a:ea typeface="+mn-ea"/>
                          <a:cs typeface="Times New Roman" pitchFamily="18" charset="0"/>
                        </a:rPr>
                        <a:t>, Understanding audio, video and article tags.</a:t>
                      </a:r>
                      <a:endParaRPr lang="en-US" sz="1800" kern="1200" dirty="0">
                        <a:solidFill>
                          <a:schemeClr val="dk1"/>
                        </a:solidFill>
                        <a:latin typeface="Times New Roman" pitchFamily="18" charset="0"/>
                        <a:ea typeface="+mn-ea"/>
                        <a:cs typeface="Times New Roman" pitchFamily="18" charset="0"/>
                      </a:endParaRPr>
                    </a:p>
                    <a:p>
                      <a:r>
                        <a:rPr lang="en-IN" sz="1800" b="1" kern="1200" dirty="0">
                          <a:solidFill>
                            <a:schemeClr val="dk1"/>
                          </a:solidFill>
                          <a:latin typeface="Times New Roman" pitchFamily="18" charset="0"/>
                          <a:ea typeface="+mn-ea"/>
                          <a:cs typeface="Times New Roman" pitchFamily="18" charset="0"/>
                        </a:rPr>
                        <a:t>XML: </a:t>
                      </a:r>
                      <a:r>
                        <a:rPr lang="en-IN" sz="1800" kern="1200" dirty="0">
                          <a:solidFill>
                            <a:schemeClr val="dk1"/>
                          </a:solidFill>
                          <a:latin typeface="Times New Roman" pitchFamily="18" charset="0"/>
                          <a:ea typeface="+mn-ea"/>
                          <a:cs typeface="Times New Roman" pitchFamily="18" charset="0"/>
                        </a:rPr>
                        <a:t>Introduction, Tree, Syntax, Elements, Attributes, Namespaces, Display, HTTP request, Parser, DOM, </a:t>
                      </a:r>
                      <a:r>
                        <a:rPr lang="en-IN" sz="1800" kern="1200" dirty="0" err="1">
                          <a:solidFill>
                            <a:schemeClr val="dk1"/>
                          </a:solidFill>
                          <a:latin typeface="Times New Roman" pitchFamily="18" charset="0"/>
                          <a:ea typeface="+mn-ea"/>
                          <a:cs typeface="Times New Roman" pitchFamily="18" charset="0"/>
                        </a:rPr>
                        <a:t>XPath</a:t>
                      </a:r>
                      <a:r>
                        <a:rPr lang="en-IN" sz="1800" kern="1200" dirty="0">
                          <a:solidFill>
                            <a:schemeClr val="dk1"/>
                          </a:solidFill>
                          <a:latin typeface="Times New Roman" pitchFamily="18" charset="0"/>
                          <a:ea typeface="+mn-ea"/>
                          <a:cs typeface="Times New Roman" pitchFamily="18" charset="0"/>
                        </a:rPr>
                        <a:t>, XSLT, </a:t>
                      </a:r>
                      <a:r>
                        <a:rPr lang="en-IN" sz="1800" kern="1200" dirty="0" err="1">
                          <a:solidFill>
                            <a:schemeClr val="dk1"/>
                          </a:solidFill>
                          <a:latin typeface="Times New Roman" pitchFamily="18" charset="0"/>
                          <a:ea typeface="+mn-ea"/>
                          <a:cs typeface="Times New Roman" pitchFamily="18" charset="0"/>
                        </a:rPr>
                        <a:t>XQuerry</a:t>
                      </a:r>
                      <a:r>
                        <a:rPr lang="en-IN" sz="1800" kern="1200" dirty="0">
                          <a:solidFill>
                            <a:schemeClr val="dk1"/>
                          </a:solidFill>
                          <a:latin typeface="Times New Roman" pitchFamily="18" charset="0"/>
                          <a:ea typeface="+mn-ea"/>
                          <a:cs typeface="Times New Roman" pitchFamily="18" charset="0"/>
                        </a:rPr>
                        <a:t>, </a:t>
                      </a:r>
                      <a:r>
                        <a:rPr lang="en-IN" sz="1800" kern="1200" dirty="0" err="1">
                          <a:solidFill>
                            <a:schemeClr val="dk1"/>
                          </a:solidFill>
                          <a:latin typeface="Times New Roman" pitchFamily="18" charset="0"/>
                          <a:ea typeface="+mn-ea"/>
                          <a:cs typeface="Times New Roman" pitchFamily="18" charset="0"/>
                        </a:rPr>
                        <a:t>XLink</a:t>
                      </a:r>
                      <a:r>
                        <a:rPr lang="en-IN" sz="1800" kern="1200" dirty="0">
                          <a:solidFill>
                            <a:schemeClr val="dk1"/>
                          </a:solidFill>
                          <a:latin typeface="Times New Roman" pitchFamily="18" charset="0"/>
                          <a:ea typeface="+mn-ea"/>
                          <a:cs typeface="Times New Roman" pitchFamily="18" charset="0"/>
                        </a:rPr>
                        <a:t>, </a:t>
                      </a:r>
                      <a:r>
                        <a:rPr lang="en-IN" sz="1800" kern="1200" dirty="0" err="1">
                          <a:solidFill>
                            <a:schemeClr val="dk1"/>
                          </a:solidFill>
                          <a:latin typeface="Times New Roman" pitchFamily="18" charset="0"/>
                          <a:ea typeface="+mn-ea"/>
                          <a:cs typeface="Times New Roman" pitchFamily="18" charset="0"/>
                        </a:rPr>
                        <a:t>Validator</a:t>
                      </a:r>
                      <a:r>
                        <a:rPr lang="en-IN" sz="1800" kern="1200" dirty="0">
                          <a:solidFill>
                            <a:schemeClr val="dk1"/>
                          </a:solidFill>
                          <a:latin typeface="Times New Roman" pitchFamily="18" charset="0"/>
                          <a:ea typeface="+mn-ea"/>
                          <a:cs typeface="Times New Roman" pitchFamily="18" charset="0"/>
                        </a:rPr>
                        <a:t>, DTD, Schema, Server</a:t>
                      </a:r>
                      <a:endParaRPr lang="en-US" dirty="0">
                        <a:latin typeface="Times New Roman" pitchFamily="18" charset="0"/>
                        <a:cs typeface="Times New Roman" pitchFamily="18" charset="0"/>
                      </a:endParaRP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3"/>
                  </a:ext>
                </a:extLst>
              </a:tr>
            </a:tbl>
          </a:graphicData>
        </a:graphic>
      </p:graphicFrame>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2400" b="0" i="0" u="none" strike="noStrike" kern="1200" cap="none" spc="0" normalizeH="0" baseline="0" noProof="0" dirty="0">
                <a:ln>
                  <a:noFill/>
                </a:ln>
                <a:solidFill>
                  <a:schemeClr val="dk1"/>
                </a:solidFill>
                <a:effectLst/>
                <a:uLnTx/>
                <a:uFillTx/>
                <a:latin typeface="+mn-lt"/>
                <a:ea typeface="+mn-ea"/>
                <a:cs typeface="+mn-cs"/>
              </a:rPr>
              <a:t>Subject</a:t>
            </a:r>
            <a:r>
              <a:rPr kumimoji="0" lang="en-IN" sz="2400" b="0" i="0" u="none" strike="noStrike" kern="1200" cap="none" spc="0" normalizeH="0" noProof="0" dirty="0">
                <a:ln>
                  <a:noFill/>
                </a:ln>
                <a:solidFill>
                  <a:schemeClr val="dk1"/>
                </a:solidFill>
                <a:effectLst/>
                <a:uLnTx/>
                <a:uFillTx/>
                <a:latin typeface="+mn-lt"/>
                <a:ea typeface="+mn-ea"/>
                <a:cs typeface="+mn-cs"/>
              </a:rPr>
              <a:t> Syllabus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0" name="Footer Placeholder 9"/>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pic>
        <p:nvPicPr>
          <p:cNvPr id="11" name="Picture 10" descr="E:\Master Folder 2017-18\Approved Logo by BOG\NIET logo_.png"/>
          <p:cNvPicPr/>
          <p:nvPr/>
        </p:nvPicPr>
        <p:blipFill>
          <a:blip r:embed="rId3" cstate="print"/>
          <a:srcRect/>
          <a:stretch>
            <a:fillRect/>
          </a:stretch>
        </p:blipFill>
        <p:spPr bwMode="auto">
          <a:xfrm>
            <a:off x="83820" y="83128"/>
            <a:ext cx="1287780" cy="1059872"/>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357158" y="1000107"/>
          <a:ext cx="8643998" cy="5770692"/>
        </p:xfrm>
        <a:graphic>
          <a:graphicData uri="http://schemas.openxmlformats.org/drawingml/2006/table">
            <a:tbl>
              <a:tblPr firstRow="1" bandRow="1">
                <a:tableStyleId>{5C22544A-7EE6-4342-B048-85BDC9FD1C3A}</a:tableStyleId>
              </a:tblPr>
              <a:tblGrid>
                <a:gridCol w="980488">
                  <a:extLst>
                    <a:ext uri="{9D8B030D-6E8A-4147-A177-3AD203B41FA5}">
                      <a16:colId xmlns:a16="http://schemas.microsoft.com/office/drawing/2014/main" val="20000"/>
                    </a:ext>
                  </a:extLst>
                </a:gridCol>
                <a:gridCol w="6528230">
                  <a:extLst>
                    <a:ext uri="{9D8B030D-6E8A-4147-A177-3AD203B41FA5}">
                      <a16:colId xmlns:a16="http://schemas.microsoft.com/office/drawing/2014/main" val="20001"/>
                    </a:ext>
                  </a:extLst>
                </a:gridCol>
                <a:gridCol w="1135280">
                  <a:extLst>
                    <a:ext uri="{9D8B030D-6E8A-4147-A177-3AD203B41FA5}">
                      <a16:colId xmlns:a16="http://schemas.microsoft.com/office/drawing/2014/main" val="20002"/>
                    </a:ext>
                  </a:extLst>
                </a:gridCol>
              </a:tblGrid>
              <a:tr h="352725">
                <a:tc>
                  <a:txBody>
                    <a:bodyPr/>
                    <a:lstStyle/>
                    <a:p>
                      <a:r>
                        <a:rPr lang="en-IN" dirty="0">
                          <a:latin typeface="Times New Roman" pitchFamily="18" charset="0"/>
                          <a:cs typeface="Times New Roman" pitchFamily="18" charset="0"/>
                        </a:rPr>
                        <a:t>Unit-3</a:t>
                      </a:r>
                      <a:endParaRPr lang="en-US" dirty="0">
                        <a:latin typeface="Times New Roman" pitchFamily="18" charset="0"/>
                        <a:cs typeface="Times New Roman" pitchFamily="18" charset="0"/>
                      </a:endParaRPr>
                    </a:p>
                  </a:txBody>
                  <a:tcPr/>
                </a:tc>
                <a:tc>
                  <a:txBody>
                    <a:bodyPr/>
                    <a:lstStyle/>
                    <a:p>
                      <a:r>
                        <a:rPr lang="en-IN" sz="1800" b="1" kern="1200" dirty="0">
                          <a:solidFill>
                            <a:schemeClr val="lt1"/>
                          </a:solidFill>
                          <a:latin typeface="Times New Roman" pitchFamily="18" charset="0"/>
                          <a:ea typeface="+mn-ea"/>
                          <a:cs typeface="Times New Roman" pitchFamily="18" charset="0"/>
                        </a:rPr>
                        <a:t>Concepts of CSS3&amp; Bootstrap</a:t>
                      </a:r>
                      <a:endParaRPr lang="en-US" dirty="0">
                        <a:latin typeface="Times New Roman" pitchFamily="18" charset="0"/>
                        <a:cs typeface="Times New Roman" pitchFamily="18" charset="0"/>
                      </a:endParaRPr>
                    </a:p>
                  </a:txBody>
                  <a:tcPr/>
                </a:tc>
                <a:tc>
                  <a:txBody>
                    <a:bodyPr/>
                    <a:lstStyle/>
                    <a:p>
                      <a:r>
                        <a:rPr lang="en-IN" dirty="0"/>
                        <a:t>8</a:t>
                      </a:r>
                      <a:r>
                        <a:rPr lang="en-IN" baseline="0" dirty="0"/>
                        <a:t> Hours</a:t>
                      </a:r>
                      <a:endParaRPr lang="en-US" dirty="0"/>
                    </a:p>
                  </a:txBody>
                  <a:tcPr/>
                </a:tc>
                <a:extLst>
                  <a:ext uri="{0D108BD9-81ED-4DB2-BD59-A6C34878D82A}">
                    <a16:rowId xmlns:a16="http://schemas.microsoft.com/office/drawing/2014/main" val="10000"/>
                  </a:ext>
                </a:extLst>
              </a:tr>
              <a:tr h="2204532">
                <a:tc gridSpan="3">
                  <a:txBody>
                    <a:bodyPr/>
                    <a:lstStyle/>
                    <a:p>
                      <a:r>
                        <a:rPr lang="en-US" sz="1800" b="1" kern="1200" dirty="0">
                          <a:solidFill>
                            <a:schemeClr val="dk1"/>
                          </a:solidFill>
                          <a:latin typeface="Times New Roman" pitchFamily="18" charset="0"/>
                          <a:ea typeface="+mn-ea"/>
                          <a:cs typeface="Times New Roman" pitchFamily="18" charset="0"/>
                        </a:rPr>
                        <a:t>Concept of CSS 3: </a:t>
                      </a:r>
                      <a:r>
                        <a:rPr lang="en-US" sz="1800" kern="1200" dirty="0">
                          <a:solidFill>
                            <a:schemeClr val="dk1"/>
                          </a:solidFill>
                          <a:latin typeface="Times New Roman" pitchFamily="18" charset="0"/>
                          <a:ea typeface="+mn-ea"/>
                          <a:cs typeface="Times New Roman" pitchFamily="18" charset="0"/>
                        </a:rPr>
                        <a:t>Creating Style Sheet, CSS Properties , CSS Styling(Background, Text Format, Controlling Fonts) , Working with block elements and objects , Working with Lists and Tables ,CSS Id and Class, Box Model (Introduction,Borderproperties,PaddingProperties,Marginproperties) CSS Advanced(Grouping, Dimension, Display, Positioning, Floating, Align, Pseudo class, Navigation Bar, Image Sprites, Attribute sector), CSS Color, Creating page Layout and Site.</a:t>
                      </a:r>
                    </a:p>
                    <a:p>
                      <a:r>
                        <a:rPr lang="en-IN" sz="1800" b="1" kern="1200" dirty="0">
                          <a:solidFill>
                            <a:schemeClr val="dk1"/>
                          </a:solidFill>
                          <a:latin typeface="Times New Roman" pitchFamily="18" charset="0"/>
                          <a:ea typeface="+mn-ea"/>
                          <a:cs typeface="Times New Roman" pitchFamily="18" charset="0"/>
                        </a:rPr>
                        <a:t>Bootstrap: </a:t>
                      </a:r>
                      <a:r>
                        <a:rPr lang="en-IN" sz="1800" kern="1200" dirty="0">
                          <a:solidFill>
                            <a:schemeClr val="dk1"/>
                          </a:solidFill>
                          <a:latin typeface="Times New Roman" pitchFamily="18" charset="0"/>
                          <a:ea typeface="+mn-ea"/>
                          <a:cs typeface="Times New Roman" pitchFamily="18" charset="0"/>
                        </a:rPr>
                        <a:t>Introduction, Bootstrap grid system, Bootstrap Components.</a:t>
                      </a:r>
                      <a:endParaRPr lang="en-US" dirty="0">
                        <a:latin typeface="Times New Roman" pitchFamily="18" charset="0"/>
                        <a:cs typeface="Times New Roman" pitchFamily="18" charset="0"/>
                      </a:endParaRPr>
                    </a:p>
                  </a:txBody>
                  <a:tcPr>
                    <a:solidFill>
                      <a:srgbClr val="FFFF00"/>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1"/>
                  </a:ext>
                </a:extLst>
              </a:tr>
              <a:tr h="352725">
                <a:tc>
                  <a:txBody>
                    <a:bodyPr/>
                    <a:lstStyle/>
                    <a:p>
                      <a:r>
                        <a:rPr lang="en-IN" dirty="0">
                          <a:latin typeface="Times New Roman" pitchFamily="18" charset="0"/>
                          <a:cs typeface="Times New Roman" pitchFamily="18" charset="0"/>
                        </a:rPr>
                        <a:t>Unit-4</a:t>
                      </a:r>
                      <a:endParaRPr lang="en-US" dirty="0">
                        <a:latin typeface="Times New Roman" pitchFamily="18" charset="0"/>
                        <a:cs typeface="Times New Roman" pitchFamily="18" charset="0"/>
                      </a:endParaRPr>
                    </a:p>
                  </a:txBody>
                  <a:tcPr/>
                </a:tc>
                <a:tc>
                  <a:txBody>
                    <a:bodyPr/>
                    <a:lstStyle/>
                    <a:p>
                      <a:r>
                        <a:rPr lang="en-IN" sz="1800" b="1" kern="1200" dirty="0">
                          <a:solidFill>
                            <a:schemeClr val="dk1"/>
                          </a:solidFill>
                          <a:latin typeface="Times New Roman" pitchFamily="18" charset="0"/>
                          <a:ea typeface="+mn-ea"/>
                          <a:cs typeface="Times New Roman" pitchFamily="18" charset="0"/>
                        </a:rPr>
                        <a:t>JavaScript and ES6</a:t>
                      </a:r>
                      <a:endParaRPr lang="en-US" dirty="0">
                        <a:latin typeface="Times New Roman" pitchFamily="18" charset="0"/>
                        <a:cs typeface="Times New Roman" pitchFamily="18" charset="0"/>
                      </a:endParaRPr>
                    </a:p>
                  </a:txBody>
                  <a:tcPr/>
                </a:tc>
                <a:tc>
                  <a:txBody>
                    <a:bodyPr/>
                    <a:lstStyle/>
                    <a:p>
                      <a:r>
                        <a:rPr lang="en-IN" dirty="0"/>
                        <a:t>8 Hours</a:t>
                      </a:r>
                      <a:endParaRPr lang="en-US" dirty="0"/>
                    </a:p>
                  </a:txBody>
                  <a:tcPr/>
                </a:tc>
                <a:extLst>
                  <a:ext uri="{0D108BD9-81ED-4DB2-BD59-A6C34878D82A}">
                    <a16:rowId xmlns:a16="http://schemas.microsoft.com/office/drawing/2014/main" val="10002"/>
                  </a:ext>
                </a:extLst>
              </a:tr>
              <a:tr h="2733620">
                <a:tc gridSpan="3">
                  <a:txBody>
                    <a:bodyPr/>
                    <a:lstStyle/>
                    <a:p>
                      <a:r>
                        <a:rPr lang="en-US" sz="1800" b="1" kern="1200" dirty="0">
                          <a:solidFill>
                            <a:schemeClr val="dk1"/>
                          </a:solidFill>
                          <a:latin typeface="Times New Roman" pitchFamily="18" charset="0"/>
                          <a:ea typeface="+mn-ea"/>
                          <a:cs typeface="Times New Roman" pitchFamily="18" charset="0"/>
                        </a:rPr>
                        <a:t>JavaScript Essentials</a:t>
                      </a:r>
                      <a:r>
                        <a:rPr lang="en-US" sz="1800" kern="1200" dirty="0">
                          <a:solidFill>
                            <a:schemeClr val="dk1"/>
                          </a:solidFill>
                          <a:latin typeface="Times New Roman" pitchFamily="18" charset="0"/>
                          <a:ea typeface="+mn-ea"/>
                          <a:cs typeface="Times New Roman" pitchFamily="18" charset="0"/>
                        </a:rPr>
                        <a:t>: Introduction to Java Script ,Java script Types , </a:t>
                      </a:r>
                      <a:r>
                        <a:rPr lang="en-US" sz="1800" kern="1200" dirty="0" err="1">
                          <a:solidFill>
                            <a:schemeClr val="dk1"/>
                          </a:solidFill>
                          <a:latin typeface="Times New Roman" pitchFamily="18" charset="0"/>
                          <a:ea typeface="+mn-ea"/>
                          <a:cs typeface="Times New Roman" pitchFamily="18" charset="0"/>
                        </a:rPr>
                        <a:t>Var</a:t>
                      </a:r>
                      <a:r>
                        <a:rPr lang="en-US" sz="1800" kern="1200" dirty="0">
                          <a:solidFill>
                            <a:schemeClr val="dk1"/>
                          </a:solidFill>
                          <a:latin typeface="Times New Roman" pitchFamily="18" charset="0"/>
                          <a:ea typeface="+mn-ea"/>
                          <a:cs typeface="Times New Roman" pitchFamily="18" charset="0"/>
                        </a:rPr>
                        <a:t>, Let and Const Keywords, Operators in JS , Conditions Statements , Java Script Loops, JS Popup Boxes , JS Events , JSArrays,WorkingwithArrays,JSObjects,JSFunctions,UsingJavaScriptinRealtime,ValidationofForms,Arrow functions and default arguments, Template Strings, Strings methods, Callback functions, Object de-structuring, Spread and Rest Operator, Typescript fundamentals, Typescript OOPs- Classes, Interfaces, Constructor etc. Decorator and Spread Operator, </a:t>
                      </a:r>
                    </a:p>
                    <a:p>
                      <a:r>
                        <a:rPr lang="en-IN" sz="1800" kern="1200" dirty="0">
                          <a:solidFill>
                            <a:schemeClr val="dk1"/>
                          </a:solidFill>
                          <a:latin typeface="Times New Roman" pitchFamily="18" charset="0"/>
                          <a:ea typeface="+mn-ea"/>
                          <a:cs typeface="Times New Roman" pitchFamily="18" charset="0"/>
                        </a:rPr>
                        <a:t>Difference == &amp; ===, Asynchronous Programming in ES6, Promise Constructor, Promise with Chain, Promise Race.</a:t>
                      </a:r>
                      <a:endParaRPr lang="en-US" dirty="0">
                        <a:latin typeface="Times New Roman" pitchFamily="18" charset="0"/>
                        <a:cs typeface="Times New Roman" pitchFamily="18" charset="0"/>
                      </a:endParaRP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3"/>
                  </a:ext>
                </a:extLst>
              </a:tr>
            </a:tbl>
          </a:graphicData>
        </a:graphic>
      </p:graphicFrame>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2400" b="0" i="0" u="none" strike="noStrike" kern="1200" cap="none" spc="0" normalizeH="0" baseline="0" noProof="0" dirty="0">
                <a:ln>
                  <a:noFill/>
                </a:ln>
                <a:solidFill>
                  <a:schemeClr val="dk1"/>
                </a:solidFill>
                <a:effectLst/>
                <a:uLnTx/>
                <a:uFillTx/>
                <a:latin typeface="+mn-lt"/>
                <a:ea typeface="+mn-ea"/>
                <a:cs typeface="+mn-cs"/>
              </a:rPr>
              <a:t>Subject</a:t>
            </a:r>
            <a:r>
              <a:rPr kumimoji="0" lang="en-IN" sz="2400" b="0" i="0" u="none" strike="noStrike" kern="1200" cap="none" spc="0" normalizeH="0" noProof="0" dirty="0">
                <a:ln>
                  <a:noFill/>
                </a:ln>
                <a:solidFill>
                  <a:schemeClr val="dk1"/>
                </a:solidFill>
                <a:effectLst/>
                <a:uLnTx/>
                <a:uFillTx/>
                <a:latin typeface="+mn-lt"/>
                <a:ea typeface="+mn-ea"/>
                <a:cs typeface="+mn-cs"/>
              </a:rPr>
              <a:t> Syllabus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0" name="Footer Placeholder 9"/>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pic>
        <p:nvPicPr>
          <p:cNvPr id="11" name="Picture 10" descr="E:\Master Folder 2017-18\Approved Logo by BOG\NIET logo_.png"/>
          <p:cNvPicPr/>
          <p:nvPr/>
        </p:nvPicPr>
        <p:blipFill>
          <a:blip r:embed="rId3" cstate="print"/>
          <a:srcRect/>
          <a:stretch>
            <a:fillRect/>
          </a:stretch>
        </p:blipFill>
        <p:spPr bwMode="auto">
          <a:xfrm>
            <a:off x="83820" y="83128"/>
            <a:ext cx="1287780" cy="1059872"/>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381000" y="1143000"/>
          <a:ext cx="8405842" cy="2656840"/>
        </p:xfrm>
        <a:graphic>
          <a:graphicData uri="http://schemas.openxmlformats.org/drawingml/2006/table">
            <a:tbl>
              <a:tblPr firstRow="1" bandRow="1">
                <a:tableStyleId>{5C22544A-7EE6-4342-B048-85BDC9FD1C3A}</a:tableStyleId>
              </a:tblPr>
              <a:tblGrid>
                <a:gridCol w="1179304">
                  <a:extLst>
                    <a:ext uri="{9D8B030D-6E8A-4147-A177-3AD203B41FA5}">
                      <a16:colId xmlns:a16="http://schemas.microsoft.com/office/drawing/2014/main" val="20000"/>
                    </a:ext>
                  </a:extLst>
                </a:gridCol>
                <a:gridCol w="5946860">
                  <a:extLst>
                    <a:ext uri="{9D8B030D-6E8A-4147-A177-3AD203B41FA5}">
                      <a16:colId xmlns:a16="http://schemas.microsoft.com/office/drawing/2014/main" val="20001"/>
                    </a:ext>
                  </a:extLst>
                </a:gridCol>
                <a:gridCol w="1279678">
                  <a:extLst>
                    <a:ext uri="{9D8B030D-6E8A-4147-A177-3AD203B41FA5}">
                      <a16:colId xmlns:a16="http://schemas.microsoft.com/office/drawing/2014/main" val="20002"/>
                    </a:ext>
                  </a:extLst>
                </a:gridCol>
              </a:tblGrid>
              <a:tr h="370840">
                <a:tc>
                  <a:txBody>
                    <a:bodyPr/>
                    <a:lstStyle/>
                    <a:p>
                      <a:r>
                        <a:rPr lang="en-IN" dirty="0">
                          <a:latin typeface="Times New Roman" pitchFamily="18" charset="0"/>
                          <a:cs typeface="Times New Roman" pitchFamily="18" charset="0"/>
                        </a:rPr>
                        <a:t>Unit-5</a:t>
                      </a:r>
                      <a:endParaRPr lang="en-US" dirty="0">
                        <a:latin typeface="Times New Roman" pitchFamily="18" charset="0"/>
                        <a:cs typeface="Times New Roman" pitchFamily="18" charset="0"/>
                      </a:endParaRPr>
                    </a:p>
                  </a:txBody>
                  <a:tcPr/>
                </a:tc>
                <a:tc>
                  <a:txBody>
                    <a:bodyPr/>
                    <a:lstStyle/>
                    <a:p>
                      <a:r>
                        <a:rPr lang="en-IN" sz="1800" b="1" kern="1200" dirty="0">
                          <a:solidFill>
                            <a:schemeClr val="lt1"/>
                          </a:solidFill>
                          <a:latin typeface="Times New Roman" pitchFamily="18" charset="0"/>
                          <a:ea typeface="+mn-ea"/>
                          <a:cs typeface="Times New Roman" pitchFamily="18" charset="0"/>
                        </a:rPr>
                        <a:t>Introduction to PHP</a:t>
                      </a:r>
                      <a:endParaRPr lang="en-US" dirty="0">
                        <a:latin typeface="Times New Roman" pitchFamily="18" charset="0"/>
                        <a:cs typeface="Times New Roman" pitchFamily="18" charset="0"/>
                      </a:endParaRPr>
                    </a:p>
                  </a:txBody>
                  <a:tcPr/>
                </a:tc>
                <a:tc>
                  <a:txBody>
                    <a:bodyPr/>
                    <a:lstStyle/>
                    <a:p>
                      <a:r>
                        <a:rPr lang="en-IN" dirty="0"/>
                        <a:t>8 Hours</a:t>
                      </a:r>
                      <a:endParaRPr lang="en-US" dirty="0"/>
                    </a:p>
                  </a:txBody>
                  <a:tcPr/>
                </a:tc>
                <a:extLst>
                  <a:ext uri="{0D108BD9-81ED-4DB2-BD59-A6C34878D82A}">
                    <a16:rowId xmlns:a16="http://schemas.microsoft.com/office/drawing/2014/main" val="10000"/>
                  </a:ext>
                </a:extLst>
              </a:tr>
              <a:tr h="370840">
                <a:tc gridSpan="3">
                  <a:txBody>
                    <a:bodyPr/>
                    <a:lstStyle/>
                    <a:p>
                      <a:r>
                        <a:rPr lang="en-US" sz="1800" kern="1200" dirty="0">
                          <a:solidFill>
                            <a:schemeClr val="dk1"/>
                          </a:solidFill>
                          <a:latin typeface="Times New Roman" pitchFamily="18" charset="0"/>
                          <a:ea typeface="+mn-ea"/>
                          <a:cs typeface="Times New Roman" pitchFamily="18" charset="0"/>
                        </a:rPr>
                        <a:t>Introduction to PHP, Basic Syntax, Variables &amp; Constants,  Data Type, Operator &amp; Expressions, Control flow and Decision making statements, Functions, Strings, Arrays, </a:t>
                      </a:r>
                    </a:p>
                    <a:p>
                      <a:r>
                        <a:rPr lang="en-US" sz="1800" b="1" kern="1200" dirty="0">
                          <a:solidFill>
                            <a:schemeClr val="dk1"/>
                          </a:solidFill>
                          <a:latin typeface="Times New Roman" pitchFamily="18" charset="0"/>
                          <a:ea typeface="+mn-ea"/>
                          <a:cs typeface="Times New Roman" pitchFamily="18" charset="0"/>
                        </a:rPr>
                        <a:t>Working with files and directories: </a:t>
                      </a:r>
                      <a:r>
                        <a:rPr lang="en-US" sz="1800" kern="1200" dirty="0">
                          <a:solidFill>
                            <a:schemeClr val="dk1"/>
                          </a:solidFill>
                          <a:latin typeface="Times New Roman" pitchFamily="18" charset="0"/>
                          <a:ea typeface="+mn-ea"/>
                          <a:cs typeface="Times New Roman" pitchFamily="18" charset="0"/>
                        </a:rPr>
                        <a:t>Understanding file&amp; directory, Opening and closing, a file, Coping, renaming and deleting a file, working with directories, Creating and deleting folder, File Uploading &amp; Downloading.</a:t>
                      </a:r>
                    </a:p>
                    <a:p>
                      <a:r>
                        <a:rPr lang="en-IN" sz="1800" b="1" kern="1200" dirty="0">
                          <a:solidFill>
                            <a:schemeClr val="dk1"/>
                          </a:solidFill>
                          <a:latin typeface="Times New Roman" pitchFamily="18" charset="0"/>
                          <a:ea typeface="+mn-ea"/>
                          <a:cs typeface="Times New Roman" pitchFamily="18" charset="0"/>
                        </a:rPr>
                        <a:t>Session &amp; Cookies: </a:t>
                      </a:r>
                      <a:r>
                        <a:rPr lang="en-IN" sz="1800" kern="1200" dirty="0">
                          <a:solidFill>
                            <a:schemeClr val="dk1"/>
                          </a:solidFill>
                          <a:latin typeface="Times New Roman" pitchFamily="18" charset="0"/>
                          <a:ea typeface="+mn-ea"/>
                          <a:cs typeface="Times New Roman" pitchFamily="18" charset="0"/>
                        </a:rPr>
                        <a:t>Introduction to Session Control, Session Functionality What is a Cookie, Setting Cookies with PHP. Using Cookies with Sessions, Deleting Cookies, Registering Session variables, Destroying the variables and Session.</a:t>
                      </a:r>
                      <a:endParaRPr lang="en-US" dirty="0">
                        <a:latin typeface="Times New Roman" pitchFamily="18" charset="0"/>
                        <a:cs typeface="Times New Roman" pitchFamily="18" charset="0"/>
                      </a:endParaRP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1"/>
                  </a:ext>
                </a:extLst>
              </a:tr>
            </a:tbl>
          </a:graphicData>
        </a:graphic>
      </p:graphicFrame>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IN" sz="2400" dirty="0"/>
              <a:t>Subject Syllabus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0" name="Footer Placeholder 9"/>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pic>
        <p:nvPicPr>
          <p:cNvPr id="11" name="Picture 10" descr="E:\Master Folder 2017-18\Approved Logo by BOG\NIET logo_.png"/>
          <p:cNvPicPr/>
          <p:nvPr/>
        </p:nvPicPr>
        <p:blipFill>
          <a:blip r:embed="rId3" cstate="print"/>
          <a:srcRect/>
          <a:stretch>
            <a:fillRect/>
          </a:stretch>
        </p:blipFill>
        <p:spPr bwMode="auto">
          <a:xfrm>
            <a:off x="83820" y="83128"/>
            <a:ext cx="1287780" cy="1059872"/>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0"/>
            <a:ext cx="7620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000" dirty="0">
                <a:sym typeface="Arial" charset="0"/>
              </a:rPr>
              <a:t>Text Books</a:t>
            </a:r>
          </a:p>
        </p:txBody>
      </p:sp>
      <p:sp>
        <p:nvSpPr>
          <p:cNvPr id="17414" name="TextBox 7"/>
          <p:cNvSpPr txBox="1">
            <a:spLocks noChangeArrowheads="1"/>
          </p:cNvSpPr>
          <p:nvPr/>
        </p:nvSpPr>
        <p:spPr bwMode="auto">
          <a:xfrm>
            <a:off x="1025525" y="1649413"/>
            <a:ext cx="7818438" cy="3108325"/>
          </a:xfrm>
          <a:prstGeom prst="rect">
            <a:avLst/>
          </a:prstGeom>
          <a:noFill/>
          <a:ln w="9525">
            <a:noFill/>
            <a:miter lim="800000"/>
            <a:headEnd/>
            <a:tailEnd/>
          </a:ln>
        </p:spPr>
        <p:txBody>
          <a:bodyPr>
            <a:spAutoFit/>
          </a:bodyPr>
          <a:lstStyle/>
          <a:p>
            <a:r>
              <a:rPr lang="en-US" altLang="en-US" sz="2000" b="1">
                <a:latin typeface="Times New Roman" pitchFamily="18" charset="0"/>
                <a:cs typeface="Times New Roman" pitchFamily="18" charset="0"/>
              </a:rPr>
              <a:t>Text books:</a:t>
            </a:r>
          </a:p>
          <a:p>
            <a:endParaRPr lang="en-US" altLang="en-US" sz="1800" b="1">
              <a:latin typeface="Times New Roman" pitchFamily="18" charset="0"/>
              <a:cs typeface="Times New Roman" pitchFamily="18" charset="0"/>
            </a:endParaRPr>
          </a:p>
          <a:p>
            <a:pPr algn="just"/>
            <a:r>
              <a:rPr lang="en-US" altLang="en-US" sz="1800">
                <a:latin typeface="Times New Roman" pitchFamily="18" charset="0"/>
                <a:cs typeface="Times New Roman" pitchFamily="18" charset="0"/>
              </a:rPr>
              <a:t>  </a:t>
            </a:r>
            <a:r>
              <a:rPr lang="en-US" altLang="en-US" sz="2000">
                <a:latin typeface="Times New Roman" pitchFamily="18" charset="0"/>
                <a:cs typeface="Times New Roman" pitchFamily="18" charset="0"/>
              </a:rPr>
              <a:t>1. </a:t>
            </a:r>
            <a:r>
              <a:rPr lang="en-IN" altLang="en-US" sz="2000">
                <a:latin typeface="Times New Roman" pitchFamily="18" charset="0"/>
                <a:cs typeface="Times New Roman" pitchFamily="18" charset="0"/>
              </a:rPr>
              <a:t>Steven M. Schafer, “HTML, XHTML, and CSS Bible, 5ed”, Wiley India</a:t>
            </a:r>
            <a:endParaRPr lang="en-US" altLang="en-US" sz="2000">
              <a:latin typeface="Times New Roman" pitchFamily="18" charset="0"/>
              <a:cs typeface="Times New Roman" pitchFamily="18" charset="0"/>
            </a:endParaRPr>
          </a:p>
          <a:p>
            <a:pPr algn="just"/>
            <a:endParaRPr lang="en-US" altLang="en-US" sz="2000">
              <a:latin typeface="Times New Roman" pitchFamily="18" charset="0"/>
              <a:cs typeface="Times New Roman" pitchFamily="18" charset="0"/>
            </a:endParaRPr>
          </a:p>
          <a:p>
            <a:pPr algn="just"/>
            <a:r>
              <a:rPr lang="en-US" altLang="en-US" sz="2000">
                <a:latin typeface="Times New Roman" pitchFamily="18" charset="0"/>
                <a:cs typeface="Times New Roman" pitchFamily="18" charset="0"/>
              </a:rPr>
              <a:t>  2. </a:t>
            </a:r>
            <a:r>
              <a:rPr lang="en-IN" altLang="en-US" sz="2000">
                <a:latin typeface="Times New Roman" pitchFamily="18" charset="0"/>
                <a:cs typeface="Times New Roman" pitchFamily="18" charset="0"/>
              </a:rPr>
              <a:t>Ian Pouncey, Richard York, “Beginning CSS: Cascading Style Sheets for Web Design”, Wiley India</a:t>
            </a:r>
            <a:endParaRPr lang="en-US" altLang="en-US" sz="2000">
              <a:latin typeface="Times New Roman" pitchFamily="18" charset="0"/>
              <a:cs typeface="Times New Roman" pitchFamily="18" charset="0"/>
            </a:endParaRPr>
          </a:p>
          <a:p>
            <a:endParaRPr lang="en-US" altLang="en-US" sz="2000">
              <a:latin typeface="Times New Roman" pitchFamily="18" charset="0"/>
              <a:cs typeface="Times New Roman" pitchFamily="18" charset="0"/>
            </a:endParaRPr>
          </a:p>
          <a:p>
            <a:endParaRPr lang="en-US" altLang="en-US" sz="2000">
              <a:latin typeface="Times New Roman" pitchFamily="18" charset="0"/>
              <a:cs typeface="Times New Roman" pitchFamily="18" charset="0"/>
            </a:endParaRPr>
          </a:p>
          <a:p>
            <a:endParaRPr lang="en-US" altLang="en-US" sz="1800">
              <a:cs typeface="Times New Roman" pitchFamily="18" charset="0"/>
            </a:endParaRPr>
          </a:p>
        </p:txBody>
      </p:sp>
      <p:pic>
        <p:nvPicPr>
          <p:cNvPr id="8" name="Picture 7" descr="E:\Master Folder 2017-18\Approved Logo by BOG\NIET logo_.png"/>
          <p:cNvPicPr/>
          <p:nvPr/>
        </p:nvPicPr>
        <p:blipFill>
          <a:blip r:embed="rId3" cstate="print"/>
          <a:srcRect/>
          <a:stretch>
            <a:fillRect/>
          </a:stretch>
        </p:blipFill>
        <p:spPr bwMode="auto">
          <a:xfrm>
            <a:off x="83820" y="83128"/>
            <a:ext cx="1287780" cy="1059872"/>
          </a:xfrm>
          <a:prstGeom prst="rect">
            <a:avLst/>
          </a:prstGeom>
          <a:noFill/>
          <a:ln w="9525">
            <a:noFill/>
            <a:miter lim="800000"/>
            <a:headEnd/>
            <a:tailEnd/>
          </a:ln>
        </p:spPr>
      </p:pic>
      <p:sp>
        <p:nvSpPr>
          <p:cNvPr id="10"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5</a:t>
            </a:fld>
            <a:endParaRPr lang="en-US"/>
          </a:p>
        </p:txBody>
      </p:sp>
      <p:sp>
        <p:nvSpPr>
          <p:cNvPr id="11" name="Footer Placeholder 9"/>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655763" y="0"/>
            <a:ext cx="7259637" cy="9302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2400" dirty="0">
                <a:latin typeface="Times New Roman" pitchFamily="18" charset="0"/>
                <a:cs typeface="Times New Roman" pitchFamily="18" charset="0"/>
                <a:sym typeface="Arial" charset="0"/>
              </a:rPr>
              <a:t>End Semester Question Paper Template </a:t>
            </a:r>
            <a:endParaRPr lang="en-US" sz="2400" dirty="0">
              <a:latin typeface="Times New Roman" pitchFamily="18" charset="0"/>
              <a:cs typeface="Times New Roman" pitchFamily="18" charset="0"/>
              <a:sym typeface="Arial" charset="0"/>
            </a:endParaRPr>
          </a:p>
        </p:txBody>
      </p:sp>
      <p:sp>
        <p:nvSpPr>
          <p:cNvPr id="32772"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pPr eaLnBrk="1" hangingPunct="1"/>
            <a:br>
              <a:rPr lang="en-US" altLang="en-US"/>
            </a:br>
            <a:endParaRPr lang="en-US" altLang="en-US"/>
          </a:p>
          <a:p>
            <a:pPr eaLnBrk="1" hangingPunct="1"/>
            <a:endParaRPr lang="en-US" altLang="en-US"/>
          </a:p>
        </p:txBody>
      </p:sp>
      <p:sp>
        <p:nvSpPr>
          <p:cNvPr id="2" name="Content Placeholder 1"/>
          <p:cNvSpPr>
            <a:spLocks noGrp="1"/>
          </p:cNvSpPr>
          <p:nvPr>
            <p:ph idx="1"/>
          </p:nvPr>
        </p:nvSpPr>
        <p:spPr>
          <a:xfrm>
            <a:off x="457200" y="1225550"/>
            <a:ext cx="8229600" cy="4754563"/>
          </a:xfrm>
        </p:spPr>
        <p:txBody>
          <a:bodyPr/>
          <a:lstStyle/>
          <a:p>
            <a:pPr marL="0" indent="0" algn="ctr">
              <a:buFont typeface="Arial" pitchFamily="34" charset="0"/>
              <a:buNone/>
              <a:defRPr/>
            </a:pPr>
            <a:r>
              <a:rPr lang="en-IN" sz="2000" dirty="0">
                <a:sym typeface="Arial" charset="0"/>
              </a:rPr>
              <a:t>B TECH </a:t>
            </a:r>
          </a:p>
          <a:p>
            <a:pPr marL="0" indent="0" algn="ctr">
              <a:buFont typeface="Arial" pitchFamily="34" charset="0"/>
              <a:buNone/>
              <a:defRPr/>
            </a:pPr>
            <a:r>
              <a:rPr lang="en-IN" sz="2000" dirty="0">
                <a:sym typeface="Arial" charset="0"/>
              </a:rPr>
              <a:t>(SEM-V) THEORY EXAMINATION 20__-20__</a:t>
            </a:r>
          </a:p>
          <a:p>
            <a:pPr marL="0" indent="0">
              <a:buFont typeface="Arial" pitchFamily="34" charset="0"/>
              <a:buNone/>
              <a:defRPr/>
            </a:pPr>
            <a:r>
              <a:rPr lang="en-IN" sz="2000" b="1" dirty="0">
                <a:latin typeface="Times New Roman" panose="02020603050405020304" pitchFamily="18" charset="0"/>
                <a:cs typeface="Times New Roman" panose="02020603050405020304" pitchFamily="18" charset="0"/>
                <a:sym typeface="Arial" charset="0"/>
              </a:rPr>
              <a:t>Time: 3 Hours                                                                                    Total Marks: 100 </a:t>
            </a:r>
          </a:p>
          <a:p>
            <a:pPr marL="0" indent="0" algn="just">
              <a:buFont typeface="Arial" pitchFamily="34" charset="0"/>
              <a:buNone/>
              <a:defRPr/>
            </a:pPr>
            <a:r>
              <a:rPr lang="en-IN" sz="2000" b="1" i="1" dirty="0">
                <a:latin typeface="Times New Roman" panose="02020603050405020304" pitchFamily="18" charset="0"/>
                <a:cs typeface="Times New Roman" panose="02020603050405020304" pitchFamily="18" charset="0"/>
                <a:sym typeface="Arial" charset="0"/>
              </a:rPr>
              <a:t>Note: 1. Attempt all Sections. If require any missing data; then choose suitably.</a:t>
            </a:r>
          </a:p>
          <a:p>
            <a:pPr marL="0" indent="0" algn="ctr">
              <a:buFont typeface="Arial" pitchFamily="34" charset="0"/>
              <a:buNone/>
              <a:defRPr/>
            </a:pPr>
            <a:r>
              <a:rPr lang="en-IN" sz="2000" b="1" dirty="0">
                <a:latin typeface="Times New Roman" panose="02020603050405020304" pitchFamily="18" charset="0"/>
                <a:cs typeface="Times New Roman" panose="02020603050405020304" pitchFamily="18" charset="0"/>
                <a:sym typeface="Arial" charset="0"/>
              </a:rPr>
              <a:t>SECTION A </a:t>
            </a:r>
          </a:p>
          <a:p>
            <a:pPr indent="-457200">
              <a:buFont typeface="Arial" pitchFamily="34" charset="0"/>
              <a:buAutoNum type="arabicPeriod"/>
              <a:defRPr/>
            </a:pPr>
            <a:r>
              <a:rPr lang="en-IN" sz="2000" b="1" dirty="0">
                <a:latin typeface="Times New Roman" panose="02020603050405020304" pitchFamily="18" charset="0"/>
                <a:cs typeface="Times New Roman" panose="02020603050405020304" pitchFamily="18" charset="0"/>
                <a:sym typeface="Arial" charset="0"/>
              </a:rPr>
              <a:t>Attempt all questions in brief.                                                        </a:t>
            </a:r>
            <a:r>
              <a:rPr lang="en-IN" sz="2000" b="1" dirty="0">
                <a:sym typeface="Arial" charset="0"/>
              </a:rPr>
              <a:t>1 x 10 = 10</a:t>
            </a:r>
          </a:p>
          <a:p>
            <a:pPr marL="0" indent="0">
              <a:buFont typeface="Arial" pitchFamily="34" charset="0"/>
              <a:buNone/>
              <a:defRPr/>
            </a:pPr>
            <a:endParaRPr lang="en-IN" sz="2000" b="1" i="1" dirty="0">
              <a:sym typeface="Arial" charset="0"/>
            </a:endParaRPr>
          </a:p>
        </p:txBody>
      </p:sp>
      <p:graphicFrame>
        <p:nvGraphicFramePr>
          <p:cNvPr id="3" name="Table 2"/>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pic>
        <p:nvPicPr>
          <p:cNvPr id="32808" name="Picture 14" descr="NIET"/>
          <p:cNvPicPr>
            <a:picLocks noChangeAspect="1" noChangeArrowheads="1"/>
          </p:cNvPicPr>
          <p:nvPr/>
        </p:nvPicPr>
        <p:blipFill>
          <a:blip r:embed="rId2"/>
          <a:srcRect/>
          <a:stretch>
            <a:fillRect/>
          </a:stretch>
        </p:blipFill>
        <p:spPr bwMode="auto">
          <a:xfrm>
            <a:off x="0" y="0"/>
            <a:ext cx="1581150" cy="847725"/>
          </a:xfrm>
          <a:prstGeom prst="rect">
            <a:avLst/>
          </a:prstGeom>
          <a:noFill/>
          <a:ln w="9525">
            <a:noFill/>
            <a:miter lim="800000"/>
            <a:headEnd/>
            <a:tailEnd/>
          </a:ln>
        </p:spPr>
      </p:pic>
      <p:sp>
        <p:nvSpPr>
          <p:cNvPr id="11"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6</a:t>
            </a:fld>
            <a:endParaRPr lang="en-US"/>
          </a:p>
        </p:txBody>
      </p:sp>
      <p:sp>
        <p:nvSpPr>
          <p:cNvPr id="12" name="Footer Placeholder 9"/>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749425" y="0"/>
            <a:ext cx="7165975" cy="8477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2400" dirty="0">
                <a:latin typeface="Times New Roman" pitchFamily="18" charset="0"/>
                <a:cs typeface="Times New Roman" pitchFamily="18" charset="0"/>
                <a:sym typeface="Arial" charset="0"/>
              </a:rPr>
              <a:t>End Semester Question Paper Templates </a:t>
            </a:r>
            <a:endParaRPr lang="en-US" sz="2400" dirty="0">
              <a:latin typeface="Times New Roman" pitchFamily="18" charset="0"/>
              <a:cs typeface="Times New Roman" pitchFamily="18" charset="0"/>
              <a:sym typeface="Arial" charset="0"/>
            </a:endParaRPr>
          </a:p>
        </p:txBody>
      </p:sp>
      <p:sp>
        <p:nvSpPr>
          <p:cNvPr id="33796"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pPr eaLnBrk="1" hangingPunct="1"/>
            <a:br>
              <a:rPr lang="en-US" altLang="en-US"/>
            </a:br>
            <a:endParaRPr lang="en-US" altLang="en-US"/>
          </a:p>
          <a:p>
            <a:pPr eaLnBrk="1" hangingPunct="1"/>
            <a:endParaRPr lang="en-US" altLang="en-US"/>
          </a:p>
        </p:txBody>
      </p:sp>
      <p:sp>
        <p:nvSpPr>
          <p:cNvPr id="33797" name="Content Placeholder 1"/>
          <p:cNvSpPr txBox="1">
            <a:spLocks noGrp="1"/>
          </p:cNvSpPr>
          <p:nvPr>
            <p:ph idx="1"/>
          </p:nvPr>
        </p:nvSpPr>
        <p:spPr>
          <a:xfrm>
            <a:off x="457200" y="1066800"/>
            <a:ext cx="8229600" cy="4754563"/>
          </a:xfrm>
        </p:spPr>
        <p:txBody>
          <a:bodyPr/>
          <a:lstStyle/>
          <a:p>
            <a:pPr marL="0" indent="0">
              <a:spcBef>
                <a:spcPts val="363"/>
              </a:spcBef>
              <a:spcAft>
                <a:spcPct val="0"/>
              </a:spcAft>
              <a:buClr>
                <a:srgbClr val="000000"/>
              </a:buClr>
              <a:buFont typeface="Arial" pitchFamily="34" charset="0"/>
              <a:buNone/>
            </a:pPr>
            <a:r>
              <a:rPr lang="en-IN" altLang="en-US" sz="2000" b="1">
                <a:latin typeface="Arial" pitchFamily="34" charset="0"/>
                <a:cs typeface="Arial" pitchFamily="34" charset="0"/>
              </a:rPr>
              <a:t>2. Attempt of the following:                                            5 x 2 = 20</a:t>
            </a: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lgn="ctr">
              <a:spcBef>
                <a:spcPts val="363"/>
              </a:spcBef>
              <a:spcAft>
                <a:spcPct val="0"/>
              </a:spcAft>
              <a:buClr>
                <a:srgbClr val="000000"/>
              </a:buClr>
              <a:buFont typeface="Arial" pitchFamily="34" charset="0"/>
              <a:buNone/>
            </a:pPr>
            <a:r>
              <a:rPr lang="en-IN" altLang="en-US" sz="2000" b="1">
                <a:latin typeface="Arial" pitchFamily="34" charset="0"/>
                <a:cs typeface="Arial" pitchFamily="34" charset="0"/>
              </a:rPr>
              <a:t> SECTION B</a:t>
            </a:r>
          </a:p>
          <a:p>
            <a:pPr marL="0" indent="0">
              <a:spcBef>
                <a:spcPts val="363"/>
              </a:spcBef>
              <a:spcAft>
                <a:spcPct val="0"/>
              </a:spcAft>
              <a:buClr>
                <a:srgbClr val="000000"/>
              </a:buClr>
              <a:buFont typeface="Arial" pitchFamily="34" charset="0"/>
              <a:buNone/>
            </a:pPr>
            <a:r>
              <a:rPr lang="en-IN" altLang="en-US" sz="2000" b="1">
                <a:latin typeface="Arial" pitchFamily="34" charset="0"/>
                <a:cs typeface="Arial" pitchFamily="34" charset="0"/>
              </a:rPr>
              <a:t>3. Attempt any five part of the following:                          5 x 6 = 30    </a:t>
            </a:r>
            <a:endParaRPr lang="en-IN" altLang="en-US" sz="2000" b="1" i="1">
              <a:latin typeface="Arial" pitchFamily="34" charset="0"/>
              <a:cs typeface="Arial" pitchFamily="34" charset="0"/>
            </a:endParaRPr>
          </a:p>
        </p:txBody>
      </p:sp>
      <p:graphicFrame>
        <p:nvGraphicFramePr>
          <p:cNvPr id="3" name="Table 2"/>
          <p:cNvGraphicFramePr>
            <a:graphicFrameLocks noGrp="1"/>
          </p:cNvGraphicFramePr>
          <p:nvPr/>
        </p:nvGraphicFramePr>
        <p:xfrm>
          <a:off x="439738" y="1600200"/>
          <a:ext cx="7839075" cy="182880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2</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2</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2</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nvGraphicFramePr>
        <p:xfrm>
          <a:off x="457200" y="4598988"/>
          <a:ext cx="7986713" cy="1757362"/>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3">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488">
                <a:tc>
                  <a:txBody>
                    <a:bodyPr/>
                    <a:lstStyle/>
                    <a:p>
                      <a:r>
                        <a:rPr lang="en-IN" sz="1800" dirty="0" err="1">
                          <a:solidFill>
                            <a:schemeClr val="tx1"/>
                          </a:solidFill>
                        </a:rPr>
                        <a:t>Q.No</a:t>
                      </a:r>
                      <a:r>
                        <a:rPr lang="en-IN" sz="1800" dirty="0">
                          <a:solidFill>
                            <a:schemeClr val="tx1"/>
                          </a:solidFill>
                        </a:rPr>
                        <a:t>.</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58">
                <a:tc>
                  <a:txBody>
                    <a:bodyPr/>
                    <a:lstStyle/>
                    <a:p>
                      <a:r>
                        <a:rPr lang="en-IN" sz="1800" dirty="0"/>
                        <a:t>1</a:t>
                      </a:r>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58">
                <a:tc>
                  <a:txBody>
                    <a:bodyPr/>
                    <a:lstStyle/>
                    <a:p>
                      <a:r>
                        <a:rPr lang="en-US" sz="1800" dirty="0"/>
                        <a:t>.</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9958">
                <a:tc>
                  <a:txBody>
                    <a:bodyPr/>
                    <a:lstStyle/>
                    <a:p>
                      <a:r>
                        <a:rPr lang="en-US" sz="1800" dirty="0"/>
                        <a:t>7</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pic>
        <p:nvPicPr>
          <p:cNvPr id="33859" name="Picture 14" descr="NIET"/>
          <p:cNvPicPr>
            <a:picLocks noChangeAspect="1" noChangeArrowheads="1"/>
          </p:cNvPicPr>
          <p:nvPr/>
        </p:nvPicPr>
        <p:blipFill>
          <a:blip r:embed="rId2"/>
          <a:srcRect/>
          <a:stretch>
            <a:fillRect/>
          </a:stretch>
        </p:blipFill>
        <p:spPr bwMode="auto">
          <a:xfrm>
            <a:off x="0" y="0"/>
            <a:ext cx="1581150" cy="847725"/>
          </a:xfrm>
          <a:prstGeom prst="rect">
            <a:avLst/>
          </a:prstGeom>
          <a:noFill/>
          <a:ln w="9525">
            <a:noFill/>
            <a:miter lim="800000"/>
            <a:headEnd/>
            <a:tailEnd/>
          </a:ln>
        </p:spPr>
      </p:pic>
      <p:sp>
        <p:nvSpPr>
          <p:cNvPr id="12"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7</a:t>
            </a:fld>
            <a:endParaRPr lang="en-US"/>
          </a:p>
        </p:txBody>
      </p:sp>
      <p:sp>
        <p:nvSpPr>
          <p:cNvPr id="13" name="Footer Placeholder 9"/>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624013" y="0"/>
            <a:ext cx="7291387" cy="8350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2400" dirty="0">
                <a:latin typeface="Times New Roman" pitchFamily="18" charset="0"/>
                <a:cs typeface="Times New Roman" pitchFamily="18" charset="0"/>
                <a:sym typeface="Arial" charset="0"/>
              </a:rPr>
              <a:t>End Semester Question Paper Templates </a:t>
            </a:r>
            <a:endParaRPr lang="en-US" sz="2400" dirty="0">
              <a:latin typeface="Times New Roman" pitchFamily="18" charset="0"/>
              <a:cs typeface="Times New Roman" pitchFamily="18" charset="0"/>
              <a:sym typeface="Arial" charset="0"/>
            </a:endParaRPr>
          </a:p>
        </p:txBody>
      </p:sp>
      <p:sp>
        <p:nvSpPr>
          <p:cNvPr id="34820"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pPr eaLnBrk="1" hangingPunct="1"/>
            <a:br>
              <a:rPr lang="en-US" altLang="en-US"/>
            </a:br>
            <a:endParaRPr lang="en-US" altLang="en-US"/>
          </a:p>
          <a:p>
            <a:pPr eaLnBrk="1" hangingPunct="1"/>
            <a:endParaRPr lang="en-US" altLang="en-US"/>
          </a:p>
        </p:txBody>
      </p:sp>
      <p:sp>
        <p:nvSpPr>
          <p:cNvPr id="34821" name="Content Placeholder 1"/>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itchFamily="34" charset="0"/>
              <a:buNone/>
            </a:pPr>
            <a:r>
              <a:rPr lang="en-IN" altLang="en-US" sz="2000" b="1">
                <a:latin typeface="Arial" pitchFamily="34" charset="0"/>
                <a:cs typeface="Arial" pitchFamily="34" charset="0"/>
              </a:rPr>
              <a:t>4. Attempt any one part of the following:                          1 x 10 = 10</a:t>
            </a: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r>
              <a:rPr lang="en-IN" altLang="en-US" sz="2000" b="1">
                <a:latin typeface="Arial" pitchFamily="34" charset="0"/>
                <a:cs typeface="Arial" pitchFamily="34" charset="0"/>
              </a:rPr>
              <a:t>5. Attempt any one part of the following:                          1 x 10 = 10  </a:t>
            </a: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r>
              <a:rPr lang="en-IN" altLang="en-US" sz="2000" b="1">
                <a:latin typeface="Arial" pitchFamily="34" charset="0"/>
                <a:cs typeface="Arial" pitchFamily="34" charset="0"/>
              </a:rPr>
              <a:t> 6. Attempt any one part of the following:                        1 x 10 = 10    </a:t>
            </a:r>
            <a:endParaRPr lang="en-IN" altLang="en-US" sz="2000" b="1" i="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i="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i="1">
              <a:latin typeface="Arial" pitchFamily="34" charset="0"/>
              <a:cs typeface="Arial" pitchFamily="34" charset="0"/>
            </a:endParaRPr>
          </a:p>
        </p:txBody>
      </p:sp>
      <p:graphicFrame>
        <p:nvGraphicFramePr>
          <p:cNvPr id="10" name="Table 9"/>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773113" y="3059113"/>
          <a:ext cx="7977187" cy="1096974"/>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1">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pic>
        <p:nvPicPr>
          <p:cNvPr id="34890" name="Picture 14" descr="NIET"/>
          <p:cNvPicPr>
            <a:picLocks noChangeAspect="1" noChangeArrowheads="1"/>
          </p:cNvPicPr>
          <p:nvPr/>
        </p:nvPicPr>
        <p:blipFill>
          <a:blip r:embed="rId2"/>
          <a:srcRect/>
          <a:stretch>
            <a:fillRect/>
          </a:stretch>
        </p:blipFill>
        <p:spPr bwMode="auto">
          <a:xfrm>
            <a:off x="0" y="0"/>
            <a:ext cx="1581150" cy="847725"/>
          </a:xfrm>
          <a:prstGeom prst="rect">
            <a:avLst/>
          </a:prstGeom>
          <a:noFill/>
          <a:ln w="9525">
            <a:noFill/>
            <a:miter lim="800000"/>
            <a:headEnd/>
            <a:tailEnd/>
          </a:ln>
        </p:spPr>
      </p:pic>
      <p:sp>
        <p:nvSpPr>
          <p:cNvPr id="14"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8</a:t>
            </a:fld>
            <a:endParaRPr lang="en-US"/>
          </a:p>
        </p:txBody>
      </p:sp>
      <p:sp>
        <p:nvSpPr>
          <p:cNvPr id="15" name="Footer Placeholder 9"/>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624013" y="0"/>
            <a:ext cx="7291387" cy="8350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2400" dirty="0">
                <a:latin typeface="Times New Roman" pitchFamily="18" charset="0"/>
                <a:cs typeface="Times New Roman" pitchFamily="18" charset="0"/>
                <a:sym typeface="Arial" charset="0"/>
              </a:rPr>
              <a:t>End Semester Question Paper Templates </a:t>
            </a:r>
            <a:endParaRPr lang="en-US" sz="2400" dirty="0">
              <a:latin typeface="Times New Roman" pitchFamily="18" charset="0"/>
              <a:cs typeface="Times New Roman" pitchFamily="18" charset="0"/>
              <a:sym typeface="Arial" charset="0"/>
            </a:endParaRPr>
          </a:p>
        </p:txBody>
      </p:sp>
      <p:sp>
        <p:nvSpPr>
          <p:cNvPr id="35844" name="Rectangle 2"/>
          <p:cNvSpPr>
            <a:spLocks noChangeArrowheads="1"/>
          </p:cNvSpPr>
          <p:nvPr/>
        </p:nvSpPr>
        <p:spPr bwMode="auto">
          <a:xfrm>
            <a:off x="0" y="0"/>
            <a:ext cx="9144000" cy="457200"/>
          </a:xfrm>
          <a:prstGeom prst="rect">
            <a:avLst/>
          </a:prstGeom>
          <a:noFill/>
          <a:ln w="9525">
            <a:noFill/>
            <a:miter lim="800000"/>
            <a:headEnd/>
            <a:tailEnd/>
          </a:ln>
        </p:spPr>
        <p:txBody>
          <a:bodyPr wrap="none" anchor="ctr">
            <a:spAutoFit/>
          </a:bodyPr>
          <a:lstStyle/>
          <a:p>
            <a:pPr eaLnBrk="1" hangingPunct="1"/>
            <a:br>
              <a:rPr lang="en-US" altLang="en-US"/>
            </a:br>
            <a:endParaRPr lang="en-US" altLang="en-US"/>
          </a:p>
          <a:p>
            <a:pPr eaLnBrk="1" hangingPunct="1"/>
            <a:endParaRPr lang="en-US" altLang="en-US"/>
          </a:p>
        </p:txBody>
      </p:sp>
      <p:sp>
        <p:nvSpPr>
          <p:cNvPr id="35845" name="Content Placeholder 1"/>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itchFamily="34" charset="0"/>
              <a:buNone/>
            </a:pPr>
            <a:r>
              <a:rPr lang="en-IN" altLang="en-US" sz="2000" b="1">
                <a:latin typeface="Arial" pitchFamily="34" charset="0"/>
                <a:cs typeface="Arial" pitchFamily="34" charset="0"/>
              </a:rPr>
              <a:t>7. Attempt any one part of the following:                          1 x 10 = 10</a:t>
            </a: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r>
              <a:rPr lang="en-IN" altLang="en-US" sz="2000" b="1">
                <a:latin typeface="Arial" pitchFamily="34" charset="0"/>
                <a:cs typeface="Arial" pitchFamily="34" charset="0"/>
              </a:rPr>
              <a:t>8. Attempt any one part of the following:                          1 x 10 = 10  </a:t>
            </a: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endParaRPr lang="en-IN" altLang="en-US" sz="2000" b="1">
              <a:latin typeface="Arial" pitchFamily="34" charset="0"/>
              <a:cs typeface="Arial" pitchFamily="34" charset="0"/>
            </a:endParaRPr>
          </a:p>
          <a:p>
            <a:pPr marL="0" indent="0">
              <a:spcBef>
                <a:spcPts val="363"/>
              </a:spcBef>
              <a:spcAft>
                <a:spcPct val="0"/>
              </a:spcAft>
              <a:buClr>
                <a:srgbClr val="000000"/>
              </a:buClr>
              <a:buFont typeface="Arial" pitchFamily="34" charset="0"/>
              <a:buNone/>
            </a:pPr>
            <a:r>
              <a:rPr lang="en-IN" altLang="en-US" sz="2000" b="1">
                <a:latin typeface="Arial" pitchFamily="34" charset="0"/>
                <a:cs typeface="Arial" pitchFamily="34" charset="0"/>
              </a:rPr>
              <a:t> </a:t>
            </a:r>
            <a:endParaRPr lang="en-IN" altLang="en-US" sz="2000" b="1" i="1">
              <a:latin typeface="Arial" pitchFamily="34" charset="0"/>
              <a:cs typeface="Arial" pitchFamily="34" charset="0"/>
            </a:endParaRPr>
          </a:p>
        </p:txBody>
      </p:sp>
      <p:graphicFrame>
        <p:nvGraphicFramePr>
          <p:cNvPr id="10" name="Table 9"/>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773113" y="3059113"/>
          <a:ext cx="7977187" cy="1096974"/>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1">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pic>
        <p:nvPicPr>
          <p:cNvPr id="35892" name="Picture 14" descr="NIET"/>
          <p:cNvPicPr>
            <a:picLocks noChangeAspect="1" noChangeArrowheads="1"/>
          </p:cNvPicPr>
          <p:nvPr/>
        </p:nvPicPr>
        <p:blipFill>
          <a:blip r:embed="rId2"/>
          <a:srcRect/>
          <a:stretch>
            <a:fillRect/>
          </a:stretch>
        </p:blipFill>
        <p:spPr bwMode="auto">
          <a:xfrm>
            <a:off x="0" y="0"/>
            <a:ext cx="1581150" cy="847725"/>
          </a:xfrm>
          <a:prstGeom prst="rect">
            <a:avLst/>
          </a:prstGeom>
          <a:noFill/>
          <a:ln w="9525">
            <a:noFill/>
            <a:miter lim="800000"/>
            <a:headEnd/>
            <a:tailEnd/>
          </a:ln>
        </p:spPr>
      </p:pic>
      <p:sp>
        <p:nvSpPr>
          <p:cNvPr id="13"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9</a:t>
            </a:fld>
            <a:endParaRPr lang="en-US"/>
          </a:p>
        </p:txBody>
      </p:sp>
      <p:sp>
        <p:nvSpPr>
          <p:cNvPr id="14" name="Footer Placeholder 9"/>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Google Shape;126;p16"/>
          <p:cNvSpPr txBox="1">
            <a:spLocks noGrp="1"/>
          </p:cNvSpPr>
          <p:nvPr>
            <p:ph type="body" idx="1"/>
          </p:nvPr>
        </p:nvSpPr>
        <p:spPr>
          <a:xfrm>
            <a:off x="153988" y="1001713"/>
            <a:ext cx="8763000" cy="5216525"/>
          </a:xfrm>
        </p:spPr>
        <p:txBody>
          <a:bodyPr/>
          <a:lstStyle/>
          <a:p>
            <a:pPr>
              <a:buFont typeface="Wingdings" panose="05000000000000000000" pitchFamily="2" charset="2"/>
              <a:buChar char="Ø"/>
              <a:defRPr/>
            </a:pPr>
            <a:r>
              <a:rPr lang="en-IN" sz="2400" dirty="0">
                <a:latin typeface="Arial" panose="020B0604020202020204" pitchFamily="34" charset="0"/>
                <a:cs typeface="Arial" panose="020B0604020202020204" pitchFamily="34" charset="0"/>
              </a:rPr>
              <a:t>Basic Knowledge of any programming language like C/C++/Python/Java. </a:t>
            </a:r>
          </a:p>
          <a:p>
            <a:pPr>
              <a:buFont typeface="Wingdings" panose="05000000000000000000" pitchFamily="2" charset="2"/>
              <a:buChar char="Ø"/>
              <a:defRPr/>
            </a:pPr>
            <a:endParaRPr lang="en-IN" sz="2400" dirty="0">
              <a:latin typeface="Arial" panose="020B0604020202020204" pitchFamily="34" charset="0"/>
              <a:cs typeface="Arial" panose="020B0604020202020204" pitchFamily="34" charset="0"/>
            </a:endParaRPr>
          </a:p>
          <a:p>
            <a:pPr>
              <a:buFont typeface="Wingdings" panose="05000000000000000000" pitchFamily="2" charset="2"/>
              <a:buChar char="Ø"/>
              <a:defRPr/>
            </a:pPr>
            <a:r>
              <a:rPr lang="en-IN" sz="2400" dirty="0">
                <a:latin typeface="Arial" panose="020B0604020202020204" pitchFamily="34" charset="0"/>
                <a:cs typeface="Arial" panose="020B0604020202020204" pitchFamily="34" charset="0"/>
              </a:rPr>
              <a:t>Familiarity with basic concepts of Internet.</a:t>
            </a:r>
            <a:endParaRPr lang="en-US" sz="2400" dirty="0">
              <a:latin typeface="Arial" panose="020B0604020202020204" pitchFamily="34" charset="0"/>
              <a:cs typeface="Arial" panose="020B0604020202020204" pitchFamily="34" charset="0"/>
            </a:endParaRPr>
          </a:p>
          <a:p>
            <a:pPr marL="114300" indent="0">
              <a:spcBef>
                <a:spcPts val="363"/>
              </a:spcBef>
              <a:spcAft>
                <a:spcPct val="0"/>
              </a:spcAft>
              <a:buClr>
                <a:srgbClr val="000000"/>
              </a:buClr>
              <a:buFont typeface="Arial" panose="020B0604020202020204" pitchFamily="34" charset="0"/>
              <a:buNone/>
              <a:defRPr/>
            </a:pPr>
            <a:endParaRPr lang="en-US" altLang="en-US" sz="2400" dirty="0">
              <a:latin typeface="Arial" panose="020B0604020202020204" pitchFamily="34" charset="0"/>
              <a:cs typeface="Arial" panose="020B0604020202020204" pitchFamily="34" charset="0"/>
            </a:endParaRPr>
          </a:p>
          <a:p>
            <a:pPr>
              <a:spcBef>
                <a:spcPts val="363"/>
              </a:spcBef>
              <a:spcAft>
                <a:spcPct val="0"/>
              </a:spcAft>
              <a:buClr>
                <a:srgbClr val="000000"/>
              </a:buClr>
              <a:buFont typeface="Arial" panose="020B0604020202020204" pitchFamily="34" charset="0"/>
              <a:buNone/>
              <a:defRPr/>
            </a:pPr>
            <a:endParaRPr lang="en-US" altLang="en-US" sz="2200" dirty="0">
              <a:latin typeface="Times New Roman" panose="02020603050405020304" pitchFamily="18" charset="0"/>
              <a:cs typeface="Times New Roman" panose="02020603050405020304" pitchFamily="18" charset="0"/>
            </a:endParaRPr>
          </a:p>
        </p:txBody>
      </p:sp>
      <p:sp>
        <p:nvSpPr>
          <p:cNvPr id="39939" name="Google Shape;128;p16"/>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4FFE2255-DB92-4673-9F7F-48FAADFF3FFB}" type="slidenum">
              <a:rPr lang="en-US" altLang="en-US" sz="1200" smtClean="0">
                <a:solidFill>
                  <a:srgbClr val="888888"/>
                </a:solidFill>
                <a:latin typeface="Calibri" panose="020F0502020204030204" pitchFamily="34" charset="0"/>
                <a:sym typeface="Calibri" panose="020F0502020204030204" pitchFamily="34" charset="0"/>
              </a:rPr>
              <a:pPr>
                <a:buFont typeface="Arial" panose="020B0604020202020204" pitchFamily="34" charset="0"/>
                <a:buNone/>
              </a:pPr>
              <a:t>10</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129" name="Google Shape;129;p16"/>
          <p:cNvSpPr txBox="1"/>
          <p:nvPr/>
        </p:nvSpPr>
        <p:spPr>
          <a:xfrm>
            <a:off x="1371600" y="0"/>
            <a:ext cx="7772400" cy="685800"/>
          </a:xfrm>
          <a:prstGeom prst="rect">
            <a:avLst/>
          </a:prstGeom>
          <a:gradFill>
            <a:gsLst>
              <a:gs pos="0">
                <a:srgbClr val="9BE9FF"/>
              </a:gs>
              <a:gs pos="35000">
                <a:srgbClr val="B8F1FF"/>
              </a:gs>
              <a:gs pos="100000">
                <a:srgbClr val="E2FBFF"/>
              </a:gs>
            </a:gsLst>
            <a:lin ang="16200000" scaled="0"/>
          </a:gradFill>
          <a:ln w="9525" cap="flat" cmpd="sng">
            <a:solidFill>
              <a:srgbClr val="45A9C4"/>
            </a:solidFill>
            <a:prstDash val="solid"/>
            <a:round/>
            <a:headEnd type="none" w="sm" len="sm"/>
            <a:tailEnd type="none" w="sm" len="sm"/>
          </a:ln>
          <a:effectLst>
            <a:outerShdw blurRad="40000" dist="20000" dir="5400000" rotWithShape="0">
              <a:srgbClr val="000000">
                <a:alpha val="37647"/>
              </a:srgbClr>
            </a:outerShdw>
          </a:effectLst>
        </p:spPr>
        <p:txBody>
          <a:bodyPr spcFirstLastPara="1" lIns="91425" tIns="45700" rIns="91425" bIns="45700" anchor="ctr"/>
          <a:lstStyle/>
          <a:p>
            <a:pPr algn="ctr" eaLnBrk="1" fontAlgn="auto" hangingPunct="1">
              <a:spcAft>
                <a:spcPts val="0"/>
              </a:spcAft>
              <a:defRPr/>
            </a:pPr>
            <a:r>
              <a:rPr lang="en-US" sz="2800" dirty="0">
                <a:solidFill>
                  <a:schemeClr val="dk1"/>
                </a:solidFill>
                <a:latin typeface="Times New Roman" pitchFamily="18" charset="0"/>
                <a:cs typeface="Times New Roman" pitchFamily="18" charset="0"/>
                <a:sym typeface="Arial" charset="0"/>
              </a:rPr>
              <a:t>Prerequisite</a:t>
            </a:r>
          </a:p>
        </p:txBody>
      </p:sp>
      <p:sp>
        <p:nvSpPr>
          <p:cNvPr id="39941" name="Google Shape;131;p16"/>
          <p:cNvSpPr>
            <a:spLocks noGrp="1"/>
          </p:cNvSpPr>
          <p:nvPr>
            <p:ph type="ftr" sz="quarter" idx="12"/>
          </p:nvPr>
        </p:nvSpPr>
        <p:spPr>
          <a:xfrm>
            <a:off x="-468560" y="6309320"/>
            <a:ext cx="7416824"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r>
              <a:rPr lang="fi-FI" altLang="en-US" sz="1200" dirty="0">
                <a:solidFill>
                  <a:srgbClr val="888888"/>
                </a:solidFill>
                <a:latin typeface="Calibri" panose="020F0502020204030204" pitchFamily="34" charset="0"/>
                <a:sym typeface="Calibri" panose="020F0502020204030204" pitchFamily="34" charset="0"/>
              </a:rPr>
              <a:t>06/15/2022                    Ajeet Kumar          WT     Unit 3</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39942"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288"/>
            <a:ext cx="1371600"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120878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447800" y="0"/>
            <a:ext cx="7696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000" dirty="0"/>
              <a:t>Brief Introduction About The Subject </a:t>
            </a:r>
          </a:p>
        </p:txBody>
      </p:sp>
      <p:sp>
        <p:nvSpPr>
          <p:cNvPr id="38918" name="Text Placeholder 9"/>
          <p:cNvSpPr txBox="1">
            <a:spLocks noGrp="1"/>
          </p:cNvSpPr>
          <p:nvPr>
            <p:ph type="body" idx="1"/>
          </p:nvPr>
        </p:nvSpPr>
        <p:spPr>
          <a:xfrm>
            <a:off x="473075" y="906463"/>
            <a:ext cx="8229600" cy="5353050"/>
          </a:xfrm>
        </p:spPr>
        <p:txBody>
          <a:bodyPr>
            <a:normAutofit lnSpcReduction="10000"/>
          </a:bodyPr>
          <a:lstStyle/>
          <a:p>
            <a:pPr>
              <a:spcBef>
                <a:spcPts val="363"/>
              </a:spcBef>
              <a:spcAft>
                <a:spcPct val="0"/>
              </a:spcAft>
              <a:buClr>
                <a:srgbClr val="000000"/>
              </a:buClr>
            </a:pPr>
            <a:r>
              <a:rPr lang="en-US" altLang="en-US" sz="2200" dirty="0">
                <a:latin typeface="Arial" pitchFamily="34" charset="0"/>
                <a:cs typeface="Arial" pitchFamily="34" charset="0"/>
              </a:rPr>
              <a:t>Web technologies are the various tools and techniques that are utilized in the process of communication between different types of devices over the internet.</a:t>
            </a:r>
          </a:p>
          <a:p>
            <a:pPr>
              <a:spcBef>
                <a:spcPts val="363"/>
              </a:spcBef>
              <a:spcAft>
                <a:spcPct val="0"/>
              </a:spcAft>
              <a:buClr>
                <a:srgbClr val="000000"/>
              </a:buClr>
            </a:pPr>
            <a:endParaRPr lang="en-US" altLang="en-US" sz="2200" dirty="0">
              <a:latin typeface="Arial" pitchFamily="34" charset="0"/>
              <a:cs typeface="Arial" pitchFamily="34" charset="0"/>
            </a:endParaRPr>
          </a:p>
          <a:p>
            <a:pPr>
              <a:spcBef>
                <a:spcPts val="363"/>
              </a:spcBef>
              <a:spcAft>
                <a:spcPct val="0"/>
              </a:spcAft>
              <a:buClr>
                <a:srgbClr val="000000"/>
              </a:buClr>
            </a:pPr>
            <a:r>
              <a:rPr lang="en-US" altLang="en-US" sz="2200" dirty="0">
                <a:latin typeface="Arial" pitchFamily="34" charset="0"/>
                <a:cs typeface="Arial" pitchFamily="34" charset="0"/>
              </a:rPr>
              <a:t>To understand this term in a better manner, let’s break it down into two pieces: ‘web’ and ‘technology’.</a:t>
            </a:r>
          </a:p>
          <a:p>
            <a:pPr>
              <a:spcBef>
                <a:spcPts val="363"/>
              </a:spcBef>
              <a:spcAft>
                <a:spcPct val="0"/>
              </a:spcAft>
              <a:buClr>
                <a:srgbClr val="000000"/>
              </a:buClr>
            </a:pPr>
            <a:endParaRPr lang="en-US" altLang="en-US" sz="2200" dirty="0">
              <a:latin typeface="Arial" pitchFamily="34" charset="0"/>
              <a:cs typeface="Arial" pitchFamily="34" charset="0"/>
            </a:endParaRPr>
          </a:p>
          <a:p>
            <a:pPr>
              <a:spcBef>
                <a:spcPts val="363"/>
              </a:spcBef>
              <a:spcAft>
                <a:spcPct val="0"/>
              </a:spcAft>
              <a:buClr>
                <a:srgbClr val="000000"/>
              </a:buClr>
            </a:pPr>
            <a:r>
              <a:rPr lang="en-US" altLang="en-US" sz="2200" dirty="0">
                <a:latin typeface="Arial" pitchFamily="34" charset="0"/>
                <a:cs typeface="Arial" pitchFamily="34" charset="0"/>
              </a:rPr>
              <a:t>The web, in this case, refers to the World Wide Web, more commonly known as WWW. </a:t>
            </a:r>
          </a:p>
          <a:p>
            <a:pPr>
              <a:spcBef>
                <a:spcPts val="363"/>
              </a:spcBef>
              <a:spcAft>
                <a:spcPct val="0"/>
              </a:spcAft>
              <a:buClr>
                <a:srgbClr val="000000"/>
              </a:buClr>
            </a:pPr>
            <a:r>
              <a:rPr lang="en-US" altLang="en-US" sz="2200" dirty="0">
                <a:latin typeface="Arial" pitchFamily="34" charset="0"/>
                <a:cs typeface="Arial" pitchFamily="34" charset="0"/>
              </a:rPr>
              <a:t>It first came into being in 1989 when famous scientist and engineer, Tim Berners-Lee, came up with an efficient mechanism to share resources between scientists all over the world.</a:t>
            </a:r>
          </a:p>
          <a:p>
            <a:pPr>
              <a:spcBef>
                <a:spcPts val="363"/>
              </a:spcBef>
              <a:spcAft>
                <a:spcPct val="0"/>
              </a:spcAft>
              <a:buClr>
                <a:srgbClr val="000000"/>
              </a:buClr>
            </a:pPr>
            <a:r>
              <a:rPr lang="en-US" altLang="en-US" sz="2000" b="1" u="sng" dirty="0">
                <a:solidFill>
                  <a:srgbClr val="0000FF"/>
                </a:solidFill>
                <a:latin typeface="Arial" pitchFamily="34" charset="0"/>
                <a:cs typeface="Arial" pitchFamily="34" charset="0"/>
              </a:rPr>
              <a:t>https://www.youtube.com/results?search_query=Web+Technonogies</a:t>
            </a:r>
          </a:p>
        </p:txBody>
      </p:sp>
      <p:sp>
        <p:nvSpPr>
          <p:cNvPr id="9"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11</a:t>
            </a:fld>
            <a:endParaRPr lang="en-US"/>
          </a:p>
        </p:txBody>
      </p:sp>
      <p:sp>
        <p:nvSpPr>
          <p:cNvPr id="10" name="Footer Placeholder 9"/>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Google Shape;106;p14"/>
          <p:cNvSpPr txBox="1">
            <a:spLocks noGrp="1"/>
          </p:cNvSpPr>
          <p:nvPr>
            <p:ph type="body" idx="1"/>
          </p:nvPr>
        </p:nvSpPr>
        <p:spPr>
          <a:xfrm>
            <a:off x="523875" y="1123950"/>
            <a:ext cx="8162925" cy="5100638"/>
          </a:xfrm>
        </p:spPr>
        <p:txBody>
          <a:bodyPr>
            <a:normAutofit fontScale="92500"/>
          </a:bodyPr>
          <a:lstStyle/>
          <a:p>
            <a:pPr>
              <a:buFont typeface="Wingdings" pitchFamily="2" charset="2"/>
              <a:buChar char="Ø"/>
            </a:pPr>
            <a:r>
              <a:rPr lang="en-US" altLang="en-US" sz="2400" b="1" dirty="0">
                <a:latin typeface="Arial" pitchFamily="34" charset="0"/>
                <a:cs typeface="Arial" pitchFamily="34" charset="0"/>
              </a:rPr>
              <a:t>Introduction: </a:t>
            </a:r>
          </a:p>
          <a:p>
            <a:pPr>
              <a:buFont typeface="Wingdings" pitchFamily="2" charset="2"/>
              <a:buChar char="Ø"/>
            </a:pPr>
            <a:r>
              <a:rPr lang="en-US" sz="2400" dirty="0"/>
              <a:t>Creating Style Sheet</a:t>
            </a:r>
          </a:p>
          <a:p>
            <a:pPr>
              <a:buFont typeface="Wingdings" pitchFamily="2" charset="2"/>
              <a:buChar char="Ø"/>
            </a:pPr>
            <a:r>
              <a:rPr lang="en-US" sz="2400" dirty="0"/>
              <a:t> CSS Properties </a:t>
            </a:r>
          </a:p>
          <a:p>
            <a:pPr>
              <a:buFont typeface="Wingdings" pitchFamily="2" charset="2"/>
              <a:buChar char="Ø"/>
            </a:pPr>
            <a:r>
              <a:rPr lang="en-US" sz="2400" dirty="0"/>
              <a:t> CSS Styling(Background, Text Format, Controlling Fonts) , Working with block elements and objects , Working with Lists and Tables </a:t>
            </a:r>
            <a:r>
              <a:rPr lang="en-US" sz="2400" dirty="0" err="1"/>
              <a:t>CSSId</a:t>
            </a:r>
            <a:r>
              <a:rPr lang="en-US" sz="2400" dirty="0"/>
              <a:t> and Class </a:t>
            </a:r>
            <a:r>
              <a:rPr lang="en-US" sz="2400" dirty="0" err="1"/>
              <a:t>BoxModel</a:t>
            </a:r>
            <a:r>
              <a:rPr lang="en-US" sz="2400" dirty="0"/>
              <a:t>(Introduction,Borderproperties,PaddingProperties,Marginproperties) </a:t>
            </a:r>
          </a:p>
          <a:p>
            <a:pPr>
              <a:buFont typeface="Wingdings" pitchFamily="2" charset="2"/>
              <a:buChar char="Ø"/>
            </a:pPr>
            <a:r>
              <a:rPr lang="en-US" sz="2400" dirty="0"/>
              <a:t>CSS Advanced(Grouping, Dimension, Display, Positioning, Floating, Align, Pseudo class, Navigation Bar, Image Sprites, Attribute sector)</a:t>
            </a:r>
          </a:p>
          <a:p>
            <a:pPr>
              <a:buFont typeface="Wingdings" pitchFamily="2" charset="2"/>
              <a:buChar char="Ø"/>
            </a:pPr>
            <a:r>
              <a:rPr lang="en-US" sz="2400" dirty="0"/>
              <a:t>CSS Color, Creating page Layout and Site.</a:t>
            </a:r>
          </a:p>
          <a:p>
            <a:pPr>
              <a:buFont typeface="Wingdings" pitchFamily="2" charset="2"/>
              <a:buChar char="Ø"/>
            </a:pPr>
            <a:r>
              <a:rPr lang="en-IN" sz="2400" b="1" dirty="0"/>
              <a:t>Bootstrap: </a:t>
            </a:r>
            <a:r>
              <a:rPr lang="en-IN" sz="2400" dirty="0"/>
              <a:t>Introduction, Bootstrap grid system, Bootstrap Components.</a:t>
            </a:r>
            <a:r>
              <a:rPr lang="en-US" altLang="en-US" sz="2400" b="1" dirty="0">
                <a:latin typeface="Arial" pitchFamily="34" charset="0"/>
                <a:cs typeface="Arial" pitchFamily="34" charset="0"/>
              </a:rPr>
              <a:t> </a:t>
            </a:r>
          </a:p>
        </p:txBody>
      </p:sp>
      <p:sp>
        <p:nvSpPr>
          <p:cNvPr id="109" name="Google Shape;109;p14"/>
          <p:cNvSpPr txBox="1"/>
          <p:nvPr/>
        </p:nvSpPr>
        <p:spPr>
          <a:xfrm>
            <a:off x="1371600" y="0"/>
            <a:ext cx="7772400" cy="685800"/>
          </a:xfrm>
          <a:prstGeom prst="rect">
            <a:avLst/>
          </a:prstGeom>
          <a:gradFill>
            <a:gsLst>
              <a:gs pos="0">
                <a:srgbClr val="9BE9FF"/>
              </a:gs>
              <a:gs pos="35000">
                <a:srgbClr val="B8F1FF"/>
              </a:gs>
              <a:gs pos="100000">
                <a:srgbClr val="E2FBFF"/>
              </a:gs>
            </a:gsLst>
            <a:lin ang="16200000" scaled="0"/>
          </a:gradFill>
          <a:ln w="9525" cap="flat" cmpd="sng">
            <a:solidFill>
              <a:srgbClr val="45A9C4"/>
            </a:solidFill>
            <a:prstDash val="solid"/>
            <a:round/>
            <a:headEnd type="none" w="sm" len="sm"/>
            <a:tailEnd type="none" w="sm" len="sm"/>
          </a:ln>
          <a:effectLst>
            <a:outerShdw blurRad="40000" dist="20000" dir="5400000" rotWithShape="0">
              <a:srgbClr val="000000">
                <a:alpha val="37647"/>
              </a:srgbClr>
            </a:outerShdw>
          </a:effectLst>
        </p:spPr>
        <p:txBody>
          <a:bodyPr spcFirstLastPara="1" lIns="91425" tIns="45700" rIns="91425" bIns="45700" anchor="ctr"/>
          <a:lstStyle/>
          <a:p>
            <a:pPr algn="ctr" fontAlgn="auto">
              <a:spcBef>
                <a:spcPts val="0"/>
              </a:spcBef>
              <a:spcAft>
                <a:spcPts val="0"/>
              </a:spcAft>
              <a:buClr>
                <a:schemeClr val="dk1"/>
              </a:buClr>
              <a:buSzPts val="2400"/>
              <a:buFont typeface="Calibri"/>
              <a:buNone/>
              <a:defRPr/>
            </a:pPr>
            <a:r>
              <a:rPr lang="en-US" sz="3200" kern="0" dirty="0">
                <a:solidFill>
                  <a:schemeClr val="dk1"/>
                </a:solidFill>
                <a:latin typeface="Calibri"/>
                <a:ea typeface="Calibri"/>
                <a:cs typeface="Calibri"/>
                <a:sym typeface="Calibri"/>
              </a:rPr>
              <a:t>Unit 3 Content</a:t>
            </a:r>
            <a:endParaRPr sz="3200" kern="0">
              <a:solidFill>
                <a:schemeClr val="dk1"/>
              </a:solidFill>
              <a:latin typeface="Calibri"/>
              <a:ea typeface="Calibri"/>
              <a:cs typeface="Calibri"/>
              <a:sym typeface="Calibri"/>
            </a:endParaRPr>
          </a:p>
        </p:txBody>
      </p:sp>
      <p:pic>
        <p:nvPicPr>
          <p:cNvPr id="39942" name="Google Shape;110;p14" descr="E:\NIET\Project\xLogo11.png.pagespeed.ic.pydHLuCQEZ.png"/>
          <p:cNvPicPr preferRelativeResize="0">
            <a:picLocks noChangeAspect="1" noChangeArrowheads="1"/>
          </p:cNvPicPr>
          <p:nvPr/>
        </p:nvPicPr>
        <p:blipFill>
          <a:blip r:embed="rId3"/>
          <a:srcRect/>
          <a:stretch>
            <a:fillRect/>
          </a:stretch>
        </p:blipFill>
        <p:spPr bwMode="auto">
          <a:xfrm>
            <a:off x="0" y="0"/>
            <a:ext cx="1447800" cy="817563"/>
          </a:xfrm>
          <a:prstGeom prst="rect">
            <a:avLst/>
          </a:prstGeom>
          <a:noFill/>
          <a:ln w="9525">
            <a:noFill/>
            <a:miter lim="800000"/>
            <a:headEnd/>
            <a:tailEnd/>
          </a:ln>
        </p:spPr>
      </p:pic>
      <p:sp>
        <p:nvSpPr>
          <p:cNvPr id="9"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12</a:t>
            </a:fld>
            <a:endParaRPr lang="en-US"/>
          </a:p>
        </p:txBody>
      </p:sp>
      <p:sp>
        <p:nvSpPr>
          <p:cNvPr id="10" name="Footer Placeholder 9"/>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txBox="1">
            <a:spLocks noGrp="1"/>
          </p:cNvSpPr>
          <p:nvPr>
            <p:ph idx="1"/>
          </p:nvPr>
        </p:nvSpPr>
        <p:spPr>
          <a:xfrm>
            <a:off x="365125" y="1241425"/>
            <a:ext cx="8451850" cy="4949825"/>
          </a:xfrm>
        </p:spPr>
        <p:txBody>
          <a:bodyPr/>
          <a:lstStyle/>
          <a:p>
            <a:pPr marL="114300" indent="0" algn="just" eaLnBrk="1" hangingPunct="1">
              <a:spcBef>
                <a:spcPts val="363"/>
              </a:spcBef>
              <a:spcAft>
                <a:spcPct val="0"/>
              </a:spcAft>
              <a:buClr>
                <a:srgbClr val="000000"/>
              </a:buClr>
              <a:buFont typeface="Arial" pitchFamily="34" charset="0"/>
              <a:buNone/>
            </a:pPr>
            <a:r>
              <a:rPr lang="en-US" altLang="en-US" sz="2400" b="1" dirty="0">
                <a:latin typeface="Times New Roman" pitchFamily="18" charset="0"/>
                <a:ea typeface="Calibri" pitchFamily="34" charset="0"/>
                <a:cs typeface="Times New Roman" pitchFamily="18" charset="0"/>
                <a:sym typeface="Calibri" pitchFamily="34" charset="0"/>
              </a:rPr>
              <a:t>Objective of Unit 3:</a:t>
            </a:r>
          </a:p>
          <a:p>
            <a:pPr lvl="1" algn="just" eaLnBrk="1" hangingPunct="1">
              <a:spcBef>
                <a:spcPts val="363"/>
              </a:spcBef>
              <a:spcAft>
                <a:spcPct val="0"/>
              </a:spcAft>
              <a:buClr>
                <a:srgbClr val="000000"/>
              </a:buClr>
              <a:buFont typeface="Arial" pitchFamily="34" charset="0"/>
              <a:buChar char="•"/>
            </a:pPr>
            <a:r>
              <a:rPr lang="en-US" altLang="en-US" sz="1800" dirty="0">
                <a:latin typeface="Times New Roman" pitchFamily="18" charset="0"/>
                <a:ea typeface="Tahoma" pitchFamily="34" charset="0"/>
                <a:cs typeface="Times New Roman" pitchFamily="18" charset="0"/>
                <a:sym typeface="Times New Roman" pitchFamily="18" charset="0"/>
              </a:rPr>
              <a:t> </a:t>
            </a:r>
            <a:r>
              <a:rPr lang="en-US" altLang="en-US" sz="2400" dirty="0">
                <a:latin typeface="Times New Roman" pitchFamily="18" charset="0"/>
                <a:ea typeface="Tahoma" pitchFamily="34" charset="0"/>
                <a:cs typeface="Times New Roman" pitchFamily="18" charset="0"/>
                <a:sym typeface="Times New Roman" pitchFamily="18" charset="0"/>
              </a:rPr>
              <a:t>To learn about web development strategies with Creating style sheet, Creating Properties</a:t>
            </a:r>
          </a:p>
          <a:p>
            <a:pPr lvl="1" algn="just">
              <a:spcBef>
                <a:spcPts val="363"/>
              </a:spcBef>
              <a:spcAft>
                <a:spcPct val="0"/>
              </a:spcAft>
              <a:buClr>
                <a:srgbClr val="000000"/>
              </a:buClr>
              <a:buFont typeface="Arial" pitchFamily="34" charset="0"/>
              <a:buChar char="•"/>
            </a:pPr>
            <a:r>
              <a:rPr lang="en-US" altLang="en-US" sz="2400" dirty="0">
                <a:latin typeface="Times New Roman" pitchFamily="18" charset="0"/>
                <a:ea typeface="Tahoma" pitchFamily="34" charset="0"/>
                <a:cs typeface="Times New Roman" pitchFamily="18" charset="0"/>
                <a:sym typeface="Times New Roman" pitchFamily="18" charset="0"/>
              </a:rPr>
              <a:t> To understand the basic concepts to develop the </a:t>
            </a:r>
            <a:r>
              <a:rPr lang="en-IN" sz="2400" dirty="0"/>
              <a:t>Working     with block elements and objects.</a:t>
            </a:r>
            <a:endParaRPr lang="en-US" altLang="en-US" sz="2400" dirty="0">
              <a:latin typeface="Times New Roman" pitchFamily="18" charset="0"/>
              <a:ea typeface="Tahoma" pitchFamily="34" charset="0"/>
              <a:cs typeface="Times New Roman" pitchFamily="18" charset="0"/>
              <a:sym typeface="Times New Roman" pitchFamily="18" charset="0"/>
            </a:endParaRPr>
          </a:p>
          <a:p>
            <a:pPr lvl="1" algn="just" eaLnBrk="1" hangingPunct="1">
              <a:spcBef>
                <a:spcPts val="363"/>
              </a:spcBef>
              <a:spcAft>
                <a:spcPct val="0"/>
              </a:spcAft>
              <a:buClr>
                <a:srgbClr val="000000"/>
              </a:buClr>
              <a:buFont typeface="Arial" pitchFamily="34" charset="0"/>
              <a:buChar char="•"/>
            </a:pPr>
            <a:r>
              <a:rPr lang="en-US" altLang="en-US" sz="2400" dirty="0">
                <a:latin typeface="Times New Roman" pitchFamily="18" charset="0"/>
                <a:ea typeface="Tahoma" pitchFamily="34" charset="0"/>
                <a:cs typeface="Times New Roman" pitchFamily="18" charset="0"/>
                <a:sym typeface="Times New Roman" pitchFamily="18" charset="0"/>
              </a:rPr>
              <a:t>To understand Bootstrapping and Bootstrapping Components.</a:t>
            </a:r>
          </a:p>
          <a:p>
            <a:pPr lvl="1" algn="just" eaLnBrk="1" hangingPunct="1">
              <a:spcBef>
                <a:spcPts val="363"/>
              </a:spcBef>
              <a:spcAft>
                <a:spcPct val="0"/>
              </a:spcAft>
              <a:buClr>
                <a:srgbClr val="000000"/>
              </a:buClr>
              <a:buFont typeface="Arial" pitchFamily="34" charset="0"/>
              <a:buChar char="•"/>
            </a:pPr>
            <a:r>
              <a:rPr lang="en-US" altLang="en-US" sz="2400" dirty="0">
                <a:latin typeface="Times New Roman" pitchFamily="18" charset="0"/>
                <a:ea typeface="Tahoma" pitchFamily="34" charset="0"/>
                <a:cs typeface="Times New Roman" pitchFamily="18" charset="0"/>
                <a:sym typeface="Times New Roman" pitchFamily="18" charset="0"/>
              </a:rPr>
              <a:t>To understand to register a domain and maintain CSS Style Sheet.</a:t>
            </a:r>
          </a:p>
          <a:p>
            <a:pPr lvl="1" algn="just" eaLnBrk="1" hangingPunct="1">
              <a:spcBef>
                <a:spcPts val="363"/>
              </a:spcBef>
              <a:spcAft>
                <a:spcPct val="0"/>
              </a:spcAft>
              <a:buClr>
                <a:srgbClr val="000000"/>
              </a:buClr>
              <a:buFont typeface="Arial" pitchFamily="34" charset="0"/>
              <a:buChar char="•"/>
            </a:pPr>
            <a:endParaRPr lang="en-US" altLang="en-US" sz="2000" dirty="0">
              <a:latin typeface="Times New Roman" pitchFamily="18" charset="0"/>
              <a:ea typeface="Calibri" pitchFamily="34" charset="0"/>
              <a:cs typeface="Times New Roman" pitchFamily="18" charset="0"/>
              <a:sym typeface="Calibri" pitchFamily="34" charset="0"/>
            </a:endParaRPr>
          </a:p>
        </p:txBody>
      </p:sp>
      <p:sp>
        <p:nvSpPr>
          <p:cNvPr id="7" name="Title 1"/>
          <p:cNvSpPr txBox="1">
            <a:spLocks/>
          </p:cNvSpPr>
          <p:nvPr/>
        </p:nvSpPr>
        <p:spPr>
          <a:xfrm>
            <a:off x="1371600" y="0"/>
            <a:ext cx="7772400" cy="8350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endParaRPr lang="en-US" sz="3000" dirty="0">
              <a:solidFill>
                <a:srgbClr val="000000"/>
              </a:solidFill>
              <a:latin typeface="Times New Roman" pitchFamily="18" charset="0"/>
              <a:cs typeface="Times New Roman" pitchFamily="18" charset="0"/>
              <a:sym typeface="Arial"/>
            </a:endParaRPr>
          </a:p>
          <a:p>
            <a:pPr algn="ctr" eaLnBrk="1" fontAlgn="auto" hangingPunct="1">
              <a:spcAft>
                <a:spcPts val="0"/>
              </a:spcAft>
              <a:defRPr/>
            </a:pPr>
            <a:endParaRPr lang="en-US" sz="3200" dirty="0">
              <a:solidFill>
                <a:srgbClr val="000000"/>
              </a:solidFill>
              <a:latin typeface="Times New Roman" pitchFamily="18" charset="0"/>
              <a:cs typeface="Times New Roman" pitchFamily="18" charset="0"/>
              <a:sym typeface="Arial"/>
            </a:endParaRPr>
          </a:p>
          <a:p>
            <a:pPr algn="ctr" eaLnBrk="1" fontAlgn="auto" hangingPunct="1">
              <a:spcAft>
                <a:spcPts val="0"/>
              </a:spcAft>
              <a:defRPr/>
            </a:pPr>
            <a:endParaRPr lang="en-US" sz="3200" dirty="0">
              <a:solidFill>
                <a:srgbClr val="000000"/>
              </a:solidFill>
              <a:latin typeface="Times New Roman" pitchFamily="18" charset="0"/>
              <a:cs typeface="Times New Roman" pitchFamily="18" charset="0"/>
              <a:sym typeface="Arial"/>
            </a:endParaRPr>
          </a:p>
          <a:p>
            <a:pPr algn="ctr" eaLnBrk="1" fontAlgn="auto" hangingPunct="1">
              <a:spcAft>
                <a:spcPts val="0"/>
              </a:spcAft>
              <a:defRPr/>
            </a:pPr>
            <a:r>
              <a:rPr lang="en-US" sz="3200" dirty="0">
                <a:solidFill>
                  <a:srgbClr val="000000"/>
                </a:solidFill>
                <a:latin typeface="Times New Roman" pitchFamily="18" charset="0"/>
                <a:cs typeface="Times New Roman" pitchFamily="18" charset="0"/>
                <a:sym typeface="Arial"/>
              </a:rPr>
              <a:t>Unit Objective</a:t>
            </a:r>
          </a:p>
          <a:p>
            <a:pPr algn="just">
              <a:spcBef>
                <a:spcPts val="363"/>
              </a:spcBef>
              <a:buClr>
                <a:srgbClr val="000000"/>
              </a:buClr>
              <a:defRPr/>
            </a:pPr>
            <a:r>
              <a:rPr lang="en-US" sz="2200" b="1" dirty="0">
                <a:solidFill>
                  <a:srgbClr val="000000"/>
                </a:solidFill>
                <a:latin typeface="Times New Roman" pitchFamily="18" charset="0"/>
                <a:cs typeface="Times New Roman" pitchFamily="18" charset="0"/>
                <a:sym typeface="Arial"/>
              </a:rPr>
              <a:t> </a:t>
            </a:r>
            <a:endParaRPr lang="en-IN" sz="2000" b="1" dirty="0">
              <a:latin typeface="Times New Roman" pitchFamily="18" charset="0"/>
              <a:cs typeface="Times New Roman" pitchFamily="18" charset="0"/>
            </a:endParaRPr>
          </a:p>
          <a:p>
            <a:pPr algn="just" eaLnBrk="1" fontAlgn="auto" hangingPunct="1">
              <a:spcAft>
                <a:spcPts val="0"/>
              </a:spcAft>
              <a:defRPr/>
            </a:pPr>
            <a:endParaRPr lang="en-IN" sz="2200" dirty="0">
              <a:latin typeface="Times New Roman" pitchFamily="18" charset="0"/>
              <a:cs typeface="Times New Roman" pitchFamily="18" charset="0"/>
            </a:endParaRPr>
          </a:p>
          <a:p>
            <a:pPr algn="ctr" eaLnBrk="1" fontAlgn="auto" hangingPunct="1">
              <a:spcAft>
                <a:spcPts val="0"/>
              </a:spcAft>
              <a:defRPr/>
            </a:pPr>
            <a:endParaRPr lang="en-US" sz="3000" dirty="0">
              <a:solidFill>
                <a:srgbClr val="000000"/>
              </a:solidFill>
              <a:latin typeface="Times New Roman" pitchFamily="18" charset="0"/>
              <a:cs typeface="Times New Roman" pitchFamily="18" charset="0"/>
              <a:sym typeface="Arial"/>
            </a:endParaRPr>
          </a:p>
        </p:txBody>
      </p:sp>
      <p:pic>
        <p:nvPicPr>
          <p:cNvPr id="44036" name="Picture 2" descr="E:\NIET\Project\xLogo11.png.pagespeed.ic.pydHLuCQEZ.png"/>
          <p:cNvPicPr>
            <a:picLocks noChangeAspect="1" noChangeArrowheads="1"/>
          </p:cNvPicPr>
          <p:nvPr/>
        </p:nvPicPr>
        <p:blipFill>
          <a:blip r:embed="rId2"/>
          <a:srcRect/>
          <a:stretch>
            <a:fillRect/>
          </a:stretch>
        </p:blipFill>
        <p:spPr bwMode="auto">
          <a:xfrm>
            <a:off x="0" y="-41275"/>
            <a:ext cx="1447800" cy="817563"/>
          </a:xfrm>
          <a:prstGeom prst="rect">
            <a:avLst/>
          </a:prstGeom>
          <a:noFill/>
          <a:ln w="9525">
            <a:noFill/>
            <a:miter lim="800000"/>
            <a:headEnd/>
            <a:tailEnd/>
          </a:ln>
        </p:spPr>
      </p:pic>
      <p:sp>
        <p:nvSpPr>
          <p:cNvPr id="9"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13</a:t>
            </a:fld>
            <a:endParaRPr lang="en-US"/>
          </a:p>
        </p:txBody>
      </p:sp>
      <p:sp>
        <p:nvSpPr>
          <p:cNvPr id="10" name="Footer Placeholder 9"/>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8">
                                            <p:txEl>
                                              <p:pRg st="0" end="0"/>
                                            </p:txEl>
                                          </p:spTgt>
                                        </p:tgtEl>
                                        <p:attrNameLst>
                                          <p:attrName>style.visibility</p:attrName>
                                        </p:attrNameLst>
                                      </p:cBhvr>
                                      <p:to>
                                        <p:strVal val="visible"/>
                                      </p:to>
                                    </p:set>
                                    <p:anim calcmode="lin" valueType="num">
                                      <p:cBhvr additive="base">
                                        <p:cTn id="13" dur="500" fill="hold"/>
                                        <p:tgtEl>
                                          <p:spTgt spid="1945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8">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9458">
                                            <p:txEl>
                                              <p:pRg st="1" end="1"/>
                                            </p:txEl>
                                          </p:spTgt>
                                        </p:tgtEl>
                                        <p:attrNameLst>
                                          <p:attrName>style.visibility</p:attrName>
                                        </p:attrNameLst>
                                      </p:cBhvr>
                                      <p:to>
                                        <p:strVal val="visible"/>
                                      </p:to>
                                    </p:set>
                                    <p:anim calcmode="lin" valueType="num">
                                      <p:cBhvr additive="base">
                                        <p:cTn id="17" dur="500" fill="hold"/>
                                        <p:tgtEl>
                                          <p:spTgt spid="19458">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458">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458">
                                            <p:txEl>
                                              <p:pRg st="2" end="2"/>
                                            </p:txEl>
                                          </p:spTgt>
                                        </p:tgtEl>
                                        <p:attrNameLst>
                                          <p:attrName>style.visibility</p:attrName>
                                        </p:attrNameLst>
                                      </p:cBhvr>
                                      <p:to>
                                        <p:strVal val="visible"/>
                                      </p:to>
                                    </p:set>
                                    <p:anim calcmode="lin" valueType="num">
                                      <p:cBhvr additive="base">
                                        <p:cTn id="21" dur="500" fill="hold"/>
                                        <p:tgtEl>
                                          <p:spTgt spid="19458">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9458">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9458">
                                            <p:txEl>
                                              <p:pRg st="3" end="3"/>
                                            </p:txEl>
                                          </p:spTgt>
                                        </p:tgtEl>
                                        <p:attrNameLst>
                                          <p:attrName>style.visibility</p:attrName>
                                        </p:attrNameLst>
                                      </p:cBhvr>
                                      <p:to>
                                        <p:strVal val="visible"/>
                                      </p:to>
                                    </p:set>
                                    <p:anim calcmode="lin" valueType="num">
                                      <p:cBhvr additive="base">
                                        <p:cTn id="25" dur="500" fill="hold"/>
                                        <p:tgtEl>
                                          <p:spTgt spid="1945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8">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9458">
                                            <p:txEl>
                                              <p:pRg st="4" end="4"/>
                                            </p:txEl>
                                          </p:spTgt>
                                        </p:tgtEl>
                                        <p:attrNameLst>
                                          <p:attrName>style.visibility</p:attrName>
                                        </p:attrNameLst>
                                      </p:cBhvr>
                                      <p:to>
                                        <p:strVal val="visible"/>
                                      </p:to>
                                    </p:set>
                                    <p:anim calcmode="lin" valueType="num">
                                      <p:cBhvr additive="base">
                                        <p:cTn id="29" dur="500" fill="hold"/>
                                        <p:tgtEl>
                                          <p:spTgt spid="19458">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45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61" name="Picture 2" descr="E:\NIET\Project\xLogo11.png.pagespeed.ic.pydHLuCQEZ.png"/>
          <p:cNvPicPr>
            <a:picLocks noChangeAspect="1" noChangeArrowheads="1"/>
          </p:cNvPicPr>
          <p:nvPr/>
        </p:nvPicPr>
        <p:blipFill>
          <a:blip r:embed="rId2"/>
          <a:srcRect/>
          <a:stretch>
            <a:fillRect/>
          </a:stretch>
        </p:blipFill>
        <p:spPr bwMode="auto">
          <a:xfrm>
            <a:off x="0" y="-41275"/>
            <a:ext cx="1447800" cy="817563"/>
          </a:xfrm>
          <a:prstGeom prst="rect">
            <a:avLst/>
          </a:prstGeom>
          <a:noFill/>
          <a:ln w="9525">
            <a:noFill/>
            <a:miter lim="800000"/>
            <a:headEnd/>
            <a:tailEnd/>
          </a:ln>
        </p:spPr>
      </p:pic>
      <p:sp>
        <p:nvSpPr>
          <p:cNvPr id="11" name="Content Placeholder 2"/>
          <p:cNvSpPr txBox="1">
            <a:spLocks/>
          </p:cNvSpPr>
          <p:nvPr/>
        </p:nvSpPr>
        <p:spPr bwMode="auto">
          <a:xfrm>
            <a:off x="261938" y="1000108"/>
            <a:ext cx="8704262" cy="5356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lIns="91425" tIns="45700" rIns="91425" bIns="45700"/>
          <a:lstStyle>
            <a:defPPr marR="0" lvl="0" algn="l" rtl="0">
              <a:lnSpc>
                <a:spcPct val="100000"/>
              </a:lnSpc>
              <a:spcBef>
                <a:spcPts val="0"/>
              </a:spcBef>
              <a:spcAft>
                <a:spcPts val="0"/>
              </a:spcAft>
            </a:defPPr>
            <a:lvl1pPr marL="457200" lvl="0" indent="-342900" algn="l" rtl="0" eaLnBrk="0" fontAlgn="base" hangingPunct="0">
              <a:spcBef>
                <a:spcPts val="360"/>
              </a:spcBef>
              <a:spcAft>
                <a:spcPts val="0"/>
              </a:spcAft>
              <a:buClr>
                <a:schemeClr val="dk1"/>
              </a:buClr>
              <a:buSzPts val="1800"/>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1pPr>
            <a:lvl2pPr marL="914400" lvl="1" indent="-342900" algn="l" rtl="0" eaLnBrk="0" fontAlgn="base" hangingPunct="0">
              <a:spcBef>
                <a:spcPts val="360"/>
              </a:spcBef>
              <a:spcAft>
                <a:spcPts val="0"/>
              </a:spcAft>
              <a:buClr>
                <a:schemeClr val="dk1"/>
              </a:buClr>
              <a:buSzPts val="1800"/>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2pPr>
            <a:lvl3pPr marL="1371600" lvl="2" indent="-342900" algn="l" rtl="0" eaLnBrk="0" fontAlgn="base" hangingPunct="0">
              <a:spcBef>
                <a:spcPts val="360"/>
              </a:spcBef>
              <a:spcAft>
                <a:spcPts val="0"/>
              </a:spcAft>
              <a:buClr>
                <a:schemeClr val="dk1"/>
              </a:buClr>
              <a:buSzPts val="1800"/>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3pPr>
            <a:lvl4pPr marL="1828800" lvl="3" indent="-342900" algn="l" rtl="0" eaLnBrk="0" fontAlgn="base" hangingPunct="0">
              <a:spcBef>
                <a:spcPts val="360"/>
              </a:spcBef>
              <a:spcAft>
                <a:spcPts val="0"/>
              </a:spcAft>
              <a:buClr>
                <a:schemeClr val="dk1"/>
              </a:buClr>
              <a:buSzPts val="1800"/>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4pPr>
            <a:lvl5pPr marL="2286000" lvl="4" indent="-342900" algn="l" rtl="0" eaLnBrk="0" fontAlgn="base" hangingPunct="0">
              <a:spcBef>
                <a:spcPts val="360"/>
              </a:spcBef>
              <a:spcAft>
                <a:spcPts val="0"/>
              </a:spcAft>
              <a:buClr>
                <a:schemeClr val="dk1"/>
              </a:buClr>
              <a:buSzPts val="1800"/>
              <a:buFont typeface="Arial" panose="020B0604020202020204" pitchFamily="34" charset="0"/>
              <a:buChar char="»"/>
              <a:defRPr sz="1400">
                <a:solidFill>
                  <a:srgbClr val="000000"/>
                </a:solidFill>
                <a:latin typeface="Arial"/>
                <a:ea typeface="Arial"/>
                <a:cs typeface="Arial"/>
                <a:sym typeface="Arial" panose="020B0604020202020204" pitchFamily="34" charset="0"/>
              </a:defRPr>
            </a:lvl5pPr>
            <a:lvl6pPr marL="2743200" marR="0" lvl="5" indent="-342900" algn="l" rtl="0">
              <a:lnSpc>
                <a:spcPct val="100000"/>
              </a:lnSpc>
              <a:spcBef>
                <a:spcPts val="36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100000"/>
              </a:lnSpc>
              <a:spcBef>
                <a:spcPts val="36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100000"/>
              </a:lnSpc>
              <a:spcBef>
                <a:spcPts val="36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100000"/>
              </a:lnSpc>
              <a:spcBef>
                <a:spcPts val="36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marL="114300" indent="0" algn="just" eaLnBrk="1" hangingPunct="1">
              <a:spcBef>
                <a:spcPts val="363"/>
              </a:spcBef>
              <a:spcAft>
                <a:spcPct val="0"/>
              </a:spcAft>
              <a:buClr>
                <a:srgbClr val="000000"/>
              </a:buClr>
              <a:buFont typeface="Arial" panose="020B0604020202020204" pitchFamily="34" charset="0"/>
              <a:buNone/>
              <a:defRPr/>
            </a:pPr>
            <a:r>
              <a:rPr lang="en-US" altLang="en-US" sz="2400" b="1"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Objective of the above topics:</a:t>
            </a:r>
          </a:p>
          <a:p>
            <a:pPr marL="114300" indent="0" algn="just" eaLnBrk="1" hangingPunct="1">
              <a:spcBef>
                <a:spcPts val="363"/>
              </a:spcBef>
              <a:spcAft>
                <a:spcPct val="0"/>
              </a:spcAft>
              <a:buClr>
                <a:srgbClr val="000000"/>
              </a:buClr>
              <a:buFont typeface="Arial" panose="020B0604020202020204" pitchFamily="34" charset="0"/>
              <a:buNone/>
              <a:defRPr/>
            </a:pPr>
            <a:endParaRPr lang="en-US" altLang="en-US" sz="2400" b="1"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571500" lvl="1" indent="0" algn="just" eaLnBrk="1" hangingPunct="1">
              <a:spcBef>
                <a:spcPts val="363"/>
              </a:spcBef>
              <a:spcAft>
                <a:spcPct val="0"/>
              </a:spcAft>
              <a:buClr>
                <a:srgbClr val="000000"/>
              </a:buClr>
              <a:buFont typeface="Arial" panose="020B0604020202020204" pitchFamily="34" charset="0"/>
              <a:buChar char="•"/>
              <a:defRPr/>
            </a:pPr>
            <a:r>
              <a:rPr lang="en-US" altLang="en-US" sz="2200"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To get the knowledge about the CSS Style and Tools.</a:t>
            </a:r>
          </a:p>
          <a:p>
            <a:pPr marL="114300" indent="0" algn="just" eaLnBrk="1" hangingPunct="1">
              <a:spcBef>
                <a:spcPts val="363"/>
              </a:spcBef>
              <a:spcAft>
                <a:spcPct val="0"/>
              </a:spcAft>
              <a:buClr>
                <a:srgbClr val="000000"/>
              </a:buClr>
              <a:defRPr/>
            </a:pPr>
            <a:endParaRPr lang="en-US" altLang="en-US" sz="2200" b="1"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571500" lvl="1" indent="0" algn="just" eaLnBrk="1" hangingPunct="1">
              <a:spcBef>
                <a:spcPts val="363"/>
              </a:spcBef>
              <a:spcAft>
                <a:spcPct val="0"/>
              </a:spcAft>
              <a:buClr>
                <a:srgbClr val="000000"/>
              </a:buClr>
              <a:buFont typeface="Arial" panose="020B0604020202020204" pitchFamily="34" charset="0"/>
              <a:buChar char="•"/>
              <a:defRPr/>
            </a:pPr>
            <a:r>
              <a:rPr lang="en-US" altLang="en-US" sz="2200"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To know how to CSS with Bootstrapping Process.</a:t>
            </a:r>
          </a:p>
          <a:p>
            <a:pPr marL="571500" lvl="1" indent="0" algn="just" eaLnBrk="1" hangingPunct="1">
              <a:spcBef>
                <a:spcPts val="363"/>
              </a:spcBef>
              <a:spcAft>
                <a:spcPct val="0"/>
              </a:spcAft>
              <a:buClr>
                <a:srgbClr val="000000"/>
              </a:buClr>
              <a:buFont typeface="Arial" panose="020B0604020202020204" pitchFamily="34" charset="0"/>
              <a:buChar char="•"/>
              <a:defRPr/>
            </a:pPr>
            <a:endParaRPr lang="en-US" altLang="en-US" sz="2200"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571500" lvl="1" indent="0" algn="just" eaLnBrk="1" hangingPunct="1">
              <a:spcBef>
                <a:spcPts val="363"/>
              </a:spcBef>
              <a:spcAft>
                <a:spcPct val="0"/>
              </a:spcAft>
              <a:buClr>
                <a:srgbClr val="000000"/>
              </a:buClr>
              <a:buFont typeface="Arial" panose="020B0604020202020204" pitchFamily="34" charset="0"/>
              <a:buChar char="•"/>
              <a:defRPr/>
            </a:pPr>
            <a:r>
              <a:rPr lang="en-US" altLang="en-US" sz="2200"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To understand the components and their functionalities of CSS Advanced Grouping, dimensions, display.</a:t>
            </a:r>
          </a:p>
          <a:p>
            <a:pPr marL="571500" lvl="1" indent="0" algn="just" eaLnBrk="1" hangingPunct="1">
              <a:spcBef>
                <a:spcPts val="363"/>
              </a:spcBef>
              <a:spcAft>
                <a:spcPct val="0"/>
              </a:spcAft>
              <a:buClr>
                <a:srgbClr val="000000"/>
              </a:buClr>
              <a:buFont typeface="Arial" panose="020B0604020202020204" pitchFamily="34" charset="0"/>
              <a:buChar char="•"/>
              <a:defRPr/>
            </a:pPr>
            <a:r>
              <a:rPr lang="en-US" altLang="en-US" sz="2200"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To know the web standards to develop a website according to the CSS</a:t>
            </a:r>
            <a:r>
              <a:rPr lang="en-US" altLang="en-US" sz="2400" b="1"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 </a:t>
            </a:r>
            <a:r>
              <a:rPr lang="en-US" altLang="en-US" sz="2400"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Pseudo class and image.</a:t>
            </a:r>
            <a:endParaRPr lang="en-US" altLang="en-US" sz="2200" kern="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pic>
        <p:nvPicPr>
          <p:cNvPr id="45064" name="Picture 2" descr="E:\NIET\Project\xLogo11.png.pagespeed.ic.pydHLuCQEZ.png"/>
          <p:cNvPicPr>
            <a:picLocks noChangeAspect="1" noChangeArrowheads="1"/>
          </p:cNvPicPr>
          <p:nvPr/>
        </p:nvPicPr>
        <p:blipFill>
          <a:blip r:embed="rId2"/>
          <a:srcRect/>
          <a:stretch>
            <a:fillRect/>
          </a:stretch>
        </p:blipFill>
        <p:spPr bwMode="auto">
          <a:xfrm>
            <a:off x="0" y="-41275"/>
            <a:ext cx="1447800" cy="817563"/>
          </a:xfrm>
          <a:prstGeom prst="rect">
            <a:avLst/>
          </a:prstGeom>
          <a:noFill/>
          <a:ln w="9525">
            <a:noFill/>
            <a:miter lim="800000"/>
            <a:headEnd/>
            <a:tailEnd/>
          </a:ln>
        </p:spPr>
      </p:pic>
      <p:sp>
        <p:nvSpPr>
          <p:cNvPr id="8" name="Title 1"/>
          <p:cNvSpPr txBox="1">
            <a:spLocks/>
          </p:cNvSpPr>
          <p:nvPr/>
        </p:nvSpPr>
        <p:spPr>
          <a:xfrm>
            <a:off x="1371600" y="0"/>
            <a:ext cx="7772400" cy="83502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endParaRPr lang="en-US" sz="3000" dirty="0">
              <a:solidFill>
                <a:srgbClr val="000000"/>
              </a:solidFill>
              <a:latin typeface="Times New Roman" pitchFamily="18" charset="0"/>
              <a:cs typeface="Times New Roman" pitchFamily="18" charset="0"/>
              <a:sym typeface="Arial"/>
            </a:endParaRPr>
          </a:p>
          <a:p>
            <a:pPr algn="ctr" eaLnBrk="1" fontAlgn="auto" hangingPunct="1">
              <a:spcAft>
                <a:spcPts val="0"/>
              </a:spcAft>
              <a:defRPr/>
            </a:pPr>
            <a:endParaRPr lang="en-US" sz="3200" dirty="0">
              <a:solidFill>
                <a:srgbClr val="000000"/>
              </a:solidFill>
              <a:latin typeface="Times New Roman" pitchFamily="18" charset="0"/>
              <a:cs typeface="Times New Roman" pitchFamily="18" charset="0"/>
              <a:sym typeface="Arial"/>
            </a:endParaRPr>
          </a:p>
          <a:p>
            <a:pPr algn="ctr" eaLnBrk="1" fontAlgn="auto" hangingPunct="1">
              <a:spcAft>
                <a:spcPts val="0"/>
              </a:spcAft>
              <a:defRPr/>
            </a:pPr>
            <a:r>
              <a:rPr lang="en-US" sz="3200" dirty="0">
                <a:solidFill>
                  <a:srgbClr val="000000"/>
                </a:solidFill>
                <a:latin typeface="Times New Roman" pitchFamily="18" charset="0"/>
                <a:cs typeface="Times New Roman" pitchFamily="18" charset="0"/>
                <a:sym typeface="Arial"/>
              </a:rPr>
              <a:t>Topic Objective</a:t>
            </a:r>
          </a:p>
          <a:p>
            <a:pPr algn="just">
              <a:spcBef>
                <a:spcPts val="363"/>
              </a:spcBef>
              <a:buClr>
                <a:srgbClr val="000000"/>
              </a:buClr>
              <a:defRPr/>
            </a:pPr>
            <a:r>
              <a:rPr lang="en-US" sz="2200" b="1" dirty="0">
                <a:solidFill>
                  <a:srgbClr val="000000"/>
                </a:solidFill>
                <a:latin typeface="Times New Roman" pitchFamily="18" charset="0"/>
                <a:cs typeface="Times New Roman" pitchFamily="18" charset="0"/>
                <a:sym typeface="Arial"/>
              </a:rPr>
              <a:t> </a:t>
            </a:r>
            <a:endParaRPr lang="en-IN" sz="2000" b="1" dirty="0">
              <a:latin typeface="Times New Roman" pitchFamily="18" charset="0"/>
              <a:cs typeface="Times New Roman" pitchFamily="18" charset="0"/>
            </a:endParaRPr>
          </a:p>
          <a:p>
            <a:pPr algn="just" eaLnBrk="1" fontAlgn="auto" hangingPunct="1">
              <a:spcAft>
                <a:spcPts val="0"/>
              </a:spcAft>
              <a:defRPr/>
            </a:pPr>
            <a:endParaRPr lang="en-IN" sz="2200" dirty="0">
              <a:latin typeface="Times New Roman" pitchFamily="18" charset="0"/>
              <a:cs typeface="Times New Roman" pitchFamily="18" charset="0"/>
            </a:endParaRPr>
          </a:p>
          <a:p>
            <a:pPr algn="ctr" eaLnBrk="1" fontAlgn="auto" hangingPunct="1">
              <a:spcAft>
                <a:spcPts val="0"/>
              </a:spcAft>
              <a:defRPr/>
            </a:pPr>
            <a:endParaRPr lang="en-US" sz="3000" dirty="0">
              <a:solidFill>
                <a:srgbClr val="000000"/>
              </a:solidFill>
              <a:latin typeface="Times New Roman" pitchFamily="18" charset="0"/>
              <a:cs typeface="Times New Roman" pitchFamily="18" charset="0"/>
              <a:sym typeface="Arial"/>
            </a:endParaRPr>
          </a:p>
        </p:txBody>
      </p:sp>
      <p:sp>
        <p:nvSpPr>
          <p:cNvPr id="10"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14</a:t>
            </a:fld>
            <a:endParaRPr lang="en-US"/>
          </a:p>
        </p:txBody>
      </p:sp>
      <p:sp>
        <p:nvSpPr>
          <p:cNvPr id="12" name="Footer Placeholder 9"/>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US" sz="1800" dirty="0">
                <a:latin typeface="Times New Roman" pitchFamily="18" charset="0"/>
                <a:cs typeface="Times New Roman" pitchFamily="18" charset="0"/>
              </a:rPr>
              <a:t>Cascading Style Sheets (</a:t>
            </a:r>
            <a:r>
              <a:rPr lang="en-US" sz="1800" dirty="0">
                <a:solidFill>
                  <a:schemeClr val="hlink"/>
                </a:solidFill>
                <a:latin typeface="Times New Roman" pitchFamily="18" charset="0"/>
                <a:cs typeface="Times New Roman" pitchFamily="18" charset="0"/>
              </a:rPr>
              <a:t>CSS</a:t>
            </a:r>
            <a:r>
              <a:rPr lang="en-US" sz="1800" dirty="0">
                <a:latin typeface="Times New Roman" pitchFamily="18" charset="0"/>
                <a:cs typeface="Times New Roman" pitchFamily="18" charset="0"/>
              </a:rPr>
              <a:t>)</a:t>
            </a:r>
          </a:p>
          <a:p>
            <a:pPr lvl="1"/>
            <a:r>
              <a:rPr lang="en-US" sz="1800" dirty="0">
                <a:latin typeface="Times New Roman" pitchFamily="18" charset="0"/>
                <a:cs typeface="Times New Roman" pitchFamily="18" charset="0"/>
              </a:rPr>
              <a:t>Applies to (X)HTML as well as XML documents in general</a:t>
            </a:r>
          </a:p>
          <a:p>
            <a:pPr lvl="1"/>
            <a:r>
              <a:rPr lang="en-US" sz="1800" dirty="0">
                <a:latin typeface="Times New Roman" pitchFamily="18" charset="0"/>
                <a:cs typeface="Times New Roman" pitchFamily="18" charset="0"/>
              </a:rPr>
              <a:t>A styled HTML document.</a:t>
            </a:r>
            <a:r>
              <a:rPr lang="en-IN" sz="1800" dirty="0">
                <a:latin typeface="Times New Roman" pitchFamily="18" charset="0"/>
                <a:cs typeface="Times New Roman" pitchFamily="18" charset="0"/>
              </a:rPr>
              <a:t>                                                                                                     </a:t>
            </a:r>
          </a:p>
          <a:p>
            <a:pPr lvl="1"/>
            <a:endParaRPr lang="en-IN" sz="1800" dirty="0">
              <a:latin typeface="Times New Roman" pitchFamily="18" charset="0"/>
              <a:cs typeface="Times New Roman" pitchFamily="18" charset="0"/>
            </a:endParaRPr>
          </a:p>
          <a:p>
            <a:pPr lvl="1"/>
            <a:endParaRPr lang="en-IN" sz="1800" dirty="0">
              <a:latin typeface="Times New Roman" pitchFamily="18" charset="0"/>
              <a:cs typeface="Times New Roman" pitchFamily="18" charset="0"/>
            </a:endParaRPr>
          </a:p>
          <a:p>
            <a:pPr lvl="1"/>
            <a:endParaRPr lang="en-IN" sz="1800" dirty="0">
              <a:latin typeface="Times New Roman" pitchFamily="18" charset="0"/>
              <a:cs typeface="Times New Roman" pitchFamily="18" charset="0"/>
            </a:endParaRPr>
          </a:p>
          <a:p>
            <a:pPr lvl="1"/>
            <a:endParaRPr lang="en-IN" sz="1800" dirty="0">
              <a:latin typeface="Times New Roman" pitchFamily="18" charset="0"/>
              <a:cs typeface="Times New Roman" pitchFamily="18" charset="0"/>
            </a:endParaRPr>
          </a:p>
          <a:p>
            <a:pPr lvl="1"/>
            <a:endParaRPr lang="en-US" sz="1800" dirty="0">
              <a:latin typeface="Times New Roman" pitchFamily="18" charset="0"/>
              <a:cs typeface="Times New Roman" pitchFamily="18" charset="0"/>
            </a:endParaRPr>
          </a:p>
          <a:p>
            <a:pPr lvl="1"/>
            <a:r>
              <a:rPr lang="en-US" sz="1800" dirty="0">
                <a:latin typeface="Times New Roman" pitchFamily="18" charset="0"/>
                <a:cs typeface="Times New Roman" pitchFamily="18" charset="0"/>
              </a:rPr>
              <a:t>produced by the style sheet style1.css:</a:t>
            </a:r>
          </a:p>
          <a:p>
            <a:pPr lvl="1"/>
            <a:endParaRPr lang="en-US" sz="1800" dirty="0">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2400" b="1" dirty="0"/>
              <a:t>Concept of CSS 3: </a:t>
            </a:r>
            <a:r>
              <a:rPr lang="en-IN" sz="2400" dirty="0"/>
              <a:t>Creating Style Sheet</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8" descr="E:\Master Folder 2017-18\Approved Logo by BOG\NIET logo_.png"/>
          <p:cNvPicPr/>
          <p:nvPr/>
        </p:nvPicPr>
        <p:blipFill>
          <a:blip r:embed="rId2" cstate="print"/>
          <a:srcRect/>
          <a:stretch>
            <a:fillRect/>
          </a:stretch>
        </p:blipFill>
        <p:spPr bwMode="auto">
          <a:xfrm>
            <a:off x="83820" y="83128"/>
            <a:ext cx="1287780" cy="1059872"/>
          </a:xfrm>
          <a:prstGeom prst="rect">
            <a:avLst/>
          </a:prstGeom>
          <a:noFill/>
          <a:ln w="9525">
            <a:noFill/>
            <a:miter lim="800000"/>
            <a:headEnd/>
            <a:tailEnd/>
          </a:ln>
        </p:spPr>
      </p:pic>
      <p:pic>
        <p:nvPicPr>
          <p:cNvPr id="8" name="Picture 4" descr="CSSHelloWorld1"/>
          <p:cNvPicPr>
            <a:picLocks noChangeAspect="1" noChangeArrowheads="1"/>
          </p:cNvPicPr>
          <p:nvPr/>
        </p:nvPicPr>
        <p:blipFill>
          <a:blip r:embed="rId3"/>
          <a:srcRect/>
          <a:stretch>
            <a:fillRect/>
          </a:stretch>
        </p:blipFill>
        <p:spPr bwMode="auto">
          <a:xfrm>
            <a:off x="1428728" y="2357430"/>
            <a:ext cx="3810000" cy="1214446"/>
          </a:xfrm>
          <a:prstGeom prst="rect">
            <a:avLst/>
          </a:prstGeom>
          <a:noFill/>
        </p:spPr>
      </p:pic>
      <p:pic>
        <p:nvPicPr>
          <p:cNvPr id="10" name="Picture 5"/>
          <p:cNvPicPr>
            <a:picLocks noChangeAspect="1" noChangeArrowheads="1"/>
          </p:cNvPicPr>
          <p:nvPr/>
        </p:nvPicPr>
        <p:blipFill>
          <a:blip r:embed="rId4"/>
          <a:srcRect/>
          <a:stretch>
            <a:fillRect/>
          </a:stretch>
        </p:blipFill>
        <p:spPr bwMode="auto">
          <a:xfrm>
            <a:off x="1447800" y="4357695"/>
            <a:ext cx="4114800" cy="857256"/>
          </a:xfrm>
          <a:prstGeom prst="rect">
            <a:avLst/>
          </a:prstGeom>
          <a:noFill/>
          <a:ln w="9525">
            <a:noFill/>
            <a:miter lim="800000"/>
            <a:headEnd/>
            <a:tailEnd/>
          </a:ln>
          <a:effectLst/>
        </p:spPr>
      </p:pic>
      <p:pic>
        <p:nvPicPr>
          <p:cNvPr id="11" name="Picture 6"/>
          <p:cNvPicPr>
            <a:picLocks noChangeAspect="1" noChangeArrowheads="1"/>
          </p:cNvPicPr>
          <p:nvPr/>
        </p:nvPicPr>
        <p:blipFill>
          <a:blip r:embed="rId5"/>
          <a:srcRect/>
          <a:stretch>
            <a:fillRect/>
          </a:stretch>
        </p:blipFill>
        <p:spPr bwMode="auto">
          <a:xfrm>
            <a:off x="1447800" y="5000637"/>
            <a:ext cx="6781800" cy="642942"/>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 </a:t>
            </a:r>
            <a:r>
              <a:rPr lang="en-IN" sz="2400" dirty="0">
                <a:latin typeface="Times New Roman" pitchFamily="18" charset="0"/>
                <a:cs typeface="Times New Roman" pitchFamily="18" charset="0"/>
              </a:rPr>
              <a:t>Creating Style Sheet</a:t>
            </a:r>
            <a:endParaRPr lang="en-US" sz="2400" dirty="0">
              <a:latin typeface="Times New Roman" pitchFamily="18" charset="0"/>
              <a:cs typeface="Times New Roman" pitchFamily="18" charset="0"/>
            </a:endParaRPr>
          </a:p>
          <a:p>
            <a:pPr lvl="0" algn="ctr">
              <a:spcBef>
                <a:spcPct val="0"/>
              </a:spcBef>
              <a:defRPr/>
            </a:pPr>
            <a:endParaRPr lang="en-US" dirty="0"/>
          </a:p>
        </p:txBody>
      </p:sp>
      <p:pic>
        <p:nvPicPr>
          <p:cNvPr id="9" name="Picture 8" descr="E:\Master Folder 2017-18\Approved Logo by BOG\NIET logo_.png"/>
          <p:cNvPicPr/>
          <p:nvPr/>
        </p:nvPicPr>
        <p:blipFill>
          <a:blip r:embed="rId2" cstate="print"/>
          <a:srcRect/>
          <a:stretch>
            <a:fillRect/>
          </a:stretch>
        </p:blipFill>
        <p:spPr bwMode="auto">
          <a:xfrm>
            <a:off x="83820" y="83128"/>
            <a:ext cx="1287780" cy="1059872"/>
          </a:xfrm>
          <a:prstGeom prst="rect">
            <a:avLst/>
          </a:prstGeom>
          <a:noFill/>
          <a:ln w="9525">
            <a:noFill/>
            <a:miter lim="800000"/>
            <a:headEnd/>
            <a:tailEnd/>
          </a:ln>
        </p:spPr>
      </p:pic>
      <p:sp>
        <p:nvSpPr>
          <p:cNvPr id="12" name="Content Placeholder 11"/>
          <p:cNvSpPr>
            <a:spLocks noGrp="1"/>
          </p:cNvSpPr>
          <p:nvPr>
            <p:ph idx="1"/>
          </p:nvPr>
        </p:nvSpPr>
        <p:spPr/>
        <p:txBody>
          <a:bodyPr/>
          <a:lstStyle/>
          <a:p>
            <a:endParaRPr lang="en-US"/>
          </a:p>
        </p:txBody>
      </p:sp>
      <p:pic>
        <p:nvPicPr>
          <p:cNvPr id="13" name="Picture 4"/>
          <p:cNvPicPr>
            <a:picLocks noChangeAspect="1" noChangeArrowheads="1"/>
          </p:cNvPicPr>
          <p:nvPr/>
        </p:nvPicPr>
        <p:blipFill>
          <a:blip r:embed="rId3"/>
          <a:srcRect/>
          <a:stretch>
            <a:fillRect/>
          </a:stretch>
        </p:blipFill>
        <p:spPr bwMode="auto">
          <a:xfrm>
            <a:off x="285720" y="1071546"/>
            <a:ext cx="8172480" cy="5025673"/>
          </a:xfrm>
          <a:prstGeom prst="rect">
            <a:avLst/>
          </a:prstGeom>
          <a:noFill/>
          <a:ln w="9525">
            <a:noFill/>
            <a:miter lim="800000"/>
            <a:headEnd/>
            <a:tailEnd/>
          </a:ln>
          <a:effectLst/>
        </p:spPr>
      </p:pic>
      <p:sp>
        <p:nvSpPr>
          <p:cNvPr id="14" name="Oval 5"/>
          <p:cNvSpPr>
            <a:spLocks noChangeArrowheads="1"/>
          </p:cNvSpPr>
          <p:nvPr/>
        </p:nvSpPr>
        <p:spPr bwMode="auto">
          <a:xfrm>
            <a:off x="642910" y="3143248"/>
            <a:ext cx="2667000" cy="381000"/>
          </a:xfrm>
          <a:prstGeom prst="ellipse">
            <a:avLst/>
          </a:prstGeom>
          <a:solidFill>
            <a:srgbClr val="008080">
              <a:alpha val="50000"/>
            </a:srgbClr>
          </a:solidFill>
          <a:ln w="9525">
            <a:solidFill>
              <a:schemeClr val="tx1"/>
            </a:solidFill>
            <a:round/>
            <a:headEnd/>
            <a:tailEnd/>
          </a:ln>
          <a:effectLst/>
        </p:spPr>
        <p:txBody>
          <a:bodyPr wrap="none"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 </a:t>
            </a:r>
            <a:r>
              <a:rPr lang="en-IN" sz="2400" dirty="0">
                <a:latin typeface="Times New Roman" pitchFamily="18" charset="0"/>
                <a:cs typeface="Times New Roman" pitchFamily="18" charset="0"/>
              </a:rPr>
              <a:t>Creating Style Sheet</a:t>
            </a:r>
            <a:endParaRPr lang="en-US" sz="2400" dirty="0">
              <a:latin typeface="Times New Roman" pitchFamily="18" charset="0"/>
              <a:cs typeface="Times New Roman" pitchFamily="18" charset="0"/>
            </a:endParaRPr>
          </a:p>
          <a:p>
            <a:pPr lvl="0" algn="ctr">
              <a:spcBef>
                <a:spcPct val="0"/>
              </a:spcBef>
              <a:defRPr/>
            </a:pPr>
            <a:endParaRPr lang="en-US" sz="2400" dirty="0"/>
          </a:p>
        </p:txBody>
      </p:sp>
      <p:pic>
        <p:nvPicPr>
          <p:cNvPr id="9" name="Picture 8" descr="E:\Master Folder 2017-18\Approved Logo by BOG\NIET logo_.png"/>
          <p:cNvPicPr/>
          <p:nvPr/>
        </p:nvPicPr>
        <p:blipFill>
          <a:blip r:embed="rId2" cstate="print"/>
          <a:srcRect/>
          <a:stretch>
            <a:fillRect/>
          </a:stretch>
        </p:blipFill>
        <p:spPr bwMode="auto">
          <a:xfrm>
            <a:off x="83820" y="83128"/>
            <a:ext cx="1287780" cy="1059872"/>
          </a:xfrm>
          <a:prstGeom prst="rect">
            <a:avLst/>
          </a:prstGeom>
          <a:noFill/>
          <a:ln w="9525">
            <a:noFill/>
            <a:miter lim="800000"/>
            <a:headEnd/>
            <a:tailEnd/>
          </a:ln>
        </p:spPr>
      </p:pic>
      <p:pic>
        <p:nvPicPr>
          <p:cNvPr id="8" name="Picture 3"/>
          <p:cNvPicPr>
            <a:picLocks noGrp="1" noChangeAspect="1" noChangeArrowheads="1"/>
          </p:cNvPicPr>
          <p:nvPr>
            <p:ph idx="1"/>
          </p:nvPr>
        </p:nvPicPr>
        <p:blipFill>
          <a:blip r:embed="rId3"/>
          <a:srcRect/>
          <a:stretch>
            <a:fillRect/>
          </a:stretch>
        </p:blipFill>
        <p:spPr bwMode="auto">
          <a:xfrm>
            <a:off x="928662" y="1285860"/>
            <a:ext cx="7858180" cy="5000660"/>
          </a:xfrm>
          <a:prstGeom prst="rect">
            <a:avLst/>
          </a:prstGeom>
          <a:noFill/>
          <a:ln w="9525">
            <a:noFill/>
            <a:miter lim="800000"/>
            <a:headEnd/>
            <a:tailEnd/>
          </a:ln>
          <a:effectLst/>
        </p:spPr>
      </p:pic>
      <p:sp>
        <p:nvSpPr>
          <p:cNvPr id="10" name="Oval 7"/>
          <p:cNvSpPr>
            <a:spLocks noChangeArrowheads="1"/>
          </p:cNvSpPr>
          <p:nvPr/>
        </p:nvSpPr>
        <p:spPr bwMode="auto">
          <a:xfrm>
            <a:off x="3733800" y="3276600"/>
            <a:ext cx="1752600" cy="381000"/>
          </a:xfrm>
          <a:prstGeom prst="ellipse">
            <a:avLst/>
          </a:prstGeom>
          <a:solidFill>
            <a:srgbClr val="008080">
              <a:alpha val="50000"/>
            </a:srgbClr>
          </a:solidFill>
          <a:ln w="9525">
            <a:solidFill>
              <a:schemeClr val="tx1"/>
            </a:solidFill>
            <a:round/>
            <a:headEnd/>
            <a:tailEnd/>
          </a:ln>
          <a:effectLst/>
        </p:spPr>
        <p:txBody>
          <a:bodyPr wrap="none" anchor="ct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6787" name="Picture 3"/>
          <p:cNvPicPr>
            <a:picLocks noChangeAspect="1" noChangeArrowheads="1"/>
          </p:cNvPicPr>
          <p:nvPr/>
        </p:nvPicPr>
        <p:blipFill>
          <a:blip r:embed="rId2"/>
          <a:srcRect/>
          <a:stretch>
            <a:fillRect/>
          </a:stretch>
        </p:blipFill>
        <p:spPr bwMode="auto">
          <a:xfrm>
            <a:off x="838200" y="1384300"/>
            <a:ext cx="7543800" cy="4678363"/>
          </a:xfrm>
          <a:prstGeom prst="rect">
            <a:avLst/>
          </a:prstGeom>
          <a:noFill/>
          <a:ln w="9525">
            <a:noFill/>
            <a:miter lim="800000"/>
            <a:headEnd/>
            <a:tailEnd/>
          </a:ln>
          <a:effectLst/>
        </p:spPr>
      </p:pic>
      <p:sp>
        <p:nvSpPr>
          <p:cNvPr id="246788" name="Text Box 4"/>
          <p:cNvSpPr txBox="1">
            <a:spLocks noChangeArrowheads="1"/>
          </p:cNvSpPr>
          <p:nvPr/>
        </p:nvSpPr>
        <p:spPr bwMode="auto">
          <a:xfrm>
            <a:off x="3489325" y="2932113"/>
            <a:ext cx="4229100" cy="366712"/>
          </a:xfrm>
          <a:prstGeom prst="rect">
            <a:avLst/>
          </a:prstGeom>
          <a:noFill/>
          <a:ln w="9525">
            <a:noFill/>
            <a:miter lim="800000"/>
            <a:headEnd/>
            <a:tailEnd/>
          </a:ln>
          <a:effectLst/>
        </p:spPr>
        <p:txBody>
          <a:bodyPr wrap="none">
            <a:spAutoFit/>
          </a:bodyPr>
          <a:lstStyle/>
          <a:p>
            <a:r>
              <a:rPr lang="en-US">
                <a:solidFill>
                  <a:srgbClr val="008080"/>
                </a:solidFill>
                <a:latin typeface="Lucida Sans Typewriter" pitchFamily="49" charset="0"/>
              </a:rPr>
              <a:t>href</a:t>
            </a:r>
            <a:r>
              <a:rPr lang="en-US">
                <a:solidFill>
                  <a:srgbClr val="008080"/>
                </a:solidFill>
              </a:rPr>
              <a:t> attribute provides style sheet URL</a:t>
            </a:r>
          </a:p>
        </p:txBody>
      </p:sp>
      <p:sp>
        <p:nvSpPr>
          <p:cNvPr id="246790" name="Oval 6"/>
          <p:cNvSpPr>
            <a:spLocks noChangeArrowheads="1"/>
          </p:cNvSpPr>
          <p:nvPr/>
        </p:nvSpPr>
        <p:spPr bwMode="auto">
          <a:xfrm>
            <a:off x="5410200" y="3276600"/>
            <a:ext cx="1981200" cy="457200"/>
          </a:xfrm>
          <a:prstGeom prst="ellipse">
            <a:avLst/>
          </a:prstGeom>
          <a:solidFill>
            <a:srgbClr val="008080">
              <a:alpha val="50000"/>
            </a:srgbClr>
          </a:solidFill>
          <a:ln w="9525">
            <a:solidFill>
              <a:schemeClr val="tx1"/>
            </a:solidFill>
            <a:round/>
            <a:headEnd/>
            <a:tailEnd/>
          </a:ln>
          <a:effectLst/>
        </p:spPr>
        <p:txBody>
          <a:bodyPr wrap="none" anchor="ctr"/>
          <a:lstStyle/>
          <a:p>
            <a:endParaRPr lang="en-US"/>
          </a:p>
        </p:txBody>
      </p:sp>
      <p:pic>
        <p:nvPicPr>
          <p:cNvPr id="8" name="Picture 7" descr="E:\Master Folder 2017-18\Approved Logo by BOG\NIET logo_.png"/>
          <p:cNvPicPr/>
          <p:nvPr/>
        </p:nvPicPr>
        <p:blipFill>
          <a:blip r:embed="rId3" cstate="print"/>
          <a:srcRect/>
          <a:stretch>
            <a:fillRect/>
          </a:stretch>
        </p:blipFill>
        <p:spPr bwMode="auto">
          <a:xfrm>
            <a:off x="83820" y="83128"/>
            <a:ext cx="1559222" cy="1059872"/>
          </a:xfrm>
          <a:prstGeom prst="rect">
            <a:avLst/>
          </a:prstGeom>
          <a:noFill/>
          <a:ln w="9525">
            <a:noFill/>
            <a:miter lim="800000"/>
            <a:headEnd/>
            <a:tailEnd/>
          </a:ln>
        </p:spPr>
      </p:pic>
      <p:sp>
        <p:nvSpPr>
          <p:cNvPr id="9" name="Title 1"/>
          <p:cNvSpPr txBox="1">
            <a:spLocks/>
          </p:cNvSpPr>
          <p:nvPr/>
        </p:nvSpPr>
        <p:spPr>
          <a:xfrm>
            <a:off x="1643042" y="0"/>
            <a:ext cx="7500958" cy="100010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 </a:t>
            </a:r>
            <a:r>
              <a:rPr lang="en-IN" sz="2400" dirty="0">
                <a:latin typeface="Times New Roman" pitchFamily="18" charset="0"/>
                <a:cs typeface="Times New Roman" pitchFamily="18" charset="0"/>
              </a:rPr>
              <a:t>Creating Style Sheet</a:t>
            </a:r>
            <a:endParaRPr lang="en-US" sz="2400" dirty="0">
              <a:latin typeface="Times New Roman" pitchFamily="18" charset="0"/>
              <a:cs typeface="Times New Roman" pitchFamily="18" charset="0"/>
            </a:endParaRPr>
          </a:p>
          <a:p>
            <a:pPr lvl="0" algn="ctr">
              <a:spcBef>
                <a:spcPct val="0"/>
              </a:spcBef>
              <a:defRPr/>
            </a:pPr>
            <a:endParaRPr lang="en-US" sz="2400" dirty="0"/>
          </a:p>
        </p:txBody>
      </p:sp>
      <p:sp>
        <p:nvSpPr>
          <p:cNvPr id="10"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1"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000" b="1" dirty="0">
                <a:latin typeface="Times New Roman" pitchFamily="18" charset="0"/>
                <a:cs typeface="Times New Roman" pitchFamily="18" charset="0"/>
              </a:rPr>
              <a:t>Concept of CSS 3: </a:t>
            </a:r>
            <a:r>
              <a:rPr lang="en-IN" sz="2000" dirty="0">
                <a:latin typeface="Times New Roman" pitchFamily="18" charset="0"/>
                <a:cs typeface="Times New Roman" pitchFamily="18" charset="0"/>
              </a:rPr>
              <a:t>Creating Style Sheet</a:t>
            </a:r>
            <a:endParaRPr lang="en-US" sz="2000" dirty="0">
              <a:latin typeface="Times New Roman" pitchFamily="18" charset="0"/>
              <a:cs typeface="Times New Roman" pitchFamily="18" charset="0"/>
            </a:endParaRPr>
          </a:p>
          <a:p>
            <a:pPr lvl="0" algn="ctr">
              <a:spcBef>
                <a:spcPct val="0"/>
              </a:spcBef>
              <a:defRPr/>
            </a:pPr>
            <a:endParaRPr lang="en-US" dirty="0"/>
          </a:p>
        </p:txBody>
      </p:sp>
      <p:pic>
        <p:nvPicPr>
          <p:cNvPr id="9" name="Picture 8" descr="E:\Master Folder 2017-18\Approved Logo by BOG\NIET logo_.png"/>
          <p:cNvPicPr/>
          <p:nvPr/>
        </p:nvPicPr>
        <p:blipFill>
          <a:blip r:embed="rId2" cstate="print"/>
          <a:srcRect/>
          <a:stretch>
            <a:fillRect/>
          </a:stretch>
        </p:blipFill>
        <p:spPr bwMode="auto">
          <a:xfrm>
            <a:off x="83820" y="83128"/>
            <a:ext cx="1287780" cy="1059872"/>
          </a:xfrm>
          <a:prstGeom prst="rect">
            <a:avLst/>
          </a:prstGeom>
          <a:noFill/>
          <a:ln w="9525">
            <a:noFill/>
            <a:miter lim="800000"/>
            <a:headEnd/>
            <a:tailEnd/>
          </a:ln>
        </p:spPr>
      </p:pic>
      <p:pic>
        <p:nvPicPr>
          <p:cNvPr id="8" name="Picture 3"/>
          <p:cNvPicPr>
            <a:picLocks noGrp="1" noChangeAspect="1" noChangeArrowheads="1"/>
          </p:cNvPicPr>
          <p:nvPr>
            <p:ph idx="1"/>
          </p:nvPr>
        </p:nvPicPr>
        <p:blipFill>
          <a:blip r:embed="rId3"/>
          <a:srcRect/>
          <a:stretch>
            <a:fillRect/>
          </a:stretch>
        </p:blipFill>
        <p:spPr bwMode="auto">
          <a:xfrm>
            <a:off x="642910" y="1142984"/>
            <a:ext cx="7858180" cy="4714908"/>
          </a:xfrm>
          <a:prstGeom prst="rect">
            <a:avLst/>
          </a:prstGeom>
          <a:noFill/>
          <a:ln w="9525">
            <a:noFill/>
            <a:miter lim="800000"/>
            <a:headEnd/>
            <a:tailEnd/>
          </a:ln>
          <a:effectLst/>
        </p:spPr>
      </p:pic>
      <p:sp>
        <p:nvSpPr>
          <p:cNvPr id="10" name="Oval 7"/>
          <p:cNvSpPr>
            <a:spLocks noChangeArrowheads="1"/>
          </p:cNvSpPr>
          <p:nvPr/>
        </p:nvSpPr>
        <p:spPr bwMode="auto">
          <a:xfrm>
            <a:off x="1357290" y="3571876"/>
            <a:ext cx="2895600" cy="304800"/>
          </a:xfrm>
          <a:prstGeom prst="ellipse">
            <a:avLst/>
          </a:prstGeom>
          <a:solidFill>
            <a:srgbClr val="008080">
              <a:alpha val="50000"/>
            </a:srgbClr>
          </a:solidFill>
          <a:ln w="9525">
            <a:solidFill>
              <a:schemeClr val="tx1"/>
            </a:solidFill>
            <a:round/>
            <a:headEnd/>
            <a:tailEnd/>
          </a:ln>
          <a:effectLst/>
        </p:spPr>
        <p:txBody>
          <a:bodyPr wrap="none" anchor="ct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000" b="1" dirty="0">
                <a:latin typeface="Times New Roman" pitchFamily="18" charset="0"/>
                <a:cs typeface="Times New Roman" pitchFamily="18" charset="0"/>
              </a:rPr>
              <a:t>Concept of CSS 3: </a:t>
            </a:r>
            <a:r>
              <a:rPr lang="en-IN" sz="2000" dirty="0">
                <a:latin typeface="Times New Roman" pitchFamily="18" charset="0"/>
                <a:cs typeface="Times New Roman" pitchFamily="18" charset="0"/>
              </a:rPr>
              <a:t>Creating Style Sheet</a:t>
            </a:r>
            <a:endParaRPr lang="en-US" sz="2000" dirty="0">
              <a:latin typeface="Times New Roman" pitchFamily="18" charset="0"/>
              <a:cs typeface="Times New Roman" pitchFamily="18" charset="0"/>
            </a:endParaRPr>
          </a:p>
          <a:p>
            <a:pPr lvl="0" algn="ctr">
              <a:spcBef>
                <a:spcPct val="0"/>
              </a:spcBef>
              <a:defRPr/>
            </a:pPr>
            <a:endParaRPr lang="en-US" dirty="0"/>
          </a:p>
        </p:txBody>
      </p:sp>
      <p:pic>
        <p:nvPicPr>
          <p:cNvPr id="9" name="Picture 8" descr="E:\Master Folder 2017-18\Approved Logo by BOG\NIET logo_.png"/>
          <p:cNvPicPr/>
          <p:nvPr/>
        </p:nvPicPr>
        <p:blipFill>
          <a:blip r:embed="rId2" cstate="print"/>
          <a:srcRect/>
          <a:stretch>
            <a:fillRect/>
          </a:stretch>
        </p:blipFill>
        <p:spPr bwMode="auto">
          <a:xfrm>
            <a:off x="83820" y="83128"/>
            <a:ext cx="1287780" cy="1059872"/>
          </a:xfrm>
          <a:prstGeom prst="rect">
            <a:avLst/>
          </a:prstGeom>
          <a:noFill/>
          <a:ln w="9525">
            <a:noFill/>
            <a:miter lim="800000"/>
            <a:headEnd/>
            <a:tailEnd/>
          </a:ln>
        </p:spPr>
      </p:pic>
      <p:pic>
        <p:nvPicPr>
          <p:cNvPr id="8" name="Picture 4" descr="CSSHelloWorldSelect"/>
          <p:cNvPicPr>
            <a:picLocks noGrp="1" noChangeAspect="1" noChangeArrowheads="1"/>
          </p:cNvPicPr>
          <p:nvPr>
            <p:ph idx="1"/>
          </p:nvPr>
        </p:nvPicPr>
        <p:blipFill>
          <a:blip r:embed="rId3"/>
          <a:srcRect/>
          <a:stretch>
            <a:fillRect/>
          </a:stretch>
        </p:blipFill>
        <p:spPr bwMode="auto">
          <a:xfrm>
            <a:off x="642910" y="1214422"/>
            <a:ext cx="8001056" cy="4071966"/>
          </a:xfrm>
          <a:prstGeom prst="rect">
            <a:avLst/>
          </a:prstGeom>
          <a:noFill/>
        </p:spPr>
      </p:pic>
      <p:sp>
        <p:nvSpPr>
          <p:cNvPr id="10" name="Rectangle 9"/>
          <p:cNvSpPr/>
          <p:nvPr/>
        </p:nvSpPr>
        <p:spPr>
          <a:xfrm>
            <a:off x="571472" y="5429264"/>
            <a:ext cx="8001056" cy="646331"/>
          </a:xfrm>
          <a:prstGeom prst="rect">
            <a:avLst/>
          </a:prstGeom>
        </p:spPr>
        <p:txBody>
          <a:bodyPr wrap="square">
            <a:spAutoFit/>
          </a:bodyPr>
          <a:lstStyle/>
          <a:p>
            <a:pPr>
              <a:buFont typeface="Wingdings" pitchFamily="2" charset="2"/>
              <a:buNone/>
            </a:pPr>
            <a:r>
              <a:rPr lang="en-US" dirty="0">
                <a:latin typeface="Times New Roman" pitchFamily="18" charset="0"/>
                <a:cs typeface="Times New Roman" pitchFamily="18" charset="0"/>
              </a:rPr>
              <a:t>Note that alternate, user selectable style is not widely supported: </a:t>
            </a:r>
            <a:r>
              <a:rPr lang="en-US" dirty="0" err="1">
                <a:latin typeface="Times New Roman" pitchFamily="18" charset="0"/>
                <a:cs typeface="Times New Roman" pitchFamily="18" charset="0"/>
              </a:rPr>
              <a:t>firefox</a:t>
            </a:r>
            <a:r>
              <a:rPr lang="en-US" dirty="0">
                <a:latin typeface="Times New Roman" pitchFamily="18" charset="0"/>
                <a:cs typeface="Times New Roman" pitchFamily="18" charset="0"/>
              </a:rPr>
              <a:t> 3 and IE 8 do, but IE 6, IE 7 and Chrome don’t.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US" sz="1800" dirty="0">
                <a:latin typeface="Times New Roman" pitchFamily="18" charset="0"/>
                <a:cs typeface="Times New Roman" pitchFamily="18" charset="0"/>
              </a:rPr>
              <a:t>A styled HTML document</a:t>
            </a:r>
            <a:br>
              <a:rPr lang="en-US" sz="1800" dirty="0">
                <a:latin typeface="Times New Roman" pitchFamily="18" charset="0"/>
                <a:cs typeface="Times New Roman" pitchFamily="18" charset="0"/>
              </a:rPr>
            </a:br>
            <a:endParaRPr lang="en-US" sz="1800" dirty="0">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 </a:t>
            </a:r>
            <a:r>
              <a:rPr lang="en-IN" sz="2400" dirty="0">
                <a:latin typeface="Times New Roman" pitchFamily="18" charset="0"/>
                <a:cs typeface="Times New Roman" pitchFamily="18" charset="0"/>
              </a:rPr>
              <a:t>Creating Style Sheet</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8" descr="E:\Master Folder 2017-18\Approved Logo by BOG\NIET logo_.png"/>
          <p:cNvPicPr/>
          <p:nvPr/>
        </p:nvPicPr>
        <p:blipFill>
          <a:blip r:embed="rId2" cstate="print"/>
          <a:srcRect/>
          <a:stretch>
            <a:fillRect/>
          </a:stretch>
        </p:blipFill>
        <p:spPr bwMode="auto">
          <a:xfrm>
            <a:off x="83820" y="83128"/>
            <a:ext cx="1287780" cy="1059872"/>
          </a:xfrm>
          <a:prstGeom prst="rect">
            <a:avLst/>
          </a:prstGeom>
          <a:noFill/>
          <a:ln w="9525">
            <a:noFill/>
            <a:miter lim="800000"/>
            <a:headEnd/>
            <a:tailEnd/>
          </a:ln>
        </p:spPr>
      </p:pic>
      <p:pic>
        <p:nvPicPr>
          <p:cNvPr id="8" name="Picture 4" descr="CSSHelloWorld2"/>
          <p:cNvPicPr>
            <a:picLocks noChangeAspect="1" noChangeArrowheads="1"/>
          </p:cNvPicPr>
          <p:nvPr/>
        </p:nvPicPr>
        <p:blipFill>
          <a:blip r:embed="rId3"/>
          <a:srcRect/>
          <a:stretch>
            <a:fillRect/>
          </a:stretch>
        </p:blipFill>
        <p:spPr bwMode="auto">
          <a:xfrm>
            <a:off x="2514600" y="1857365"/>
            <a:ext cx="4114800" cy="1571635"/>
          </a:xfrm>
          <a:prstGeom prst="rect">
            <a:avLst/>
          </a:prstGeom>
          <a:noFill/>
          <a:ln w="9525">
            <a:noFill/>
            <a:miter lim="800000"/>
            <a:headEnd/>
            <a:tailEnd/>
          </a:ln>
        </p:spPr>
      </p:pic>
      <p:sp>
        <p:nvSpPr>
          <p:cNvPr id="10" name="Rectangle 9"/>
          <p:cNvSpPr/>
          <p:nvPr/>
        </p:nvSpPr>
        <p:spPr>
          <a:xfrm>
            <a:off x="1071538" y="3643314"/>
            <a:ext cx="5618670" cy="954107"/>
          </a:xfrm>
          <a:prstGeom prst="rect">
            <a:avLst/>
          </a:prstGeom>
        </p:spPr>
        <p:txBody>
          <a:bodyPr wrap="square">
            <a:spAutoFit/>
          </a:bodyPr>
          <a:lstStyle/>
          <a:p>
            <a:r>
              <a:rPr lang="en-US" dirty="0">
                <a:latin typeface="Times New Roman" pitchFamily="18" charset="0"/>
                <a:cs typeface="Times New Roman" pitchFamily="18" charset="0"/>
              </a:rPr>
              <a:t>produced by the style sheet style2.css</a:t>
            </a:r>
          </a:p>
          <a:p>
            <a:endParaRPr lang="en-IN"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pic>
        <p:nvPicPr>
          <p:cNvPr id="11" name="Picture 5"/>
          <p:cNvPicPr>
            <a:picLocks noChangeAspect="1" noChangeArrowheads="1"/>
          </p:cNvPicPr>
          <p:nvPr/>
        </p:nvPicPr>
        <p:blipFill>
          <a:blip r:embed="rId4"/>
          <a:srcRect/>
          <a:stretch>
            <a:fillRect/>
          </a:stretch>
        </p:blipFill>
        <p:spPr bwMode="auto">
          <a:xfrm>
            <a:off x="1071538" y="4143381"/>
            <a:ext cx="6000792" cy="571504"/>
          </a:xfrm>
          <a:prstGeom prst="rect">
            <a:avLst/>
          </a:prstGeom>
          <a:noFill/>
          <a:ln w="9525">
            <a:noFill/>
            <a:miter lim="800000"/>
            <a:headEnd/>
            <a:tailEnd/>
          </a:ln>
        </p:spPr>
      </p:pic>
      <p:sp>
        <p:nvSpPr>
          <p:cNvPr id="12" name="Rectangle 11"/>
          <p:cNvSpPr/>
          <p:nvPr/>
        </p:nvSpPr>
        <p:spPr>
          <a:xfrm>
            <a:off x="1142976" y="4857760"/>
            <a:ext cx="6858048" cy="677108"/>
          </a:xfrm>
          <a:prstGeom prst="rect">
            <a:avLst/>
          </a:prstGeom>
        </p:spPr>
        <p:txBody>
          <a:bodyPr wrap="square">
            <a:spAutoFit/>
          </a:bodyPr>
          <a:lstStyle/>
          <a:p>
            <a:r>
              <a:rPr lang="en-US" dirty="0">
                <a:latin typeface="Times New Roman" pitchFamily="18" charset="0"/>
                <a:cs typeface="Times New Roman" pitchFamily="18" charset="0"/>
              </a:rPr>
              <a:t>Note that alternate, user selectable style is not widely supported: </a:t>
            </a:r>
            <a:r>
              <a:rPr lang="en-US" dirty="0" err="1">
                <a:latin typeface="Times New Roman" pitchFamily="18" charset="0"/>
                <a:cs typeface="Times New Roman" pitchFamily="18" charset="0"/>
              </a:rPr>
              <a:t>firefox</a:t>
            </a:r>
            <a:r>
              <a:rPr lang="en-US" dirty="0">
                <a:latin typeface="Times New Roman" pitchFamily="18" charset="0"/>
                <a:cs typeface="Times New Roman" pitchFamily="18" charset="0"/>
              </a:rPr>
              <a:t> 3 and IE 8 do, but IE 6, IE 7 and Chrome don’t</a:t>
            </a:r>
            <a:r>
              <a:rPr lang="en-US" sz="2000" dirty="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US" sz="1800" dirty="0">
                <a:latin typeface="Times New Roman" pitchFamily="18" charset="0"/>
                <a:cs typeface="Times New Roman" pitchFamily="18" charset="0"/>
              </a:rPr>
              <a:t>Single document can be displayed on multiple media platforms by tailoring style sheets:</a:t>
            </a:r>
          </a:p>
          <a:p>
            <a:endParaRPr lang="en-US" sz="2000" dirty="0"/>
          </a:p>
        </p:txBody>
      </p:sp>
      <p:sp>
        <p:nvSpPr>
          <p:cNvPr id="5"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dirty="0"/>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 </a:t>
            </a:r>
            <a:r>
              <a:rPr lang="en-IN" sz="2400" dirty="0">
                <a:latin typeface="Times New Roman" pitchFamily="18" charset="0"/>
                <a:cs typeface="Times New Roman" pitchFamily="18" charset="0"/>
              </a:rPr>
              <a:t>Creating Style Sheet</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8" descr="E:\Master Folder 2017-18\Approved Logo by BOG\NIET logo_.png"/>
          <p:cNvPicPr/>
          <p:nvPr/>
        </p:nvPicPr>
        <p:blipFill>
          <a:blip r:embed="rId2" cstate="print"/>
          <a:srcRect/>
          <a:stretch>
            <a:fillRect/>
          </a:stretch>
        </p:blipFill>
        <p:spPr bwMode="auto">
          <a:xfrm>
            <a:off x="83820" y="83128"/>
            <a:ext cx="1287780" cy="1059872"/>
          </a:xfrm>
          <a:prstGeom prst="rect">
            <a:avLst/>
          </a:prstGeom>
          <a:noFill/>
          <a:ln w="9525">
            <a:noFill/>
            <a:miter lim="800000"/>
            <a:headEnd/>
            <a:tailEnd/>
          </a:ln>
        </p:spPr>
      </p:pic>
      <p:pic>
        <p:nvPicPr>
          <p:cNvPr id="10" name="Picture 4"/>
          <p:cNvPicPr>
            <a:picLocks noChangeAspect="1" noChangeArrowheads="1"/>
          </p:cNvPicPr>
          <p:nvPr/>
        </p:nvPicPr>
        <p:blipFill>
          <a:blip r:embed="rId3"/>
          <a:srcRect/>
          <a:stretch>
            <a:fillRect/>
          </a:stretch>
        </p:blipFill>
        <p:spPr bwMode="auto">
          <a:xfrm>
            <a:off x="1295400" y="2285993"/>
            <a:ext cx="6580188" cy="1571636"/>
          </a:xfrm>
          <a:prstGeom prst="rect">
            <a:avLst/>
          </a:prstGeom>
          <a:noFill/>
          <a:ln w="9525">
            <a:noFill/>
            <a:miter lim="800000"/>
            <a:headEnd/>
            <a:tailEnd/>
          </a:ln>
        </p:spPr>
      </p:pic>
      <p:sp>
        <p:nvSpPr>
          <p:cNvPr id="12" name="Oval 5"/>
          <p:cNvSpPr>
            <a:spLocks noChangeArrowheads="1"/>
          </p:cNvSpPr>
          <p:nvPr/>
        </p:nvSpPr>
        <p:spPr bwMode="auto">
          <a:xfrm>
            <a:off x="2000232" y="2714620"/>
            <a:ext cx="3581400" cy="381000"/>
          </a:xfrm>
          <a:prstGeom prst="ellipse">
            <a:avLst/>
          </a:prstGeom>
          <a:solidFill>
            <a:schemeClr val="hlink">
              <a:alpha val="50195"/>
            </a:schemeClr>
          </a:solidFill>
          <a:ln w="9525">
            <a:solidFill>
              <a:schemeClr val="tx1"/>
            </a:solidFill>
            <a:round/>
            <a:headEnd/>
            <a:tailEnd/>
          </a:ln>
        </p:spPr>
        <p:txBody>
          <a:bodyPr wrap="none" anchor="ctr"/>
          <a:lstStyle/>
          <a:p>
            <a:endParaRPr lang="en-US"/>
          </a:p>
        </p:txBody>
      </p:sp>
      <p:sp>
        <p:nvSpPr>
          <p:cNvPr id="13" name="Oval 6"/>
          <p:cNvSpPr>
            <a:spLocks noChangeArrowheads="1"/>
          </p:cNvSpPr>
          <p:nvPr/>
        </p:nvSpPr>
        <p:spPr bwMode="auto">
          <a:xfrm>
            <a:off x="1928794" y="3429000"/>
            <a:ext cx="2819400" cy="3810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14" name="Rectangle 13"/>
          <p:cNvSpPr/>
          <p:nvPr/>
        </p:nvSpPr>
        <p:spPr>
          <a:xfrm>
            <a:off x="785786" y="4714884"/>
            <a:ext cx="7072362" cy="369332"/>
          </a:xfrm>
          <a:prstGeom prst="rect">
            <a:avLst/>
          </a:prstGeom>
        </p:spPr>
        <p:txBody>
          <a:bodyPr wrap="square">
            <a:spAutoFit/>
          </a:bodyPr>
          <a:lstStyle/>
          <a:p>
            <a:r>
              <a:rPr lang="en-US" dirty="0">
                <a:latin typeface="Times New Roman" pitchFamily="18" charset="0"/>
                <a:cs typeface="Times New Roman" pitchFamily="18" charset="0"/>
              </a:rPr>
              <a:t>This document will be </a:t>
            </a:r>
            <a:r>
              <a:rPr lang="en-US" dirty="0">
                <a:solidFill>
                  <a:srgbClr val="008080"/>
                </a:solidFill>
                <a:latin typeface="Times New Roman" pitchFamily="18" charset="0"/>
                <a:cs typeface="Times New Roman" pitchFamily="18" charset="0"/>
              </a:rPr>
              <a:t>printed</a:t>
            </a:r>
            <a:r>
              <a:rPr lang="en-US" dirty="0">
                <a:latin typeface="Times New Roman" pitchFamily="18" charset="0"/>
                <a:cs typeface="Times New Roman" pitchFamily="18" charset="0"/>
              </a:rPr>
              <a:t> differently than it is </a:t>
            </a:r>
            <a:r>
              <a:rPr lang="en-US" dirty="0">
                <a:solidFill>
                  <a:schemeClr val="hlink"/>
                </a:solidFill>
                <a:latin typeface="Times New Roman" pitchFamily="18" charset="0"/>
                <a:cs typeface="Times New Roman" pitchFamily="18" charset="0"/>
              </a:rPr>
              <a:t>displayed</a:t>
            </a:r>
            <a:endParaRPr lang="en-US" dirty="0">
              <a:latin typeface="Times New Roman" pitchFamily="18" charset="0"/>
              <a:cs typeface="Times New Roman" pitchFamily="18" charset="0"/>
            </a:endParaRPr>
          </a:p>
        </p:txBody>
      </p:sp>
      <p:cxnSp>
        <p:nvCxnSpPr>
          <p:cNvPr id="16" name="Straight Arrow Connector 15"/>
          <p:cNvCxnSpPr>
            <a:endCxn id="10" idx="2"/>
          </p:cNvCxnSpPr>
          <p:nvPr/>
        </p:nvCxnSpPr>
        <p:spPr>
          <a:xfrm rot="16200000" flipV="1">
            <a:off x="4364434" y="4078690"/>
            <a:ext cx="1000131" cy="5580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endCxn id="12" idx="5"/>
          </p:cNvCxnSpPr>
          <p:nvPr/>
        </p:nvCxnSpPr>
        <p:spPr>
          <a:xfrm rot="16200000" flipV="1">
            <a:off x="4477110" y="3619862"/>
            <a:ext cx="1746498" cy="5864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5"/>
          <p:cNvSpPr>
            <a:spLocks noGrp="1" noChangeArrowheads="1"/>
          </p:cNvSpPr>
          <p:nvPr>
            <p:ph type="body" idx="1"/>
          </p:nvPr>
        </p:nvSpPr>
        <p:spPr/>
        <p:txBody>
          <a:bodyPr>
            <a:normAutofit/>
          </a:bodyPr>
          <a:lstStyle/>
          <a:p>
            <a:pPr eaLnBrk="1" hangingPunct="1"/>
            <a:r>
              <a:rPr lang="en-US" sz="1800" dirty="0">
                <a:latin typeface="Times New Roman" pitchFamily="18" charset="0"/>
                <a:cs typeface="Times New Roman" pitchFamily="18" charset="0"/>
              </a:rPr>
              <a:t>Parts of a </a:t>
            </a:r>
            <a:r>
              <a:rPr lang="en-US" sz="1800" dirty="0">
                <a:solidFill>
                  <a:schemeClr val="hlink"/>
                </a:solidFill>
                <a:latin typeface="Times New Roman" pitchFamily="18" charset="0"/>
                <a:cs typeface="Times New Roman" pitchFamily="18" charset="0"/>
              </a:rPr>
              <a:t>style rule</a:t>
            </a:r>
            <a:r>
              <a:rPr lang="en-US" sz="1800" dirty="0">
                <a:latin typeface="Times New Roman" pitchFamily="18" charset="0"/>
                <a:cs typeface="Times New Roman" pitchFamily="18" charset="0"/>
              </a:rPr>
              <a:t> (or </a:t>
            </a:r>
            <a:r>
              <a:rPr lang="en-US" sz="1800" dirty="0">
                <a:solidFill>
                  <a:schemeClr val="hlink"/>
                </a:solidFill>
                <a:latin typeface="Times New Roman" pitchFamily="18" charset="0"/>
                <a:cs typeface="Times New Roman" pitchFamily="18" charset="0"/>
              </a:rPr>
              <a:t>statement</a:t>
            </a:r>
            <a:r>
              <a:rPr lang="en-US" sz="1800" dirty="0">
                <a:latin typeface="Times New Roman" pitchFamily="18" charset="0"/>
                <a:cs typeface="Times New Roman" pitchFamily="18" charset="0"/>
              </a:rPr>
              <a:t>)</a:t>
            </a:r>
          </a:p>
        </p:txBody>
      </p:sp>
      <p:pic>
        <p:nvPicPr>
          <p:cNvPr id="16389" name="Picture 4" descr="StyleRule"/>
          <p:cNvPicPr>
            <a:picLocks noChangeAspect="1" noChangeArrowheads="1"/>
          </p:cNvPicPr>
          <p:nvPr/>
        </p:nvPicPr>
        <p:blipFill>
          <a:blip r:embed="rId2"/>
          <a:srcRect/>
          <a:stretch>
            <a:fillRect/>
          </a:stretch>
        </p:blipFill>
        <p:spPr bwMode="auto">
          <a:xfrm>
            <a:off x="1828800" y="3124200"/>
            <a:ext cx="5638800" cy="2619375"/>
          </a:xfrm>
          <a:prstGeom prst="rect">
            <a:avLst/>
          </a:prstGeom>
          <a:noFill/>
          <a:ln w="9525">
            <a:noFill/>
            <a:miter lim="800000"/>
            <a:headEnd/>
            <a:tailEnd/>
          </a:ln>
        </p:spPr>
      </p:pic>
      <p:pic>
        <p:nvPicPr>
          <p:cNvPr id="7" name="Picture 6" descr="E:\Master Folder 2017-18\Approved Logo by BOG\NIET logo_.png"/>
          <p:cNvPicPr/>
          <p:nvPr/>
        </p:nvPicPr>
        <p:blipFill>
          <a:blip r:embed="rId3" cstate="print"/>
          <a:srcRect/>
          <a:stretch>
            <a:fillRect/>
          </a:stretch>
        </p:blipFill>
        <p:spPr bwMode="auto">
          <a:xfrm>
            <a:off x="83820" y="83128"/>
            <a:ext cx="1287780" cy="1059872"/>
          </a:xfrm>
          <a:prstGeom prst="rect">
            <a:avLst/>
          </a:prstGeom>
          <a:noFill/>
          <a:ln w="9525">
            <a:noFill/>
            <a:miter lim="800000"/>
            <a:headEnd/>
            <a:tailEnd/>
          </a:ln>
        </p:spPr>
      </p:pic>
      <p:sp>
        <p:nvSpPr>
          <p:cNvPr id="10"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Properties</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3"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4"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3"/>
          <p:cNvSpPr>
            <a:spLocks noGrp="1" noChangeArrowheads="1"/>
          </p:cNvSpPr>
          <p:nvPr>
            <p:ph type="body" idx="1"/>
          </p:nvPr>
        </p:nvSpPr>
        <p:spPr/>
        <p:txBody>
          <a:bodyPr/>
          <a:lstStyle/>
          <a:p>
            <a:pPr eaLnBrk="1" hangingPunct="1"/>
            <a:r>
              <a:rPr lang="en-US" sz="2400" dirty="0">
                <a:latin typeface="Times New Roman" pitchFamily="18" charset="0"/>
                <a:cs typeface="Times New Roman" pitchFamily="18" charset="0"/>
              </a:rPr>
              <a:t>Single element type:</a:t>
            </a:r>
          </a:p>
          <a:p>
            <a:pPr eaLnBrk="1" hangingPunct="1"/>
            <a:endParaRPr lang="en-US" sz="2400" dirty="0">
              <a:latin typeface="Times New Roman" pitchFamily="18" charset="0"/>
              <a:cs typeface="Times New Roman" pitchFamily="18" charset="0"/>
            </a:endParaRPr>
          </a:p>
          <a:p>
            <a:pPr eaLnBrk="1" hangingPunct="1"/>
            <a:r>
              <a:rPr lang="en-US" sz="2400" dirty="0">
                <a:latin typeface="Times New Roman" pitchFamily="18" charset="0"/>
                <a:cs typeface="Times New Roman" pitchFamily="18" charset="0"/>
              </a:rPr>
              <a:t>Multiple element types:</a:t>
            </a:r>
          </a:p>
          <a:p>
            <a:pPr eaLnBrk="1" hangingPunct="1"/>
            <a:endParaRPr lang="en-US" sz="2400" dirty="0">
              <a:latin typeface="Times New Roman" pitchFamily="18" charset="0"/>
              <a:cs typeface="Times New Roman" pitchFamily="18" charset="0"/>
            </a:endParaRPr>
          </a:p>
          <a:p>
            <a:pPr eaLnBrk="1" hangingPunct="1"/>
            <a:r>
              <a:rPr lang="en-US" sz="2400" dirty="0">
                <a:latin typeface="Times New Roman" pitchFamily="18" charset="0"/>
                <a:cs typeface="Times New Roman" pitchFamily="18" charset="0"/>
              </a:rPr>
              <a:t>All element types:</a:t>
            </a:r>
          </a:p>
          <a:p>
            <a:pPr eaLnBrk="1" hangingPunct="1"/>
            <a:endParaRPr lang="en-US" sz="2400" dirty="0">
              <a:latin typeface="Times New Roman" pitchFamily="18" charset="0"/>
              <a:cs typeface="Times New Roman" pitchFamily="18" charset="0"/>
            </a:endParaRPr>
          </a:p>
          <a:p>
            <a:pPr eaLnBrk="1" hangingPunct="1"/>
            <a:r>
              <a:rPr lang="en-US" sz="2400" dirty="0">
                <a:latin typeface="Times New Roman" pitchFamily="18" charset="0"/>
                <a:cs typeface="Times New Roman" pitchFamily="18" charset="0"/>
              </a:rPr>
              <a:t>Specific elements by id:</a:t>
            </a:r>
          </a:p>
          <a:p>
            <a:pPr eaLnBrk="1" hangingPunct="1"/>
            <a:endParaRPr lang="en-US" sz="2800" dirty="0"/>
          </a:p>
          <a:p>
            <a:pPr eaLnBrk="1" hangingPunct="1"/>
            <a:endParaRPr lang="en-US" sz="2800" dirty="0"/>
          </a:p>
        </p:txBody>
      </p:sp>
      <p:pic>
        <p:nvPicPr>
          <p:cNvPr id="17413" name="Picture 5"/>
          <p:cNvPicPr>
            <a:picLocks noChangeAspect="1" noChangeArrowheads="1"/>
          </p:cNvPicPr>
          <p:nvPr/>
        </p:nvPicPr>
        <p:blipFill>
          <a:blip r:embed="rId2"/>
          <a:srcRect/>
          <a:stretch>
            <a:fillRect/>
          </a:stretch>
        </p:blipFill>
        <p:spPr bwMode="auto">
          <a:xfrm>
            <a:off x="1295400" y="3810000"/>
            <a:ext cx="5746750" cy="422275"/>
          </a:xfrm>
          <a:prstGeom prst="rect">
            <a:avLst/>
          </a:prstGeom>
          <a:noFill/>
          <a:ln w="9525">
            <a:noFill/>
            <a:miter lim="800000"/>
            <a:headEnd/>
            <a:tailEnd/>
          </a:ln>
        </p:spPr>
      </p:pic>
      <p:pic>
        <p:nvPicPr>
          <p:cNvPr id="17414" name="Picture 6"/>
          <p:cNvPicPr>
            <a:picLocks noChangeAspect="1" noChangeArrowheads="1"/>
          </p:cNvPicPr>
          <p:nvPr/>
        </p:nvPicPr>
        <p:blipFill>
          <a:blip r:embed="rId3"/>
          <a:srcRect/>
          <a:stretch>
            <a:fillRect/>
          </a:stretch>
        </p:blipFill>
        <p:spPr bwMode="auto">
          <a:xfrm>
            <a:off x="1295400" y="2819400"/>
            <a:ext cx="5867400" cy="314325"/>
          </a:xfrm>
          <a:prstGeom prst="rect">
            <a:avLst/>
          </a:prstGeom>
          <a:noFill/>
          <a:ln w="9525">
            <a:noFill/>
            <a:miter lim="800000"/>
            <a:headEnd/>
            <a:tailEnd/>
          </a:ln>
        </p:spPr>
      </p:pic>
      <p:pic>
        <p:nvPicPr>
          <p:cNvPr id="17415" name="Picture 7"/>
          <p:cNvPicPr>
            <a:picLocks noChangeAspect="1" noChangeArrowheads="1"/>
          </p:cNvPicPr>
          <p:nvPr/>
        </p:nvPicPr>
        <p:blipFill>
          <a:blip r:embed="rId4"/>
          <a:srcRect/>
          <a:stretch>
            <a:fillRect/>
          </a:stretch>
        </p:blipFill>
        <p:spPr bwMode="auto">
          <a:xfrm>
            <a:off x="1295400" y="4876800"/>
            <a:ext cx="2971800" cy="352425"/>
          </a:xfrm>
          <a:prstGeom prst="rect">
            <a:avLst/>
          </a:prstGeom>
          <a:noFill/>
          <a:ln w="9525">
            <a:noFill/>
            <a:miter lim="800000"/>
            <a:headEnd/>
            <a:tailEnd/>
          </a:ln>
        </p:spPr>
      </p:pic>
      <p:pic>
        <p:nvPicPr>
          <p:cNvPr id="17416" name="Picture 8"/>
          <p:cNvPicPr>
            <a:picLocks noChangeAspect="1" noChangeArrowheads="1"/>
          </p:cNvPicPr>
          <p:nvPr/>
        </p:nvPicPr>
        <p:blipFill>
          <a:blip r:embed="rId5"/>
          <a:srcRect/>
          <a:stretch>
            <a:fillRect/>
          </a:stretch>
        </p:blipFill>
        <p:spPr bwMode="auto">
          <a:xfrm>
            <a:off x="1295400" y="5943600"/>
            <a:ext cx="4114800" cy="363538"/>
          </a:xfrm>
          <a:prstGeom prst="rect">
            <a:avLst/>
          </a:prstGeom>
          <a:noFill/>
          <a:ln w="9525">
            <a:noFill/>
            <a:miter lim="800000"/>
            <a:headEnd/>
            <a:tailEnd/>
          </a:ln>
        </p:spPr>
      </p:pic>
      <p:pic>
        <p:nvPicPr>
          <p:cNvPr id="10" name="Picture 9" descr="E:\Master Folder 2017-18\Approved Logo by BOG\NIET logo_.png"/>
          <p:cNvPicPr/>
          <p:nvPr/>
        </p:nvPicPr>
        <p:blipFill>
          <a:blip r:embed="rId6" cstate="print"/>
          <a:srcRect/>
          <a:stretch>
            <a:fillRect/>
          </a:stretch>
        </p:blipFill>
        <p:spPr bwMode="auto">
          <a:xfrm>
            <a:off x="83820" y="83128"/>
            <a:ext cx="1287780" cy="1059872"/>
          </a:xfrm>
          <a:prstGeom prst="rect">
            <a:avLst/>
          </a:prstGeom>
          <a:noFill/>
          <a:ln w="9525">
            <a:noFill/>
            <a:miter lim="800000"/>
            <a:headEnd/>
            <a:tailEnd/>
          </a:ln>
        </p:spPr>
      </p:pic>
      <p:sp>
        <p:nvSpPr>
          <p:cNvPr id="12" name="Title 1"/>
          <p:cNvSpPr txBox="1">
            <a:spLocks/>
          </p:cNvSpPr>
          <p:nvPr/>
        </p:nvSpPr>
        <p:spPr>
          <a:xfrm>
            <a:off x="1371600" y="0"/>
            <a:ext cx="7772400" cy="92867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Properties</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3"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4"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p:cNvPicPr>
            <a:picLocks noChangeAspect="1" noChangeArrowheads="1"/>
          </p:cNvPicPr>
          <p:nvPr/>
        </p:nvPicPr>
        <p:blipFill>
          <a:blip r:embed="rId2"/>
          <a:srcRect/>
          <a:stretch>
            <a:fillRect/>
          </a:stretch>
        </p:blipFill>
        <p:spPr bwMode="auto">
          <a:xfrm>
            <a:off x="609600" y="1357299"/>
            <a:ext cx="5181600" cy="785818"/>
          </a:xfrm>
          <a:prstGeom prst="rect">
            <a:avLst/>
          </a:prstGeom>
          <a:noFill/>
          <a:ln w="9525">
            <a:noFill/>
            <a:miter lim="800000"/>
            <a:headEnd/>
            <a:tailEnd/>
          </a:ln>
        </p:spPr>
      </p:pic>
      <p:pic>
        <p:nvPicPr>
          <p:cNvPr id="18437" name="Picture 5" descr="Selectors"/>
          <p:cNvPicPr>
            <a:picLocks noChangeAspect="1" noChangeArrowheads="1"/>
          </p:cNvPicPr>
          <p:nvPr/>
        </p:nvPicPr>
        <p:blipFill>
          <a:blip r:embed="rId3"/>
          <a:srcRect/>
          <a:stretch>
            <a:fillRect/>
          </a:stretch>
        </p:blipFill>
        <p:spPr bwMode="auto">
          <a:xfrm>
            <a:off x="4343400" y="2214554"/>
            <a:ext cx="4133850" cy="3714776"/>
          </a:xfrm>
          <a:prstGeom prst="rect">
            <a:avLst/>
          </a:prstGeom>
          <a:noFill/>
          <a:ln w="9525">
            <a:noFill/>
            <a:miter lim="800000"/>
            <a:headEnd/>
            <a:tailEnd/>
          </a:ln>
        </p:spPr>
      </p:pic>
      <p:pic>
        <p:nvPicPr>
          <p:cNvPr id="7" name="Picture 6" descr="E:\Master Folder 2017-18\Approved Logo by BOG\NIET logo_.png"/>
          <p:cNvPicPr/>
          <p:nvPr/>
        </p:nvPicPr>
        <p:blipFill>
          <a:blip r:embed="rId4" cstate="print"/>
          <a:srcRect/>
          <a:stretch>
            <a:fillRect/>
          </a:stretch>
        </p:blipFill>
        <p:spPr bwMode="auto">
          <a:xfrm>
            <a:off x="83820" y="83128"/>
            <a:ext cx="1287780" cy="1059872"/>
          </a:xfrm>
          <a:prstGeom prst="rect">
            <a:avLst/>
          </a:prstGeom>
          <a:noFill/>
          <a:ln w="9525">
            <a:noFill/>
            <a:miter lim="800000"/>
            <a:headEnd/>
            <a:tailEnd/>
          </a:ln>
        </p:spPr>
      </p:pic>
      <p:sp>
        <p:nvSpPr>
          <p:cNvPr id="9" name="Title 1"/>
          <p:cNvSpPr txBox="1">
            <a:spLocks/>
          </p:cNvSpPr>
          <p:nvPr/>
        </p:nvSpPr>
        <p:spPr>
          <a:xfrm>
            <a:off x="1371600" y="0"/>
            <a:ext cx="7772400" cy="100010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Properties</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0"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1"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type="body" idx="1"/>
          </p:nvPr>
        </p:nvSpPr>
        <p:spPr/>
        <p:txBody>
          <a:bodyPr/>
          <a:lstStyle/>
          <a:p>
            <a:pPr eaLnBrk="1" hangingPunct="1"/>
            <a:r>
              <a:rPr lang="en-US" sz="2400" dirty="0">
                <a:latin typeface="Times New Roman" pitchFamily="18" charset="0"/>
                <a:cs typeface="Times New Roman" pitchFamily="18" charset="0"/>
              </a:rPr>
              <a:t>Elements belonging to a </a:t>
            </a:r>
            <a:r>
              <a:rPr lang="en-US" sz="2400" dirty="0">
                <a:solidFill>
                  <a:schemeClr val="hlink"/>
                </a:solidFill>
                <a:latin typeface="Times New Roman" pitchFamily="18" charset="0"/>
                <a:cs typeface="Times New Roman" pitchFamily="18" charset="0"/>
              </a:rPr>
              <a:t>style class</a:t>
            </a:r>
            <a:r>
              <a:rPr lang="en-US" sz="2400" dirty="0">
                <a:latin typeface="Times New Roman" pitchFamily="18" charset="0"/>
                <a:cs typeface="Times New Roman" pitchFamily="18" charset="0"/>
              </a:rPr>
              <a:t>:</a:t>
            </a:r>
          </a:p>
          <a:p>
            <a:pPr eaLnBrk="1" hangingPunct="1"/>
            <a:endParaRPr lang="en-US" dirty="0"/>
          </a:p>
          <a:p>
            <a:pPr lvl="1" eaLnBrk="1" hangingPunct="1"/>
            <a:r>
              <a:rPr lang="en-US" sz="2400" dirty="0">
                <a:latin typeface="Times New Roman" pitchFamily="18" charset="0"/>
                <a:cs typeface="Times New Roman" pitchFamily="18" charset="0"/>
              </a:rPr>
              <a:t>Referencing a style class in HTML:</a:t>
            </a:r>
          </a:p>
          <a:p>
            <a:pPr eaLnBrk="1" hangingPunct="1"/>
            <a:endParaRPr lang="en-US" dirty="0"/>
          </a:p>
          <a:p>
            <a:pPr eaLnBrk="1" hangingPunct="1"/>
            <a:r>
              <a:rPr lang="en-US" sz="2400" dirty="0">
                <a:latin typeface="Times New Roman" pitchFamily="18" charset="0"/>
                <a:cs typeface="Times New Roman" pitchFamily="18" charset="0"/>
              </a:rPr>
              <a:t>Elements of a certain type and class:</a:t>
            </a:r>
          </a:p>
        </p:txBody>
      </p:sp>
      <p:pic>
        <p:nvPicPr>
          <p:cNvPr id="19461" name="Picture 4"/>
          <p:cNvPicPr>
            <a:picLocks noChangeAspect="1" noChangeArrowheads="1"/>
          </p:cNvPicPr>
          <p:nvPr/>
        </p:nvPicPr>
        <p:blipFill>
          <a:blip r:embed="rId2"/>
          <a:srcRect/>
          <a:stretch>
            <a:fillRect/>
          </a:stretch>
        </p:blipFill>
        <p:spPr bwMode="auto">
          <a:xfrm>
            <a:off x="1295400" y="2143116"/>
            <a:ext cx="4576763" cy="428628"/>
          </a:xfrm>
          <a:prstGeom prst="rect">
            <a:avLst/>
          </a:prstGeom>
          <a:noFill/>
          <a:ln w="9525">
            <a:noFill/>
            <a:miter lim="800000"/>
            <a:headEnd/>
            <a:tailEnd/>
          </a:ln>
        </p:spPr>
      </p:pic>
      <p:pic>
        <p:nvPicPr>
          <p:cNvPr id="19462" name="Picture 5"/>
          <p:cNvPicPr>
            <a:picLocks noChangeAspect="1" noChangeArrowheads="1"/>
          </p:cNvPicPr>
          <p:nvPr/>
        </p:nvPicPr>
        <p:blipFill>
          <a:blip r:embed="rId3"/>
          <a:srcRect/>
          <a:stretch>
            <a:fillRect/>
          </a:stretch>
        </p:blipFill>
        <p:spPr bwMode="auto">
          <a:xfrm>
            <a:off x="1295400" y="5105400"/>
            <a:ext cx="4457700" cy="393700"/>
          </a:xfrm>
          <a:prstGeom prst="rect">
            <a:avLst/>
          </a:prstGeom>
          <a:noFill/>
          <a:ln w="9525">
            <a:noFill/>
            <a:miter lim="800000"/>
            <a:headEnd/>
            <a:tailEnd/>
          </a:ln>
        </p:spPr>
      </p:pic>
      <p:sp>
        <p:nvSpPr>
          <p:cNvPr id="19463" name="Oval 6"/>
          <p:cNvSpPr>
            <a:spLocks noChangeArrowheads="1"/>
          </p:cNvSpPr>
          <p:nvPr/>
        </p:nvSpPr>
        <p:spPr bwMode="auto">
          <a:xfrm>
            <a:off x="1928794" y="2143116"/>
            <a:ext cx="1295400" cy="3810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19464" name="Text Box 7"/>
          <p:cNvSpPr txBox="1">
            <a:spLocks noChangeArrowheads="1"/>
          </p:cNvSpPr>
          <p:nvPr/>
        </p:nvSpPr>
        <p:spPr bwMode="auto">
          <a:xfrm>
            <a:off x="2438400" y="3124200"/>
            <a:ext cx="4191000" cy="366713"/>
          </a:xfrm>
          <a:prstGeom prst="rect">
            <a:avLst/>
          </a:prstGeom>
          <a:noFill/>
          <a:ln w="9525">
            <a:noFill/>
            <a:miter lim="800000"/>
            <a:headEnd/>
            <a:tailEnd/>
          </a:ln>
        </p:spPr>
        <p:txBody>
          <a:bodyPr>
            <a:spAutoFit/>
          </a:bodyPr>
          <a:lstStyle/>
          <a:p>
            <a:r>
              <a:rPr lang="en-US">
                <a:solidFill>
                  <a:srgbClr val="008080"/>
                </a:solidFill>
              </a:rPr>
              <a:t>class selector: begins with a period . </a:t>
            </a:r>
          </a:p>
        </p:txBody>
      </p:sp>
      <p:pic>
        <p:nvPicPr>
          <p:cNvPr id="19465" name="Picture 8"/>
          <p:cNvPicPr>
            <a:picLocks noChangeAspect="1" noChangeArrowheads="1"/>
          </p:cNvPicPr>
          <p:nvPr/>
        </p:nvPicPr>
        <p:blipFill>
          <a:blip r:embed="rId4"/>
          <a:srcRect/>
          <a:stretch>
            <a:fillRect/>
          </a:stretch>
        </p:blipFill>
        <p:spPr bwMode="auto">
          <a:xfrm>
            <a:off x="1295400" y="4286256"/>
            <a:ext cx="4706938" cy="642942"/>
          </a:xfrm>
          <a:prstGeom prst="rect">
            <a:avLst/>
          </a:prstGeom>
          <a:noFill/>
          <a:ln w="9525">
            <a:noFill/>
            <a:miter lim="800000"/>
            <a:headEnd/>
            <a:tailEnd/>
          </a:ln>
        </p:spPr>
      </p:pic>
      <p:pic>
        <p:nvPicPr>
          <p:cNvPr id="11" name="Picture 10" descr="E:\Master Folder 2017-18\Approved Logo by BOG\NIET logo_.png"/>
          <p:cNvPicPr/>
          <p:nvPr/>
        </p:nvPicPr>
        <p:blipFill>
          <a:blip r:embed="rId5" cstate="print"/>
          <a:srcRect/>
          <a:stretch>
            <a:fillRect/>
          </a:stretch>
        </p:blipFill>
        <p:spPr bwMode="auto">
          <a:xfrm>
            <a:off x="83820" y="83128"/>
            <a:ext cx="1287780" cy="1059872"/>
          </a:xfrm>
          <a:prstGeom prst="rect">
            <a:avLst/>
          </a:prstGeom>
          <a:noFill/>
          <a:ln w="9525">
            <a:noFill/>
            <a:miter lim="800000"/>
            <a:headEnd/>
            <a:tailEnd/>
          </a:ln>
        </p:spPr>
      </p:pic>
      <p:sp>
        <p:nvSpPr>
          <p:cNvPr id="13" name="Title 1"/>
          <p:cNvSpPr txBox="1">
            <a:spLocks/>
          </p:cNvSpPr>
          <p:nvPr/>
        </p:nvSpPr>
        <p:spPr>
          <a:xfrm>
            <a:off x="1371600" y="0"/>
            <a:ext cx="7772400" cy="92867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Properties</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4"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5"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3"/>
          <p:cNvSpPr>
            <a:spLocks noGrp="1" noChangeArrowheads="1"/>
          </p:cNvSpPr>
          <p:nvPr>
            <p:ph type="body" idx="1"/>
          </p:nvPr>
        </p:nvSpPr>
        <p:spPr/>
        <p:txBody>
          <a:bodyPr/>
          <a:lstStyle/>
          <a:p>
            <a:pPr eaLnBrk="1" hangingPunct="1"/>
            <a:r>
              <a:rPr lang="en-US" sz="2400" dirty="0"/>
              <a:t>Elements belonging to a </a:t>
            </a:r>
            <a:r>
              <a:rPr lang="en-US" sz="2400" dirty="0">
                <a:solidFill>
                  <a:schemeClr val="hlink"/>
                </a:solidFill>
              </a:rPr>
              <a:t>style class</a:t>
            </a:r>
            <a:r>
              <a:rPr lang="en-US" sz="2400" dirty="0"/>
              <a:t>:</a:t>
            </a:r>
          </a:p>
          <a:p>
            <a:pPr eaLnBrk="1" hangingPunct="1"/>
            <a:endParaRPr lang="en-US" dirty="0"/>
          </a:p>
          <a:p>
            <a:pPr lvl="1" eaLnBrk="1" hangingPunct="1"/>
            <a:r>
              <a:rPr lang="en-US" dirty="0"/>
              <a:t>Referencing a style class in HTML:</a:t>
            </a:r>
          </a:p>
          <a:p>
            <a:pPr eaLnBrk="1" hangingPunct="1">
              <a:buNone/>
            </a:pPr>
            <a:r>
              <a:rPr lang="en-US" dirty="0"/>
              <a:t>    </a:t>
            </a:r>
            <a:r>
              <a:rPr lang="en-US" sz="2400" dirty="0"/>
              <a:t>Elements of a certain type and class:</a:t>
            </a:r>
          </a:p>
        </p:txBody>
      </p:sp>
      <p:pic>
        <p:nvPicPr>
          <p:cNvPr id="20485" name="Picture 4"/>
          <p:cNvPicPr>
            <a:picLocks noChangeAspect="1" noChangeArrowheads="1"/>
          </p:cNvPicPr>
          <p:nvPr/>
        </p:nvPicPr>
        <p:blipFill>
          <a:blip r:embed="rId2"/>
          <a:srcRect/>
          <a:stretch>
            <a:fillRect/>
          </a:stretch>
        </p:blipFill>
        <p:spPr bwMode="auto">
          <a:xfrm>
            <a:off x="1295400" y="2819400"/>
            <a:ext cx="4576763" cy="330200"/>
          </a:xfrm>
          <a:prstGeom prst="rect">
            <a:avLst/>
          </a:prstGeom>
          <a:noFill/>
          <a:ln w="9525">
            <a:noFill/>
            <a:miter lim="800000"/>
            <a:headEnd/>
            <a:tailEnd/>
          </a:ln>
        </p:spPr>
      </p:pic>
      <p:pic>
        <p:nvPicPr>
          <p:cNvPr id="20486" name="Picture 5"/>
          <p:cNvPicPr>
            <a:picLocks noChangeAspect="1" noChangeArrowheads="1"/>
          </p:cNvPicPr>
          <p:nvPr/>
        </p:nvPicPr>
        <p:blipFill>
          <a:blip r:embed="rId3"/>
          <a:srcRect/>
          <a:stretch>
            <a:fillRect/>
          </a:stretch>
        </p:blipFill>
        <p:spPr bwMode="auto">
          <a:xfrm>
            <a:off x="1295400" y="5105400"/>
            <a:ext cx="4457700" cy="393700"/>
          </a:xfrm>
          <a:prstGeom prst="rect">
            <a:avLst/>
          </a:prstGeom>
          <a:noFill/>
          <a:ln w="9525">
            <a:noFill/>
            <a:miter lim="800000"/>
            <a:headEnd/>
            <a:tailEnd/>
          </a:ln>
        </p:spPr>
      </p:pic>
      <p:pic>
        <p:nvPicPr>
          <p:cNvPr id="20487" name="Picture 8"/>
          <p:cNvPicPr>
            <a:picLocks noChangeAspect="1" noChangeArrowheads="1"/>
          </p:cNvPicPr>
          <p:nvPr/>
        </p:nvPicPr>
        <p:blipFill>
          <a:blip r:embed="rId4"/>
          <a:srcRect/>
          <a:stretch>
            <a:fillRect/>
          </a:stretch>
        </p:blipFill>
        <p:spPr bwMode="auto">
          <a:xfrm>
            <a:off x="1295400" y="3962400"/>
            <a:ext cx="4706938" cy="377825"/>
          </a:xfrm>
          <a:prstGeom prst="rect">
            <a:avLst/>
          </a:prstGeom>
          <a:noFill/>
          <a:ln w="9525">
            <a:noFill/>
            <a:miter lim="800000"/>
            <a:headEnd/>
            <a:tailEnd/>
          </a:ln>
        </p:spPr>
      </p:pic>
      <p:sp>
        <p:nvSpPr>
          <p:cNvPr id="20488" name="Oval 9"/>
          <p:cNvSpPr>
            <a:spLocks noChangeArrowheads="1"/>
          </p:cNvSpPr>
          <p:nvPr/>
        </p:nvSpPr>
        <p:spPr bwMode="auto">
          <a:xfrm>
            <a:off x="2971800" y="3962400"/>
            <a:ext cx="2819400" cy="3810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20489" name="Text Box 10"/>
          <p:cNvSpPr txBox="1">
            <a:spLocks noChangeArrowheads="1"/>
          </p:cNvSpPr>
          <p:nvPr/>
        </p:nvSpPr>
        <p:spPr bwMode="auto">
          <a:xfrm>
            <a:off x="3032125" y="4303713"/>
            <a:ext cx="4216400" cy="366712"/>
          </a:xfrm>
          <a:prstGeom prst="rect">
            <a:avLst/>
          </a:prstGeom>
          <a:noFill/>
          <a:ln w="9525">
            <a:noFill/>
            <a:miter lim="800000"/>
            <a:headEnd/>
            <a:tailEnd/>
          </a:ln>
        </p:spPr>
        <p:txBody>
          <a:bodyPr wrap="none">
            <a:spAutoFit/>
          </a:bodyPr>
          <a:lstStyle/>
          <a:p>
            <a:r>
              <a:rPr lang="en-US">
                <a:solidFill>
                  <a:srgbClr val="008080"/>
                </a:solidFill>
              </a:rPr>
              <a:t>this </a:t>
            </a:r>
            <a:r>
              <a:rPr lang="en-US">
                <a:solidFill>
                  <a:srgbClr val="008080"/>
                </a:solidFill>
                <a:latin typeface="Lucida Sans Typewriter" pitchFamily="49" charset="0"/>
              </a:rPr>
              <a:t>span</a:t>
            </a:r>
            <a:r>
              <a:rPr lang="en-US">
                <a:solidFill>
                  <a:srgbClr val="008080"/>
                </a:solidFill>
              </a:rPr>
              <a:t> belongs to three style classes</a:t>
            </a:r>
          </a:p>
        </p:txBody>
      </p:sp>
      <p:pic>
        <p:nvPicPr>
          <p:cNvPr id="11" name="Picture 10" descr="E:\Master Folder 2017-18\Approved Logo by BOG\NIET logo_.png"/>
          <p:cNvPicPr/>
          <p:nvPr/>
        </p:nvPicPr>
        <p:blipFill>
          <a:blip r:embed="rId5" cstate="print"/>
          <a:srcRect/>
          <a:stretch>
            <a:fillRect/>
          </a:stretch>
        </p:blipFill>
        <p:spPr bwMode="auto">
          <a:xfrm>
            <a:off x="83820" y="83128"/>
            <a:ext cx="1287780" cy="1059872"/>
          </a:xfrm>
          <a:prstGeom prst="rect">
            <a:avLst/>
          </a:prstGeom>
          <a:noFill/>
          <a:ln w="9525">
            <a:noFill/>
            <a:miter lim="800000"/>
            <a:headEnd/>
            <a:tailEnd/>
          </a:ln>
        </p:spPr>
      </p:pic>
      <p:sp>
        <p:nvSpPr>
          <p:cNvPr id="12"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Properties</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4"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5"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6" name="Picture 4" descr="LineOType"/>
          <p:cNvPicPr>
            <a:picLocks noChangeAspect="1" noChangeArrowheads="1"/>
          </p:cNvPicPr>
          <p:nvPr/>
        </p:nvPicPr>
        <p:blipFill>
          <a:blip r:embed="rId2"/>
          <a:srcRect/>
          <a:stretch>
            <a:fillRect/>
          </a:stretch>
        </p:blipFill>
        <p:spPr bwMode="auto">
          <a:xfrm>
            <a:off x="685800" y="2979738"/>
            <a:ext cx="7620000" cy="2663840"/>
          </a:xfrm>
          <a:prstGeom prst="rect">
            <a:avLst/>
          </a:prstGeom>
          <a:noFill/>
          <a:ln w="9525">
            <a:noFill/>
            <a:miter lim="800000"/>
            <a:headEnd/>
            <a:tailEnd/>
          </a:ln>
        </p:spPr>
      </p:pic>
      <p:sp>
        <p:nvSpPr>
          <p:cNvPr id="38917" name="Text Box 5"/>
          <p:cNvSpPr txBox="1">
            <a:spLocks noChangeArrowheads="1"/>
          </p:cNvSpPr>
          <p:nvPr/>
        </p:nvSpPr>
        <p:spPr bwMode="auto">
          <a:xfrm>
            <a:off x="2514600" y="2598738"/>
            <a:ext cx="4114800" cy="366712"/>
          </a:xfrm>
          <a:prstGeom prst="rect">
            <a:avLst/>
          </a:prstGeom>
          <a:noFill/>
          <a:ln w="9525">
            <a:noFill/>
            <a:miter lim="800000"/>
            <a:headEnd/>
            <a:tailEnd/>
          </a:ln>
        </p:spPr>
        <p:txBody>
          <a:bodyPr>
            <a:spAutoFit/>
          </a:bodyPr>
          <a:lstStyle/>
          <a:p>
            <a:r>
              <a:rPr lang="en-US"/>
              <a:t>Glyph (visual representation)</a:t>
            </a:r>
          </a:p>
        </p:txBody>
      </p:sp>
      <p:sp>
        <p:nvSpPr>
          <p:cNvPr id="38918" name="Line 6"/>
          <p:cNvSpPr>
            <a:spLocks noChangeShapeType="1"/>
          </p:cNvSpPr>
          <p:nvPr/>
        </p:nvSpPr>
        <p:spPr bwMode="auto">
          <a:xfrm flipH="1">
            <a:off x="1143000" y="2827338"/>
            <a:ext cx="1447800" cy="1676400"/>
          </a:xfrm>
          <a:prstGeom prst="line">
            <a:avLst/>
          </a:prstGeom>
          <a:noFill/>
          <a:ln w="9525">
            <a:solidFill>
              <a:schemeClr val="tx1"/>
            </a:solidFill>
            <a:round/>
            <a:headEnd/>
            <a:tailEnd type="triangle" w="med" len="med"/>
          </a:ln>
        </p:spPr>
        <p:txBody>
          <a:bodyPr/>
          <a:lstStyle/>
          <a:p>
            <a:endParaRPr lang="en-US"/>
          </a:p>
        </p:txBody>
      </p:sp>
      <p:sp>
        <p:nvSpPr>
          <p:cNvPr id="38919" name="Text Box 7"/>
          <p:cNvSpPr txBox="1">
            <a:spLocks noChangeArrowheads="1"/>
          </p:cNvSpPr>
          <p:nvPr/>
        </p:nvSpPr>
        <p:spPr bwMode="auto">
          <a:xfrm>
            <a:off x="746125" y="5911850"/>
            <a:ext cx="1606550" cy="641350"/>
          </a:xfrm>
          <a:prstGeom prst="rect">
            <a:avLst/>
          </a:prstGeom>
          <a:noFill/>
          <a:ln w="9525">
            <a:noFill/>
            <a:miter lim="800000"/>
            <a:headEnd/>
            <a:tailEnd/>
          </a:ln>
        </p:spPr>
        <p:txBody>
          <a:bodyPr wrap="none">
            <a:spAutoFit/>
          </a:bodyPr>
          <a:lstStyle/>
          <a:p>
            <a:r>
              <a:rPr lang="en-US"/>
              <a:t>character cell</a:t>
            </a:r>
          </a:p>
          <a:p>
            <a:r>
              <a:rPr lang="en-US"/>
              <a:t>(content area)</a:t>
            </a:r>
          </a:p>
        </p:txBody>
      </p:sp>
      <p:sp>
        <p:nvSpPr>
          <p:cNvPr id="38920" name="Line 8"/>
          <p:cNvSpPr>
            <a:spLocks noChangeShapeType="1"/>
          </p:cNvSpPr>
          <p:nvPr/>
        </p:nvSpPr>
        <p:spPr bwMode="auto">
          <a:xfrm flipH="1" flipV="1">
            <a:off x="1143000" y="5570538"/>
            <a:ext cx="76200" cy="381000"/>
          </a:xfrm>
          <a:prstGeom prst="line">
            <a:avLst/>
          </a:prstGeom>
          <a:noFill/>
          <a:ln w="9525">
            <a:solidFill>
              <a:schemeClr val="tx1"/>
            </a:solidFill>
            <a:round/>
            <a:headEnd/>
            <a:tailEnd type="triangle" w="med" len="med"/>
          </a:ln>
        </p:spPr>
        <p:txBody>
          <a:bodyPr/>
          <a:lstStyle/>
          <a:p>
            <a:endParaRPr lang="en-US"/>
          </a:p>
        </p:txBody>
      </p:sp>
      <p:sp>
        <p:nvSpPr>
          <p:cNvPr id="38921" name="Rectangle 11"/>
          <p:cNvSpPr>
            <a:spLocks noGrp="1" noChangeArrowheads="1"/>
          </p:cNvSpPr>
          <p:nvPr>
            <p:ph type="body" idx="1"/>
          </p:nvPr>
        </p:nvSpPr>
        <p:spPr>
          <a:xfrm>
            <a:off x="809625" y="1428736"/>
            <a:ext cx="7958138" cy="2714644"/>
          </a:xfrm>
          <a:noFill/>
        </p:spPr>
        <p:txBody>
          <a:bodyPr>
            <a:normAutofit/>
          </a:bodyPr>
          <a:lstStyle/>
          <a:p>
            <a:pPr eaLnBrk="1" hangingPunct="1"/>
            <a:r>
              <a:rPr lang="en-US" sz="1800" dirty="0">
                <a:latin typeface="Times New Roman" pitchFamily="18" charset="0"/>
                <a:cs typeface="Times New Roman" pitchFamily="18" charset="0"/>
              </a:rPr>
              <a:t>A font is a mapping from code points to glyphs</a:t>
            </a:r>
          </a:p>
        </p:txBody>
      </p:sp>
      <p:pic>
        <p:nvPicPr>
          <p:cNvPr id="11" name="Picture 10" descr="E:\Master Folder 2017-18\Approved Logo by BOG\NIET logo_.png"/>
          <p:cNvPicPr/>
          <p:nvPr/>
        </p:nvPicPr>
        <p:blipFill>
          <a:blip r:embed="rId3" cstate="print"/>
          <a:srcRect/>
          <a:stretch>
            <a:fillRect/>
          </a:stretch>
        </p:blipFill>
        <p:spPr bwMode="auto">
          <a:xfrm>
            <a:off x="83820" y="83128"/>
            <a:ext cx="1287780" cy="1059872"/>
          </a:xfrm>
          <a:prstGeom prst="rect">
            <a:avLst/>
          </a:prstGeom>
          <a:noFill/>
          <a:ln w="9525">
            <a:noFill/>
            <a:miter lim="800000"/>
            <a:headEnd/>
            <a:tailEnd/>
          </a:ln>
        </p:spPr>
      </p:pic>
      <p:sp>
        <p:nvSpPr>
          <p:cNvPr id="12"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4"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5"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3"/>
          <p:cNvSpPr>
            <a:spLocks noGrp="1" noChangeArrowheads="1"/>
          </p:cNvSpPr>
          <p:nvPr>
            <p:ph type="body" idx="1"/>
          </p:nvPr>
        </p:nvSpPr>
        <p:spPr>
          <a:xfrm>
            <a:off x="809625" y="1909763"/>
            <a:ext cx="7958138" cy="3881437"/>
          </a:xfrm>
        </p:spPr>
        <p:txBody>
          <a:bodyPr>
            <a:normAutofit/>
          </a:bodyPr>
          <a:lstStyle/>
          <a:p>
            <a:pPr eaLnBrk="1" hangingPunct="1"/>
            <a:r>
              <a:rPr lang="en-US" sz="1800" dirty="0">
                <a:latin typeface="Times New Roman" pitchFamily="18" charset="0"/>
                <a:cs typeface="Times New Roman" pitchFamily="18" charset="0"/>
              </a:rPr>
              <a:t>A </a:t>
            </a:r>
            <a:r>
              <a:rPr lang="en-US" sz="1800" dirty="0">
                <a:solidFill>
                  <a:schemeClr val="hlink"/>
                </a:solidFill>
                <a:latin typeface="Times New Roman" pitchFamily="18" charset="0"/>
                <a:cs typeface="Times New Roman" pitchFamily="18" charset="0"/>
              </a:rPr>
              <a:t>font</a:t>
            </a:r>
            <a:r>
              <a:rPr lang="en-US" sz="1800" dirty="0">
                <a:latin typeface="Times New Roman" pitchFamily="18" charset="0"/>
                <a:cs typeface="Times New Roman" pitchFamily="18" charset="0"/>
              </a:rPr>
              <a:t> is a mapping from code points to </a:t>
            </a:r>
            <a:r>
              <a:rPr lang="en-US" sz="1800" dirty="0">
                <a:solidFill>
                  <a:schemeClr val="hlink"/>
                </a:solidFill>
                <a:latin typeface="Times New Roman" pitchFamily="18" charset="0"/>
                <a:cs typeface="Times New Roman" pitchFamily="18" charset="0"/>
              </a:rPr>
              <a:t>glyphs</a:t>
            </a:r>
          </a:p>
        </p:txBody>
      </p:sp>
      <p:pic>
        <p:nvPicPr>
          <p:cNvPr id="39941" name="Picture 4" descr="LineOType"/>
          <p:cNvPicPr>
            <a:picLocks noChangeAspect="1" noChangeArrowheads="1"/>
          </p:cNvPicPr>
          <p:nvPr/>
        </p:nvPicPr>
        <p:blipFill>
          <a:blip r:embed="rId2"/>
          <a:srcRect/>
          <a:stretch>
            <a:fillRect/>
          </a:stretch>
        </p:blipFill>
        <p:spPr bwMode="auto">
          <a:xfrm>
            <a:off x="685800" y="2857496"/>
            <a:ext cx="7620000" cy="2786082"/>
          </a:xfrm>
          <a:prstGeom prst="rect">
            <a:avLst/>
          </a:prstGeom>
          <a:noFill/>
          <a:ln w="9525">
            <a:noFill/>
            <a:miter lim="800000"/>
            <a:headEnd/>
            <a:tailEnd/>
          </a:ln>
        </p:spPr>
      </p:pic>
      <p:sp>
        <p:nvSpPr>
          <p:cNvPr id="39942" name="Text Box 9"/>
          <p:cNvSpPr txBox="1">
            <a:spLocks noChangeArrowheads="1"/>
          </p:cNvSpPr>
          <p:nvPr/>
        </p:nvSpPr>
        <p:spPr bwMode="auto">
          <a:xfrm>
            <a:off x="3108325" y="2514600"/>
            <a:ext cx="4375150" cy="366713"/>
          </a:xfrm>
          <a:prstGeom prst="rect">
            <a:avLst/>
          </a:prstGeom>
          <a:noFill/>
          <a:ln w="9525">
            <a:noFill/>
            <a:miter lim="800000"/>
            <a:headEnd/>
            <a:tailEnd/>
          </a:ln>
        </p:spPr>
        <p:txBody>
          <a:bodyPr wrap="none">
            <a:spAutoFit/>
          </a:bodyPr>
          <a:lstStyle/>
          <a:p>
            <a:r>
              <a:rPr lang="en-US"/>
              <a:t>glyphs do not necessary stay inside cells!</a:t>
            </a:r>
          </a:p>
        </p:txBody>
      </p:sp>
      <p:sp>
        <p:nvSpPr>
          <p:cNvPr id="39943" name="Line 10"/>
          <p:cNvSpPr>
            <a:spLocks noChangeShapeType="1"/>
          </p:cNvSpPr>
          <p:nvPr/>
        </p:nvSpPr>
        <p:spPr bwMode="auto">
          <a:xfrm>
            <a:off x="6324600" y="2859088"/>
            <a:ext cx="1371600" cy="914400"/>
          </a:xfrm>
          <a:prstGeom prst="line">
            <a:avLst/>
          </a:prstGeom>
          <a:noFill/>
          <a:ln w="9525">
            <a:solidFill>
              <a:schemeClr val="tx1"/>
            </a:solidFill>
            <a:round/>
            <a:headEnd/>
            <a:tailEnd type="triangle" w="med" len="med"/>
          </a:ln>
        </p:spPr>
        <p:txBody>
          <a:bodyPr/>
          <a:lstStyle/>
          <a:p>
            <a:endParaRPr lang="en-US"/>
          </a:p>
        </p:txBody>
      </p:sp>
      <p:pic>
        <p:nvPicPr>
          <p:cNvPr id="9" name="Picture 8" descr="E:\Master Folder 2017-18\Approved Logo by BOG\NIET logo_.png"/>
          <p:cNvPicPr/>
          <p:nvPr/>
        </p:nvPicPr>
        <p:blipFill>
          <a:blip r:embed="rId3" cstate="print"/>
          <a:srcRect/>
          <a:stretch>
            <a:fillRect/>
          </a:stretch>
        </p:blipFill>
        <p:spPr bwMode="auto">
          <a:xfrm>
            <a:off x="83820" y="83128"/>
            <a:ext cx="1287780" cy="1059872"/>
          </a:xfrm>
          <a:prstGeom prst="rect">
            <a:avLst/>
          </a:prstGeom>
          <a:noFill/>
          <a:ln w="9525">
            <a:noFill/>
            <a:miter lim="800000"/>
            <a:headEnd/>
            <a:tailEnd/>
          </a:ln>
        </p:spPr>
      </p:pic>
      <p:sp>
        <p:nvSpPr>
          <p:cNvPr id="10"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2"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3"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6" name="Picture 4" descr="LineOType"/>
          <p:cNvPicPr>
            <a:picLocks noChangeAspect="1" noChangeArrowheads="1"/>
          </p:cNvPicPr>
          <p:nvPr/>
        </p:nvPicPr>
        <p:blipFill>
          <a:blip r:embed="rId2"/>
          <a:srcRect/>
          <a:stretch>
            <a:fillRect/>
          </a:stretch>
        </p:blipFill>
        <p:spPr bwMode="auto">
          <a:xfrm>
            <a:off x="685800" y="2979738"/>
            <a:ext cx="7620000" cy="2938462"/>
          </a:xfrm>
          <a:prstGeom prst="rect">
            <a:avLst/>
          </a:prstGeom>
          <a:noFill/>
          <a:ln w="9525">
            <a:noFill/>
            <a:miter lim="800000"/>
            <a:headEnd/>
            <a:tailEnd/>
          </a:ln>
        </p:spPr>
      </p:pic>
      <p:sp>
        <p:nvSpPr>
          <p:cNvPr id="38917" name="Text Box 5"/>
          <p:cNvSpPr txBox="1">
            <a:spLocks noChangeArrowheads="1"/>
          </p:cNvSpPr>
          <p:nvPr/>
        </p:nvSpPr>
        <p:spPr bwMode="auto">
          <a:xfrm>
            <a:off x="2514600" y="2598738"/>
            <a:ext cx="4114800" cy="366712"/>
          </a:xfrm>
          <a:prstGeom prst="rect">
            <a:avLst/>
          </a:prstGeom>
          <a:noFill/>
          <a:ln w="9525">
            <a:noFill/>
            <a:miter lim="800000"/>
            <a:headEnd/>
            <a:tailEnd/>
          </a:ln>
        </p:spPr>
        <p:txBody>
          <a:bodyPr>
            <a:spAutoFit/>
          </a:bodyPr>
          <a:lstStyle/>
          <a:p>
            <a:r>
              <a:rPr lang="en-US"/>
              <a:t>Glyph (visual representation)</a:t>
            </a:r>
          </a:p>
        </p:txBody>
      </p:sp>
      <p:sp>
        <p:nvSpPr>
          <p:cNvPr id="38918" name="Line 6"/>
          <p:cNvSpPr>
            <a:spLocks noChangeShapeType="1"/>
          </p:cNvSpPr>
          <p:nvPr/>
        </p:nvSpPr>
        <p:spPr bwMode="auto">
          <a:xfrm flipH="1">
            <a:off x="1143000" y="2827338"/>
            <a:ext cx="1447800" cy="1676400"/>
          </a:xfrm>
          <a:prstGeom prst="line">
            <a:avLst/>
          </a:prstGeom>
          <a:noFill/>
          <a:ln w="9525">
            <a:solidFill>
              <a:schemeClr val="tx1"/>
            </a:solidFill>
            <a:round/>
            <a:headEnd/>
            <a:tailEnd type="triangle" w="med" len="med"/>
          </a:ln>
        </p:spPr>
        <p:txBody>
          <a:bodyPr/>
          <a:lstStyle/>
          <a:p>
            <a:endParaRPr lang="en-US"/>
          </a:p>
        </p:txBody>
      </p:sp>
      <p:sp>
        <p:nvSpPr>
          <p:cNvPr id="38919" name="Text Box 7"/>
          <p:cNvSpPr txBox="1">
            <a:spLocks noChangeArrowheads="1"/>
          </p:cNvSpPr>
          <p:nvPr/>
        </p:nvSpPr>
        <p:spPr bwMode="auto">
          <a:xfrm>
            <a:off x="746125" y="5911850"/>
            <a:ext cx="1606550" cy="641350"/>
          </a:xfrm>
          <a:prstGeom prst="rect">
            <a:avLst/>
          </a:prstGeom>
          <a:noFill/>
          <a:ln w="9525">
            <a:noFill/>
            <a:miter lim="800000"/>
            <a:headEnd/>
            <a:tailEnd/>
          </a:ln>
        </p:spPr>
        <p:txBody>
          <a:bodyPr wrap="none">
            <a:spAutoFit/>
          </a:bodyPr>
          <a:lstStyle/>
          <a:p>
            <a:r>
              <a:rPr lang="en-US"/>
              <a:t>character cell</a:t>
            </a:r>
          </a:p>
          <a:p>
            <a:r>
              <a:rPr lang="en-US"/>
              <a:t>(content area)</a:t>
            </a:r>
          </a:p>
        </p:txBody>
      </p:sp>
      <p:sp>
        <p:nvSpPr>
          <p:cNvPr id="38920" name="Line 8"/>
          <p:cNvSpPr>
            <a:spLocks noChangeShapeType="1"/>
          </p:cNvSpPr>
          <p:nvPr/>
        </p:nvSpPr>
        <p:spPr bwMode="auto">
          <a:xfrm flipH="1" flipV="1">
            <a:off x="1143000" y="5570538"/>
            <a:ext cx="76200" cy="381000"/>
          </a:xfrm>
          <a:prstGeom prst="line">
            <a:avLst/>
          </a:prstGeom>
          <a:noFill/>
          <a:ln w="9525">
            <a:solidFill>
              <a:schemeClr val="tx1"/>
            </a:solidFill>
            <a:round/>
            <a:headEnd/>
            <a:tailEnd type="triangle" w="med" len="med"/>
          </a:ln>
        </p:spPr>
        <p:txBody>
          <a:bodyPr/>
          <a:lstStyle/>
          <a:p>
            <a:endParaRPr lang="en-US"/>
          </a:p>
        </p:txBody>
      </p:sp>
      <p:sp>
        <p:nvSpPr>
          <p:cNvPr id="38921" name="Rectangle 11"/>
          <p:cNvSpPr>
            <a:spLocks noGrp="1" noChangeArrowheads="1"/>
          </p:cNvSpPr>
          <p:nvPr>
            <p:ph type="body" idx="1"/>
          </p:nvPr>
        </p:nvSpPr>
        <p:spPr>
          <a:xfrm>
            <a:off x="809625" y="2057400"/>
            <a:ext cx="7958138" cy="3881438"/>
          </a:xfrm>
          <a:noFill/>
        </p:spPr>
        <p:txBody>
          <a:bodyPr>
            <a:normAutofit/>
          </a:bodyPr>
          <a:lstStyle/>
          <a:p>
            <a:pPr eaLnBrk="1" hangingPunct="1"/>
            <a:r>
              <a:rPr lang="en-US" sz="1800" dirty="0">
                <a:latin typeface="Times New Roman" pitchFamily="18" charset="0"/>
                <a:cs typeface="Times New Roman" pitchFamily="18" charset="0"/>
              </a:rPr>
              <a:t>A font is a mapping from code points to glyphs</a:t>
            </a:r>
          </a:p>
        </p:txBody>
      </p:sp>
      <p:pic>
        <p:nvPicPr>
          <p:cNvPr id="11" name="Picture 10" descr="E:\Master Folder 2017-18\Approved Logo by BOG\NIET logo_.png"/>
          <p:cNvPicPr/>
          <p:nvPr/>
        </p:nvPicPr>
        <p:blipFill>
          <a:blip r:embed="rId3" cstate="print"/>
          <a:srcRect/>
          <a:stretch>
            <a:fillRect/>
          </a:stretch>
        </p:blipFill>
        <p:spPr bwMode="auto">
          <a:xfrm>
            <a:off x="83820" y="83128"/>
            <a:ext cx="1287780" cy="1059872"/>
          </a:xfrm>
          <a:prstGeom prst="rect">
            <a:avLst/>
          </a:prstGeom>
          <a:noFill/>
          <a:ln w="9525">
            <a:noFill/>
            <a:miter lim="800000"/>
            <a:headEnd/>
            <a:tailEnd/>
          </a:ln>
        </p:spPr>
      </p:pic>
      <p:sp>
        <p:nvSpPr>
          <p:cNvPr id="12"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4"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5"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3"/>
          <p:cNvSpPr>
            <a:spLocks noGrp="1" noChangeArrowheads="1"/>
          </p:cNvSpPr>
          <p:nvPr>
            <p:ph type="body" idx="1"/>
          </p:nvPr>
        </p:nvSpPr>
        <p:spPr/>
        <p:txBody>
          <a:bodyPr>
            <a:normAutofit/>
          </a:bodyPr>
          <a:lstStyle/>
          <a:p>
            <a:pPr eaLnBrk="1" hangingPunct="1"/>
            <a:r>
              <a:rPr lang="en-US" sz="1800" dirty="0">
                <a:latin typeface="Times New Roman" pitchFamily="18" charset="0"/>
                <a:cs typeface="Times New Roman" pitchFamily="18" charset="0"/>
              </a:rPr>
              <a:t>A </a:t>
            </a:r>
            <a:r>
              <a:rPr lang="en-US" sz="1800" dirty="0">
                <a:solidFill>
                  <a:schemeClr val="hlink"/>
                </a:solidFill>
                <a:latin typeface="Times New Roman" pitchFamily="18" charset="0"/>
                <a:cs typeface="Times New Roman" pitchFamily="18" charset="0"/>
              </a:rPr>
              <a:t>font family</a:t>
            </a:r>
            <a:r>
              <a:rPr lang="en-US" sz="1800" dirty="0">
                <a:latin typeface="Times New Roman" pitchFamily="18" charset="0"/>
                <a:cs typeface="Times New Roman" pitchFamily="18" charset="0"/>
              </a:rPr>
              <a:t> is a collection of related fonts (typically differ in size, weight, etc.)</a:t>
            </a:r>
          </a:p>
          <a:p>
            <a:pPr eaLnBrk="1" hangingPunct="1"/>
            <a:endParaRPr lang="en-US" sz="1800" dirty="0">
              <a:latin typeface="Times New Roman" pitchFamily="18" charset="0"/>
              <a:cs typeface="Times New Roman" pitchFamily="18" charset="0"/>
            </a:endParaRPr>
          </a:p>
          <a:p>
            <a:pPr eaLnBrk="1" hangingPunct="1"/>
            <a:r>
              <a:rPr lang="en-US" sz="1800" dirty="0">
                <a:latin typeface="Times New Roman" pitchFamily="18" charset="0"/>
                <a:cs typeface="Times New Roman" pitchFamily="18" charset="0"/>
              </a:rPr>
              <a:t>font-family property can accept a list of families, including </a:t>
            </a:r>
            <a:r>
              <a:rPr lang="en-US" sz="1800" dirty="0">
                <a:solidFill>
                  <a:schemeClr val="hlink"/>
                </a:solidFill>
                <a:latin typeface="Times New Roman" pitchFamily="18" charset="0"/>
                <a:cs typeface="Times New Roman" pitchFamily="18" charset="0"/>
              </a:rPr>
              <a:t>generic</a:t>
            </a:r>
            <a:r>
              <a:rPr lang="en-US" sz="1800" dirty="0">
                <a:latin typeface="Times New Roman" pitchFamily="18" charset="0"/>
                <a:cs typeface="Times New Roman" pitchFamily="18" charset="0"/>
              </a:rPr>
              <a:t> font families</a:t>
            </a:r>
          </a:p>
        </p:txBody>
      </p:sp>
      <p:pic>
        <p:nvPicPr>
          <p:cNvPr id="40965" name="Picture 4"/>
          <p:cNvPicPr>
            <a:picLocks noChangeAspect="1" noChangeArrowheads="1"/>
          </p:cNvPicPr>
          <p:nvPr/>
        </p:nvPicPr>
        <p:blipFill>
          <a:blip r:embed="rId2"/>
          <a:srcRect/>
          <a:stretch>
            <a:fillRect/>
          </a:stretch>
        </p:blipFill>
        <p:spPr bwMode="auto">
          <a:xfrm>
            <a:off x="928662" y="1928802"/>
            <a:ext cx="5002213" cy="306387"/>
          </a:xfrm>
          <a:prstGeom prst="rect">
            <a:avLst/>
          </a:prstGeom>
          <a:noFill/>
          <a:ln w="9525">
            <a:noFill/>
            <a:miter lim="800000"/>
            <a:headEnd/>
            <a:tailEnd/>
          </a:ln>
        </p:spPr>
      </p:pic>
      <p:pic>
        <p:nvPicPr>
          <p:cNvPr id="40966" name="Picture 5"/>
          <p:cNvPicPr>
            <a:picLocks noChangeAspect="1" noChangeArrowheads="1"/>
          </p:cNvPicPr>
          <p:nvPr/>
        </p:nvPicPr>
        <p:blipFill>
          <a:blip r:embed="rId3"/>
          <a:srcRect/>
          <a:stretch>
            <a:fillRect/>
          </a:stretch>
        </p:blipFill>
        <p:spPr bwMode="auto">
          <a:xfrm>
            <a:off x="609600" y="5119688"/>
            <a:ext cx="7650163" cy="407987"/>
          </a:xfrm>
          <a:prstGeom prst="rect">
            <a:avLst/>
          </a:prstGeom>
          <a:noFill/>
          <a:ln w="9525">
            <a:noFill/>
            <a:miter lim="800000"/>
            <a:headEnd/>
            <a:tailEnd/>
          </a:ln>
        </p:spPr>
      </p:pic>
      <p:sp>
        <p:nvSpPr>
          <p:cNvPr id="40967" name="Oval 6"/>
          <p:cNvSpPr>
            <a:spLocks noChangeArrowheads="1"/>
          </p:cNvSpPr>
          <p:nvPr/>
        </p:nvSpPr>
        <p:spPr bwMode="auto">
          <a:xfrm>
            <a:off x="2133600" y="5119688"/>
            <a:ext cx="2743200" cy="3810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40968" name="Text Box 7"/>
          <p:cNvSpPr txBox="1">
            <a:spLocks noChangeArrowheads="1"/>
          </p:cNvSpPr>
          <p:nvPr/>
        </p:nvSpPr>
        <p:spPr bwMode="auto">
          <a:xfrm>
            <a:off x="2438400" y="5576888"/>
            <a:ext cx="1720850" cy="366712"/>
          </a:xfrm>
          <a:prstGeom prst="rect">
            <a:avLst/>
          </a:prstGeom>
          <a:noFill/>
          <a:ln w="9525">
            <a:noFill/>
            <a:miter lim="800000"/>
            <a:headEnd/>
            <a:tailEnd/>
          </a:ln>
        </p:spPr>
        <p:txBody>
          <a:bodyPr wrap="none">
            <a:spAutoFit/>
          </a:bodyPr>
          <a:lstStyle/>
          <a:p>
            <a:r>
              <a:rPr lang="en-US">
                <a:solidFill>
                  <a:srgbClr val="008080"/>
                </a:solidFill>
              </a:rPr>
              <a:t>first choice font</a:t>
            </a:r>
          </a:p>
        </p:txBody>
      </p:sp>
      <p:pic>
        <p:nvPicPr>
          <p:cNvPr id="10" name="Picture 9" descr="E:\Master Folder 2017-18\Approved Logo by BOG\NIET logo_.png"/>
          <p:cNvPicPr/>
          <p:nvPr/>
        </p:nvPicPr>
        <p:blipFill>
          <a:blip r:embed="rId4" cstate="print"/>
          <a:srcRect/>
          <a:stretch>
            <a:fillRect/>
          </a:stretch>
        </p:blipFill>
        <p:spPr bwMode="auto">
          <a:xfrm>
            <a:off x="83820" y="83128"/>
            <a:ext cx="1287780" cy="1059872"/>
          </a:xfrm>
          <a:prstGeom prst="rect">
            <a:avLst/>
          </a:prstGeom>
          <a:noFill/>
          <a:ln w="9525">
            <a:noFill/>
            <a:miter lim="800000"/>
            <a:headEnd/>
            <a:tailEnd/>
          </a:ln>
        </p:spPr>
      </p:pic>
      <p:sp>
        <p:nvSpPr>
          <p:cNvPr id="11"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3"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4"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6" name="Picture 4" descr="LineOType"/>
          <p:cNvPicPr>
            <a:picLocks noChangeAspect="1" noChangeArrowheads="1"/>
          </p:cNvPicPr>
          <p:nvPr/>
        </p:nvPicPr>
        <p:blipFill>
          <a:blip r:embed="rId2"/>
          <a:srcRect/>
          <a:stretch>
            <a:fillRect/>
          </a:stretch>
        </p:blipFill>
        <p:spPr bwMode="auto">
          <a:xfrm>
            <a:off x="685800" y="2979738"/>
            <a:ext cx="7620000" cy="2938462"/>
          </a:xfrm>
          <a:prstGeom prst="rect">
            <a:avLst/>
          </a:prstGeom>
          <a:noFill/>
          <a:ln w="9525">
            <a:noFill/>
            <a:miter lim="800000"/>
            <a:headEnd/>
            <a:tailEnd/>
          </a:ln>
        </p:spPr>
      </p:pic>
      <p:sp>
        <p:nvSpPr>
          <p:cNvPr id="38917" name="Text Box 5"/>
          <p:cNvSpPr txBox="1">
            <a:spLocks noChangeArrowheads="1"/>
          </p:cNvSpPr>
          <p:nvPr/>
        </p:nvSpPr>
        <p:spPr bwMode="auto">
          <a:xfrm>
            <a:off x="2514600" y="2598738"/>
            <a:ext cx="4114800" cy="366712"/>
          </a:xfrm>
          <a:prstGeom prst="rect">
            <a:avLst/>
          </a:prstGeom>
          <a:noFill/>
          <a:ln w="9525">
            <a:noFill/>
            <a:miter lim="800000"/>
            <a:headEnd/>
            <a:tailEnd/>
          </a:ln>
        </p:spPr>
        <p:txBody>
          <a:bodyPr>
            <a:spAutoFit/>
          </a:bodyPr>
          <a:lstStyle/>
          <a:p>
            <a:r>
              <a:rPr lang="en-US"/>
              <a:t>Glyph (visual representation)</a:t>
            </a:r>
          </a:p>
        </p:txBody>
      </p:sp>
      <p:sp>
        <p:nvSpPr>
          <p:cNvPr id="38918" name="Line 6"/>
          <p:cNvSpPr>
            <a:spLocks noChangeShapeType="1"/>
          </p:cNvSpPr>
          <p:nvPr/>
        </p:nvSpPr>
        <p:spPr bwMode="auto">
          <a:xfrm flipH="1">
            <a:off x="1143000" y="2827338"/>
            <a:ext cx="1447800" cy="1676400"/>
          </a:xfrm>
          <a:prstGeom prst="line">
            <a:avLst/>
          </a:prstGeom>
          <a:noFill/>
          <a:ln w="9525">
            <a:solidFill>
              <a:schemeClr val="tx1"/>
            </a:solidFill>
            <a:round/>
            <a:headEnd/>
            <a:tailEnd type="triangle" w="med" len="med"/>
          </a:ln>
        </p:spPr>
        <p:txBody>
          <a:bodyPr/>
          <a:lstStyle/>
          <a:p>
            <a:endParaRPr lang="en-US"/>
          </a:p>
        </p:txBody>
      </p:sp>
      <p:sp>
        <p:nvSpPr>
          <p:cNvPr id="38919" name="Text Box 7"/>
          <p:cNvSpPr txBox="1">
            <a:spLocks noChangeArrowheads="1"/>
          </p:cNvSpPr>
          <p:nvPr/>
        </p:nvSpPr>
        <p:spPr bwMode="auto">
          <a:xfrm>
            <a:off x="746125" y="5911850"/>
            <a:ext cx="1606550" cy="641350"/>
          </a:xfrm>
          <a:prstGeom prst="rect">
            <a:avLst/>
          </a:prstGeom>
          <a:noFill/>
          <a:ln w="9525">
            <a:noFill/>
            <a:miter lim="800000"/>
            <a:headEnd/>
            <a:tailEnd/>
          </a:ln>
        </p:spPr>
        <p:txBody>
          <a:bodyPr wrap="none">
            <a:spAutoFit/>
          </a:bodyPr>
          <a:lstStyle/>
          <a:p>
            <a:r>
              <a:rPr lang="en-US"/>
              <a:t>character cell</a:t>
            </a:r>
          </a:p>
          <a:p>
            <a:r>
              <a:rPr lang="en-US"/>
              <a:t>(content area)</a:t>
            </a:r>
          </a:p>
        </p:txBody>
      </p:sp>
      <p:sp>
        <p:nvSpPr>
          <p:cNvPr id="38920" name="Line 8"/>
          <p:cNvSpPr>
            <a:spLocks noChangeShapeType="1"/>
          </p:cNvSpPr>
          <p:nvPr/>
        </p:nvSpPr>
        <p:spPr bwMode="auto">
          <a:xfrm flipH="1" flipV="1">
            <a:off x="1143000" y="5570538"/>
            <a:ext cx="76200" cy="381000"/>
          </a:xfrm>
          <a:prstGeom prst="line">
            <a:avLst/>
          </a:prstGeom>
          <a:noFill/>
          <a:ln w="9525">
            <a:solidFill>
              <a:schemeClr val="tx1"/>
            </a:solidFill>
            <a:round/>
            <a:headEnd/>
            <a:tailEnd type="triangle" w="med" len="med"/>
          </a:ln>
        </p:spPr>
        <p:txBody>
          <a:bodyPr/>
          <a:lstStyle/>
          <a:p>
            <a:endParaRPr lang="en-US"/>
          </a:p>
        </p:txBody>
      </p:sp>
      <p:sp>
        <p:nvSpPr>
          <p:cNvPr id="38921" name="Rectangle 11"/>
          <p:cNvSpPr>
            <a:spLocks noGrp="1" noChangeArrowheads="1"/>
          </p:cNvSpPr>
          <p:nvPr>
            <p:ph type="body" idx="1"/>
          </p:nvPr>
        </p:nvSpPr>
        <p:spPr>
          <a:xfrm>
            <a:off x="809625" y="2057400"/>
            <a:ext cx="7958138" cy="3881438"/>
          </a:xfrm>
          <a:noFill/>
        </p:spPr>
        <p:txBody>
          <a:bodyPr/>
          <a:lstStyle/>
          <a:p>
            <a:pPr eaLnBrk="1" hangingPunct="1"/>
            <a:r>
              <a:rPr lang="en-US" sz="2400" dirty="0">
                <a:latin typeface="Times New Roman" pitchFamily="18" charset="0"/>
                <a:cs typeface="Times New Roman" pitchFamily="18" charset="0"/>
              </a:rPr>
              <a:t>A font is a mapping from code points to glyphs</a:t>
            </a:r>
          </a:p>
        </p:txBody>
      </p:sp>
      <p:pic>
        <p:nvPicPr>
          <p:cNvPr id="11" name="Picture 10" descr="E:\Master Folder 2017-18\Approved Logo by BOG\NIET logo_.png"/>
          <p:cNvPicPr/>
          <p:nvPr/>
        </p:nvPicPr>
        <p:blipFill>
          <a:blip r:embed="rId3" cstate="print"/>
          <a:srcRect/>
          <a:stretch>
            <a:fillRect/>
          </a:stretch>
        </p:blipFill>
        <p:spPr bwMode="auto">
          <a:xfrm>
            <a:off x="83820" y="83128"/>
            <a:ext cx="1287780" cy="1059872"/>
          </a:xfrm>
          <a:prstGeom prst="rect">
            <a:avLst/>
          </a:prstGeom>
          <a:noFill/>
          <a:ln w="9525">
            <a:noFill/>
            <a:miter lim="800000"/>
            <a:headEnd/>
            <a:tailEnd/>
          </a:ln>
        </p:spPr>
      </p:pic>
      <p:sp>
        <p:nvSpPr>
          <p:cNvPr id="12"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4"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5"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3"/>
          <p:cNvSpPr>
            <a:spLocks noGrp="1" noChangeArrowheads="1"/>
          </p:cNvSpPr>
          <p:nvPr>
            <p:ph type="body" idx="1"/>
          </p:nvPr>
        </p:nvSpPr>
        <p:spPr/>
        <p:txBody>
          <a:bodyPr/>
          <a:lstStyle/>
          <a:p>
            <a:pPr eaLnBrk="1" hangingPunct="1"/>
            <a:r>
              <a:rPr lang="en-US" sz="2400" dirty="0">
                <a:latin typeface="Times New Roman" pitchFamily="18" charset="0"/>
                <a:cs typeface="Times New Roman" pitchFamily="18" charset="0"/>
              </a:rPr>
              <a:t>A </a:t>
            </a:r>
            <a:r>
              <a:rPr lang="en-US" sz="2400" dirty="0">
                <a:solidFill>
                  <a:schemeClr val="hlink"/>
                </a:solidFill>
                <a:latin typeface="Times New Roman" pitchFamily="18" charset="0"/>
                <a:cs typeface="Times New Roman" pitchFamily="18" charset="0"/>
              </a:rPr>
              <a:t>font family</a:t>
            </a:r>
            <a:r>
              <a:rPr lang="en-US" sz="2400" dirty="0">
                <a:latin typeface="Times New Roman" pitchFamily="18" charset="0"/>
                <a:cs typeface="Times New Roman" pitchFamily="18" charset="0"/>
              </a:rPr>
              <a:t> is a collection of related fonts (typically differ in size, weight, etc.)</a:t>
            </a:r>
          </a:p>
          <a:p>
            <a:pPr eaLnBrk="1" hangingPunct="1"/>
            <a:r>
              <a:rPr lang="en-US" sz="2400" dirty="0">
                <a:latin typeface="Times New Roman" pitchFamily="18" charset="0"/>
                <a:cs typeface="Times New Roman" pitchFamily="18" charset="0"/>
              </a:rPr>
              <a:t>font-family property can accept a list of </a:t>
            </a:r>
          </a:p>
          <a:p>
            <a:pPr eaLnBrk="1" hangingPunct="1"/>
            <a:r>
              <a:rPr lang="en-US" sz="2400" dirty="0">
                <a:latin typeface="Times New Roman" pitchFamily="18" charset="0"/>
                <a:cs typeface="Times New Roman" pitchFamily="18" charset="0"/>
              </a:rPr>
              <a:t>families, including </a:t>
            </a:r>
            <a:r>
              <a:rPr lang="en-US" sz="2400" dirty="0">
                <a:solidFill>
                  <a:schemeClr val="hlink"/>
                </a:solidFill>
                <a:latin typeface="Times New Roman" pitchFamily="18" charset="0"/>
                <a:cs typeface="Times New Roman" pitchFamily="18" charset="0"/>
              </a:rPr>
              <a:t>generic</a:t>
            </a:r>
            <a:r>
              <a:rPr lang="en-US" sz="2400" dirty="0">
                <a:latin typeface="Times New Roman" pitchFamily="18" charset="0"/>
                <a:cs typeface="Times New Roman" pitchFamily="18" charset="0"/>
              </a:rPr>
              <a:t> font families</a:t>
            </a:r>
          </a:p>
        </p:txBody>
      </p:sp>
      <p:pic>
        <p:nvPicPr>
          <p:cNvPr id="41989" name="Picture 4"/>
          <p:cNvPicPr>
            <a:picLocks noChangeAspect="1" noChangeArrowheads="1"/>
          </p:cNvPicPr>
          <p:nvPr/>
        </p:nvPicPr>
        <p:blipFill>
          <a:blip r:embed="rId2"/>
          <a:srcRect/>
          <a:stretch>
            <a:fillRect/>
          </a:stretch>
        </p:blipFill>
        <p:spPr bwMode="auto">
          <a:xfrm>
            <a:off x="914400" y="3714752"/>
            <a:ext cx="5002213" cy="428628"/>
          </a:xfrm>
          <a:prstGeom prst="rect">
            <a:avLst/>
          </a:prstGeom>
          <a:noFill/>
          <a:ln w="9525">
            <a:noFill/>
            <a:miter lim="800000"/>
            <a:headEnd/>
            <a:tailEnd/>
          </a:ln>
        </p:spPr>
      </p:pic>
      <p:pic>
        <p:nvPicPr>
          <p:cNvPr id="41990" name="Picture 5"/>
          <p:cNvPicPr>
            <a:picLocks noChangeAspect="1" noChangeArrowheads="1"/>
          </p:cNvPicPr>
          <p:nvPr/>
        </p:nvPicPr>
        <p:blipFill>
          <a:blip r:embed="rId3"/>
          <a:srcRect/>
          <a:stretch>
            <a:fillRect/>
          </a:stretch>
        </p:blipFill>
        <p:spPr bwMode="auto">
          <a:xfrm>
            <a:off x="609600" y="5181600"/>
            <a:ext cx="7650163" cy="407988"/>
          </a:xfrm>
          <a:prstGeom prst="rect">
            <a:avLst/>
          </a:prstGeom>
          <a:noFill/>
          <a:ln w="9525">
            <a:noFill/>
            <a:miter lim="800000"/>
            <a:headEnd/>
            <a:tailEnd/>
          </a:ln>
        </p:spPr>
      </p:pic>
      <p:sp>
        <p:nvSpPr>
          <p:cNvPr id="41991" name="Oval 6"/>
          <p:cNvSpPr>
            <a:spLocks noChangeArrowheads="1"/>
          </p:cNvSpPr>
          <p:nvPr/>
        </p:nvSpPr>
        <p:spPr bwMode="auto">
          <a:xfrm>
            <a:off x="4953000" y="5181600"/>
            <a:ext cx="2209800" cy="3810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41992" name="Text Box 7"/>
          <p:cNvSpPr txBox="1">
            <a:spLocks noChangeArrowheads="1"/>
          </p:cNvSpPr>
          <p:nvPr/>
        </p:nvSpPr>
        <p:spPr bwMode="auto">
          <a:xfrm>
            <a:off x="5105400" y="5638800"/>
            <a:ext cx="2089150" cy="366713"/>
          </a:xfrm>
          <a:prstGeom prst="rect">
            <a:avLst/>
          </a:prstGeom>
          <a:noFill/>
          <a:ln w="9525">
            <a:noFill/>
            <a:miter lim="800000"/>
            <a:headEnd/>
            <a:tailEnd/>
          </a:ln>
        </p:spPr>
        <p:txBody>
          <a:bodyPr wrap="none">
            <a:spAutoFit/>
          </a:bodyPr>
          <a:lstStyle/>
          <a:p>
            <a:r>
              <a:rPr lang="en-US">
                <a:solidFill>
                  <a:srgbClr val="008080"/>
                </a:solidFill>
              </a:rPr>
              <a:t>second choice font</a:t>
            </a:r>
          </a:p>
        </p:txBody>
      </p:sp>
      <p:pic>
        <p:nvPicPr>
          <p:cNvPr id="10" name="Picture 9" descr="E:\Master Folder 2017-18\Approved Logo by BOG\NIET logo_.png"/>
          <p:cNvPicPr/>
          <p:nvPr/>
        </p:nvPicPr>
        <p:blipFill>
          <a:blip r:embed="rId4" cstate="print"/>
          <a:srcRect/>
          <a:stretch>
            <a:fillRect/>
          </a:stretch>
        </p:blipFill>
        <p:spPr bwMode="auto">
          <a:xfrm>
            <a:off x="83820" y="83128"/>
            <a:ext cx="1287780" cy="1059872"/>
          </a:xfrm>
          <a:prstGeom prst="rect">
            <a:avLst/>
          </a:prstGeom>
          <a:noFill/>
          <a:ln w="9525">
            <a:noFill/>
            <a:miter lim="800000"/>
            <a:headEnd/>
            <a:tailEnd/>
          </a:ln>
        </p:spPr>
      </p:pic>
      <p:sp>
        <p:nvSpPr>
          <p:cNvPr id="11"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3"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4"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3"/>
          <p:cNvSpPr>
            <a:spLocks noGrp="1" noChangeArrowheads="1"/>
          </p:cNvSpPr>
          <p:nvPr>
            <p:ph type="body" idx="1"/>
          </p:nvPr>
        </p:nvSpPr>
        <p:spPr/>
        <p:txBody>
          <a:bodyPr>
            <a:normAutofit/>
          </a:bodyPr>
          <a:lstStyle/>
          <a:p>
            <a:pPr eaLnBrk="1" hangingPunct="1"/>
            <a:r>
              <a:rPr lang="en-US" sz="1800" dirty="0">
                <a:latin typeface="Times New Roman" pitchFamily="18" charset="0"/>
                <a:cs typeface="Times New Roman" pitchFamily="18" charset="0"/>
              </a:rPr>
              <a:t>A </a:t>
            </a:r>
            <a:r>
              <a:rPr lang="en-US" sz="1800" dirty="0">
                <a:solidFill>
                  <a:schemeClr val="hlink"/>
                </a:solidFill>
                <a:latin typeface="Times New Roman" pitchFamily="18" charset="0"/>
                <a:cs typeface="Times New Roman" pitchFamily="18" charset="0"/>
              </a:rPr>
              <a:t>font family</a:t>
            </a:r>
            <a:r>
              <a:rPr lang="en-US" sz="1800" dirty="0">
                <a:latin typeface="Times New Roman" pitchFamily="18" charset="0"/>
                <a:cs typeface="Times New Roman" pitchFamily="18" charset="0"/>
              </a:rPr>
              <a:t> is a collection of related fonts (typically differ in size, weight, etc.)</a:t>
            </a:r>
          </a:p>
          <a:p>
            <a:pPr eaLnBrk="1" hangingPunct="1"/>
            <a:endParaRPr lang="en-US" sz="1800" dirty="0">
              <a:latin typeface="Times New Roman" pitchFamily="18" charset="0"/>
              <a:cs typeface="Times New Roman" pitchFamily="18" charset="0"/>
            </a:endParaRPr>
          </a:p>
          <a:p>
            <a:pPr eaLnBrk="1" hangingPunct="1"/>
            <a:r>
              <a:rPr lang="en-US" sz="1800" dirty="0">
                <a:latin typeface="Times New Roman" pitchFamily="18" charset="0"/>
                <a:cs typeface="Times New Roman" pitchFamily="18" charset="0"/>
              </a:rPr>
              <a:t>font-family property can accept a list of families, including </a:t>
            </a:r>
            <a:r>
              <a:rPr lang="en-US" sz="1800" dirty="0">
                <a:solidFill>
                  <a:schemeClr val="hlink"/>
                </a:solidFill>
                <a:latin typeface="Times New Roman" pitchFamily="18" charset="0"/>
                <a:cs typeface="Times New Roman" pitchFamily="18" charset="0"/>
              </a:rPr>
              <a:t>generic</a:t>
            </a:r>
            <a:r>
              <a:rPr lang="en-US" sz="1800" dirty="0">
                <a:latin typeface="Times New Roman" pitchFamily="18" charset="0"/>
                <a:cs typeface="Times New Roman" pitchFamily="18" charset="0"/>
              </a:rPr>
              <a:t> font families</a:t>
            </a:r>
          </a:p>
        </p:txBody>
      </p:sp>
      <p:pic>
        <p:nvPicPr>
          <p:cNvPr id="43013" name="Picture 4"/>
          <p:cNvPicPr>
            <a:picLocks noChangeAspect="1" noChangeArrowheads="1"/>
          </p:cNvPicPr>
          <p:nvPr/>
        </p:nvPicPr>
        <p:blipFill>
          <a:blip r:embed="rId2"/>
          <a:srcRect/>
          <a:stretch>
            <a:fillRect/>
          </a:stretch>
        </p:blipFill>
        <p:spPr bwMode="auto">
          <a:xfrm>
            <a:off x="914400" y="3714752"/>
            <a:ext cx="5002213" cy="357190"/>
          </a:xfrm>
          <a:prstGeom prst="rect">
            <a:avLst/>
          </a:prstGeom>
          <a:noFill/>
          <a:ln w="9525">
            <a:noFill/>
            <a:miter lim="800000"/>
            <a:headEnd/>
            <a:tailEnd/>
          </a:ln>
        </p:spPr>
      </p:pic>
      <p:pic>
        <p:nvPicPr>
          <p:cNvPr id="43014" name="Picture 5"/>
          <p:cNvPicPr>
            <a:picLocks noChangeAspect="1" noChangeArrowheads="1"/>
          </p:cNvPicPr>
          <p:nvPr/>
        </p:nvPicPr>
        <p:blipFill>
          <a:blip r:embed="rId3"/>
          <a:srcRect/>
          <a:stretch>
            <a:fillRect/>
          </a:stretch>
        </p:blipFill>
        <p:spPr bwMode="auto">
          <a:xfrm>
            <a:off x="609600" y="5257800"/>
            <a:ext cx="7650163" cy="407988"/>
          </a:xfrm>
          <a:prstGeom prst="rect">
            <a:avLst/>
          </a:prstGeom>
          <a:noFill/>
          <a:ln w="9525">
            <a:noFill/>
            <a:miter lim="800000"/>
            <a:headEnd/>
            <a:tailEnd/>
          </a:ln>
        </p:spPr>
      </p:pic>
      <p:sp>
        <p:nvSpPr>
          <p:cNvPr id="43015" name="Oval 6"/>
          <p:cNvSpPr>
            <a:spLocks noChangeArrowheads="1"/>
          </p:cNvSpPr>
          <p:nvPr/>
        </p:nvSpPr>
        <p:spPr bwMode="auto">
          <a:xfrm>
            <a:off x="7239000" y="5257800"/>
            <a:ext cx="990600" cy="3810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43016" name="Text Box 7"/>
          <p:cNvSpPr txBox="1">
            <a:spLocks noChangeArrowheads="1"/>
          </p:cNvSpPr>
          <p:nvPr/>
        </p:nvSpPr>
        <p:spPr bwMode="auto">
          <a:xfrm>
            <a:off x="7239000" y="5638800"/>
            <a:ext cx="933450" cy="366713"/>
          </a:xfrm>
          <a:prstGeom prst="rect">
            <a:avLst/>
          </a:prstGeom>
          <a:noFill/>
          <a:ln w="9525">
            <a:noFill/>
            <a:miter lim="800000"/>
            <a:headEnd/>
            <a:tailEnd/>
          </a:ln>
        </p:spPr>
        <p:txBody>
          <a:bodyPr wrap="none">
            <a:spAutoFit/>
          </a:bodyPr>
          <a:lstStyle/>
          <a:p>
            <a:r>
              <a:rPr lang="en-US">
                <a:solidFill>
                  <a:srgbClr val="008080"/>
                </a:solidFill>
              </a:rPr>
              <a:t>generic</a:t>
            </a:r>
          </a:p>
        </p:txBody>
      </p:sp>
      <p:pic>
        <p:nvPicPr>
          <p:cNvPr id="10" name="Picture 9" descr="E:\Master Folder 2017-18\Approved Logo by BOG\NIET logo_.png"/>
          <p:cNvPicPr/>
          <p:nvPr/>
        </p:nvPicPr>
        <p:blipFill>
          <a:blip r:embed="rId4" cstate="print"/>
          <a:srcRect/>
          <a:stretch>
            <a:fillRect/>
          </a:stretch>
        </p:blipFill>
        <p:spPr bwMode="auto">
          <a:xfrm>
            <a:off x="83820" y="83128"/>
            <a:ext cx="1287780" cy="1059872"/>
          </a:xfrm>
          <a:prstGeom prst="rect">
            <a:avLst/>
          </a:prstGeom>
          <a:noFill/>
          <a:ln w="9525">
            <a:noFill/>
            <a:miter lim="800000"/>
            <a:headEnd/>
            <a:tailEnd/>
          </a:ln>
        </p:spPr>
      </p:pic>
      <p:sp>
        <p:nvSpPr>
          <p:cNvPr id="11" name="Title 1"/>
          <p:cNvSpPr txBox="1">
            <a:spLocks/>
          </p:cNvSpPr>
          <p:nvPr/>
        </p:nvSpPr>
        <p:spPr>
          <a:xfrm>
            <a:off x="1357290" y="0"/>
            <a:ext cx="778671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3"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4"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6" name="Picture 4" descr="MozillaFonts"/>
          <p:cNvPicPr>
            <a:picLocks noChangeAspect="1" noChangeArrowheads="1"/>
          </p:cNvPicPr>
          <p:nvPr/>
        </p:nvPicPr>
        <p:blipFill>
          <a:blip r:embed="rId2"/>
          <a:srcRect/>
          <a:stretch>
            <a:fillRect/>
          </a:stretch>
        </p:blipFill>
        <p:spPr bwMode="auto">
          <a:xfrm>
            <a:off x="1371600" y="1219200"/>
            <a:ext cx="6324600" cy="4853006"/>
          </a:xfrm>
          <a:prstGeom prst="rect">
            <a:avLst/>
          </a:prstGeom>
          <a:noFill/>
          <a:ln w="9525">
            <a:noFill/>
            <a:miter lim="800000"/>
            <a:headEnd/>
            <a:tailEnd/>
          </a:ln>
        </p:spPr>
      </p:pic>
      <p:sp>
        <p:nvSpPr>
          <p:cNvPr id="44037" name="Oval 5"/>
          <p:cNvSpPr>
            <a:spLocks noChangeArrowheads="1"/>
          </p:cNvSpPr>
          <p:nvPr/>
        </p:nvSpPr>
        <p:spPr bwMode="auto">
          <a:xfrm>
            <a:off x="3200400" y="3048000"/>
            <a:ext cx="1143000" cy="18288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44038" name="Text Box 6"/>
          <p:cNvSpPr txBox="1">
            <a:spLocks noChangeArrowheads="1"/>
          </p:cNvSpPr>
          <p:nvPr/>
        </p:nvSpPr>
        <p:spPr bwMode="auto">
          <a:xfrm>
            <a:off x="212725" y="2932113"/>
            <a:ext cx="1073150" cy="1190625"/>
          </a:xfrm>
          <a:prstGeom prst="rect">
            <a:avLst/>
          </a:prstGeom>
          <a:noFill/>
          <a:ln w="9525">
            <a:noFill/>
            <a:miter lim="800000"/>
            <a:headEnd/>
            <a:tailEnd/>
          </a:ln>
        </p:spPr>
        <p:txBody>
          <a:bodyPr wrap="none">
            <a:spAutoFit/>
          </a:bodyPr>
          <a:lstStyle/>
          <a:p>
            <a:r>
              <a:rPr lang="en-US">
                <a:solidFill>
                  <a:srgbClr val="008080"/>
                </a:solidFill>
              </a:rPr>
              <a:t>generic</a:t>
            </a:r>
          </a:p>
          <a:p>
            <a:r>
              <a:rPr lang="en-US">
                <a:solidFill>
                  <a:srgbClr val="008080"/>
                </a:solidFill>
              </a:rPr>
              <a:t>fonts are</a:t>
            </a:r>
          </a:p>
          <a:p>
            <a:r>
              <a:rPr lang="en-US">
                <a:solidFill>
                  <a:srgbClr val="008080"/>
                </a:solidFill>
              </a:rPr>
              <a:t>system-</a:t>
            </a:r>
          </a:p>
          <a:p>
            <a:r>
              <a:rPr lang="en-US">
                <a:solidFill>
                  <a:srgbClr val="008080"/>
                </a:solidFill>
              </a:rPr>
              <a:t>specific</a:t>
            </a:r>
          </a:p>
        </p:txBody>
      </p:sp>
      <p:sp>
        <p:nvSpPr>
          <p:cNvPr id="44039" name="Line 7"/>
          <p:cNvSpPr>
            <a:spLocks noChangeShapeType="1"/>
          </p:cNvSpPr>
          <p:nvPr/>
        </p:nvSpPr>
        <p:spPr bwMode="auto">
          <a:xfrm>
            <a:off x="1219200" y="3581400"/>
            <a:ext cx="1981200" cy="76200"/>
          </a:xfrm>
          <a:prstGeom prst="line">
            <a:avLst/>
          </a:prstGeom>
          <a:noFill/>
          <a:ln w="9525">
            <a:solidFill>
              <a:srgbClr val="008080"/>
            </a:solidFill>
            <a:round/>
            <a:headEnd/>
            <a:tailEnd type="triangle" w="med" len="med"/>
          </a:ln>
        </p:spPr>
        <p:txBody>
          <a:bodyPr/>
          <a:lstStyle/>
          <a:p>
            <a:endParaRPr lang="en-US"/>
          </a:p>
        </p:txBody>
      </p:sp>
      <p:pic>
        <p:nvPicPr>
          <p:cNvPr id="9" name="Picture 8"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10"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2"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3"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3"/>
          <p:cNvSpPr>
            <a:spLocks noGrp="1" noChangeArrowheads="1"/>
          </p:cNvSpPr>
          <p:nvPr>
            <p:ph type="body" idx="1"/>
          </p:nvPr>
        </p:nvSpPr>
        <p:spPr/>
        <p:txBody>
          <a:bodyPr>
            <a:normAutofit/>
          </a:bodyPr>
          <a:lstStyle/>
          <a:p>
            <a:pPr eaLnBrk="1" hangingPunct="1"/>
            <a:r>
              <a:rPr lang="en-US" sz="1800" dirty="0">
                <a:latin typeface="Times New Roman" pitchFamily="18" charset="0"/>
                <a:cs typeface="Times New Roman" pitchFamily="18" charset="0"/>
              </a:rPr>
              <a:t>Note that most generic font can be easily set on Firefox and Chrome, but such option doesn’t seem to be available on IE 7 and 8. IE will still default to something although maybe not what you had hoped for!</a:t>
            </a:r>
          </a:p>
        </p:txBody>
      </p:sp>
      <p:pic>
        <p:nvPicPr>
          <p:cNvPr id="6" name="Picture 5" descr="E:\Master Folder 2017-18\Approved Logo by BOG\NIET logo_.png"/>
          <p:cNvPicPr/>
          <p:nvPr/>
        </p:nvPicPr>
        <p:blipFill>
          <a:blip r:embed="rId2" cstate="print"/>
          <a:srcRect/>
          <a:stretch>
            <a:fillRect/>
          </a:stretch>
        </p:blipFill>
        <p:spPr bwMode="auto">
          <a:xfrm>
            <a:off x="0" y="0"/>
            <a:ext cx="1785918" cy="1143000"/>
          </a:xfrm>
          <a:prstGeom prst="rect">
            <a:avLst/>
          </a:prstGeom>
          <a:noFill/>
          <a:ln w="9525">
            <a:noFill/>
            <a:miter lim="800000"/>
            <a:headEnd/>
            <a:tailEnd/>
          </a:ln>
        </p:spPr>
      </p:pic>
      <p:sp>
        <p:nvSpPr>
          <p:cNvPr id="8"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9"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6" name="Picture 4" descr="MozillaFonts"/>
          <p:cNvPicPr>
            <a:picLocks noChangeAspect="1" noChangeArrowheads="1"/>
          </p:cNvPicPr>
          <p:nvPr/>
        </p:nvPicPr>
        <p:blipFill>
          <a:blip r:embed="rId2"/>
          <a:srcRect/>
          <a:stretch>
            <a:fillRect/>
          </a:stretch>
        </p:blipFill>
        <p:spPr bwMode="auto">
          <a:xfrm>
            <a:off x="1371600" y="1219200"/>
            <a:ext cx="6324600" cy="4853006"/>
          </a:xfrm>
          <a:prstGeom prst="rect">
            <a:avLst/>
          </a:prstGeom>
          <a:noFill/>
          <a:ln w="9525">
            <a:noFill/>
            <a:miter lim="800000"/>
            <a:headEnd/>
            <a:tailEnd/>
          </a:ln>
        </p:spPr>
      </p:pic>
      <p:sp>
        <p:nvSpPr>
          <p:cNvPr id="44037" name="Oval 5"/>
          <p:cNvSpPr>
            <a:spLocks noChangeArrowheads="1"/>
          </p:cNvSpPr>
          <p:nvPr/>
        </p:nvSpPr>
        <p:spPr bwMode="auto">
          <a:xfrm>
            <a:off x="3200400" y="3048000"/>
            <a:ext cx="1143000" cy="18288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44038" name="Text Box 6"/>
          <p:cNvSpPr txBox="1">
            <a:spLocks noChangeArrowheads="1"/>
          </p:cNvSpPr>
          <p:nvPr/>
        </p:nvSpPr>
        <p:spPr bwMode="auto">
          <a:xfrm>
            <a:off x="212725" y="2932113"/>
            <a:ext cx="1073150" cy="1190625"/>
          </a:xfrm>
          <a:prstGeom prst="rect">
            <a:avLst/>
          </a:prstGeom>
          <a:noFill/>
          <a:ln w="9525">
            <a:noFill/>
            <a:miter lim="800000"/>
            <a:headEnd/>
            <a:tailEnd/>
          </a:ln>
        </p:spPr>
        <p:txBody>
          <a:bodyPr wrap="none">
            <a:spAutoFit/>
          </a:bodyPr>
          <a:lstStyle/>
          <a:p>
            <a:r>
              <a:rPr lang="en-US">
                <a:solidFill>
                  <a:srgbClr val="008080"/>
                </a:solidFill>
              </a:rPr>
              <a:t>generic</a:t>
            </a:r>
          </a:p>
          <a:p>
            <a:r>
              <a:rPr lang="en-US">
                <a:solidFill>
                  <a:srgbClr val="008080"/>
                </a:solidFill>
              </a:rPr>
              <a:t>fonts are</a:t>
            </a:r>
          </a:p>
          <a:p>
            <a:r>
              <a:rPr lang="en-US">
                <a:solidFill>
                  <a:srgbClr val="008080"/>
                </a:solidFill>
              </a:rPr>
              <a:t>system-</a:t>
            </a:r>
          </a:p>
          <a:p>
            <a:r>
              <a:rPr lang="en-US">
                <a:solidFill>
                  <a:srgbClr val="008080"/>
                </a:solidFill>
              </a:rPr>
              <a:t>specific</a:t>
            </a:r>
          </a:p>
        </p:txBody>
      </p:sp>
      <p:sp>
        <p:nvSpPr>
          <p:cNvPr id="44039" name="Line 7"/>
          <p:cNvSpPr>
            <a:spLocks noChangeShapeType="1"/>
          </p:cNvSpPr>
          <p:nvPr/>
        </p:nvSpPr>
        <p:spPr bwMode="auto">
          <a:xfrm>
            <a:off x="1219200" y="3581400"/>
            <a:ext cx="1981200" cy="76200"/>
          </a:xfrm>
          <a:prstGeom prst="line">
            <a:avLst/>
          </a:prstGeom>
          <a:noFill/>
          <a:ln w="9525">
            <a:solidFill>
              <a:srgbClr val="008080"/>
            </a:solidFill>
            <a:round/>
            <a:headEnd/>
            <a:tailEnd type="triangle" w="med" len="med"/>
          </a:ln>
        </p:spPr>
        <p:txBody>
          <a:bodyPr/>
          <a:lstStyle/>
          <a:p>
            <a:endParaRPr lang="en-US"/>
          </a:p>
        </p:txBody>
      </p:sp>
      <p:pic>
        <p:nvPicPr>
          <p:cNvPr id="9" name="Picture 8"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10"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2"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3"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body" idx="1"/>
          </p:nvPr>
        </p:nvSpPr>
        <p:spPr/>
        <p:txBody>
          <a:bodyPr>
            <a:normAutofit/>
          </a:bodyPr>
          <a:lstStyle/>
          <a:p>
            <a:pPr eaLnBrk="1" hangingPunct="1"/>
            <a:r>
              <a:rPr lang="en-US" sz="1800" dirty="0">
                <a:latin typeface="Times New Roman" pitchFamily="18" charset="0"/>
                <a:cs typeface="Times New Roman" pitchFamily="18" charset="0"/>
              </a:rPr>
              <a:t>Many properties, such as font-size, have a value that is a </a:t>
            </a:r>
            <a:r>
              <a:rPr lang="en-US" sz="1800" dirty="0">
                <a:solidFill>
                  <a:schemeClr val="hlink"/>
                </a:solidFill>
                <a:latin typeface="Times New Roman" pitchFamily="18" charset="0"/>
                <a:cs typeface="Times New Roman" pitchFamily="18" charset="0"/>
              </a:rPr>
              <a:t>CSS length</a:t>
            </a:r>
          </a:p>
          <a:p>
            <a:pPr eaLnBrk="1" hangingPunct="1"/>
            <a:r>
              <a:rPr lang="en-US" sz="1800" dirty="0">
                <a:latin typeface="Times New Roman" pitchFamily="18" charset="0"/>
                <a:cs typeface="Times New Roman" pitchFamily="18" charset="0"/>
              </a:rPr>
              <a:t>All CSS length values except 0 need units</a:t>
            </a:r>
          </a:p>
        </p:txBody>
      </p:sp>
      <p:pic>
        <p:nvPicPr>
          <p:cNvPr id="46085" name="Picture 4"/>
          <p:cNvPicPr>
            <a:picLocks noChangeAspect="1" noChangeArrowheads="1"/>
          </p:cNvPicPr>
          <p:nvPr/>
        </p:nvPicPr>
        <p:blipFill>
          <a:blip r:embed="rId2"/>
          <a:srcRect/>
          <a:stretch>
            <a:fillRect/>
          </a:stretch>
        </p:blipFill>
        <p:spPr bwMode="auto">
          <a:xfrm>
            <a:off x="1219200" y="3000372"/>
            <a:ext cx="6781800" cy="3286148"/>
          </a:xfrm>
          <a:prstGeom prst="rect">
            <a:avLst/>
          </a:prstGeom>
          <a:noFill/>
          <a:ln w="9525">
            <a:noFill/>
            <a:miter lim="800000"/>
            <a:headEnd/>
            <a:tailEnd/>
          </a:ln>
        </p:spPr>
      </p:pic>
      <p:pic>
        <p:nvPicPr>
          <p:cNvPr id="7" name="Picture 6"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8"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0"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1"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8" name="Picture 4" descr="FontQuantities"/>
          <p:cNvPicPr>
            <a:picLocks noChangeAspect="1" noChangeArrowheads="1"/>
          </p:cNvPicPr>
          <p:nvPr/>
        </p:nvPicPr>
        <p:blipFill>
          <a:blip r:embed="rId2"/>
          <a:srcRect/>
          <a:stretch>
            <a:fillRect/>
          </a:stretch>
        </p:blipFill>
        <p:spPr bwMode="auto">
          <a:xfrm>
            <a:off x="1524000" y="2438400"/>
            <a:ext cx="7620000" cy="2805113"/>
          </a:xfrm>
          <a:prstGeom prst="rect">
            <a:avLst/>
          </a:prstGeom>
          <a:noFill/>
          <a:ln w="9525">
            <a:noFill/>
            <a:miter lim="800000"/>
            <a:headEnd/>
            <a:tailEnd/>
          </a:ln>
        </p:spPr>
      </p:pic>
      <p:sp>
        <p:nvSpPr>
          <p:cNvPr id="47109" name="Oval 5"/>
          <p:cNvSpPr>
            <a:spLocks noChangeArrowheads="1"/>
          </p:cNvSpPr>
          <p:nvPr/>
        </p:nvSpPr>
        <p:spPr bwMode="auto">
          <a:xfrm>
            <a:off x="1524000" y="3124200"/>
            <a:ext cx="685800" cy="5334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47110" name="Text Box 6"/>
          <p:cNvSpPr txBox="1">
            <a:spLocks noChangeArrowheads="1"/>
          </p:cNvSpPr>
          <p:nvPr/>
        </p:nvSpPr>
        <p:spPr bwMode="auto">
          <a:xfrm>
            <a:off x="304800" y="2438400"/>
            <a:ext cx="1847850" cy="915988"/>
          </a:xfrm>
          <a:prstGeom prst="rect">
            <a:avLst/>
          </a:prstGeom>
          <a:noFill/>
          <a:ln w="9525">
            <a:noFill/>
            <a:miter lim="800000"/>
            <a:headEnd/>
            <a:tailEnd/>
          </a:ln>
        </p:spPr>
        <p:txBody>
          <a:bodyPr wrap="none">
            <a:spAutoFit/>
          </a:bodyPr>
          <a:lstStyle/>
          <a:p>
            <a:r>
              <a:rPr lang="en-US">
                <a:solidFill>
                  <a:srgbClr val="008080"/>
                </a:solidFill>
              </a:rPr>
              <a:t>Computed value</a:t>
            </a:r>
          </a:p>
          <a:p>
            <a:r>
              <a:rPr lang="en-US">
                <a:solidFill>
                  <a:srgbClr val="008080"/>
                </a:solidFill>
              </a:rPr>
              <a:t>of </a:t>
            </a:r>
            <a:r>
              <a:rPr lang="en-US">
                <a:solidFill>
                  <a:srgbClr val="008080"/>
                </a:solidFill>
                <a:latin typeface="Lucida Sans Typewriter" pitchFamily="49" charset="0"/>
              </a:rPr>
              <a:t>font-size</a:t>
            </a:r>
            <a:r>
              <a:rPr lang="en-US">
                <a:solidFill>
                  <a:srgbClr val="008080"/>
                </a:solidFill>
              </a:rPr>
              <a:t> </a:t>
            </a:r>
            <a:br>
              <a:rPr lang="en-US">
                <a:solidFill>
                  <a:srgbClr val="008080"/>
                </a:solidFill>
              </a:rPr>
            </a:br>
            <a:r>
              <a:rPr lang="en-US">
                <a:solidFill>
                  <a:srgbClr val="008080"/>
                </a:solidFill>
              </a:rPr>
              <a:t>property</a:t>
            </a:r>
          </a:p>
        </p:txBody>
      </p:sp>
      <p:pic>
        <p:nvPicPr>
          <p:cNvPr id="8" name="Picture 7"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9"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1"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2"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3"/>
          <p:cNvSpPr>
            <a:spLocks noGrp="1" noChangeArrowheads="1"/>
          </p:cNvSpPr>
          <p:nvPr>
            <p:ph type="body" idx="1"/>
          </p:nvPr>
        </p:nvSpPr>
        <p:spPr/>
        <p:txBody>
          <a:bodyPr>
            <a:normAutofit/>
          </a:bodyPr>
          <a:lstStyle/>
          <a:p>
            <a:pPr eaLnBrk="1" hangingPunct="1"/>
            <a:r>
              <a:rPr lang="en-US" sz="1800" dirty="0">
                <a:solidFill>
                  <a:schemeClr val="accent2"/>
                </a:solidFill>
                <a:latin typeface="Times New Roman" pitchFamily="18" charset="0"/>
                <a:cs typeface="Times New Roman" pitchFamily="18" charset="0"/>
              </a:rPr>
              <a:t>Reference font</a:t>
            </a:r>
            <a:r>
              <a:rPr lang="en-US" sz="1800" dirty="0">
                <a:latin typeface="Times New Roman" pitchFamily="18" charset="0"/>
                <a:cs typeface="Times New Roman" pitchFamily="18" charset="0"/>
              </a:rPr>
              <a:t> defines </a:t>
            </a:r>
            <a:r>
              <a:rPr lang="en-US" sz="1800" dirty="0" err="1">
                <a:latin typeface="Times New Roman" pitchFamily="18" charset="0"/>
                <a:cs typeface="Times New Roman" pitchFamily="18" charset="0"/>
              </a:rPr>
              <a:t>em</a:t>
            </a:r>
            <a:r>
              <a:rPr lang="en-US" sz="1800" dirty="0">
                <a:latin typeface="Times New Roman" pitchFamily="18" charset="0"/>
                <a:cs typeface="Times New Roman" pitchFamily="18" charset="0"/>
              </a:rPr>
              <a:t> and ex units</a:t>
            </a:r>
          </a:p>
          <a:p>
            <a:pPr lvl="1" eaLnBrk="1" hangingPunct="1"/>
            <a:r>
              <a:rPr lang="en-US" sz="1800" dirty="0">
                <a:latin typeface="Times New Roman" pitchFamily="18" charset="0"/>
                <a:cs typeface="Times New Roman" pitchFamily="18" charset="0"/>
              </a:rPr>
              <a:t>Normally, reference font is the font of the element being styled</a:t>
            </a:r>
          </a:p>
          <a:p>
            <a:pPr lvl="1" eaLnBrk="1" hangingPunct="1"/>
            <a:r>
              <a:rPr lang="en-US" sz="1800" dirty="0">
                <a:latin typeface="Times New Roman" pitchFamily="18" charset="0"/>
                <a:cs typeface="Times New Roman" pitchFamily="18" charset="0"/>
              </a:rPr>
              <a:t>Exception: Using </a:t>
            </a:r>
            <a:r>
              <a:rPr lang="en-US" sz="1800" dirty="0" err="1">
                <a:latin typeface="Times New Roman" pitchFamily="18" charset="0"/>
                <a:cs typeface="Times New Roman" pitchFamily="18" charset="0"/>
              </a:rPr>
              <a:t>em</a:t>
            </a:r>
            <a:r>
              <a:rPr lang="en-US" sz="1800" dirty="0">
                <a:latin typeface="Times New Roman" pitchFamily="18" charset="0"/>
                <a:cs typeface="Times New Roman" pitchFamily="18" charset="0"/>
              </a:rPr>
              <a:t>/ex to specify value for font-size</a:t>
            </a:r>
          </a:p>
        </p:txBody>
      </p:sp>
      <p:pic>
        <p:nvPicPr>
          <p:cNvPr id="48133" name="Picture 4"/>
          <p:cNvPicPr>
            <a:picLocks noChangeAspect="1" noChangeArrowheads="1"/>
          </p:cNvPicPr>
          <p:nvPr/>
        </p:nvPicPr>
        <p:blipFill>
          <a:blip r:embed="rId2"/>
          <a:srcRect/>
          <a:stretch>
            <a:fillRect/>
          </a:stretch>
        </p:blipFill>
        <p:spPr bwMode="auto">
          <a:xfrm>
            <a:off x="1752600" y="3143248"/>
            <a:ext cx="5257800" cy="1785950"/>
          </a:xfrm>
          <a:prstGeom prst="rect">
            <a:avLst/>
          </a:prstGeom>
          <a:noFill/>
          <a:ln w="9525">
            <a:noFill/>
            <a:miter lim="800000"/>
            <a:headEnd/>
            <a:tailEnd/>
          </a:ln>
        </p:spPr>
      </p:pic>
      <p:sp>
        <p:nvSpPr>
          <p:cNvPr id="48134" name="Oval 5"/>
          <p:cNvSpPr>
            <a:spLocks noChangeArrowheads="1"/>
          </p:cNvSpPr>
          <p:nvPr/>
        </p:nvSpPr>
        <p:spPr bwMode="auto">
          <a:xfrm>
            <a:off x="6172200" y="5105400"/>
            <a:ext cx="533400" cy="3810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48135" name="Text Box 6"/>
          <p:cNvSpPr txBox="1">
            <a:spLocks noChangeArrowheads="1"/>
          </p:cNvSpPr>
          <p:nvPr/>
        </p:nvSpPr>
        <p:spPr bwMode="auto">
          <a:xfrm>
            <a:off x="5241925" y="5599113"/>
            <a:ext cx="2546350" cy="641350"/>
          </a:xfrm>
          <a:prstGeom prst="rect">
            <a:avLst/>
          </a:prstGeom>
          <a:noFill/>
          <a:ln w="9525">
            <a:noFill/>
            <a:miter lim="800000"/>
            <a:headEnd/>
            <a:tailEnd/>
          </a:ln>
        </p:spPr>
        <p:txBody>
          <a:bodyPr wrap="none">
            <a:spAutoFit/>
          </a:bodyPr>
          <a:lstStyle/>
          <a:p>
            <a:r>
              <a:rPr lang="en-US">
                <a:solidFill>
                  <a:srgbClr val="008080"/>
                </a:solidFill>
              </a:rPr>
              <a:t>parent element’s font is</a:t>
            </a:r>
          </a:p>
          <a:p>
            <a:r>
              <a:rPr lang="en-US">
                <a:solidFill>
                  <a:srgbClr val="008080"/>
                </a:solidFill>
              </a:rPr>
              <a:t>reference font</a:t>
            </a:r>
          </a:p>
        </p:txBody>
      </p:sp>
      <p:pic>
        <p:nvPicPr>
          <p:cNvPr id="9" name="Picture 8"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10"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2"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3"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3"/>
          <p:cNvSpPr>
            <a:spLocks noGrp="1" noChangeArrowheads="1"/>
          </p:cNvSpPr>
          <p:nvPr>
            <p:ph type="body" idx="1"/>
          </p:nvPr>
        </p:nvSpPr>
        <p:spPr/>
        <p:txBody>
          <a:bodyPr>
            <a:normAutofit/>
          </a:bodyPr>
          <a:lstStyle/>
          <a:p>
            <a:pPr eaLnBrk="1" hangingPunct="1">
              <a:lnSpc>
                <a:spcPct val="90000"/>
              </a:lnSpc>
            </a:pPr>
            <a:r>
              <a:rPr lang="en-US" sz="2400" dirty="0">
                <a:latin typeface="Times New Roman" pitchFamily="18" charset="0"/>
                <a:cs typeface="Times New Roman" pitchFamily="18" charset="0"/>
              </a:rPr>
              <a:t>Other ways to specify value for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font-size:</a:t>
            </a:r>
          </a:p>
          <a:p>
            <a:pPr lvl="1" eaLnBrk="1" hangingPunct="1">
              <a:lnSpc>
                <a:spcPct val="90000"/>
              </a:lnSpc>
            </a:pPr>
            <a:r>
              <a:rPr lang="en-US" sz="2400" dirty="0">
                <a:solidFill>
                  <a:schemeClr val="hlink"/>
                </a:solidFill>
                <a:latin typeface="Times New Roman" pitchFamily="18" charset="0"/>
                <a:cs typeface="Times New Roman" pitchFamily="18" charset="0"/>
              </a:rPr>
              <a:t>Percentage</a:t>
            </a:r>
            <a:r>
              <a:rPr lang="en-US" sz="2400" dirty="0">
                <a:latin typeface="Times New Roman" pitchFamily="18" charset="0"/>
                <a:cs typeface="Times New Roman" pitchFamily="18" charset="0"/>
              </a:rPr>
              <a:t> (of parent font-size)</a:t>
            </a:r>
            <a:br>
              <a:rPr lang="en-US" sz="2400" dirty="0">
                <a:latin typeface="Times New Roman" pitchFamily="18" charset="0"/>
                <a:cs typeface="Times New Roman" pitchFamily="18" charset="0"/>
              </a:rPr>
            </a:br>
            <a:r>
              <a:rPr lang="en-US" sz="2400" dirty="0">
                <a:solidFill>
                  <a:schemeClr val="hlink"/>
                </a:solidFill>
                <a:latin typeface="Times New Roman" pitchFamily="18" charset="0"/>
                <a:cs typeface="Times New Roman" pitchFamily="18" charset="0"/>
              </a:rPr>
              <a:t>Absolute size</a:t>
            </a:r>
            <a:r>
              <a:rPr lang="en-US" sz="2400" dirty="0">
                <a:latin typeface="Times New Roman" pitchFamily="18" charset="0"/>
                <a:cs typeface="Times New Roman" pitchFamily="18" charset="0"/>
              </a:rPr>
              <a:t> keyword: xx-small, x-small, small, medium (initial value), large,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x-large, xx-large</a:t>
            </a:r>
          </a:p>
          <a:p>
            <a:pPr lvl="1" eaLnBrk="1" hangingPunct="1">
              <a:lnSpc>
                <a:spcPct val="90000"/>
              </a:lnSpc>
            </a:pPr>
            <a:endParaRPr lang="en-US" sz="2400" dirty="0">
              <a:latin typeface="Times New Roman" pitchFamily="18" charset="0"/>
              <a:cs typeface="Times New Roman" pitchFamily="18" charset="0"/>
            </a:endParaRPr>
          </a:p>
          <a:p>
            <a:pPr lvl="2" eaLnBrk="1" hangingPunct="1">
              <a:lnSpc>
                <a:spcPct val="90000"/>
              </a:lnSpc>
            </a:pPr>
            <a:r>
              <a:rPr lang="en-US" dirty="0">
                <a:latin typeface="Times New Roman" pitchFamily="18" charset="0"/>
                <a:cs typeface="Times New Roman" pitchFamily="18" charset="0"/>
              </a:rPr>
              <a:t>User agent specific; should differ by ~ 20%</a:t>
            </a:r>
          </a:p>
          <a:p>
            <a:pPr lvl="1" eaLnBrk="1" hangingPunct="1">
              <a:lnSpc>
                <a:spcPct val="90000"/>
              </a:lnSpc>
            </a:pPr>
            <a:r>
              <a:rPr lang="en-US" sz="2400" dirty="0">
                <a:solidFill>
                  <a:schemeClr val="hlink"/>
                </a:solidFill>
                <a:latin typeface="Times New Roman" pitchFamily="18" charset="0"/>
                <a:cs typeface="Times New Roman" pitchFamily="18" charset="0"/>
              </a:rPr>
              <a:t>Relative size</a:t>
            </a:r>
            <a:r>
              <a:rPr lang="en-US" sz="2400" dirty="0">
                <a:latin typeface="Times New Roman" pitchFamily="18" charset="0"/>
                <a:cs typeface="Times New Roman" pitchFamily="18" charset="0"/>
              </a:rPr>
              <a:t> keyword: smaller, larger</a:t>
            </a:r>
          </a:p>
          <a:p>
            <a:pPr lvl="2" eaLnBrk="1" hangingPunct="1">
              <a:lnSpc>
                <a:spcPct val="90000"/>
              </a:lnSpc>
            </a:pPr>
            <a:r>
              <a:rPr lang="en-US" dirty="0">
                <a:latin typeface="Times New Roman" pitchFamily="18" charset="0"/>
                <a:cs typeface="Times New Roman" pitchFamily="18" charset="0"/>
              </a:rPr>
              <a:t>Relative to parent element’s font</a:t>
            </a:r>
          </a:p>
        </p:txBody>
      </p:sp>
      <p:pic>
        <p:nvPicPr>
          <p:cNvPr id="49157" name="Picture 4"/>
          <p:cNvPicPr>
            <a:picLocks noChangeAspect="1" noChangeArrowheads="1"/>
          </p:cNvPicPr>
          <p:nvPr/>
        </p:nvPicPr>
        <p:blipFill>
          <a:blip r:embed="rId2"/>
          <a:srcRect/>
          <a:stretch>
            <a:fillRect/>
          </a:stretch>
        </p:blipFill>
        <p:spPr bwMode="auto">
          <a:xfrm>
            <a:off x="1600200" y="3706813"/>
            <a:ext cx="1906588" cy="331787"/>
          </a:xfrm>
          <a:prstGeom prst="rect">
            <a:avLst/>
          </a:prstGeom>
          <a:noFill/>
          <a:ln w="9525">
            <a:noFill/>
            <a:miter lim="800000"/>
            <a:headEnd/>
            <a:tailEnd/>
          </a:ln>
        </p:spPr>
      </p:pic>
      <p:pic>
        <p:nvPicPr>
          <p:cNvPr id="7" name="Picture 6"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8"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0"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1"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0" name="Picture 4"/>
          <p:cNvPicPr>
            <a:picLocks noChangeAspect="1" noChangeArrowheads="1"/>
          </p:cNvPicPr>
          <p:nvPr/>
        </p:nvPicPr>
        <p:blipFill>
          <a:blip r:embed="rId2"/>
          <a:srcRect/>
          <a:stretch>
            <a:fillRect/>
          </a:stretch>
        </p:blipFill>
        <p:spPr bwMode="auto">
          <a:xfrm>
            <a:off x="381000" y="2027238"/>
            <a:ext cx="8229600" cy="3460750"/>
          </a:xfrm>
          <a:prstGeom prst="rect">
            <a:avLst/>
          </a:prstGeom>
          <a:noFill/>
          <a:ln w="9525">
            <a:noFill/>
            <a:miter lim="800000"/>
            <a:headEnd/>
            <a:tailEnd/>
          </a:ln>
        </p:spPr>
      </p:pic>
      <p:sp>
        <p:nvSpPr>
          <p:cNvPr id="7"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8"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42</a:t>
            </a:fld>
            <a:endParaRPr lang="en-US" dirty="0"/>
          </a:p>
        </p:txBody>
      </p:sp>
      <p:pic>
        <p:nvPicPr>
          <p:cNvPr id="9" name="Picture 8"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10"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3"/>
          <p:cNvSpPr>
            <a:spLocks noGrp="1" noChangeArrowheads="1"/>
          </p:cNvSpPr>
          <p:nvPr>
            <p:ph type="body" idx="1"/>
          </p:nvPr>
        </p:nvSpPr>
        <p:spPr/>
        <p:txBody>
          <a:bodyPr/>
          <a:lstStyle/>
          <a:p>
            <a:pPr eaLnBrk="1" hangingPunct="1">
              <a:lnSpc>
                <a:spcPct val="90000"/>
              </a:lnSpc>
            </a:pPr>
            <a:r>
              <a:rPr lang="en-US" sz="2400" dirty="0">
                <a:latin typeface="Times New Roman" pitchFamily="18" charset="0"/>
                <a:cs typeface="Times New Roman" pitchFamily="18" charset="0"/>
              </a:rPr>
              <a:t>Text is rendered using line boxes</a:t>
            </a:r>
          </a:p>
          <a:p>
            <a:pPr eaLnBrk="1" hangingPunct="1">
              <a:lnSpc>
                <a:spcPct val="90000"/>
              </a:lnSpc>
            </a:pPr>
            <a:endParaRPr lang="en-US" sz="2400" dirty="0">
              <a:latin typeface="Times New Roman" pitchFamily="18" charset="0"/>
              <a:cs typeface="Times New Roman" pitchFamily="18" charset="0"/>
            </a:endParaRPr>
          </a:p>
          <a:p>
            <a:pPr eaLnBrk="1" hangingPunct="1">
              <a:lnSpc>
                <a:spcPct val="90000"/>
              </a:lnSpc>
            </a:pPr>
            <a:endParaRPr lang="en-US" sz="2400" dirty="0">
              <a:latin typeface="Times New Roman" pitchFamily="18" charset="0"/>
              <a:cs typeface="Times New Roman" pitchFamily="18" charset="0"/>
            </a:endParaRPr>
          </a:p>
          <a:p>
            <a:pPr eaLnBrk="1" hangingPunct="1">
              <a:lnSpc>
                <a:spcPct val="90000"/>
              </a:lnSpc>
            </a:pPr>
            <a:endParaRPr lang="en-US" sz="2400" dirty="0">
              <a:latin typeface="Times New Roman" pitchFamily="18" charset="0"/>
              <a:cs typeface="Times New Roman" pitchFamily="18" charset="0"/>
            </a:endParaRPr>
          </a:p>
          <a:p>
            <a:pPr eaLnBrk="1" hangingPunct="1">
              <a:lnSpc>
                <a:spcPct val="90000"/>
              </a:lnSpc>
            </a:pPr>
            <a:r>
              <a:rPr lang="en-US" sz="2400" dirty="0">
                <a:latin typeface="Times New Roman" pitchFamily="18" charset="0"/>
                <a:cs typeface="Times New Roman" pitchFamily="18" charset="0"/>
              </a:rPr>
              <a:t>Height of line box given by </a:t>
            </a:r>
            <a:r>
              <a:rPr lang="en-US" sz="2400" dirty="0">
                <a:solidFill>
                  <a:schemeClr val="accent2"/>
                </a:solidFill>
                <a:latin typeface="Times New Roman" pitchFamily="18" charset="0"/>
                <a:cs typeface="Times New Roman" pitchFamily="18" charset="0"/>
              </a:rPr>
              <a:t>line-height</a:t>
            </a:r>
          </a:p>
          <a:p>
            <a:pPr lvl="1" eaLnBrk="1" hangingPunct="1">
              <a:lnSpc>
                <a:spcPct val="90000"/>
              </a:lnSpc>
            </a:pPr>
            <a:r>
              <a:rPr lang="en-US" sz="2400" dirty="0">
                <a:latin typeface="Times New Roman" pitchFamily="18" charset="0"/>
                <a:cs typeface="Times New Roman" pitchFamily="18" charset="0"/>
              </a:rPr>
              <a:t>Initial value: normal (</a:t>
            </a:r>
            <a:r>
              <a:rPr lang="en-US" sz="2400" i="1" dirty="0">
                <a:latin typeface="Times New Roman" pitchFamily="18" charset="0"/>
                <a:cs typeface="Times New Roman" pitchFamily="18" charset="0"/>
              </a:rPr>
              <a:t>i.e.</a:t>
            </a:r>
            <a:r>
              <a:rPr lang="en-US" sz="2400" dirty="0">
                <a:latin typeface="Times New Roman" pitchFamily="18" charset="0"/>
                <a:cs typeface="Times New Roman" pitchFamily="18" charset="0"/>
              </a:rPr>
              <a:t>, cell height; relationship with </a:t>
            </a:r>
            <a:r>
              <a:rPr lang="en-US" sz="2400" dirty="0" err="1">
                <a:latin typeface="Times New Roman" pitchFamily="18" charset="0"/>
                <a:cs typeface="Times New Roman" pitchFamily="18" charset="0"/>
              </a:rPr>
              <a:t>em</a:t>
            </a:r>
            <a:r>
              <a:rPr lang="en-US" sz="2400" dirty="0">
                <a:latin typeface="Times New Roman" pitchFamily="18" charset="0"/>
                <a:cs typeface="Times New Roman" pitchFamily="18" charset="0"/>
              </a:rPr>
              <a:t> height is font-specific)</a:t>
            </a:r>
          </a:p>
          <a:p>
            <a:pPr lvl="1" eaLnBrk="1" hangingPunct="1">
              <a:lnSpc>
                <a:spcPct val="90000"/>
              </a:lnSpc>
            </a:pPr>
            <a:r>
              <a:rPr lang="en-US" sz="2400" dirty="0">
                <a:latin typeface="Times New Roman" pitchFamily="18" charset="0"/>
                <a:cs typeface="Times New Roman" pitchFamily="18" charset="0"/>
              </a:rPr>
              <a:t>Other values (following are equivalent):</a:t>
            </a:r>
            <a:br>
              <a:rPr lang="en-US" sz="2400" dirty="0">
                <a:latin typeface="Times New Roman" pitchFamily="18" charset="0"/>
                <a:cs typeface="Times New Roman" pitchFamily="18" charset="0"/>
              </a:rPr>
            </a:br>
            <a:br>
              <a:rPr lang="en-US" dirty="0"/>
            </a:br>
            <a:endParaRPr lang="en-US" dirty="0"/>
          </a:p>
        </p:txBody>
      </p:sp>
      <p:pic>
        <p:nvPicPr>
          <p:cNvPr id="51205" name="Picture 4" descr="LineBoxAndCells"/>
          <p:cNvPicPr>
            <a:picLocks noChangeAspect="1" noChangeArrowheads="1"/>
          </p:cNvPicPr>
          <p:nvPr/>
        </p:nvPicPr>
        <p:blipFill>
          <a:blip r:embed="rId2"/>
          <a:srcRect/>
          <a:stretch>
            <a:fillRect/>
          </a:stretch>
        </p:blipFill>
        <p:spPr bwMode="auto">
          <a:xfrm>
            <a:off x="2285984" y="2000240"/>
            <a:ext cx="3448050" cy="803275"/>
          </a:xfrm>
          <a:prstGeom prst="rect">
            <a:avLst/>
          </a:prstGeom>
          <a:noFill/>
          <a:ln w="9525">
            <a:noFill/>
            <a:miter lim="800000"/>
            <a:headEnd/>
            <a:tailEnd/>
          </a:ln>
        </p:spPr>
      </p:pic>
      <p:pic>
        <p:nvPicPr>
          <p:cNvPr id="51206" name="Picture 5"/>
          <p:cNvPicPr>
            <a:picLocks noChangeAspect="1" noChangeArrowheads="1"/>
          </p:cNvPicPr>
          <p:nvPr/>
        </p:nvPicPr>
        <p:blipFill>
          <a:blip r:embed="rId3"/>
          <a:srcRect/>
          <a:stretch>
            <a:fillRect/>
          </a:stretch>
        </p:blipFill>
        <p:spPr bwMode="auto">
          <a:xfrm>
            <a:off x="2590800" y="4929198"/>
            <a:ext cx="3276600" cy="1000132"/>
          </a:xfrm>
          <a:prstGeom prst="rect">
            <a:avLst/>
          </a:prstGeom>
          <a:noFill/>
          <a:ln w="9525">
            <a:noFill/>
            <a:miter lim="800000"/>
            <a:headEnd/>
            <a:tailEnd/>
          </a:ln>
        </p:spPr>
      </p:pic>
      <p:sp>
        <p:nvSpPr>
          <p:cNvPr id="9"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0"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43</a:t>
            </a:fld>
            <a:endParaRPr lang="en-US" dirty="0"/>
          </a:p>
        </p:txBody>
      </p:sp>
      <p:pic>
        <p:nvPicPr>
          <p:cNvPr id="11" name="Picture 10" descr="E:\Master Folder 2017-18\Approved Logo by BOG\NIET logo_.png"/>
          <p:cNvPicPr/>
          <p:nvPr/>
        </p:nvPicPr>
        <p:blipFill>
          <a:blip r:embed="rId4" cstate="print"/>
          <a:srcRect/>
          <a:stretch>
            <a:fillRect/>
          </a:stretch>
        </p:blipFill>
        <p:spPr bwMode="auto">
          <a:xfrm>
            <a:off x="83820" y="0"/>
            <a:ext cx="1487784" cy="1143000"/>
          </a:xfrm>
          <a:prstGeom prst="rect">
            <a:avLst/>
          </a:prstGeom>
          <a:noFill/>
          <a:ln w="9525">
            <a:noFill/>
            <a:miter lim="800000"/>
            <a:headEnd/>
            <a:tailEnd/>
          </a:ln>
        </p:spPr>
      </p:pic>
      <p:sp>
        <p:nvSpPr>
          <p:cNvPr id="12"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5"/>
          <p:cNvSpPr>
            <a:spLocks noGrp="1" noChangeArrowheads="1"/>
          </p:cNvSpPr>
          <p:nvPr>
            <p:ph type="body" idx="1"/>
          </p:nvPr>
        </p:nvSpPr>
        <p:spPr/>
        <p:txBody>
          <a:bodyPr>
            <a:normAutofit/>
          </a:bodyPr>
          <a:lstStyle/>
          <a:p>
            <a:pPr eaLnBrk="1" hangingPunct="1"/>
            <a:r>
              <a:rPr lang="en-US" sz="2400" dirty="0">
                <a:latin typeface="Times New Roman" pitchFamily="18" charset="0"/>
                <a:cs typeface="Times New Roman" pitchFamily="18" charset="0"/>
              </a:rPr>
              <a:t>When line-height is greater than cell height:</a:t>
            </a:r>
          </a:p>
          <a:p>
            <a:pPr eaLnBrk="1" hangingPunct="1"/>
            <a:endParaRPr lang="en-US" sz="2400" dirty="0">
              <a:latin typeface="Times New Roman" pitchFamily="18" charset="0"/>
              <a:cs typeface="Times New Roman" pitchFamily="18" charset="0"/>
            </a:endParaRPr>
          </a:p>
          <a:p>
            <a:pPr eaLnBrk="1" hangingPunct="1"/>
            <a:endParaRPr lang="en-US" sz="2400" dirty="0">
              <a:latin typeface="Times New Roman" pitchFamily="18" charset="0"/>
              <a:cs typeface="Times New Roman" pitchFamily="18" charset="0"/>
            </a:endParaRPr>
          </a:p>
          <a:p>
            <a:pPr eaLnBrk="1" hangingPunct="1"/>
            <a:endParaRPr lang="en-US" sz="2400" dirty="0">
              <a:latin typeface="Times New Roman" pitchFamily="18" charset="0"/>
              <a:cs typeface="Times New Roman" pitchFamily="18" charset="0"/>
            </a:endParaRPr>
          </a:p>
          <a:p>
            <a:pPr eaLnBrk="1" hangingPunct="1"/>
            <a:endParaRPr lang="en-US" sz="2400" dirty="0">
              <a:latin typeface="Times New Roman" pitchFamily="18" charset="0"/>
              <a:cs typeface="Times New Roman" pitchFamily="18" charset="0"/>
            </a:endParaRPr>
          </a:p>
          <a:p>
            <a:pPr eaLnBrk="1" hangingPunct="1"/>
            <a:endParaRPr lang="en-US" sz="2400" dirty="0">
              <a:latin typeface="Times New Roman" pitchFamily="18" charset="0"/>
              <a:cs typeface="Times New Roman" pitchFamily="18" charset="0"/>
            </a:endParaRPr>
          </a:p>
          <a:p>
            <a:pPr eaLnBrk="1" hangingPunct="1"/>
            <a:endParaRPr lang="en-US" sz="2400" dirty="0">
              <a:latin typeface="Times New Roman" pitchFamily="18" charset="0"/>
              <a:cs typeface="Times New Roman" pitchFamily="18" charset="0"/>
            </a:endParaRPr>
          </a:p>
          <a:p>
            <a:pPr eaLnBrk="1" hangingPunct="1"/>
            <a:r>
              <a:rPr lang="en-US" sz="2400" dirty="0">
                <a:latin typeface="Times New Roman" pitchFamily="18" charset="0"/>
                <a:cs typeface="Times New Roman" pitchFamily="18" charset="0"/>
              </a:rPr>
              <a:t>Inheritance of line-height:</a:t>
            </a:r>
          </a:p>
          <a:p>
            <a:pPr lvl="1" eaLnBrk="1" hangingPunct="1"/>
            <a:r>
              <a:rPr lang="en-US" sz="2400" dirty="0">
                <a:latin typeface="Times New Roman" pitchFamily="18" charset="0"/>
                <a:cs typeface="Times New Roman" pitchFamily="18" charset="0"/>
              </a:rPr>
              <a:t>Specified value if normal or unit-less number</a:t>
            </a:r>
          </a:p>
          <a:p>
            <a:pPr lvl="1" eaLnBrk="1" hangingPunct="1"/>
            <a:r>
              <a:rPr lang="en-US" sz="2400" dirty="0">
                <a:latin typeface="Times New Roman" pitchFamily="18" charset="0"/>
                <a:cs typeface="Times New Roman" pitchFamily="18" charset="0"/>
              </a:rPr>
              <a:t>Computed value otherwise</a:t>
            </a:r>
          </a:p>
        </p:txBody>
      </p:sp>
      <p:pic>
        <p:nvPicPr>
          <p:cNvPr id="52229" name="Picture 4" descr="HalfLeading"/>
          <p:cNvPicPr>
            <a:picLocks noChangeAspect="1" noChangeArrowheads="1"/>
          </p:cNvPicPr>
          <p:nvPr/>
        </p:nvPicPr>
        <p:blipFill>
          <a:blip r:embed="rId2"/>
          <a:srcRect/>
          <a:stretch>
            <a:fillRect/>
          </a:stretch>
        </p:blipFill>
        <p:spPr bwMode="auto">
          <a:xfrm>
            <a:off x="2667000" y="2500306"/>
            <a:ext cx="5181600" cy="1785950"/>
          </a:xfrm>
          <a:prstGeom prst="rect">
            <a:avLst/>
          </a:prstGeom>
          <a:noFill/>
          <a:ln w="9525">
            <a:noFill/>
            <a:miter lim="800000"/>
            <a:headEnd/>
            <a:tailEnd/>
          </a:ln>
        </p:spPr>
      </p:pic>
      <p:sp>
        <p:nvSpPr>
          <p:cNvPr id="8"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9"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44</a:t>
            </a:fld>
            <a:endParaRPr lang="en-US" dirty="0"/>
          </a:p>
        </p:txBody>
      </p:sp>
      <p:pic>
        <p:nvPicPr>
          <p:cNvPr id="10" name="Picture 9"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11"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3"/>
          <p:cNvSpPr>
            <a:spLocks noGrp="1" noChangeArrowheads="1"/>
          </p:cNvSpPr>
          <p:nvPr>
            <p:ph type="body" idx="1"/>
          </p:nvPr>
        </p:nvSpPr>
        <p:spPr/>
        <p:txBody>
          <a:bodyPr>
            <a:normAutofit/>
          </a:bodyPr>
          <a:lstStyle/>
          <a:p>
            <a:pPr eaLnBrk="1" hangingPunct="1"/>
            <a:r>
              <a:rPr lang="en-US" sz="2400" dirty="0">
                <a:latin typeface="Times New Roman" pitchFamily="18" charset="0"/>
                <a:cs typeface="Times New Roman" pitchFamily="18" charset="0"/>
              </a:rPr>
              <a:t>font </a:t>
            </a:r>
            <a:r>
              <a:rPr lang="en-US" sz="2400" dirty="0">
                <a:solidFill>
                  <a:schemeClr val="hlink"/>
                </a:solidFill>
                <a:latin typeface="Times New Roman" pitchFamily="18" charset="0"/>
                <a:cs typeface="Times New Roman" pitchFamily="18" charset="0"/>
              </a:rPr>
              <a:t>shortcut property</a:t>
            </a:r>
            <a:r>
              <a:rPr lang="en-US" sz="2400" dirty="0">
                <a:latin typeface="Times New Roman" pitchFamily="18" charset="0"/>
                <a:cs typeface="Times New Roman" pitchFamily="18" charset="0"/>
              </a:rPr>
              <a:t>:</a:t>
            </a:r>
          </a:p>
        </p:txBody>
      </p:sp>
      <p:pic>
        <p:nvPicPr>
          <p:cNvPr id="53253" name="Picture 4"/>
          <p:cNvPicPr>
            <a:picLocks noChangeAspect="1" noChangeArrowheads="1"/>
          </p:cNvPicPr>
          <p:nvPr/>
        </p:nvPicPr>
        <p:blipFill>
          <a:blip r:embed="rId2"/>
          <a:srcRect/>
          <a:stretch>
            <a:fillRect/>
          </a:stretch>
        </p:blipFill>
        <p:spPr bwMode="auto">
          <a:xfrm>
            <a:off x="838200" y="3048000"/>
            <a:ext cx="5603875" cy="357188"/>
          </a:xfrm>
          <a:prstGeom prst="rect">
            <a:avLst/>
          </a:prstGeom>
          <a:noFill/>
          <a:ln w="9525">
            <a:noFill/>
            <a:miter lim="800000"/>
            <a:headEnd/>
            <a:tailEnd/>
          </a:ln>
        </p:spPr>
      </p:pic>
      <p:pic>
        <p:nvPicPr>
          <p:cNvPr id="53254" name="Picture 5"/>
          <p:cNvPicPr>
            <a:picLocks noChangeAspect="1" noChangeArrowheads="1"/>
          </p:cNvPicPr>
          <p:nvPr/>
        </p:nvPicPr>
        <p:blipFill>
          <a:blip r:embed="rId3"/>
          <a:srcRect/>
          <a:stretch>
            <a:fillRect/>
          </a:stretch>
        </p:blipFill>
        <p:spPr bwMode="auto">
          <a:xfrm>
            <a:off x="838200" y="3886200"/>
            <a:ext cx="4724400" cy="1792288"/>
          </a:xfrm>
          <a:prstGeom prst="rect">
            <a:avLst/>
          </a:prstGeom>
          <a:noFill/>
          <a:ln w="9525">
            <a:noFill/>
            <a:miter lim="800000"/>
            <a:headEnd/>
            <a:tailEnd/>
          </a:ln>
        </p:spPr>
      </p:pic>
      <p:sp>
        <p:nvSpPr>
          <p:cNvPr id="53255" name="AutoShape 6"/>
          <p:cNvSpPr>
            <a:spLocks noChangeArrowheads="1"/>
          </p:cNvSpPr>
          <p:nvPr/>
        </p:nvSpPr>
        <p:spPr bwMode="auto">
          <a:xfrm>
            <a:off x="2209800" y="3505200"/>
            <a:ext cx="228600" cy="381000"/>
          </a:xfrm>
          <a:prstGeom prst="upDownArrow">
            <a:avLst>
              <a:gd name="adj1" fmla="val 50000"/>
              <a:gd name="adj2" fmla="val 33333"/>
            </a:avLst>
          </a:prstGeom>
          <a:noFill/>
          <a:ln w="9525">
            <a:solidFill>
              <a:schemeClr val="tx1"/>
            </a:solidFill>
            <a:miter lim="800000"/>
            <a:headEnd/>
            <a:tailEnd/>
          </a:ln>
        </p:spPr>
        <p:txBody>
          <a:bodyPr vert="eaVert" wrap="none" anchor="ctr"/>
          <a:lstStyle/>
          <a:p>
            <a:endParaRPr lang="en-US"/>
          </a:p>
        </p:txBody>
      </p:sp>
      <p:sp>
        <p:nvSpPr>
          <p:cNvPr id="10"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1"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45</a:t>
            </a:fld>
            <a:endParaRPr lang="en-US" dirty="0"/>
          </a:p>
        </p:txBody>
      </p:sp>
      <p:pic>
        <p:nvPicPr>
          <p:cNvPr id="12" name="Picture 11" descr="E:\Master Folder 2017-18\Approved Logo by BOG\NIET logo_.png"/>
          <p:cNvPicPr/>
          <p:nvPr/>
        </p:nvPicPr>
        <p:blipFill>
          <a:blip r:embed="rId4" cstate="print"/>
          <a:srcRect/>
          <a:stretch>
            <a:fillRect/>
          </a:stretch>
        </p:blipFill>
        <p:spPr bwMode="auto">
          <a:xfrm>
            <a:off x="83820" y="0"/>
            <a:ext cx="1487784" cy="1143000"/>
          </a:xfrm>
          <a:prstGeom prst="rect">
            <a:avLst/>
          </a:prstGeom>
          <a:noFill/>
          <a:ln w="9525">
            <a:noFill/>
            <a:miter lim="800000"/>
            <a:headEnd/>
            <a:tailEnd/>
          </a:ln>
        </p:spPr>
      </p:pic>
      <p:sp>
        <p:nvSpPr>
          <p:cNvPr id="13"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3"/>
          <p:cNvSpPr>
            <a:spLocks noGrp="1" noChangeArrowheads="1"/>
          </p:cNvSpPr>
          <p:nvPr>
            <p:ph type="body" idx="1"/>
          </p:nvPr>
        </p:nvSpPr>
        <p:spPr/>
        <p:txBody>
          <a:bodyPr>
            <a:normAutofit/>
          </a:bodyPr>
          <a:lstStyle/>
          <a:p>
            <a:pPr eaLnBrk="1" hangingPunct="1"/>
            <a:r>
              <a:rPr lang="en-US" sz="2400" dirty="0">
                <a:latin typeface="Times New Roman" pitchFamily="18" charset="0"/>
                <a:cs typeface="Times New Roman" pitchFamily="18" charset="0"/>
              </a:rPr>
              <a:t>font </a:t>
            </a:r>
            <a:r>
              <a:rPr lang="en-US" sz="2400" dirty="0">
                <a:solidFill>
                  <a:schemeClr val="hlink"/>
                </a:solidFill>
                <a:latin typeface="Times New Roman" pitchFamily="18" charset="0"/>
                <a:cs typeface="Times New Roman" pitchFamily="18" charset="0"/>
              </a:rPr>
              <a:t>shortcut property</a:t>
            </a:r>
            <a:r>
              <a:rPr lang="en-US" sz="2400" dirty="0">
                <a:latin typeface="Times New Roman" pitchFamily="18" charset="0"/>
                <a:cs typeface="Times New Roman" pitchFamily="18" charset="0"/>
              </a:rPr>
              <a:t>:</a:t>
            </a:r>
          </a:p>
        </p:txBody>
      </p:sp>
      <p:pic>
        <p:nvPicPr>
          <p:cNvPr id="54277" name="Picture 4"/>
          <p:cNvPicPr>
            <a:picLocks noChangeAspect="1" noChangeArrowheads="1"/>
          </p:cNvPicPr>
          <p:nvPr/>
        </p:nvPicPr>
        <p:blipFill>
          <a:blip r:embed="rId2"/>
          <a:srcRect/>
          <a:stretch>
            <a:fillRect/>
          </a:stretch>
        </p:blipFill>
        <p:spPr bwMode="auto">
          <a:xfrm>
            <a:off x="838200" y="3048000"/>
            <a:ext cx="5603875" cy="357188"/>
          </a:xfrm>
          <a:prstGeom prst="rect">
            <a:avLst/>
          </a:prstGeom>
          <a:noFill/>
          <a:ln w="9525">
            <a:noFill/>
            <a:miter lim="800000"/>
            <a:headEnd/>
            <a:tailEnd/>
          </a:ln>
        </p:spPr>
      </p:pic>
      <p:pic>
        <p:nvPicPr>
          <p:cNvPr id="54278" name="Picture 5"/>
          <p:cNvPicPr>
            <a:picLocks noChangeAspect="1" noChangeArrowheads="1"/>
          </p:cNvPicPr>
          <p:nvPr/>
        </p:nvPicPr>
        <p:blipFill>
          <a:blip r:embed="rId3"/>
          <a:srcRect/>
          <a:stretch>
            <a:fillRect/>
          </a:stretch>
        </p:blipFill>
        <p:spPr bwMode="auto">
          <a:xfrm>
            <a:off x="838200" y="3886200"/>
            <a:ext cx="4724400" cy="1792288"/>
          </a:xfrm>
          <a:prstGeom prst="rect">
            <a:avLst/>
          </a:prstGeom>
          <a:noFill/>
          <a:ln w="9525">
            <a:noFill/>
            <a:miter lim="800000"/>
            <a:headEnd/>
            <a:tailEnd/>
          </a:ln>
        </p:spPr>
      </p:pic>
      <p:sp>
        <p:nvSpPr>
          <p:cNvPr id="54279" name="AutoShape 6"/>
          <p:cNvSpPr>
            <a:spLocks noChangeArrowheads="1"/>
          </p:cNvSpPr>
          <p:nvPr/>
        </p:nvSpPr>
        <p:spPr bwMode="auto">
          <a:xfrm>
            <a:off x="2209800" y="3505200"/>
            <a:ext cx="228600" cy="381000"/>
          </a:xfrm>
          <a:prstGeom prst="upDownArrow">
            <a:avLst>
              <a:gd name="adj1" fmla="val 50000"/>
              <a:gd name="adj2" fmla="val 33333"/>
            </a:avLst>
          </a:prstGeom>
          <a:noFill/>
          <a:ln w="9525">
            <a:solidFill>
              <a:schemeClr val="tx1"/>
            </a:solidFill>
            <a:miter lim="800000"/>
            <a:headEnd/>
            <a:tailEnd/>
          </a:ln>
        </p:spPr>
        <p:txBody>
          <a:bodyPr vert="eaVert" wrap="none" anchor="ctr"/>
          <a:lstStyle/>
          <a:p>
            <a:endParaRPr lang="en-US"/>
          </a:p>
        </p:txBody>
      </p:sp>
      <p:sp>
        <p:nvSpPr>
          <p:cNvPr id="54280" name="Oval 7"/>
          <p:cNvSpPr>
            <a:spLocks noChangeArrowheads="1"/>
          </p:cNvSpPr>
          <p:nvPr/>
        </p:nvSpPr>
        <p:spPr bwMode="auto">
          <a:xfrm>
            <a:off x="2743200" y="4191000"/>
            <a:ext cx="762000" cy="3048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54281" name="Oval 8"/>
          <p:cNvSpPr>
            <a:spLocks noChangeArrowheads="1"/>
          </p:cNvSpPr>
          <p:nvPr/>
        </p:nvSpPr>
        <p:spPr bwMode="auto">
          <a:xfrm>
            <a:off x="2590800" y="5029200"/>
            <a:ext cx="914400" cy="3048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54282" name="Text Box 9"/>
          <p:cNvSpPr txBox="1">
            <a:spLocks noChangeArrowheads="1"/>
          </p:cNvSpPr>
          <p:nvPr/>
        </p:nvSpPr>
        <p:spPr bwMode="auto">
          <a:xfrm>
            <a:off x="3352800" y="4419600"/>
            <a:ext cx="4927600" cy="641350"/>
          </a:xfrm>
          <a:prstGeom prst="rect">
            <a:avLst/>
          </a:prstGeom>
          <a:noFill/>
          <a:ln w="9525">
            <a:noFill/>
            <a:miter lim="800000"/>
            <a:headEnd/>
            <a:tailEnd/>
          </a:ln>
        </p:spPr>
        <p:txBody>
          <a:bodyPr wrap="none">
            <a:spAutoFit/>
          </a:bodyPr>
          <a:lstStyle/>
          <a:p>
            <a:r>
              <a:rPr lang="en-US">
                <a:solidFill>
                  <a:srgbClr val="008080"/>
                </a:solidFill>
              </a:rPr>
              <a:t>Initial values used if no value specified in </a:t>
            </a:r>
            <a:r>
              <a:rPr lang="en-US">
                <a:solidFill>
                  <a:srgbClr val="008080"/>
                </a:solidFill>
                <a:latin typeface="Lucida Sans Typewriter" pitchFamily="49" charset="0"/>
              </a:rPr>
              <a:t>font</a:t>
            </a:r>
          </a:p>
          <a:p>
            <a:r>
              <a:rPr lang="en-US">
                <a:solidFill>
                  <a:srgbClr val="008080"/>
                </a:solidFill>
              </a:rPr>
              <a:t>property list (that is, potentially reset)</a:t>
            </a:r>
          </a:p>
        </p:txBody>
      </p:sp>
      <p:sp>
        <p:nvSpPr>
          <p:cNvPr id="13"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4"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46</a:t>
            </a:fld>
            <a:endParaRPr lang="en-US" dirty="0"/>
          </a:p>
        </p:txBody>
      </p:sp>
      <p:pic>
        <p:nvPicPr>
          <p:cNvPr id="15" name="Picture 14" descr="E:\Master Folder 2017-18\Approved Logo by BOG\NIET logo_.png"/>
          <p:cNvPicPr/>
          <p:nvPr/>
        </p:nvPicPr>
        <p:blipFill>
          <a:blip r:embed="rId4" cstate="print"/>
          <a:srcRect/>
          <a:stretch>
            <a:fillRect/>
          </a:stretch>
        </p:blipFill>
        <p:spPr bwMode="auto">
          <a:xfrm>
            <a:off x="83820" y="0"/>
            <a:ext cx="1487784" cy="1143000"/>
          </a:xfrm>
          <a:prstGeom prst="rect">
            <a:avLst/>
          </a:prstGeom>
          <a:noFill/>
          <a:ln w="9525">
            <a:noFill/>
            <a:miter lim="800000"/>
            <a:headEnd/>
            <a:tailEnd/>
          </a:ln>
        </p:spPr>
      </p:pic>
      <p:sp>
        <p:nvSpPr>
          <p:cNvPr id="16"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3"/>
          <p:cNvSpPr>
            <a:spLocks noGrp="1" noChangeArrowheads="1"/>
          </p:cNvSpPr>
          <p:nvPr>
            <p:ph type="body" idx="1"/>
          </p:nvPr>
        </p:nvSpPr>
        <p:spPr/>
        <p:txBody>
          <a:bodyPr>
            <a:normAutofit/>
          </a:bodyPr>
          <a:lstStyle/>
          <a:p>
            <a:pPr eaLnBrk="1" hangingPunct="1"/>
            <a:r>
              <a:rPr lang="en-US" sz="2400" dirty="0">
                <a:latin typeface="Times New Roman" pitchFamily="18" charset="0"/>
                <a:cs typeface="Times New Roman" pitchFamily="18" charset="0"/>
              </a:rPr>
              <a:t>font </a:t>
            </a:r>
            <a:r>
              <a:rPr lang="en-US" sz="2400" dirty="0">
                <a:solidFill>
                  <a:schemeClr val="hlink"/>
                </a:solidFill>
                <a:latin typeface="Times New Roman" pitchFamily="18" charset="0"/>
                <a:cs typeface="Times New Roman" pitchFamily="18" charset="0"/>
              </a:rPr>
              <a:t>shortcut property</a:t>
            </a:r>
            <a:r>
              <a:rPr lang="en-US" sz="2400" dirty="0">
                <a:latin typeface="Times New Roman" pitchFamily="18" charset="0"/>
                <a:cs typeface="Times New Roman" pitchFamily="18" charset="0"/>
              </a:rPr>
              <a:t>:</a:t>
            </a:r>
          </a:p>
        </p:txBody>
      </p:sp>
      <p:pic>
        <p:nvPicPr>
          <p:cNvPr id="55301" name="Picture 4"/>
          <p:cNvPicPr>
            <a:picLocks noChangeAspect="1" noChangeArrowheads="1"/>
          </p:cNvPicPr>
          <p:nvPr/>
        </p:nvPicPr>
        <p:blipFill>
          <a:blip r:embed="rId2"/>
          <a:srcRect/>
          <a:stretch>
            <a:fillRect/>
          </a:stretch>
        </p:blipFill>
        <p:spPr bwMode="auto">
          <a:xfrm>
            <a:off x="1219200" y="2285992"/>
            <a:ext cx="5603875" cy="428628"/>
          </a:xfrm>
          <a:prstGeom prst="rect">
            <a:avLst/>
          </a:prstGeom>
          <a:noFill/>
          <a:ln w="9525">
            <a:noFill/>
            <a:miter lim="800000"/>
            <a:headEnd/>
            <a:tailEnd/>
          </a:ln>
        </p:spPr>
      </p:pic>
      <p:pic>
        <p:nvPicPr>
          <p:cNvPr id="55302" name="Picture 5"/>
          <p:cNvPicPr>
            <a:picLocks noChangeAspect="1" noChangeArrowheads="1"/>
          </p:cNvPicPr>
          <p:nvPr/>
        </p:nvPicPr>
        <p:blipFill>
          <a:blip r:embed="rId3"/>
          <a:srcRect/>
          <a:stretch>
            <a:fillRect/>
          </a:stretch>
        </p:blipFill>
        <p:spPr bwMode="auto">
          <a:xfrm>
            <a:off x="1219200" y="3143248"/>
            <a:ext cx="4724400" cy="1571636"/>
          </a:xfrm>
          <a:prstGeom prst="rect">
            <a:avLst/>
          </a:prstGeom>
          <a:noFill/>
          <a:ln w="9525">
            <a:noFill/>
            <a:miter lim="800000"/>
            <a:headEnd/>
            <a:tailEnd/>
          </a:ln>
        </p:spPr>
      </p:pic>
      <p:sp>
        <p:nvSpPr>
          <p:cNvPr id="55303" name="AutoShape 6"/>
          <p:cNvSpPr>
            <a:spLocks noChangeArrowheads="1"/>
          </p:cNvSpPr>
          <p:nvPr/>
        </p:nvSpPr>
        <p:spPr bwMode="auto">
          <a:xfrm>
            <a:off x="2571736" y="2643182"/>
            <a:ext cx="228600" cy="381000"/>
          </a:xfrm>
          <a:prstGeom prst="upDownArrow">
            <a:avLst>
              <a:gd name="adj1" fmla="val 50000"/>
              <a:gd name="adj2" fmla="val 33333"/>
            </a:avLst>
          </a:prstGeom>
          <a:noFill/>
          <a:ln w="9525">
            <a:solidFill>
              <a:schemeClr val="tx1"/>
            </a:solidFill>
            <a:miter lim="800000"/>
            <a:headEnd/>
            <a:tailEnd/>
          </a:ln>
        </p:spPr>
        <p:txBody>
          <a:bodyPr vert="eaVert" wrap="none" anchor="ctr"/>
          <a:lstStyle/>
          <a:p>
            <a:endParaRPr lang="en-US"/>
          </a:p>
        </p:txBody>
      </p:sp>
      <p:pic>
        <p:nvPicPr>
          <p:cNvPr id="55304" name="Picture 7"/>
          <p:cNvPicPr>
            <a:picLocks noChangeAspect="1" noChangeArrowheads="1"/>
          </p:cNvPicPr>
          <p:nvPr/>
        </p:nvPicPr>
        <p:blipFill>
          <a:blip r:embed="rId4"/>
          <a:srcRect/>
          <a:stretch>
            <a:fillRect/>
          </a:stretch>
        </p:blipFill>
        <p:spPr bwMode="auto">
          <a:xfrm>
            <a:off x="1219200" y="5143512"/>
            <a:ext cx="7543800" cy="357190"/>
          </a:xfrm>
          <a:prstGeom prst="rect">
            <a:avLst/>
          </a:prstGeom>
          <a:noFill/>
          <a:ln w="9525">
            <a:noFill/>
            <a:miter lim="800000"/>
            <a:headEnd/>
            <a:tailEnd/>
          </a:ln>
        </p:spPr>
      </p:pic>
      <p:sp>
        <p:nvSpPr>
          <p:cNvPr id="55305" name="Oval 8"/>
          <p:cNvSpPr>
            <a:spLocks noChangeArrowheads="1"/>
          </p:cNvSpPr>
          <p:nvPr/>
        </p:nvSpPr>
        <p:spPr bwMode="auto">
          <a:xfrm>
            <a:off x="5429256" y="5357826"/>
            <a:ext cx="304800" cy="3810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55306" name="Text Box 9"/>
          <p:cNvSpPr txBox="1">
            <a:spLocks noChangeArrowheads="1"/>
          </p:cNvSpPr>
          <p:nvPr/>
        </p:nvSpPr>
        <p:spPr bwMode="auto">
          <a:xfrm>
            <a:off x="3505200" y="4714884"/>
            <a:ext cx="5181600" cy="369332"/>
          </a:xfrm>
          <a:prstGeom prst="rect">
            <a:avLst/>
          </a:prstGeom>
          <a:noFill/>
          <a:ln w="9525">
            <a:noFill/>
            <a:miter lim="800000"/>
            <a:headEnd/>
            <a:tailEnd/>
          </a:ln>
        </p:spPr>
        <p:txBody>
          <a:bodyPr wrap="square">
            <a:spAutoFit/>
          </a:bodyPr>
          <a:lstStyle/>
          <a:p>
            <a:r>
              <a:rPr lang="en-US" dirty="0">
                <a:solidFill>
                  <a:srgbClr val="008080"/>
                </a:solidFill>
              </a:rPr>
              <a:t>specifying line-height (here, twice cell height)</a:t>
            </a:r>
          </a:p>
        </p:txBody>
      </p:sp>
      <p:sp>
        <p:nvSpPr>
          <p:cNvPr id="55307" name="AutoShape 10"/>
          <p:cNvSpPr>
            <a:spLocks/>
          </p:cNvSpPr>
          <p:nvPr/>
        </p:nvSpPr>
        <p:spPr bwMode="auto">
          <a:xfrm rot="-5400000">
            <a:off x="3283751" y="4426751"/>
            <a:ext cx="519098" cy="2667000"/>
          </a:xfrm>
          <a:prstGeom prst="leftBrace">
            <a:avLst>
              <a:gd name="adj1" fmla="val 291667"/>
              <a:gd name="adj2" fmla="val 50000"/>
            </a:avLst>
          </a:prstGeom>
          <a:noFill/>
          <a:ln w="9525">
            <a:solidFill>
              <a:srgbClr val="008080"/>
            </a:solidFill>
            <a:round/>
            <a:headEnd/>
            <a:tailEnd/>
          </a:ln>
        </p:spPr>
        <p:txBody>
          <a:bodyPr vert="eaVert" wrap="none" anchor="ctr"/>
          <a:lstStyle/>
          <a:p>
            <a:pPr algn="ctr"/>
            <a:endParaRPr lang="en-US">
              <a:solidFill>
                <a:srgbClr val="008080"/>
              </a:solidFill>
            </a:endParaRPr>
          </a:p>
        </p:txBody>
      </p:sp>
      <p:sp>
        <p:nvSpPr>
          <p:cNvPr id="55308" name="Text Box 11"/>
          <p:cNvSpPr txBox="1">
            <a:spLocks noChangeArrowheads="1"/>
          </p:cNvSpPr>
          <p:nvPr/>
        </p:nvSpPr>
        <p:spPr bwMode="auto">
          <a:xfrm>
            <a:off x="3032125" y="5980113"/>
            <a:ext cx="1149350" cy="366712"/>
          </a:xfrm>
          <a:prstGeom prst="rect">
            <a:avLst/>
          </a:prstGeom>
          <a:noFill/>
          <a:ln w="9525">
            <a:noFill/>
            <a:miter lim="800000"/>
            <a:headEnd/>
            <a:tailEnd/>
          </a:ln>
        </p:spPr>
        <p:txBody>
          <a:bodyPr wrap="none">
            <a:spAutoFit/>
          </a:bodyPr>
          <a:lstStyle/>
          <a:p>
            <a:r>
              <a:rPr lang="en-US" dirty="0">
                <a:solidFill>
                  <a:srgbClr val="008080"/>
                </a:solidFill>
              </a:rPr>
              <a:t>any order</a:t>
            </a:r>
          </a:p>
        </p:txBody>
      </p:sp>
      <p:sp>
        <p:nvSpPr>
          <p:cNvPr id="55309" name="AutoShape 12"/>
          <p:cNvSpPr>
            <a:spLocks/>
          </p:cNvSpPr>
          <p:nvPr/>
        </p:nvSpPr>
        <p:spPr bwMode="auto">
          <a:xfrm rot="-5400000">
            <a:off x="6705600" y="4267200"/>
            <a:ext cx="76200" cy="3429000"/>
          </a:xfrm>
          <a:prstGeom prst="leftBrace">
            <a:avLst>
              <a:gd name="adj1" fmla="val 375000"/>
              <a:gd name="adj2" fmla="val 50000"/>
            </a:avLst>
          </a:prstGeom>
          <a:noFill/>
          <a:ln w="9525">
            <a:solidFill>
              <a:srgbClr val="008080"/>
            </a:solidFill>
            <a:round/>
            <a:headEnd/>
            <a:tailEnd/>
          </a:ln>
        </p:spPr>
        <p:txBody>
          <a:bodyPr vert="eaVert" wrap="none" anchor="ctr"/>
          <a:lstStyle/>
          <a:p>
            <a:pPr algn="ctr"/>
            <a:endParaRPr lang="en-US">
              <a:solidFill>
                <a:srgbClr val="008080"/>
              </a:solidFill>
            </a:endParaRPr>
          </a:p>
        </p:txBody>
      </p:sp>
      <p:sp>
        <p:nvSpPr>
          <p:cNvPr id="55310" name="Text Box 13"/>
          <p:cNvSpPr txBox="1">
            <a:spLocks noChangeArrowheads="1"/>
          </p:cNvSpPr>
          <p:nvPr/>
        </p:nvSpPr>
        <p:spPr bwMode="auto">
          <a:xfrm>
            <a:off x="5715008" y="5643578"/>
            <a:ext cx="2660650" cy="641350"/>
          </a:xfrm>
          <a:prstGeom prst="rect">
            <a:avLst/>
          </a:prstGeom>
          <a:noFill/>
          <a:ln w="9525">
            <a:noFill/>
            <a:miter lim="800000"/>
            <a:headEnd/>
            <a:tailEnd/>
          </a:ln>
        </p:spPr>
        <p:txBody>
          <a:bodyPr wrap="none">
            <a:spAutoFit/>
          </a:bodyPr>
          <a:lstStyle/>
          <a:p>
            <a:r>
              <a:rPr lang="en-US" dirty="0">
                <a:solidFill>
                  <a:srgbClr val="008080"/>
                </a:solidFill>
              </a:rPr>
              <a:t>size and family required,</a:t>
            </a:r>
          </a:p>
          <a:p>
            <a:r>
              <a:rPr lang="en-US" dirty="0">
                <a:solidFill>
                  <a:srgbClr val="008080"/>
                </a:solidFill>
              </a:rPr>
              <a:t>order-dependent</a:t>
            </a:r>
          </a:p>
        </p:txBody>
      </p:sp>
      <p:pic>
        <p:nvPicPr>
          <p:cNvPr id="16" name="Picture 15" descr="E:\Master Folder 2017-18\Approved Logo by BOG\NIET logo_.png"/>
          <p:cNvPicPr/>
          <p:nvPr/>
        </p:nvPicPr>
        <p:blipFill>
          <a:blip r:embed="rId5" cstate="print"/>
          <a:srcRect/>
          <a:stretch>
            <a:fillRect/>
          </a:stretch>
        </p:blipFill>
        <p:spPr bwMode="auto">
          <a:xfrm>
            <a:off x="83820" y="0"/>
            <a:ext cx="1487784" cy="1143000"/>
          </a:xfrm>
          <a:prstGeom prst="rect">
            <a:avLst/>
          </a:prstGeom>
          <a:noFill/>
          <a:ln w="9525">
            <a:noFill/>
            <a:miter lim="800000"/>
            <a:headEnd/>
            <a:tailEnd/>
          </a:ln>
        </p:spPr>
      </p:pic>
      <p:sp>
        <p:nvSpPr>
          <p:cNvPr id="17"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9"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20"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4" name="Picture 4"/>
          <p:cNvPicPr>
            <a:picLocks noChangeAspect="1" noChangeArrowheads="1"/>
          </p:cNvPicPr>
          <p:nvPr/>
        </p:nvPicPr>
        <p:blipFill>
          <a:blip r:embed="rId2"/>
          <a:srcRect/>
          <a:stretch>
            <a:fillRect/>
          </a:stretch>
        </p:blipFill>
        <p:spPr bwMode="auto">
          <a:xfrm>
            <a:off x="1336675" y="1681163"/>
            <a:ext cx="6969125" cy="4176729"/>
          </a:xfrm>
          <a:prstGeom prst="rect">
            <a:avLst/>
          </a:prstGeom>
          <a:noFill/>
          <a:ln w="9525">
            <a:noFill/>
            <a:miter lim="800000"/>
            <a:headEnd/>
            <a:tailEnd/>
          </a:ln>
        </p:spPr>
      </p:pic>
      <p:sp>
        <p:nvSpPr>
          <p:cNvPr id="7"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8"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48</a:t>
            </a:fld>
            <a:endParaRPr lang="en-US" dirty="0"/>
          </a:p>
        </p:txBody>
      </p:sp>
      <p:pic>
        <p:nvPicPr>
          <p:cNvPr id="9" name="Picture 8"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10"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3"/>
          <p:cNvSpPr>
            <a:spLocks noGrp="1" noChangeArrowheads="1"/>
          </p:cNvSpPr>
          <p:nvPr>
            <p:ph type="body" idx="1"/>
          </p:nvPr>
        </p:nvSpPr>
        <p:spPr/>
        <p:txBody>
          <a:bodyPr>
            <a:normAutofit/>
          </a:bodyPr>
          <a:lstStyle/>
          <a:p>
            <a:pPr eaLnBrk="1" hangingPunct="1"/>
            <a:r>
              <a:rPr lang="en-US" sz="2400" dirty="0">
                <a:latin typeface="Times New Roman" pitchFamily="18" charset="0"/>
                <a:cs typeface="Times New Roman" pitchFamily="18" charset="0"/>
              </a:rPr>
              <a:t>Font color specified by color property</a:t>
            </a:r>
          </a:p>
          <a:p>
            <a:pPr eaLnBrk="1" hangingPunct="1"/>
            <a:r>
              <a:rPr lang="en-US" sz="2400" dirty="0">
                <a:latin typeface="Times New Roman" pitchFamily="18" charset="0"/>
                <a:cs typeface="Times New Roman" pitchFamily="18" charset="0"/>
              </a:rPr>
              <a:t>Two primary ways of specifying colors:</a:t>
            </a:r>
          </a:p>
          <a:p>
            <a:pPr lvl="1" eaLnBrk="1" hangingPunct="1"/>
            <a:r>
              <a:rPr lang="en-US" sz="2400" dirty="0">
                <a:latin typeface="Times New Roman" pitchFamily="18" charset="0"/>
                <a:cs typeface="Times New Roman" pitchFamily="18" charset="0"/>
              </a:rPr>
              <a:t>Color name: black, gray, silver, white, red, lime, blue, yellow, aqua, fuchsia, maroon, green, navy, olive, teal, purple, full list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hlinkClick r:id="rId2"/>
              </a:rPr>
              <a:t>http://www.w3.org/TR/SVG11/types.html#ColorKeywords</a:t>
            </a:r>
            <a:endParaRPr lang="en-US" sz="2400" dirty="0">
              <a:latin typeface="Times New Roman" pitchFamily="18" charset="0"/>
              <a:cs typeface="Times New Roman" pitchFamily="18" charset="0"/>
            </a:endParaRPr>
          </a:p>
          <a:p>
            <a:pPr lvl="1" eaLnBrk="1" hangingPunct="1"/>
            <a:r>
              <a:rPr lang="en-US" sz="2400" dirty="0">
                <a:latin typeface="Times New Roman" pitchFamily="18" charset="0"/>
                <a:cs typeface="Times New Roman" pitchFamily="18" charset="0"/>
              </a:rPr>
              <a:t>red/green/blue (RGB) values</a:t>
            </a:r>
          </a:p>
        </p:txBody>
      </p:sp>
      <p:pic>
        <p:nvPicPr>
          <p:cNvPr id="6" name="Picture 5"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7"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0"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2" name="Picture 5"/>
          <p:cNvPicPr>
            <a:picLocks noChangeAspect="1" noChangeArrowheads="1"/>
          </p:cNvPicPr>
          <p:nvPr/>
        </p:nvPicPr>
        <p:blipFill>
          <a:blip r:embed="rId2"/>
          <a:srcRect/>
          <a:stretch>
            <a:fillRect/>
          </a:stretch>
        </p:blipFill>
        <p:spPr bwMode="auto">
          <a:xfrm>
            <a:off x="1447800" y="1071547"/>
            <a:ext cx="6324600" cy="4572032"/>
          </a:xfrm>
          <a:prstGeom prst="rect">
            <a:avLst/>
          </a:prstGeom>
          <a:noFill/>
          <a:ln w="9525">
            <a:noFill/>
            <a:miter lim="800000"/>
            <a:headEnd/>
            <a:tailEnd/>
          </a:ln>
        </p:spPr>
      </p:pic>
      <p:sp>
        <p:nvSpPr>
          <p:cNvPr id="58373" name="Oval 6"/>
          <p:cNvSpPr>
            <a:spLocks noChangeArrowheads="1"/>
          </p:cNvSpPr>
          <p:nvPr/>
        </p:nvSpPr>
        <p:spPr bwMode="auto">
          <a:xfrm>
            <a:off x="6553200" y="4800600"/>
            <a:ext cx="990600" cy="12954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pic>
        <p:nvPicPr>
          <p:cNvPr id="7" name="Picture 6"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8"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0"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1"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6" name="Picture 4"/>
          <p:cNvPicPr>
            <a:picLocks noChangeAspect="1" noChangeArrowheads="1"/>
          </p:cNvPicPr>
          <p:nvPr/>
        </p:nvPicPr>
        <p:blipFill>
          <a:blip r:embed="rId2"/>
          <a:srcRect/>
          <a:stretch>
            <a:fillRect/>
          </a:stretch>
        </p:blipFill>
        <p:spPr bwMode="auto">
          <a:xfrm>
            <a:off x="1066800" y="1371600"/>
            <a:ext cx="7064375" cy="4700606"/>
          </a:xfrm>
          <a:prstGeom prst="rect">
            <a:avLst/>
          </a:prstGeom>
          <a:noFill/>
          <a:ln w="9525">
            <a:noFill/>
            <a:miter lim="800000"/>
            <a:headEnd/>
            <a:tailEnd/>
          </a:ln>
        </p:spPr>
      </p:pic>
      <p:pic>
        <p:nvPicPr>
          <p:cNvPr id="6" name="Picture 5"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7"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Styling</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0"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3"/>
          <p:cNvSpPr>
            <a:spLocks noGrp="1" noChangeArrowheads="1"/>
          </p:cNvSpPr>
          <p:nvPr>
            <p:ph type="body" idx="1"/>
          </p:nvPr>
        </p:nvSpPr>
        <p:spPr/>
        <p:txBody>
          <a:bodyPr>
            <a:normAutofit/>
          </a:bodyPr>
          <a:lstStyle/>
          <a:p>
            <a:pPr eaLnBrk="1" hangingPunct="1"/>
            <a:r>
              <a:rPr lang="en-US" sz="2400" dirty="0">
                <a:latin typeface="Times New Roman" pitchFamily="18" charset="0"/>
                <a:cs typeface="Times New Roman" pitchFamily="18" charset="0"/>
              </a:rPr>
              <a:t>Every rendered element occupies a box:</a:t>
            </a:r>
          </a:p>
        </p:txBody>
      </p:sp>
      <p:pic>
        <p:nvPicPr>
          <p:cNvPr id="60421" name="Picture 4" descr="BoxModel"/>
          <p:cNvPicPr>
            <a:picLocks noChangeAspect="1" noChangeArrowheads="1"/>
          </p:cNvPicPr>
          <p:nvPr/>
        </p:nvPicPr>
        <p:blipFill>
          <a:blip r:embed="rId2"/>
          <a:srcRect/>
          <a:stretch>
            <a:fillRect/>
          </a:stretch>
        </p:blipFill>
        <p:spPr bwMode="auto">
          <a:xfrm>
            <a:off x="1752600" y="3025775"/>
            <a:ext cx="5562600" cy="3298825"/>
          </a:xfrm>
          <a:prstGeom prst="rect">
            <a:avLst/>
          </a:prstGeom>
          <a:noFill/>
          <a:ln w="9525">
            <a:noFill/>
            <a:miter lim="800000"/>
            <a:headEnd/>
            <a:tailEnd/>
          </a:ln>
        </p:spPr>
      </p:pic>
      <p:sp>
        <p:nvSpPr>
          <p:cNvPr id="60422" name="Text Box 5"/>
          <p:cNvSpPr txBox="1">
            <a:spLocks noChangeArrowheads="1"/>
          </p:cNvSpPr>
          <p:nvPr/>
        </p:nvSpPr>
        <p:spPr bwMode="auto">
          <a:xfrm>
            <a:off x="5546725" y="6034088"/>
            <a:ext cx="1682750" cy="366712"/>
          </a:xfrm>
          <a:prstGeom prst="rect">
            <a:avLst/>
          </a:prstGeom>
          <a:noFill/>
          <a:ln w="9525">
            <a:noFill/>
            <a:miter lim="800000"/>
            <a:headEnd/>
            <a:tailEnd/>
          </a:ln>
        </p:spPr>
        <p:txBody>
          <a:bodyPr wrap="none">
            <a:spAutoFit/>
          </a:bodyPr>
          <a:lstStyle/>
          <a:p>
            <a:r>
              <a:rPr lang="en-US"/>
              <a:t>(or </a:t>
            </a:r>
            <a:r>
              <a:rPr lang="en-US" i="1"/>
              <a:t>inner</a:t>
            </a:r>
            <a:r>
              <a:rPr lang="en-US"/>
              <a:t> edge)</a:t>
            </a:r>
          </a:p>
        </p:txBody>
      </p:sp>
      <p:sp>
        <p:nvSpPr>
          <p:cNvPr id="60423" name="Text Box 6"/>
          <p:cNvSpPr txBox="1">
            <a:spLocks noChangeArrowheads="1"/>
          </p:cNvSpPr>
          <p:nvPr/>
        </p:nvSpPr>
        <p:spPr bwMode="auto">
          <a:xfrm>
            <a:off x="6858000" y="2949575"/>
            <a:ext cx="1695450" cy="366713"/>
          </a:xfrm>
          <a:prstGeom prst="rect">
            <a:avLst/>
          </a:prstGeom>
          <a:noFill/>
          <a:ln w="9525">
            <a:noFill/>
            <a:miter lim="800000"/>
            <a:headEnd/>
            <a:tailEnd/>
          </a:ln>
        </p:spPr>
        <p:txBody>
          <a:bodyPr wrap="none">
            <a:spAutoFit/>
          </a:bodyPr>
          <a:lstStyle/>
          <a:p>
            <a:r>
              <a:rPr lang="en-US"/>
              <a:t>(or </a:t>
            </a:r>
            <a:r>
              <a:rPr lang="en-US" i="1"/>
              <a:t>outer</a:t>
            </a:r>
            <a:r>
              <a:rPr lang="en-US"/>
              <a:t> edge)</a:t>
            </a:r>
          </a:p>
        </p:txBody>
      </p:sp>
      <p:pic>
        <p:nvPicPr>
          <p:cNvPr id="9" name="Picture 8"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10"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Box Model</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2"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3"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4" name="Picture 4" descr="BoxModel2"/>
          <p:cNvPicPr>
            <a:picLocks noChangeAspect="1" noChangeArrowheads="1"/>
          </p:cNvPicPr>
          <p:nvPr/>
        </p:nvPicPr>
        <p:blipFill>
          <a:blip r:embed="rId2"/>
          <a:srcRect/>
          <a:stretch>
            <a:fillRect/>
          </a:stretch>
        </p:blipFill>
        <p:spPr bwMode="auto">
          <a:xfrm>
            <a:off x="457200" y="2405063"/>
            <a:ext cx="8305800" cy="3101975"/>
          </a:xfrm>
          <a:prstGeom prst="rect">
            <a:avLst/>
          </a:prstGeom>
          <a:noFill/>
          <a:ln w="9525">
            <a:noFill/>
            <a:miter lim="800000"/>
            <a:headEnd/>
            <a:tailEnd/>
          </a:ln>
        </p:spPr>
      </p:pic>
      <p:pic>
        <p:nvPicPr>
          <p:cNvPr id="6" name="Picture 5"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7"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Box Model</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0"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8" name="Picture 5"/>
          <p:cNvPicPr>
            <a:picLocks noChangeAspect="1" noChangeArrowheads="1"/>
          </p:cNvPicPr>
          <p:nvPr/>
        </p:nvPicPr>
        <p:blipFill>
          <a:blip r:embed="rId2"/>
          <a:srcRect/>
          <a:stretch>
            <a:fillRect/>
          </a:stretch>
        </p:blipFill>
        <p:spPr bwMode="auto">
          <a:xfrm>
            <a:off x="1676400" y="1524000"/>
            <a:ext cx="4491038" cy="641350"/>
          </a:xfrm>
          <a:prstGeom prst="rect">
            <a:avLst/>
          </a:prstGeom>
          <a:noFill/>
          <a:ln w="9525">
            <a:noFill/>
            <a:miter lim="800000"/>
            <a:headEnd/>
            <a:tailEnd/>
          </a:ln>
        </p:spPr>
      </p:pic>
      <p:pic>
        <p:nvPicPr>
          <p:cNvPr id="62469" name="Picture 6"/>
          <p:cNvPicPr>
            <a:picLocks noChangeAspect="1" noChangeArrowheads="1"/>
          </p:cNvPicPr>
          <p:nvPr/>
        </p:nvPicPr>
        <p:blipFill>
          <a:blip r:embed="rId3"/>
          <a:srcRect/>
          <a:stretch>
            <a:fillRect/>
          </a:stretch>
        </p:blipFill>
        <p:spPr bwMode="auto">
          <a:xfrm>
            <a:off x="2667000" y="2209800"/>
            <a:ext cx="3881438" cy="2011363"/>
          </a:xfrm>
          <a:prstGeom prst="rect">
            <a:avLst/>
          </a:prstGeom>
          <a:noFill/>
          <a:ln w="9525">
            <a:noFill/>
            <a:miter lim="800000"/>
            <a:headEnd/>
            <a:tailEnd/>
          </a:ln>
        </p:spPr>
      </p:pic>
      <p:pic>
        <p:nvPicPr>
          <p:cNvPr id="62470" name="Picture 7" descr="SpanBoxStyle"/>
          <p:cNvPicPr>
            <a:picLocks noChangeAspect="1" noChangeArrowheads="1"/>
          </p:cNvPicPr>
          <p:nvPr/>
        </p:nvPicPr>
        <p:blipFill>
          <a:blip r:embed="rId4"/>
          <a:srcRect/>
          <a:stretch>
            <a:fillRect/>
          </a:stretch>
        </p:blipFill>
        <p:spPr bwMode="auto">
          <a:xfrm>
            <a:off x="1219200" y="4267200"/>
            <a:ext cx="6553200" cy="1927225"/>
          </a:xfrm>
          <a:prstGeom prst="rect">
            <a:avLst/>
          </a:prstGeom>
          <a:noFill/>
          <a:ln w="9525">
            <a:noFill/>
            <a:miter lim="800000"/>
            <a:headEnd/>
            <a:tailEnd/>
          </a:ln>
        </p:spPr>
      </p:pic>
      <p:pic>
        <p:nvPicPr>
          <p:cNvPr id="8" name="Picture 7" descr="E:\Master Folder 2017-18\Approved Logo by BOG\NIET logo_.png"/>
          <p:cNvPicPr/>
          <p:nvPr/>
        </p:nvPicPr>
        <p:blipFill>
          <a:blip r:embed="rId5" cstate="print"/>
          <a:srcRect/>
          <a:stretch>
            <a:fillRect/>
          </a:stretch>
        </p:blipFill>
        <p:spPr bwMode="auto">
          <a:xfrm>
            <a:off x="83820" y="0"/>
            <a:ext cx="1487784" cy="1143000"/>
          </a:xfrm>
          <a:prstGeom prst="rect">
            <a:avLst/>
          </a:prstGeom>
          <a:noFill/>
          <a:ln w="9525">
            <a:noFill/>
            <a:miter lim="800000"/>
            <a:headEnd/>
            <a:tailEnd/>
          </a:ln>
        </p:spPr>
      </p:pic>
      <p:sp>
        <p:nvSpPr>
          <p:cNvPr id="9"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Box Model</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1"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2"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2" name="Picture 3"/>
          <p:cNvPicPr>
            <a:picLocks noChangeAspect="1" noChangeArrowheads="1"/>
          </p:cNvPicPr>
          <p:nvPr/>
        </p:nvPicPr>
        <p:blipFill>
          <a:blip r:embed="rId2"/>
          <a:srcRect/>
          <a:stretch>
            <a:fillRect/>
          </a:stretch>
        </p:blipFill>
        <p:spPr bwMode="auto">
          <a:xfrm>
            <a:off x="1676400" y="1524000"/>
            <a:ext cx="4491038" cy="641350"/>
          </a:xfrm>
          <a:prstGeom prst="rect">
            <a:avLst/>
          </a:prstGeom>
          <a:noFill/>
          <a:ln w="9525">
            <a:noFill/>
            <a:miter lim="800000"/>
            <a:headEnd/>
            <a:tailEnd/>
          </a:ln>
        </p:spPr>
      </p:pic>
      <p:pic>
        <p:nvPicPr>
          <p:cNvPr id="63493" name="Picture 4"/>
          <p:cNvPicPr>
            <a:picLocks noChangeAspect="1" noChangeArrowheads="1"/>
          </p:cNvPicPr>
          <p:nvPr/>
        </p:nvPicPr>
        <p:blipFill>
          <a:blip r:embed="rId3"/>
          <a:srcRect/>
          <a:stretch>
            <a:fillRect/>
          </a:stretch>
        </p:blipFill>
        <p:spPr bwMode="auto">
          <a:xfrm>
            <a:off x="2667000" y="2209800"/>
            <a:ext cx="3881438" cy="2011363"/>
          </a:xfrm>
          <a:prstGeom prst="rect">
            <a:avLst/>
          </a:prstGeom>
          <a:noFill/>
          <a:ln w="9525">
            <a:noFill/>
            <a:miter lim="800000"/>
            <a:headEnd/>
            <a:tailEnd/>
          </a:ln>
        </p:spPr>
      </p:pic>
      <p:pic>
        <p:nvPicPr>
          <p:cNvPr id="63494" name="Picture 5" descr="SpanBoxStyle"/>
          <p:cNvPicPr>
            <a:picLocks noChangeAspect="1" noChangeArrowheads="1"/>
          </p:cNvPicPr>
          <p:nvPr/>
        </p:nvPicPr>
        <p:blipFill>
          <a:blip r:embed="rId4"/>
          <a:srcRect/>
          <a:stretch>
            <a:fillRect/>
          </a:stretch>
        </p:blipFill>
        <p:spPr bwMode="auto">
          <a:xfrm>
            <a:off x="1219200" y="4267200"/>
            <a:ext cx="6553200" cy="1927225"/>
          </a:xfrm>
          <a:prstGeom prst="rect">
            <a:avLst/>
          </a:prstGeom>
          <a:noFill/>
          <a:ln w="9525">
            <a:noFill/>
            <a:miter lim="800000"/>
            <a:headEnd/>
            <a:tailEnd/>
          </a:ln>
        </p:spPr>
      </p:pic>
      <p:sp>
        <p:nvSpPr>
          <p:cNvPr id="63495" name="Oval 6"/>
          <p:cNvSpPr>
            <a:spLocks noChangeArrowheads="1"/>
          </p:cNvSpPr>
          <p:nvPr/>
        </p:nvSpPr>
        <p:spPr bwMode="auto">
          <a:xfrm>
            <a:off x="2667000" y="1524000"/>
            <a:ext cx="2438400" cy="3810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63496" name="Line 7"/>
          <p:cNvSpPr>
            <a:spLocks noChangeShapeType="1"/>
          </p:cNvSpPr>
          <p:nvPr/>
        </p:nvSpPr>
        <p:spPr bwMode="auto">
          <a:xfrm flipH="1">
            <a:off x="2209800" y="1905000"/>
            <a:ext cx="914400" cy="3352800"/>
          </a:xfrm>
          <a:prstGeom prst="line">
            <a:avLst/>
          </a:prstGeom>
          <a:noFill/>
          <a:ln w="9525">
            <a:solidFill>
              <a:srgbClr val="008080"/>
            </a:solidFill>
            <a:round/>
            <a:headEnd/>
            <a:tailEnd type="triangle" w="med" len="med"/>
          </a:ln>
        </p:spPr>
        <p:txBody>
          <a:bodyPr/>
          <a:lstStyle/>
          <a:p>
            <a:endParaRPr lang="en-US"/>
          </a:p>
        </p:txBody>
      </p:sp>
      <p:sp>
        <p:nvSpPr>
          <p:cNvPr id="63497" name="Line 8"/>
          <p:cNvSpPr>
            <a:spLocks noChangeShapeType="1"/>
          </p:cNvSpPr>
          <p:nvPr/>
        </p:nvSpPr>
        <p:spPr bwMode="auto">
          <a:xfrm>
            <a:off x="4114800" y="1905000"/>
            <a:ext cx="914400" cy="3429000"/>
          </a:xfrm>
          <a:prstGeom prst="line">
            <a:avLst/>
          </a:prstGeom>
          <a:noFill/>
          <a:ln w="9525">
            <a:solidFill>
              <a:srgbClr val="008080"/>
            </a:solidFill>
            <a:round/>
            <a:headEnd/>
            <a:tailEnd type="triangle" w="med" len="med"/>
          </a:ln>
        </p:spPr>
        <p:txBody>
          <a:bodyPr/>
          <a:lstStyle/>
          <a:p>
            <a:endParaRPr lang="en-US"/>
          </a:p>
        </p:txBody>
      </p:sp>
      <p:pic>
        <p:nvPicPr>
          <p:cNvPr id="11" name="Picture 10" descr="E:\Master Folder 2017-18\Approved Logo by BOG\NIET logo_.png"/>
          <p:cNvPicPr/>
          <p:nvPr/>
        </p:nvPicPr>
        <p:blipFill>
          <a:blip r:embed="rId5" cstate="print"/>
          <a:srcRect/>
          <a:stretch>
            <a:fillRect/>
          </a:stretch>
        </p:blipFill>
        <p:spPr bwMode="auto">
          <a:xfrm>
            <a:off x="83820" y="0"/>
            <a:ext cx="1487784" cy="1143000"/>
          </a:xfrm>
          <a:prstGeom prst="rect">
            <a:avLst/>
          </a:prstGeom>
          <a:noFill/>
          <a:ln w="9525">
            <a:noFill/>
            <a:miter lim="800000"/>
            <a:headEnd/>
            <a:tailEnd/>
          </a:ln>
        </p:spPr>
      </p:pic>
      <p:sp>
        <p:nvSpPr>
          <p:cNvPr id="12"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Box Model</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4"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5"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6" name="Picture 3"/>
          <p:cNvPicPr>
            <a:picLocks noChangeAspect="1" noChangeArrowheads="1"/>
          </p:cNvPicPr>
          <p:nvPr/>
        </p:nvPicPr>
        <p:blipFill>
          <a:blip r:embed="rId2"/>
          <a:srcRect/>
          <a:stretch>
            <a:fillRect/>
          </a:stretch>
        </p:blipFill>
        <p:spPr bwMode="auto">
          <a:xfrm>
            <a:off x="1676400" y="1524000"/>
            <a:ext cx="4491038" cy="641350"/>
          </a:xfrm>
          <a:prstGeom prst="rect">
            <a:avLst/>
          </a:prstGeom>
          <a:noFill/>
          <a:ln w="9525">
            <a:noFill/>
            <a:miter lim="800000"/>
            <a:headEnd/>
            <a:tailEnd/>
          </a:ln>
        </p:spPr>
      </p:pic>
      <p:pic>
        <p:nvPicPr>
          <p:cNvPr id="64517" name="Picture 4"/>
          <p:cNvPicPr>
            <a:picLocks noChangeAspect="1" noChangeArrowheads="1"/>
          </p:cNvPicPr>
          <p:nvPr/>
        </p:nvPicPr>
        <p:blipFill>
          <a:blip r:embed="rId3"/>
          <a:srcRect/>
          <a:stretch>
            <a:fillRect/>
          </a:stretch>
        </p:blipFill>
        <p:spPr bwMode="auto">
          <a:xfrm>
            <a:off x="2667000" y="2209800"/>
            <a:ext cx="3881438" cy="2011363"/>
          </a:xfrm>
          <a:prstGeom prst="rect">
            <a:avLst/>
          </a:prstGeom>
          <a:noFill/>
          <a:ln w="9525">
            <a:noFill/>
            <a:miter lim="800000"/>
            <a:headEnd/>
            <a:tailEnd/>
          </a:ln>
        </p:spPr>
      </p:pic>
      <p:pic>
        <p:nvPicPr>
          <p:cNvPr id="64518" name="Picture 5" descr="SpanBoxStyle"/>
          <p:cNvPicPr>
            <a:picLocks noChangeAspect="1" noChangeArrowheads="1"/>
          </p:cNvPicPr>
          <p:nvPr/>
        </p:nvPicPr>
        <p:blipFill>
          <a:blip r:embed="rId4"/>
          <a:srcRect/>
          <a:stretch>
            <a:fillRect/>
          </a:stretch>
        </p:blipFill>
        <p:spPr bwMode="auto">
          <a:xfrm>
            <a:off x="1219200" y="4267200"/>
            <a:ext cx="6553200" cy="1927225"/>
          </a:xfrm>
          <a:prstGeom prst="rect">
            <a:avLst/>
          </a:prstGeom>
          <a:noFill/>
          <a:ln w="9525">
            <a:noFill/>
            <a:miter lim="800000"/>
            <a:headEnd/>
            <a:tailEnd/>
          </a:ln>
        </p:spPr>
      </p:pic>
      <p:sp>
        <p:nvSpPr>
          <p:cNvPr id="64519" name="Oval 6"/>
          <p:cNvSpPr>
            <a:spLocks noChangeArrowheads="1"/>
          </p:cNvSpPr>
          <p:nvPr/>
        </p:nvSpPr>
        <p:spPr bwMode="auto">
          <a:xfrm>
            <a:off x="2667000" y="2819400"/>
            <a:ext cx="2971800" cy="3810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64520" name="Line 7"/>
          <p:cNvSpPr>
            <a:spLocks noChangeShapeType="1"/>
          </p:cNvSpPr>
          <p:nvPr/>
        </p:nvSpPr>
        <p:spPr bwMode="auto">
          <a:xfrm flipH="1">
            <a:off x="2971800" y="3200400"/>
            <a:ext cx="609600" cy="2057400"/>
          </a:xfrm>
          <a:prstGeom prst="line">
            <a:avLst/>
          </a:prstGeom>
          <a:noFill/>
          <a:ln w="9525">
            <a:solidFill>
              <a:srgbClr val="008080"/>
            </a:solidFill>
            <a:round/>
            <a:headEnd/>
            <a:tailEnd type="triangle" w="med" len="med"/>
          </a:ln>
        </p:spPr>
        <p:txBody>
          <a:bodyPr/>
          <a:lstStyle/>
          <a:p>
            <a:endParaRPr lang="en-US"/>
          </a:p>
        </p:txBody>
      </p:sp>
      <p:sp>
        <p:nvSpPr>
          <p:cNvPr id="64521" name="Line 8"/>
          <p:cNvSpPr>
            <a:spLocks noChangeShapeType="1"/>
          </p:cNvSpPr>
          <p:nvPr/>
        </p:nvSpPr>
        <p:spPr bwMode="auto">
          <a:xfrm>
            <a:off x="4724400" y="3200400"/>
            <a:ext cx="1066800" cy="2133600"/>
          </a:xfrm>
          <a:prstGeom prst="line">
            <a:avLst/>
          </a:prstGeom>
          <a:noFill/>
          <a:ln w="9525">
            <a:solidFill>
              <a:srgbClr val="008080"/>
            </a:solidFill>
            <a:round/>
            <a:headEnd/>
            <a:tailEnd type="triangle" w="med" len="med"/>
          </a:ln>
        </p:spPr>
        <p:txBody>
          <a:bodyPr/>
          <a:lstStyle/>
          <a:p>
            <a:endParaRPr lang="en-US"/>
          </a:p>
        </p:txBody>
      </p:sp>
      <p:pic>
        <p:nvPicPr>
          <p:cNvPr id="11" name="Picture 10" descr="E:\Master Folder 2017-18\Approved Logo by BOG\NIET logo_.png"/>
          <p:cNvPicPr/>
          <p:nvPr/>
        </p:nvPicPr>
        <p:blipFill>
          <a:blip r:embed="rId5" cstate="print"/>
          <a:srcRect/>
          <a:stretch>
            <a:fillRect/>
          </a:stretch>
        </p:blipFill>
        <p:spPr bwMode="auto">
          <a:xfrm>
            <a:off x="83820" y="0"/>
            <a:ext cx="1487784" cy="1143000"/>
          </a:xfrm>
          <a:prstGeom prst="rect">
            <a:avLst/>
          </a:prstGeom>
          <a:noFill/>
          <a:ln w="9525">
            <a:noFill/>
            <a:miter lim="800000"/>
            <a:headEnd/>
            <a:tailEnd/>
          </a:ln>
        </p:spPr>
      </p:pic>
      <p:sp>
        <p:nvSpPr>
          <p:cNvPr id="12"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Box Model</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4"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5"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56</a:t>
            </a:fld>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40" name="Picture 7"/>
          <p:cNvPicPr>
            <a:picLocks noChangeAspect="1" noChangeArrowheads="1"/>
          </p:cNvPicPr>
          <p:nvPr/>
        </p:nvPicPr>
        <p:blipFill>
          <a:blip r:embed="rId2"/>
          <a:srcRect/>
          <a:stretch>
            <a:fillRect/>
          </a:stretch>
        </p:blipFill>
        <p:spPr bwMode="auto">
          <a:xfrm>
            <a:off x="990600" y="1371600"/>
            <a:ext cx="7254875" cy="1227138"/>
          </a:xfrm>
          <a:prstGeom prst="rect">
            <a:avLst/>
          </a:prstGeom>
          <a:noFill/>
          <a:ln w="9525">
            <a:noFill/>
            <a:miter lim="800000"/>
            <a:headEnd/>
            <a:tailEnd/>
          </a:ln>
        </p:spPr>
      </p:pic>
      <p:pic>
        <p:nvPicPr>
          <p:cNvPr id="65541" name="Picture 8"/>
          <p:cNvPicPr>
            <a:picLocks noChangeAspect="1" noChangeArrowheads="1"/>
          </p:cNvPicPr>
          <p:nvPr/>
        </p:nvPicPr>
        <p:blipFill>
          <a:blip r:embed="rId3"/>
          <a:srcRect/>
          <a:stretch>
            <a:fillRect/>
          </a:stretch>
        </p:blipFill>
        <p:spPr bwMode="auto">
          <a:xfrm>
            <a:off x="1143000" y="2819400"/>
            <a:ext cx="6921500" cy="2962275"/>
          </a:xfrm>
          <a:prstGeom prst="rect">
            <a:avLst/>
          </a:prstGeom>
          <a:noFill/>
          <a:ln w="9525">
            <a:noFill/>
            <a:miter lim="800000"/>
            <a:headEnd/>
            <a:tailEnd/>
          </a:ln>
        </p:spPr>
      </p:pic>
      <p:pic>
        <p:nvPicPr>
          <p:cNvPr id="7" name="Picture 6" descr="E:\Master Folder 2017-18\Approved Logo by BOG\NIET logo_.png"/>
          <p:cNvPicPr/>
          <p:nvPr/>
        </p:nvPicPr>
        <p:blipFill>
          <a:blip r:embed="rId4" cstate="print"/>
          <a:srcRect/>
          <a:stretch>
            <a:fillRect/>
          </a:stretch>
        </p:blipFill>
        <p:spPr bwMode="auto">
          <a:xfrm>
            <a:off x="83820" y="0"/>
            <a:ext cx="1487784" cy="1143000"/>
          </a:xfrm>
          <a:prstGeom prst="rect">
            <a:avLst/>
          </a:prstGeom>
          <a:noFill/>
          <a:ln w="9525">
            <a:noFill/>
            <a:miter lim="800000"/>
            <a:headEnd/>
            <a:tailEnd/>
          </a:ln>
        </p:spPr>
      </p:pic>
      <p:sp>
        <p:nvSpPr>
          <p:cNvPr id="8"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Box Model</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0"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1"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4" name="Picture 5"/>
          <p:cNvPicPr>
            <a:picLocks noChangeAspect="1" noChangeArrowheads="1"/>
          </p:cNvPicPr>
          <p:nvPr/>
        </p:nvPicPr>
        <p:blipFill>
          <a:blip r:embed="rId2"/>
          <a:srcRect/>
          <a:stretch>
            <a:fillRect/>
          </a:stretch>
        </p:blipFill>
        <p:spPr bwMode="auto">
          <a:xfrm>
            <a:off x="968375" y="2571750"/>
            <a:ext cx="7207250" cy="1720850"/>
          </a:xfrm>
          <a:prstGeom prst="rect">
            <a:avLst/>
          </a:prstGeom>
          <a:noFill/>
          <a:ln w="9525">
            <a:noFill/>
            <a:miter lim="800000"/>
            <a:headEnd/>
            <a:tailEnd/>
          </a:ln>
        </p:spPr>
      </p:pic>
      <p:pic>
        <p:nvPicPr>
          <p:cNvPr id="66565" name="Picture 6"/>
          <p:cNvPicPr>
            <a:picLocks noChangeAspect="1" noChangeArrowheads="1"/>
          </p:cNvPicPr>
          <p:nvPr/>
        </p:nvPicPr>
        <p:blipFill>
          <a:blip r:embed="rId3"/>
          <a:srcRect/>
          <a:stretch>
            <a:fillRect/>
          </a:stretch>
        </p:blipFill>
        <p:spPr bwMode="auto">
          <a:xfrm>
            <a:off x="1066800" y="2133600"/>
            <a:ext cx="7064375" cy="228600"/>
          </a:xfrm>
          <a:prstGeom prst="rect">
            <a:avLst/>
          </a:prstGeom>
          <a:noFill/>
          <a:ln w="9525">
            <a:noFill/>
            <a:miter lim="800000"/>
            <a:headEnd/>
            <a:tailEnd/>
          </a:ln>
        </p:spPr>
      </p:pic>
      <p:pic>
        <p:nvPicPr>
          <p:cNvPr id="7" name="Picture 6" descr="E:\Master Folder 2017-18\Approved Logo by BOG\NIET logo_.png"/>
          <p:cNvPicPr/>
          <p:nvPr/>
        </p:nvPicPr>
        <p:blipFill>
          <a:blip r:embed="rId4" cstate="print"/>
          <a:srcRect/>
          <a:stretch>
            <a:fillRect/>
          </a:stretch>
        </p:blipFill>
        <p:spPr bwMode="auto">
          <a:xfrm>
            <a:off x="83820" y="0"/>
            <a:ext cx="1487784" cy="1143000"/>
          </a:xfrm>
          <a:prstGeom prst="rect">
            <a:avLst/>
          </a:prstGeom>
          <a:noFill/>
          <a:ln w="9525">
            <a:noFill/>
            <a:miter lim="800000"/>
            <a:headEnd/>
            <a:tailEnd/>
          </a:ln>
        </p:spPr>
      </p:pic>
      <p:sp>
        <p:nvSpPr>
          <p:cNvPr id="8"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Box Model</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0"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1"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58</a:t>
            </a:fld>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8" name="Picture 4"/>
          <p:cNvPicPr>
            <a:picLocks noChangeAspect="1" noChangeArrowheads="1"/>
          </p:cNvPicPr>
          <p:nvPr/>
        </p:nvPicPr>
        <p:blipFill>
          <a:blip r:embed="rId2"/>
          <a:srcRect/>
          <a:stretch>
            <a:fillRect/>
          </a:stretch>
        </p:blipFill>
        <p:spPr bwMode="auto">
          <a:xfrm>
            <a:off x="914400" y="1676400"/>
            <a:ext cx="7254875" cy="1025525"/>
          </a:xfrm>
          <a:prstGeom prst="rect">
            <a:avLst/>
          </a:prstGeom>
          <a:noFill/>
          <a:ln w="9525">
            <a:noFill/>
            <a:miter lim="800000"/>
            <a:headEnd/>
            <a:tailEnd/>
          </a:ln>
        </p:spPr>
      </p:pic>
      <p:pic>
        <p:nvPicPr>
          <p:cNvPr id="67589" name="Picture 6"/>
          <p:cNvPicPr>
            <a:picLocks noChangeAspect="1" noChangeArrowheads="1"/>
          </p:cNvPicPr>
          <p:nvPr/>
        </p:nvPicPr>
        <p:blipFill>
          <a:blip r:embed="rId3"/>
          <a:srcRect/>
          <a:stretch>
            <a:fillRect/>
          </a:stretch>
        </p:blipFill>
        <p:spPr bwMode="auto">
          <a:xfrm>
            <a:off x="457200" y="2971800"/>
            <a:ext cx="4191000" cy="2863850"/>
          </a:xfrm>
          <a:prstGeom prst="rect">
            <a:avLst/>
          </a:prstGeom>
          <a:noFill/>
          <a:ln w="9525">
            <a:noFill/>
            <a:miter lim="800000"/>
            <a:headEnd/>
            <a:tailEnd/>
          </a:ln>
        </p:spPr>
      </p:pic>
      <p:pic>
        <p:nvPicPr>
          <p:cNvPr id="67590" name="Picture 7"/>
          <p:cNvPicPr>
            <a:picLocks noChangeAspect="1" noChangeArrowheads="1"/>
          </p:cNvPicPr>
          <p:nvPr/>
        </p:nvPicPr>
        <p:blipFill>
          <a:blip r:embed="rId4"/>
          <a:srcRect/>
          <a:stretch>
            <a:fillRect/>
          </a:stretch>
        </p:blipFill>
        <p:spPr bwMode="auto">
          <a:xfrm>
            <a:off x="4724400" y="2971800"/>
            <a:ext cx="4191000" cy="2828925"/>
          </a:xfrm>
          <a:prstGeom prst="rect">
            <a:avLst/>
          </a:prstGeom>
          <a:noFill/>
          <a:ln w="9525">
            <a:noFill/>
            <a:miter lim="800000"/>
            <a:headEnd/>
            <a:tailEnd/>
          </a:ln>
        </p:spPr>
      </p:pic>
      <p:pic>
        <p:nvPicPr>
          <p:cNvPr id="67591" name="Picture 8"/>
          <p:cNvPicPr>
            <a:picLocks noChangeAspect="1" noChangeArrowheads="1"/>
          </p:cNvPicPr>
          <p:nvPr/>
        </p:nvPicPr>
        <p:blipFill>
          <a:blip r:embed="rId5"/>
          <a:srcRect/>
          <a:stretch>
            <a:fillRect/>
          </a:stretch>
        </p:blipFill>
        <p:spPr bwMode="auto">
          <a:xfrm>
            <a:off x="1066800" y="1447800"/>
            <a:ext cx="7064375" cy="228600"/>
          </a:xfrm>
          <a:prstGeom prst="rect">
            <a:avLst/>
          </a:prstGeom>
          <a:noFill/>
          <a:ln w="9525">
            <a:noFill/>
            <a:miter lim="800000"/>
            <a:headEnd/>
            <a:tailEnd/>
          </a:ln>
        </p:spPr>
      </p:pic>
      <p:pic>
        <p:nvPicPr>
          <p:cNvPr id="9" name="Picture 8" descr="E:\Master Folder 2017-18\Approved Logo by BOG\NIET logo_.png"/>
          <p:cNvPicPr/>
          <p:nvPr/>
        </p:nvPicPr>
        <p:blipFill>
          <a:blip r:embed="rId6" cstate="print"/>
          <a:srcRect/>
          <a:stretch>
            <a:fillRect/>
          </a:stretch>
        </p:blipFill>
        <p:spPr bwMode="auto">
          <a:xfrm>
            <a:off x="83820" y="0"/>
            <a:ext cx="1487784" cy="1143000"/>
          </a:xfrm>
          <a:prstGeom prst="rect">
            <a:avLst/>
          </a:prstGeom>
          <a:noFill/>
          <a:ln w="9525">
            <a:noFill/>
            <a:miter lim="800000"/>
            <a:headEnd/>
            <a:tailEnd/>
          </a:ln>
        </p:spPr>
      </p:pic>
      <p:sp>
        <p:nvSpPr>
          <p:cNvPr id="10"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Box Model</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2"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3"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2" name="Picture 5"/>
          <p:cNvPicPr>
            <a:picLocks noChangeAspect="1" noChangeArrowheads="1"/>
          </p:cNvPicPr>
          <p:nvPr/>
        </p:nvPicPr>
        <p:blipFill>
          <a:blip r:embed="rId2"/>
          <a:srcRect/>
          <a:stretch>
            <a:fillRect/>
          </a:stretch>
        </p:blipFill>
        <p:spPr bwMode="auto">
          <a:xfrm>
            <a:off x="1066800" y="1752600"/>
            <a:ext cx="7064375" cy="228600"/>
          </a:xfrm>
          <a:prstGeom prst="rect">
            <a:avLst/>
          </a:prstGeom>
          <a:noFill/>
          <a:ln w="9525">
            <a:noFill/>
            <a:miter lim="800000"/>
            <a:headEnd/>
            <a:tailEnd/>
          </a:ln>
        </p:spPr>
      </p:pic>
      <p:pic>
        <p:nvPicPr>
          <p:cNvPr id="68613" name="Picture 6"/>
          <p:cNvPicPr>
            <a:picLocks noChangeAspect="1" noChangeArrowheads="1"/>
          </p:cNvPicPr>
          <p:nvPr/>
        </p:nvPicPr>
        <p:blipFill>
          <a:blip r:embed="rId3"/>
          <a:srcRect/>
          <a:stretch>
            <a:fillRect/>
          </a:stretch>
        </p:blipFill>
        <p:spPr bwMode="auto">
          <a:xfrm>
            <a:off x="990600" y="2133600"/>
            <a:ext cx="7207250" cy="2530475"/>
          </a:xfrm>
          <a:prstGeom prst="rect">
            <a:avLst/>
          </a:prstGeom>
          <a:noFill/>
          <a:ln w="9525">
            <a:noFill/>
            <a:miter lim="800000"/>
            <a:headEnd/>
            <a:tailEnd/>
          </a:ln>
        </p:spPr>
      </p:pic>
      <p:pic>
        <p:nvPicPr>
          <p:cNvPr id="7" name="Picture 6" descr="E:\Master Folder 2017-18\Approved Logo by BOG\NIET logo_.png"/>
          <p:cNvPicPr/>
          <p:nvPr/>
        </p:nvPicPr>
        <p:blipFill>
          <a:blip r:embed="rId4" cstate="print"/>
          <a:srcRect/>
          <a:stretch>
            <a:fillRect/>
          </a:stretch>
        </p:blipFill>
        <p:spPr bwMode="auto">
          <a:xfrm>
            <a:off x="83820" y="0"/>
            <a:ext cx="1487784" cy="1143000"/>
          </a:xfrm>
          <a:prstGeom prst="rect">
            <a:avLst/>
          </a:prstGeom>
          <a:noFill/>
          <a:ln w="9525">
            <a:noFill/>
            <a:miter lim="800000"/>
            <a:headEnd/>
            <a:tailEnd/>
          </a:ln>
        </p:spPr>
      </p:pic>
      <p:sp>
        <p:nvSpPr>
          <p:cNvPr id="8"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Box Model</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0"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1"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3"/>
          <p:cNvSpPr>
            <a:spLocks noGrp="1" noChangeArrowheads="1"/>
          </p:cNvSpPr>
          <p:nvPr>
            <p:ph type="body" idx="1"/>
          </p:nvPr>
        </p:nvSpPr>
        <p:spPr/>
        <p:txBody>
          <a:bodyPr>
            <a:normAutofit/>
          </a:bodyPr>
          <a:lstStyle/>
          <a:p>
            <a:pPr eaLnBrk="1" hangingPunct="1"/>
            <a:r>
              <a:rPr lang="en-US" sz="2400" dirty="0">
                <a:latin typeface="Times New Roman" pitchFamily="18" charset="0"/>
                <a:cs typeface="Times New Roman" pitchFamily="18" charset="0"/>
              </a:rPr>
              <a:t>If multiple declarations apply to a property, the last declaration overrides earlier specifications</a:t>
            </a:r>
          </a:p>
        </p:txBody>
      </p:sp>
      <p:pic>
        <p:nvPicPr>
          <p:cNvPr id="69637" name="Picture 4"/>
          <p:cNvPicPr>
            <a:picLocks noChangeAspect="1" noChangeArrowheads="1"/>
          </p:cNvPicPr>
          <p:nvPr/>
        </p:nvPicPr>
        <p:blipFill>
          <a:blip r:embed="rId2"/>
          <a:srcRect/>
          <a:stretch>
            <a:fillRect/>
          </a:stretch>
        </p:blipFill>
        <p:spPr bwMode="auto">
          <a:xfrm>
            <a:off x="1524000" y="4178300"/>
            <a:ext cx="3833813" cy="1003300"/>
          </a:xfrm>
          <a:prstGeom prst="rect">
            <a:avLst/>
          </a:prstGeom>
          <a:noFill/>
          <a:ln w="9525">
            <a:noFill/>
            <a:miter lim="800000"/>
            <a:headEnd/>
            <a:tailEnd/>
          </a:ln>
        </p:spPr>
      </p:pic>
      <p:sp>
        <p:nvSpPr>
          <p:cNvPr id="69638" name="Oval 5"/>
          <p:cNvSpPr>
            <a:spLocks noChangeArrowheads="1"/>
          </p:cNvSpPr>
          <p:nvPr/>
        </p:nvSpPr>
        <p:spPr bwMode="auto">
          <a:xfrm>
            <a:off x="1600200" y="4102100"/>
            <a:ext cx="3810000" cy="838200"/>
          </a:xfrm>
          <a:prstGeom prst="ellipse">
            <a:avLst/>
          </a:prstGeom>
          <a:solidFill>
            <a:srgbClr val="008080">
              <a:alpha val="50195"/>
            </a:srgbClr>
          </a:solidFill>
          <a:ln w="9525">
            <a:solidFill>
              <a:schemeClr val="tx1"/>
            </a:solidFill>
            <a:round/>
            <a:headEnd/>
            <a:tailEnd/>
          </a:ln>
        </p:spPr>
        <p:txBody>
          <a:bodyPr wrap="none" anchor="ctr"/>
          <a:lstStyle/>
          <a:p>
            <a:endParaRPr lang="en-US"/>
          </a:p>
        </p:txBody>
      </p:sp>
      <p:sp>
        <p:nvSpPr>
          <p:cNvPr id="69639" name="Text Box 6"/>
          <p:cNvSpPr txBox="1">
            <a:spLocks noChangeArrowheads="1"/>
          </p:cNvSpPr>
          <p:nvPr/>
        </p:nvSpPr>
        <p:spPr bwMode="auto">
          <a:xfrm>
            <a:off x="5394325" y="4291013"/>
            <a:ext cx="2736850" cy="641350"/>
          </a:xfrm>
          <a:prstGeom prst="rect">
            <a:avLst/>
          </a:prstGeom>
          <a:noFill/>
          <a:ln w="9525">
            <a:noFill/>
            <a:miter lim="800000"/>
            <a:headEnd/>
            <a:tailEnd/>
          </a:ln>
        </p:spPr>
        <p:txBody>
          <a:bodyPr wrap="none">
            <a:spAutoFit/>
          </a:bodyPr>
          <a:lstStyle/>
          <a:p>
            <a:r>
              <a:rPr lang="en-US">
                <a:solidFill>
                  <a:srgbClr val="008080"/>
                </a:solidFill>
              </a:rPr>
              <a:t>Left border is 30px wide, </a:t>
            </a:r>
          </a:p>
          <a:p>
            <a:r>
              <a:rPr lang="en-US">
                <a:solidFill>
                  <a:srgbClr val="008080"/>
                </a:solidFill>
              </a:rPr>
              <a:t>inset style, and red</a:t>
            </a:r>
          </a:p>
        </p:txBody>
      </p:sp>
      <p:pic>
        <p:nvPicPr>
          <p:cNvPr id="9" name="Picture 8"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10"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Box Model</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2"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3"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35163"/>
            <a:ext cx="8229600" cy="1993900"/>
          </a:xfrm>
        </p:spPr>
        <p:txBody>
          <a:bodyPr>
            <a:normAutofit/>
          </a:bodyPr>
          <a:lstStyle/>
          <a:p>
            <a:pPr marL="274320" indent="-274320" fontAlgn="auto">
              <a:spcAft>
                <a:spcPts val="0"/>
              </a:spcAft>
              <a:buClr>
                <a:schemeClr val="accent3"/>
              </a:buClr>
              <a:buFont typeface="Wingdings 2"/>
              <a:buChar char=""/>
              <a:defRPr/>
            </a:pPr>
            <a:r>
              <a:rPr lang="en-IN" sz="2400" dirty="0">
                <a:latin typeface="Times New Roman" pitchFamily="18" charset="0"/>
                <a:cs typeface="Times New Roman" pitchFamily="18" charset="0"/>
              </a:rPr>
              <a:t>You can give the same properties to a number of selectors without having to repeat them by separating the selectors by </a:t>
            </a:r>
            <a:r>
              <a:rPr lang="en-IN" sz="2400" b="1" dirty="0">
                <a:latin typeface="Times New Roman" pitchFamily="18" charset="0"/>
                <a:cs typeface="Times New Roman" pitchFamily="18" charset="0"/>
              </a:rPr>
              <a:t>commas</a:t>
            </a:r>
            <a:r>
              <a:rPr lang="en-IN" sz="2400" dirty="0">
                <a:latin typeface="Times New Roman" pitchFamily="18" charset="0"/>
                <a:cs typeface="Times New Roman" pitchFamily="18" charset="0"/>
              </a:rPr>
              <a:t>. It is a useful thing for reducing file size.</a:t>
            </a:r>
          </a:p>
          <a:p>
            <a:pPr marL="274320" indent="-274320" fontAlgn="auto">
              <a:spcAft>
                <a:spcPts val="0"/>
              </a:spcAft>
              <a:buClr>
                <a:schemeClr val="accent3"/>
              </a:buClr>
              <a:buFont typeface="Wingdings 2"/>
              <a:buChar char=""/>
              <a:defRPr/>
            </a:pPr>
            <a:r>
              <a:rPr lang="en-US" sz="2000" dirty="0"/>
              <a:t>Example</a:t>
            </a:r>
          </a:p>
        </p:txBody>
      </p:sp>
      <p:sp>
        <p:nvSpPr>
          <p:cNvPr id="26629" name="TextBox 4"/>
          <p:cNvSpPr txBox="1">
            <a:spLocks noChangeArrowheads="1"/>
          </p:cNvSpPr>
          <p:nvPr/>
        </p:nvSpPr>
        <p:spPr bwMode="auto">
          <a:xfrm>
            <a:off x="642938" y="3429001"/>
            <a:ext cx="1928812" cy="3139321"/>
          </a:xfrm>
          <a:prstGeom prst="rect">
            <a:avLst/>
          </a:prstGeom>
          <a:noFill/>
          <a:ln w="9525">
            <a:noFill/>
            <a:miter lim="800000"/>
            <a:headEnd/>
            <a:tailEnd/>
          </a:ln>
        </p:spPr>
        <p:txBody>
          <a:bodyPr wrap="square">
            <a:spAutoFit/>
          </a:bodyPr>
          <a:lstStyle/>
          <a:p>
            <a:r>
              <a:rPr lang="en-IN" dirty="0">
                <a:latin typeface="Constantia" pitchFamily="18" charset="0"/>
              </a:rPr>
              <a:t>  h2 </a:t>
            </a:r>
          </a:p>
          <a:p>
            <a:r>
              <a:rPr lang="en-IN" dirty="0">
                <a:latin typeface="Constantia" pitchFamily="18" charset="0"/>
              </a:rPr>
              <a:t>     { </a:t>
            </a:r>
          </a:p>
          <a:p>
            <a:r>
              <a:rPr lang="en-IN" dirty="0">
                <a:latin typeface="Constantia" pitchFamily="18" charset="0"/>
              </a:rPr>
              <a:t>        </a:t>
            </a:r>
            <a:r>
              <a:rPr lang="en-IN" dirty="0" err="1">
                <a:latin typeface="Constantia" pitchFamily="18" charset="0"/>
              </a:rPr>
              <a:t>color</a:t>
            </a:r>
            <a:r>
              <a:rPr lang="en-IN" dirty="0">
                <a:latin typeface="Constantia" pitchFamily="18" charset="0"/>
              </a:rPr>
              <a:t>: red;</a:t>
            </a:r>
          </a:p>
          <a:p>
            <a:r>
              <a:rPr lang="en-IN" dirty="0">
                <a:latin typeface="Constantia" pitchFamily="18" charset="0"/>
              </a:rPr>
              <a:t>    }</a:t>
            </a:r>
          </a:p>
          <a:p>
            <a:r>
              <a:rPr lang="en-IN" dirty="0">
                <a:latin typeface="Constantia" pitchFamily="18" charset="0"/>
              </a:rPr>
              <a:t> .</a:t>
            </a:r>
            <a:r>
              <a:rPr lang="en-IN" dirty="0" err="1">
                <a:latin typeface="Constantia" pitchFamily="18" charset="0"/>
              </a:rPr>
              <a:t>thisOtherClass</a:t>
            </a:r>
            <a:endParaRPr lang="en-IN" dirty="0">
              <a:latin typeface="Constantia" pitchFamily="18" charset="0"/>
            </a:endParaRPr>
          </a:p>
          <a:p>
            <a:r>
              <a:rPr lang="en-IN" dirty="0">
                <a:latin typeface="Constantia" pitchFamily="18" charset="0"/>
              </a:rPr>
              <a:t>    {</a:t>
            </a:r>
          </a:p>
          <a:p>
            <a:r>
              <a:rPr lang="en-IN" dirty="0">
                <a:latin typeface="Constantia" pitchFamily="18" charset="0"/>
              </a:rPr>
              <a:t>       </a:t>
            </a:r>
            <a:r>
              <a:rPr lang="en-IN" dirty="0" err="1">
                <a:latin typeface="Constantia" pitchFamily="18" charset="0"/>
              </a:rPr>
              <a:t>color</a:t>
            </a:r>
            <a:r>
              <a:rPr lang="en-IN" dirty="0">
                <a:latin typeface="Constantia" pitchFamily="18" charset="0"/>
              </a:rPr>
              <a:t>: red; </a:t>
            </a:r>
          </a:p>
          <a:p>
            <a:r>
              <a:rPr lang="en-IN" dirty="0">
                <a:latin typeface="Constantia" pitchFamily="18" charset="0"/>
              </a:rPr>
              <a:t>    }</a:t>
            </a:r>
          </a:p>
          <a:p>
            <a:r>
              <a:rPr lang="en-IN" dirty="0">
                <a:latin typeface="Constantia" pitchFamily="18" charset="0"/>
              </a:rPr>
              <a:t> .</a:t>
            </a:r>
            <a:r>
              <a:rPr lang="en-IN" dirty="0" err="1">
                <a:latin typeface="Constantia" pitchFamily="18" charset="0"/>
              </a:rPr>
              <a:t>yetAnotherClass</a:t>
            </a:r>
            <a:r>
              <a:rPr lang="en-IN" dirty="0">
                <a:latin typeface="Constantia" pitchFamily="18" charset="0"/>
              </a:rPr>
              <a:t> </a:t>
            </a:r>
          </a:p>
          <a:p>
            <a:r>
              <a:rPr lang="en-IN" dirty="0">
                <a:latin typeface="Constantia" pitchFamily="18" charset="0"/>
              </a:rPr>
              <a:t>   { </a:t>
            </a:r>
            <a:r>
              <a:rPr lang="en-IN" dirty="0" err="1">
                <a:latin typeface="Constantia" pitchFamily="18" charset="0"/>
              </a:rPr>
              <a:t>color</a:t>
            </a:r>
            <a:r>
              <a:rPr lang="en-IN" dirty="0">
                <a:latin typeface="Constantia" pitchFamily="18" charset="0"/>
              </a:rPr>
              <a:t>: red; }</a:t>
            </a:r>
          </a:p>
          <a:p>
            <a:endParaRPr lang="en-IN" dirty="0">
              <a:latin typeface="Constantia" pitchFamily="18" charset="0"/>
            </a:endParaRPr>
          </a:p>
        </p:txBody>
      </p:sp>
      <p:sp>
        <p:nvSpPr>
          <p:cNvPr id="26630" name="TextBox 5"/>
          <p:cNvSpPr txBox="1">
            <a:spLocks noChangeArrowheads="1"/>
          </p:cNvSpPr>
          <p:nvPr/>
        </p:nvSpPr>
        <p:spPr bwMode="auto">
          <a:xfrm>
            <a:off x="5072063" y="3500438"/>
            <a:ext cx="4286250" cy="1200150"/>
          </a:xfrm>
          <a:prstGeom prst="rect">
            <a:avLst/>
          </a:prstGeom>
          <a:noFill/>
          <a:ln w="9525">
            <a:noFill/>
            <a:miter lim="800000"/>
            <a:headEnd/>
            <a:tailEnd/>
          </a:ln>
        </p:spPr>
        <p:txBody>
          <a:bodyPr>
            <a:spAutoFit/>
          </a:bodyPr>
          <a:lstStyle/>
          <a:p>
            <a:r>
              <a:rPr lang="en-IN">
                <a:latin typeface="Constantia" pitchFamily="18" charset="0"/>
              </a:rPr>
              <a:t>h2, .thisOtherClass, .yetAnotherClass </a:t>
            </a:r>
          </a:p>
          <a:p>
            <a:r>
              <a:rPr lang="en-IN">
                <a:latin typeface="Constantia" pitchFamily="18" charset="0"/>
              </a:rPr>
              <a:t>    {</a:t>
            </a:r>
          </a:p>
          <a:p>
            <a:r>
              <a:rPr lang="en-IN">
                <a:latin typeface="Constantia" pitchFamily="18" charset="0"/>
              </a:rPr>
              <a:t>       color: red; </a:t>
            </a:r>
          </a:p>
          <a:p>
            <a:r>
              <a:rPr lang="en-IN">
                <a:latin typeface="Constantia" pitchFamily="18" charset="0"/>
              </a:rPr>
              <a:t>    }</a:t>
            </a:r>
          </a:p>
        </p:txBody>
      </p:sp>
      <p:sp>
        <p:nvSpPr>
          <p:cNvPr id="7" name="Right Brace 6"/>
          <p:cNvSpPr/>
          <p:nvPr/>
        </p:nvSpPr>
        <p:spPr>
          <a:xfrm>
            <a:off x="2428875" y="3857625"/>
            <a:ext cx="285750" cy="2643188"/>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IN"/>
          </a:p>
        </p:txBody>
      </p:sp>
      <p:sp>
        <p:nvSpPr>
          <p:cNvPr id="26632" name="TextBox 7"/>
          <p:cNvSpPr txBox="1">
            <a:spLocks noChangeArrowheads="1"/>
          </p:cNvSpPr>
          <p:nvPr/>
        </p:nvSpPr>
        <p:spPr bwMode="auto">
          <a:xfrm>
            <a:off x="2786063" y="5000625"/>
            <a:ext cx="1385887" cy="369888"/>
          </a:xfrm>
          <a:prstGeom prst="rect">
            <a:avLst/>
          </a:prstGeom>
          <a:noFill/>
          <a:ln w="9525">
            <a:noFill/>
            <a:miter lim="800000"/>
            <a:headEnd/>
            <a:tailEnd/>
          </a:ln>
        </p:spPr>
        <p:txBody>
          <a:bodyPr wrap="none">
            <a:spAutoFit/>
          </a:bodyPr>
          <a:lstStyle/>
          <a:p>
            <a:r>
              <a:rPr lang="en-US">
                <a:latin typeface="Constantia" pitchFamily="18" charset="0"/>
              </a:rPr>
              <a:t>Normal CSS</a:t>
            </a:r>
            <a:endParaRPr lang="en-IN">
              <a:latin typeface="Constantia" pitchFamily="18" charset="0"/>
            </a:endParaRPr>
          </a:p>
        </p:txBody>
      </p:sp>
      <p:sp>
        <p:nvSpPr>
          <p:cNvPr id="26633" name="TextBox 10"/>
          <p:cNvSpPr txBox="1">
            <a:spLocks noChangeArrowheads="1"/>
          </p:cNvSpPr>
          <p:nvPr/>
        </p:nvSpPr>
        <p:spPr bwMode="auto">
          <a:xfrm>
            <a:off x="3284538" y="4559300"/>
            <a:ext cx="1501775" cy="369888"/>
          </a:xfrm>
          <a:prstGeom prst="rect">
            <a:avLst/>
          </a:prstGeom>
          <a:noFill/>
          <a:ln w="9525">
            <a:noFill/>
            <a:miter lim="800000"/>
            <a:headEnd/>
            <a:tailEnd/>
          </a:ln>
        </p:spPr>
        <p:txBody>
          <a:bodyPr wrap="none">
            <a:spAutoFit/>
          </a:bodyPr>
          <a:lstStyle/>
          <a:p>
            <a:r>
              <a:rPr lang="en-US">
                <a:latin typeface="Constantia" pitchFamily="18" charset="0"/>
              </a:rPr>
              <a:t>Grouped CSS</a:t>
            </a:r>
            <a:endParaRPr lang="en-IN">
              <a:latin typeface="Constantia" pitchFamily="18" charset="0"/>
            </a:endParaRPr>
          </a:p>
        </p:txBody>
      </p:sp>
      <p:sp>
        <p:nvSpPr>
          <p:cNvPr id="12" name="Left Brace 11"/>
          <p:cNvSpPr/>
          <p:nvPr/>
        </p:nvSpPr>
        <p:spPr>
          <a:xfrm>
            <a:off x="4786313" y="3357563"/>
            <a:ext cx="357187" cy="2714625"/>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IN"/>
          </a:p>
        </p:txBody>
      </p:sp>
      <p:sp>
        <p:nvSpPr>
          <p:cNvPr id="26635" name="TextBox 12"/>
          <p:cNvSpPr txBox="1">
            <a:spLocks noChangeArrowheads="1"/>
          </p:cNvSpPr>
          <p:nvPr/>
        </p:nvSpPr>
        <p:spPr bwMode="auto">
          <a:xfrm>
            <a:off x="5072063" y="4586288"/>
            <a:ext cx="4000500" cy="1200150"/>
          </a:xfrm>
          <a:prstGeom prst="rect">
            <a:avLst/>
          </a:prstGeom>
          <a:noFill/>
          <a:ln w="9525">
            <a:noFill/>
            <a:miter lim="800000"/>
            <a:headEnd/>
            <a:tailEnd/>
          </a:ln>
        </p:spPr>
        <p:txBody>
          <a:bodyPr>
            <a:spAutoFit/>
          </a:bodyPr>
          <a:lstStyle/>
          <a:p>
            <a:r>
              <a:rPr lang="pt-BR">
                <a:latin typeface="Constantia" pitchFamily="18" charset="0"/>
              </a:rPr>
              <a:t>h1, h2, h3, h4, h5, h6 </a:t>
            </a:r>
          </a:p>
          <a:p>
            <a:r>
              <a:rPr lang="pt-BR">
                <a:latin typeface="Constantia" pitchFamily="18" charset="0"/>
              </a:rPr>
              <a:t>    {</a:t>
            </a:r>
          </a:p>
          <a:p>
            <a:r>
              <a:rPr lang="pt-BR">
                <a:latin typeface="Constantia" pitchFamily="18" charset="0"/>
              </a:rPr>
              <a:t>         color: blue;</a:t>
            </a:r>
          </a:p>
          <a:p>
            <a:r>
              <a:rPr lang="pt-BR">
                <a:latin typeface="Constantia" pitchFamily="18" charset="0"/>
              </a:rPr>
              <a:t>    }</a:t>
            </a:r>
            <a:endParaRPr lang="en-IN">
              <a:latin typeface="Constantia" pitchFamily="18" charset="0"/>
            </a:endParaRPr>
          </a:p>
        </p:txBody>
      </p:sp>
      <p:pic>
        <p:nvPicPr>
          <p:cNvPr id="13" name="Picture 12" descr="E:\Master Folder 2017-18\Approved Logo by BOG\NIET logo_.png"/>
          <p:cNvPicPr/>
          <p:nvPr/>
        </p:nvPicPr>
        <p:blipFill>
          <a:blip r:embed="rId2" cstate="print"/>
          <a:srcRect/>
          <a:stretch>
            <a:fillRect/>
          </a:stretch>
        </p:blipFill>
        <p:spPr bwMode="auto">
          <a:xfrm>
            <a:off x="83820" y="0"/>
            <a:ext cx="1487784" cy="1143000"/>
          </a:xfrm>
          <a:prstGeom prst="rect">
            <a:avLst/>
          </a:prstGeom>
          <a:noFill/>
          <a:ln w="9525">
            <a:noFill/>
            <a:miter lim="800000"/>
            <a:headEnd/>
            <a:tailEnd/>
          </a:ln>
        </p:spPr>
      </p:pic>
      <p:sp>
        <p:nvSpPr>
          <p:cNvPr id="14"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Advanced(</a:t>
            </a:r>
            <a:r>
              <a:rPr lang="en-US" sz="2400" dirty="0"/>
              <a:t>Grouping styles)</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16"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7"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62</a:t>
            </a:fld>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35163"/>
            <a:ext cx="8229600" cy="1565275"/>
          </a:xfrm>
        </p:spPr>
        <p:txBody>
          <a:bodyPr>
            <a:normAutofit/>
          </a:bodyPr>
          <a:lstStyle/>
          <a:p>
            <a:pPr marL="274320" indent="-274320" fontAlgn="auto">
              <a:spcAft>
                <a:spcPts val="0"/>
              </a:spcAft>
              <a:buClr>
                <a:schemeClr val="accent3"/>
              </a:buClr>
              <a:buFont typeface="Wingdings 2"/>
              <a:buChar char=""/>
              <a:defRPr/>
            </a:pPr>
            <a:r>
              <a:rPr lang="en-IN" sz="2400" dirty="0">
                <a:latin typeface="Times New Roman" pitchFamily="18" charset="0"/>
                <a:cs typeface="Times New Roman" pitchFamily="18" charset="0"/>
              </a:rPr>
              <a:t>If the CSS is structured well, there shouldn't be a need to use many class or ID selectors. This is because you can specify properties to selectors </a:t>
            </a:r>
            <a:r>
              <a:rPr lang="en-IN" sz="2400" i="1" dirty="0">
                <a:latin typeface="Times New Roman" pitchFamily="18" charset="0"/>
                <a:cs typeface="Times New Roman" pitchFamily="18" charset="0"/>
              </a:rPr>
              <a:t>within</a:t>
            </a:r>
            <a:r>
              <a:rPr lang="en-IN" sz="2400" dirty="0">
                <a:latin typeface="Times New Roman" pitchFamily="18" charset="0"/>
                <a:cs typeface="Times New Roman" pitchFamily="18" charset="0"/>
              </a:rPr>
              <a:t> other selectors.</a:t>
            </a:r>
          </a:p>
        </p:txBody>
      </p:sp>
      <p:sp>
        <p:nvSpPr>
          <p:cNvPr id="27653" name="TextBox 4"/>
          <p:cNvSpPr txBox="1">
            <a:spLocks noChangeArrowheads="1"/>
          </p:cNvSpPr>
          <p:nvPr/>
        </p:nvSpPr>
        <p:spPr bwMode="auto">
          <a:xfrm>
            <a:off x="785813" y="3571875"/>
            <a:ext cx="7500937" cy="1200150"/>
          </a:xfrm>
          <a:prstGeom prst="rect">
            <a:avLst/>
          </a:prstGeom>
          <a:noFill/>
          <a:ln w="9525">
            <a:noFill/>
            <a:miter lim="800000"/>
            <a:headEnd/>
            <a:tailEnd/>
          </a:ln>
        </p:spPr>
        <p:txBody>
          <a:bodyPr>
            <a:spAutoFit/>
          </a:bodyPr>
          <a:lstStyle/>
          <a:p>
            <a:r>
              <a:rPr lang="en-IN" sz="2400">
                <a:latin typeface="Constantia" pitchFamily="18" charset="0"/>
              </a:rPr>
              <a:t>#top       { background-color: #ccc; padding: 1em }</a:t>
            </a:r>
          </a:p>
          <a:p>
            <a:r>
              <a:rPr lang="en-IN" sz="2400" b="1">
                <a:latin typeface="Constantia" pitchFamily="18" charset="0"/>
              </a:rPr>
              <a:t>#</a:t>
            </a:r>
            <a:r>
              <a:rPr lang="en-IN" sz="2400">
                <a:latin typeface="Constantia" pitchFamily="18" charset="0"/>
              </a:rPr>
              <a:t>top h1 { color: #ff0; } </a:t>
            </a:r>
          </a:p>
          <a:p>
            <a:r>
              <a:rPr lang="en-IN" sz="2400" b="1">
                <a:latin typeface="Constantia" pitchFamily="18" charset="0"/>
              </a:rPr>
              <a:t>#</a:t>
            </a:r>
            <a:r>
              <a:rPr lang="en-IN" sz="2400">
                <a:latin typeface="Constantia" pitchFamily="18" charset="0"/>
              </a:rPr>
              <a:t>top p   { color: red; font-weight: bold; }</a:t>
            </a:r>
          </a:p>
        </p:txBody>
      </p:sp>
      <p:pic>
        <p:nvPicPr>
          <p:cNvPr id="6" name="Picture 5" descr="E:\Master Folder 2017-18\Approved Logo by BOG\NIET logo_.png"/>
          <p:cNvPicPr/>
          <p:nvPr/>
        </p:nvPicPr>
        <p:blipFill>
          <a:blip r:embed="rId2" cstate="print"/>
          <a:srcRect/>
          <a:stretch>
            <a:fillRect/>
          </a:stretch>
        </p:blipFill>
        <p:spPr bwMode="auto">
          <a:xfrm>
            <a:off x="83820" y="0"/>
            <a:ext cx="1487784" cy="1143000"/>
          </a:xfrm>
          <a:prstGeom prst="rect">
            <a:avLst/>
          </a:prstGeom>
          <a:noFill/>
          <a:ln w="9525">
            <a:noFill/>
            <a:miter lim="800000"/>
            <a:headEnd/>
            <a:tailEnd/>
          </a:ln>
        </p:spPr>
      </p:pic>
      <p:sp>
        <p:nvSpPr>
          <p:cNvPr id="7"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Advanced(</a:t>
            </a:r>
            <a:r>
              <a:rPr lang="en-US" sz="2400" dirty="0"/>
              <a:t>Nested Styles)</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0"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Content Placeholder 2"/>
          <p:cNvSpPr>
            <a:spLocks noGrp="1"/>
          </p:cNvSpPr>
          <p:nvPr>
            <p:ph idx="1"/>
          </p:nvPr>
        </p:nvSpPr>
        <p:spPr/>
        <p:txBody>
          <a:bodyPr/>
          <a:lstStyle/>
          <a:p>
            <a:pPr>
              <a:buFont typeface="Wingdings 2" pitchFamily="18" charset="2"/>
              <a:buNone/>
            </a:pPr>
            <a:r>
              <a:rPr lang="en-IN" sz="2000" dirty="0"/>
              <a:t>  a[</a:t>
            </a:r>
            <a:r>
              <a:rPr lang="en-IN" sz="2000" dirty="0" err="1"/>
              <a:t>href</a:t>
            </a:r>
            <a:r>
              <a:rPr lang="en-IN" sz="2000" dirty="0"/>
              <a:t> $='.</a:t>
            </a:r>
            <a:r>
              <a:rPr lang="en-IN" sz="2000" dirty="0" err="1"/>
              <a:t>pdf</a:t>
            </a:r>
            <a:r>
              <a:rPr lang="en-IN" sz="2000" dirty="0"/>
              <a:t>'] { </a:t>
            </a:r>
            <a:br>
              <a:rPr lang="en-IN" sz="2000" dirty="0"/>
            </a:br>
            <a:r>
              <a:rPr lang="en-IN" sz="2000" dirty="0"/>
              <a:t>   padding-right: 18px;</a:t>
            </a:r>
            <a:br>
              <a:rPr lang="en-IN" sz="2000" dirty="0"/>
            </a:br>
            <a:r>
              <a:rPr lang="en-IN" sz="2000" dirty="0"/>
              <a:t>   background: transparent </a:t>
            </a:r>
            <a:r>
              <a:rPr lang="en-IN" sz="2000" dirty="0" err="1"/>
              <a:t>url</a:t>
            </a:r>
            <a:r>
              <a:rPr lang="en-IN" sz="2000" dirty="0"/>
              <a:t>(icon_pdf.gif) no-repeat </a:t>
            </a:r>
            <a:r>
              <a:rPr lang="en-IN" sz="2000" dirty="0" err="1"/>
              <a:t>center</a:t>
            </a:r>
            <a:r>
              <a:rPr lang="en-IN" sz="2000" dirty="0"/>
              <a:t> right;</a:t>
            </a:r>
            <a:br>
              <a:rPr lang="en-IN" sz="2000" dirty="0"/>
            </a:br>
            <a:r>
              <a:rPr lang="en-IN" sz="2000" dirty="0"/>
              <a:t>}</a:t>
            </a:r>
          </a:p>
          <a:p>
            <a:r>
              <a:rPr lang="en-IN" sz="2400" dirty="0">
                <a:latin typeface="Times New Roman" pitchFamily="18" charset="0"/>
                <a:cs typeface="Times New Roman" pitchFamily="18" charset="0"/>
              </a:rPr>
              <a:t>This would attach a </a:t>
            </a:r>
            <a:r>
              <a:rPr lang="en-IN" sz="2400" dirty="0" err="1">
                <a:latin typeface="Times New Roman" pitchFamily="18" charset="0"/>
                <a:cs typeface="Times New Roman" pitchFamily="18" charset="0"/>
              </a:rPr>
              <a:t>pdf</a:t>
            </a:r>
            <a:r>
              <a:rPr lang="en-IN" sz="2400" dirty="0">
                <a:latin typeface="Times New Roman" pitchFamily="18" charset="0"/>
                <a:cs typeface="Times New Roman" pitchFamily="18" charset="0"/>
              </a:rPr>
              <a:t> icon to the right of any hyperlink who's URL ended in '.</a:t>
            </a:r>
            <a:r>
              <a:rPr lang="en-IN" sz="2400" dirty="0" err="1">
                <a:latin typeface="Times New Roman" pitchFamily="18" charset="0"/>
                <a:cs typeface="Times New Roman" pitchFamily="18" charset="0"/>
              </a:rPr>
              <a:t>pdf</a:t>
            </a:r>
            <a:r>
              <a:rPr lang="en-IN" sz="2400" dirty="0">
                <a:latin typeface="Times New Roman" pitchFamily="18" charset="0"/>
                <a:cs typeface="Times New Roman" pitchFamily="18" charset="0"/>
              </a:rPr>
              <a:t>' like this. This was pretty exciting and heady stuff. It meant I could show the file type visually with that application's icon just by including a few lines in my master </a:t>
            </a:r>
            <a:r>
              <a:rPr lang="en-IN" sz="2400" dirty="0" err="1">
                <a:latin typeface="Times New Roman" pitchFamily="18" charset="0"/>
                <a:cs typeface="Times New Roman" pitchFamily="18" charset="0"/>
              </a:rPr>
              <a:t>css</a:t>
            </a:r>
            <a:r>
              <a:rPr lang="en-IN" sz="2400" dirty="0">
                <a:latin typeface="Times New Roman" pitchFamily="18" charset="0"/>
                <a:cs typeface="Times New Roman" pitchFamily="18" charset="0"/>
              </a:rPr>
              <a:t> file. I didn't have to worry about it at all in my html, </a:t>
            </a:r>
            <a:r>
              <a:rPr lang="en-IN" sz="2400" dirty="0" err="1">
                <a:latin typeface="Times New Roman" pitchFamily="18" charset="0"/>
                <a:cs typeface="Times New Roman" pitchFamily="18" charset="0"/>
              </a:rPr>
              <a:t>css</a:t>
            </a:r>
            <a:r>
              <a:rPr lang="en-IN" sz="2400" dirty="0">
                <a:latin typeface="Times New Roman" pitchFamily="18" charset="0"/>
                <a:cs typeface="Times New Roman" pitchFamily="18" charset="0"/>
              </a:rPr>
              <a:t> would add the icon for me automatically.</a:t>
            </a:r>
          </a:p>
        </p:txBody>
      </p:sp>
      <p:pic>
        <p:nvPicPr>
          <p:cNvPr id="5" name="Picture 4" descr="E:\Master Folder 2017-18\Approved Logo by BOG\NIET logo_.png"/>
          <p:cNvPicPr/>
          <p:nvPr/>
        </p:nvPicPr>
        <p:blipFill>
          <a:blip r:embed="rId2" cstate="print"/>
          <a:srcRect/>
          <a:stretch>
            <a:fillRect/>
          </a:stretch>
        </p:blipFill>
        <p:spPr bwMode="auto">
          <a:xfrm>
            <a:off x="83820" y="0"/>
            <a:ext cx="1487784" cy="1143000"/>
          </a:xfrm>
          <a:prstGeom prst="rect">
            <a:avLst/>
          </a:prstGeom>
          <a:noFill/>
          <a:ln w="9525">
            <a:noFill/>
            <a:miter lim="800000"/>
            <a:headEnd/>
            <a:tailEnd/>
          </a:ln>
        </p:spPr>
      </p:pic>
      <p:sp>
        <p:nvSpPr>
          <p:cNvPr id="6"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Advanced(</a:t>
            </a:r>
            <a:r>
              <a:rPr lang="en-US" sz="2400" dirty="0"/>
              <a:t>Conditional CSS)</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8"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9"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64</a:t>
            </a:fld>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2"/>
          <p:cNvSpPr>
            <a:spLocks noGrp="1"/>
          </p:cNvSpPr>
          <p:nvPr>
            <p:ph idx="1"/>
          </p:nvPr>
        </p:nvSpPr>
        <p:spPr/>
        <p:txBody>
          <a:bodyPr>
            <a:normAutofit/>
          </a:bodyPr>
          <a:lstStyle/>
          <a:p>
            <a:pPr>
              <a:buFont typeface="Wingdings 2" pitchFamily="18" charset="2"/>
              <a:buNone/>
            </a:pPr>
            <a:r>
              <a:rPr lang="en-IN" sz="2400" dirty="0">
                <a:latin typeface="Times New Roman" pitchFamily="18" charset="0"/>
                <a:cs typeface="Times New Roman" pitchFamily="18" charset="0"/>
              </a:rPr>
              <a:t>   span[id ^='</a:t>
            </a:r>
            <a:r>
              <a:rPr lang="en-IN" sz="2400" dirty="0" err="1">
                <a:latin typeface="Times New Roman" pitchFamily="18" charset="0"/>
                <a:cs typeface="Times New Roman" pitchFamily="18" charset="0"/>
              </a:rPr>
              <a:t>google</a:t>
            </a:r>
            <a:r>
              <a:rPr lang="en-IN" sz="2400" dirty="0">
                <a:latin typeface="Times New Roman" pitchFamily="18" charset="0"/>
                <a:cs typeface="Times New Roman" pitchFamily="18" charset="0"/>
              </a:rPr>
              <a:t>'] { </a:t>
            </a:r>
            <a:br>
              <a:rPr lang="en-IN" sz="2400" dirty="0">
                <a:latin typeface="Times New Roman" pitchFamily="18" charset="0"/>
                <a:cs typeface="Times New Roman" pitchFamily="18" charset="0"/>
              </a:rPr>
            </a:br>
            <a:r>
              <a:rPr lang="en-IN" sz="2400" dirty="0">
                <a:latin typeface="Times New Roman" pitchFamily="18" charset="0"/>
                <a:cs typeface="Times New Roman" pitchFamily="18" charset="0"/>
              </a:rPr>
              <a:t>   background-</a:t>
            </a:r>
            <a:r>
              <a:rPr lang="en-IN" sz="2400" dirty="0" err="1">
                <a:latin typeface="Times New Roman" pitchFamily="18" charset="0"/>
                <a:cs typeface="Times New Roman" pitchFamily="18" charset="0"/>
              </a:rPr>
              <a:t>color</a:t>
            </a:r>
            <a:r>
              <a:rPr lang="en-IN" sz="2400" dirty="0">
                <a:latin typeface="Times New Roman" pitchFamily="18" charset="0"/>
                <a:cs typeface="Times New Roman" pitchFamily="18" charset="0"/>
              </a:rPr>
              <a:t>: green;</a:t>
            </a:r>
            <a:br>
              <a:rPr lang="en-IN" sz="2400" dirty="0">
                <a:latin typeface="Times New Roman" pitchFamily="18" charset="0"/>
                <a:cs typeface="Times New Roman" pitchFamily="18" charset="0"/>
              </a:rPr>
            </a:br>
            <a:r>
              <a:rPr lang="en-IN" sz="2400" dirty="0">
                <a:latin typeface="Times New Roman" pitchFamily="18" charset="0"/>
                <a:cs typeface="Times New Roman" pitchFamily="18" charset="0"/>
              </a:rPr>
              <a:t>}</a:t>
            </a:r>
          </a:p>
          <a:p>
            <a:r>
              <a:rPr lang="en-IN" sz="2400" dirty="0">
                <a:latin typeface="Times New Roman" pitchFamily="18" charset="0"/>
                <a:cs typeface="Times New Roman" pitchFamily="18" charset="0"/>
              </a:rPr>
              <a:t>Any span which has an id which starts with '</a:t>
            </a:r>
            <a:r>
              <a:rPr lang="en-IN" sz="2400" dirty="0" err="1">
                <a:latin typeface="Times New Roman" pitchFamily="18" charset="0"/>
                <a:cs typeface="Times New Roman" pitchFamily="18" charset="0"/>
              </a:rPr>
              <a:t>google</a:t>
            </a:r>
            <a:r>
              <a:rPr lang="en-IN" sz="2400" dirty="0">
                <a:latin typeface="Times New Roman" pitchFamily="18" charset="0"/>
                <a:cs typeface="Times New Roman" pitchFamily="18" charset="0"/>
              </a:rPr>
              <a:t>' will be assigned a green background.</a:t>
            </a:r>
          </a:p>
          <a:p>
            <a:r>
              <a:rPr lang="en-US" sz="2400" dirty="0">
                <a:latin typeface="Times New Roman" pitchFamily="18" charset="0"/>
                <a:cs typeface="Times New Roman" pitchFamily="18" charset="0"/>
                <a:hlinkClick r:id="rId2"/>
              </a:rPr>
              <a:t>More Examples</a:t>
            </a:r>
            <a:endParaRPr lang="en-IN" sz="2400" dirty="0">
              <a:latin typeface="Times New Roman" pitchFamily="18" charset="0"/>
              <a:cs typeface="Times New Roman" pitchFamily="18" charset="0"/>
            </a:endParaRPr>
          </a:p>
        </p:txBody>
      </p:sp>
      <p:pic>
        <p:nvPicPr>
          <p:cNvPr id="5" name="Picture 4"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6"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Advanced</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8"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9"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65</a:t>
            </a:fld>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2"/>
          <p:cNvSpPr>
            <a:spLocks noGrp="1"/>
          </p:cNvSpPr>
          <p:nvPr>
            <p:ph idx="1"/>
          </p:nvPr>
        </p:nvSpPr>
        <p:spPr/>
        <p:txBody>
          <a:bodyPr/>
          <a:lstStyle/>
          <a:p>
            <a:pPr>
              <a:buFont typeface="Wingdings 2" pitchFamily="18" charset="2"/>
              <a:buNone/>
            </a:pPr>
            <a:r>
              <a:rPr lang="en-IN" sz="1400"/>
              <a:t>	.ie .example {</a:t>
            </a:r>
            <a:br>
              <a:rPr lang="en-IN" sz="1400"/>
            </a:br>
            <a:r>
              <a:rPr lang="en-IN" sz="1400"/>
              <a:t>background-color: yellow</a:t>
            </a:r>
            <a:br>
              <a:rPr lang="en-IN" sz="1400"/>
            </a:br>
            <a:r>
              <a:rPr lang="en-IN" sz="1400"/>
              <a:t>}</a:t>
            </a:r>
            <a:br>
              <a:rPr lang="en-IN" sz="1400"/>
            </a:br>
            <a:r>
              <a:rPr lang="en-IN" sz="1400"/>
              <a:t>.gecko .example {</a:t>
            </a:r>
            <a:br>
              <a:rPr lang="en-IN" sz="1400"/>
            </a:br>
            <a:r>
              <a:rPr lang="en-IN" sz="1400"/>
              <a:t>background-color: gray</a:t>
            </a:r>
            <a:br>
              <a:rPr lang="en-IN" sz="1400"/>
            </a:br>
            <a:r>
              <a:rPr lang="en-IN" sz="1400"/>
              <a:t>}</a:t>
            </a:r>
            <a:br>
              <a:rPr lang="en-IN" sz="1400"/>
            </a:br>
            <a:r>
              <a:rPr lang="en-IN" sz="1400"/>
              <a:t>.opera .example {</a:t>
            </a:r>
            <a:br>
              <a:rPr lang="en-IN" sz="1400"/>
            </a:br>
            <a:r>
              <a:rPr lang="en-IN" sz="1400"/>
              <a:t>background-color: green</a:t>
            </a:r>
            <a:br>
              <a:rPr lang="en-IN" sz="1400"/>
            </a:br>
            <a:r>
              <a:rPr lang="en-IN" sz="1400"/>
              <a:t>}</a:t>
            </a:r>
            <a:br>
              <a:rPr lang="en-IN" sz="1400"/>
            </a:br>
            <a:r>
              <a:rPr lang="en-IN" sz="1400"/>
              <a:t>.konqueror .example {</a:t>
            </a:r>
            <a:br>
              <a:rPr lang="en-IN" sz="1400"/>
            </a:br>
            <a:r>
              <a:rPr lang="en-IN" sz="1400"/>
              <a:t>background-color: blue</a:t>
            </a:r>
            <a:br>
              <a:rPr lang="en-IN" sz="1400"/>
            </a:br>
            <a:r>
              <a:rPr lang="en-IN" sz="1400"/>
              <a:t>}</a:t>
            </a:r>
            <a:br>
              <a:rPr lang="en-IN" sz="1400"/>
            </a:br>
            <a:r>
              <a:rPr lang="en-IN" sz="1400"/>
              <a:t>.webkit .example {</a:t>
            </a:r>
            <a:br>
              <a:rPr lang="en-IN" sz="1400"/>
            </a:br>
            <a:r>
              <a:rPr lang="en-IN" sz="1400"/>
              <a:t>background-color: black</a:t>
            </a:r>
            <a:br>
              <a:rPr lang="en-IN" sz="1400"/>
            </a:br>
            <a:r>
              <a:rPr lang="en-IN" sz="1400"/>
              <a:t>}</a:t>
            </a:r>
            <a:br>
              <a:rPr lang="en-IN" sz="1400"/>
            </a:br>
            <a:r>
              <a:rPr lang="en-IN" sz="1400"/>
              <a:t>.example {</a:t>
            </a:r>
            <a:br>
              <a:rPr lang="en-IN" sz="1400"/>
            </a:br>
            <a:r>
              <a:rPr lang="en-IN" sz="1400"/>
              <a:t>width: 100px;</a:t>
            </a:r>
            <a:br>
              <a:rPr lang="en-IN" sz="1400"/>
            </a:br>
            <a:r>
              <a:rPr lang="en-IN" sz="1400"/>
              <a:t>height: 100px;</a:t>
            </a:r>
            <a:br>
              <a:rPr lang="en-IN" sz="1400"/>
            </a:br>
            <a:r>
              <a:rPr lang="en-IN" sz="1400"/>
              <a:t>background-color: brown;</a:t>
            </a:r>
            <a:br>
              <a:rPr lang="en-IN" sz="1400"/>
            </a:br>
            <a:r>
              <a:rPr lang="en-IN" sz="1400"/>
              <a:t>}</a:t>
            </a:r>
          </a:p>
        </p:txBody>
      </p:sp>
      <p:pic>
        <p:nvPicPr>
          <p:cNvPr id="5" name="Picture 4" descr="E:\Master Folder 2017-18\Approved Logo by BOG\NIET logo_.png"/>
          <p:cNvPicPr/>
          <p:nvPr/>
        </p:nvPicPr>
        <p:blipFill>
          <a:blip r:embed="rId2" cstate="print"/>
          <a:srcRect/>
          <a:stretch>
            <a:fillRect/>
          </a:stretch>
        </p:blipFill>
        <p:spPr bwMode="auto">
          <a:xfrm>
            <a:off x="83820" y="0"/>
            <a:ext cx="1487784" cy="1143000"/>
          </a:xfrm>
          <a:prstGeom prst="rect">
            <a:avLst/>
          </a:prstGeom>
          <a:noFill/>
          <a:ln w="9525">
            <a:noFill/>
            <a:miter lim="800000"/>
            <a:headEnd/>
            <a:tailEnd/>
          </a:ln>
        </p:spPr>
      </p:pic>
      <p:sp>
        <p:nvSpPr>
          <p:cNvPr id="6"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Advanced</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8"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9"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66</a:t>
            </a:fld>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Content Placeholder 5"/>
          <p:cNvSpPr>
            <a:spLocks noGrp="1"/>
          </p:cNvSpPr>
          <p:nvPr>
            <p:ph idx="1"/>
          </p:nvPr>
        </p:nvSpPr>
        <p:spPr>
          <a:xfrm>
            <a:off x="457200" y="1500174"/>
            <a:ext cx="8229600" cy="4500593"/>
          </a:xfrm>
        </p:spPr>
        <p:txBody>
          <a:bodyPr/>
          <a:lstStyle/>
          <a:p>
            <a:endParaRPr lang="en-IN" dirty="0"/>
          </a:p>
        </p:txBody>
      </p:sp>
      <p:pic>
        <p:nvPicPr>
          <p:cNvPr id="31749" name="Picture 2"/>
          <p:cNvPicPr>
            <a:picLocks noChangeAspect="1" noChangeArrowheads="1"/>
          </p:cNvPicPr>
          <p:nvPr/>
        </p:nvPicPr>
        <p:blipFill>
          <a:blip r:embed="rId2"/>
          <a:srcRect l="14648" t="37500" r="10352" b="36250"/>
          <a:stretch>
            <a:fillRect/>
          </a:stretch>
        </p:blipFill>
        <p:spPr bwMode="auto">
          <a:xfrm>
            <a:off x="457200" y="1498583"/>
            <a:ext cx="8229600" cy="4162665"/>
          </a:xfrm>
          <a:prstGeom prst="rect">
            <a:avLst/>
          </a:prstGeom>
          <a:noFill/>
          <a:ln w="9525">
            <a:noFill/>
            <a:miter lim="800000"/>
            <a:headEnd/>
            <a:tailEnd/>
          </a:ln>
        </p:spPr>
      </p:pic>
      <p:pic>
        <p:nvPicPr>
          <p:cNvPr id="6" name="Picture 5" descr="E:\Master Folder 2017-18\Approved Logo by BOG\NIET logo_.png"/>
          <p:cNvPicPr/>
          <p:nvPr/>
        </p:nvPicPr>
        <p:blipFill>
          <a:blip r:embed="rId3" cstate="print"/>
          <a:srcRect/>
          <a:stretch>
            <a:fillRect/>
          </a:stretch>
        </p:blipFill>
        <p:spPr bwMode="auto">
          <a:xfrm>
            <a:off x="83820" y="0"/>
            <a:ext cx="1487784" cy="1143000"/>
          </a:xfrm>
          <a:prstGeom prst="rect">
            <a:avLst/>
          </a:prstGeom>
          <a:noFill/>
          <a:ln w="9525">
            <a:noFill/>
            <a:miter lim="800000"/>
            <a:headEnd/>
            <a:tailEnd/>
          </a:ln>
        </p:spPr>
      </p:pic>
      <p:sp>
        <p:nvSpPr>
          <p:cNvPr id="7" name="Title 1"/>
          <p:cNvSpPr txBox="1">
            <a:spLocks/>
          </p:cNvSpPr>
          <p:nvPr/>
        </p:nvSpPr>
        <p:spPr>
          <a:xfrm>
            <a:off x="1643042"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Advanced(Cont..)</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10"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67</a:t>
            </a:fld>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Content Placeholder 2"/>
          <p:cNvSpPr>
            <a:spLocks noGrp="1"/>
          </p:cNvSpPr>
          <p:nvPr>
            <p:ph idx="1"/>
          </p:nvPr>
        </p:nvSpPr>
        <p:spPr>
          <a:xfrm>
            <a:off x="457200" y="2039938"/>
            <a:ext cx="8229600" cy="4389437"/>
          </a:xfrm>
        </p:spPr>
        <p:txBody>
          <a:bodyPr/>
          <a:lstStyle/>
          <a:p>
            <a:pPr>
              <a:spcAft>
                <a:spcPct val="45000"/>
              </a:spcAft>
            </a:pPr>
            <a:r>
              <a:rPr lang="en-US" sz="2400" dirty="0">
                <a:latin typeface="Times New Roman" pitchFamily="18" charset="0"/>
                <a:cs typeface="Times New Roman" pitchFamily="18" charset="0"/>
              </a:rPr>
              <a:t>Validate your HTML</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hlinkClick r:id="rId2"/>
              </a:rPr>
              <a:t>validator.w3.org </a:t>
            </a:r>
            <a:endParaRPr lang="en-US" sz="2400" dirty="0">
              <a:latin typeface="Times New Roman" pitchFamily="18" charset="0"/>
              <a:cs typeface="Times New Roman" pitchFamily="18" charset="0"/>
            </a:endParaRPr>
          </a:p>
          <a:p>
            <a:pPr>
              <a:spcAft>
                <a:spcPct val="45000"/>
              </a:spcAft>
            </a:pPr>
            <a:r>
              <a:rPr lang="en-US" sz="2400" dirty="0">
                <a:latin typeface="Times New Roman" pitchFamily="18" charset="0"/>
                <a:cs typeface="Times New Roman" pitchFamily="18" charset="0"/>
              </a:rPr>
              <a:t>Validate your CSS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hlinkClick r:id="rId3"/>
              </a:rPr>
              <a:t>jigsaw.w3.org/</a:t>
            </a:r>
            <a:r>
              <a:rPr lang="en-US" sz="2400" dirty="0" err="1">
                <a:latin typeface="Times New Roman" pitchFamily="18" charset="0"/>
                <a:cs typeface="Times New Roman" pitchFamily="18" charset="0"/>
                <a:hlinkClick r:id="rId3"/>
              </a:rPr>
              <a:t>css-validator</a:t>
            </a:r>
            <a:r>
              <a:rPr lang="en-US" sz="2400" dirty="0">
                <a:latin typeface="Times New Roman" pitchFamily="18" charset="0"/>
                <a:cs typeface="Times New Roman" pitchFamily="18" charset="0"/>
                <a:hlinkClick r:id="rId3"/>
              </a:rPr>
              <a:t>/</a:t>
            </a:r>
            <a:r>
              <a:rPr lang="en-US" sz="2400" dirty="0">
                <a:latin typeface="Times New Roman" pitchFamily="18" charset="0"/>
                <a:cs typeface="Times New Roman" pitchFamily="18" charset="0"/>
              </a:rPr>
              <a:t> </a:t>
            </a:r>
          </a:p>
          <a:p>
            <a:pPr>
              <a:spcAft>
                <a:spcPct val="45000"/>
              </a:spcAft>
            </a:pPr>
            <a:r>
              <a:rPr lang="en-US" sz="2400" dirty="0">
                <a:latin typeface="Times New Roman" pitchFamily="18" charset="0"/>
                <a:cs typeface="Times New Roman" pitchFamily="18" charset="0"/>
              </a:rPr>
              <a:t>Check for web accessibility</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hlinkClick r:id="rId4"/>
              </a:rPr>
              <a:t>bobby.watchfire.com</a:t>
            </a:r>
            <a:endParaRPr lang="en-US" sz="2400" dirty="0">
              <a:latin typeface="Times New Roman" pitchFamily="18" charset="0"/>
              <a:cs typeface="Times New Roman" pitchFamily="18" charset="0"/>
            </a:endParaRPr>
          </a:p>
          <a:p>
            <a:endParaRPr lang="en-IN" dirty="0"/>
          </a:p>
        </p:txBody>
      </p:sp>
      <p:pic>
        <p:nvPicPr>
          <p:cNvPr id="5" name="Picture 4" descr="E:\Master Folder 2017-18\Approved Logo by BOG\NIET logo_.png"/>
          <p:cNvPicPr/>
          <p:nvPr/>
        </p:nvPicPr>
        <p:blipFill>
          <a:blip r:embed="rId5" cstate="print"/>
          <a:srcRect/>
          <a:stretch>
            <a:fillRect/>
          </a:stretch>
        </p:blipFill>
        <p:spPr bwMode="auto">
          <a:xfrm>
            <a:off x="83820" y="0"/>
            <a:ext cx="1487784" cy="1143000"/>
          </a:xfrm>
          <a:prstGeom prst="rect">
            <a:avLst/>
          </a:prstGeom>
          <a:noFill/>
          <a:ln w="9525">
            <a:noFill/>
            <a:miter lim="800000"/>
            <a:headEnd/>
            <a:tailEnd/>
          </a:ln>
        </p:spPr>
      </p:pic>
      <p:sp>
        <p:nvSpPr>
          <p:cNvPr id="6" name="Title 1"/>
          <p:cNvSpPr txBox="1">
            <a:spLocks/>
          </p:cNvSpPr>
          <p:nvPr/>
        </p:nvSpPr>
        <p:spPr>
          <a:xfrm>
            <a:off x="1535538" y="0"/>
            <a:ext cx="7500958"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3:CSS Advanced(Validation)(Cont..)</a:t>
            </a:r>
            <a:endParaRPr lang="en-US" sz="24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8"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9"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68</a:t>
            </a:fld>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55000" lnSpcReduction="20000"/>
          </a:bodyPr>
          <a:lstStyle/>
          <a:p>
            <a:r>
              <a:rPr lang="en-US" sz="4200" dirty="0">
                <a:latin typeface="Times New Roman" pitchFamily="18" charset="0"/>
                <a:cs typeface="Times New Roman" pitchFamily="18" charset="0"/>
              </a:rPr>
              <a:t>Bootstrap is a free front-end framework for faster and easier web development.</a:t>
            </a:r>
          </a:p>
          <a:p>
            <a:pPr>
              <a:buNone/>
            </a:pPr>
            <a:endParaRPr lang="en-US" sz="4200" dirty="0">
              <a:latin typeface="Times New Roman" pitchFamily="18" charset="0"/>
              <a:cs typeface="Times New Roman" pitchFamily="18" charset="0"/>
            </a:endParaRPr>
          </a:p>
          <a:p>
            <a:r>
              <a:rPr lang="en-US" sz="4200" dirty="0">
                <a:latin typeface="Times New Roman" pitchFamily="18" charset="0"/>
                <a:cs typeface="Times New Roman" pitchFamily="18" charset="0"/>
              </a:rPr>
              <a:t>Bootstrap includes HTML and CSS based design templates for typography, forms, buttons, tables, navigation, modals, image carousels and many other, as well as optional JavaScript plug-in</a:t>
            </a:r>
          </a:p>
          <a:p>
            <a:endParaRPr lang="en-US" sz="4200" dirty="0">
              <a:latin typeface="Times New Roman" pitchFamily="18" charset="0"/>
              <a:cs typeface="Times New Roman" pitchFamily="18" charset="0"/>
            </a:endParaRPr>
          </a:p>
          <a:p>
            <a:r>
              <a:rPr lang="en-US" sz="4200" dirty="0">
                <a:latin typeface="Times New Roman" pitchFamily="18" charset="0"/>
                <a:cs typeface="Times New Roman" pitchFamily="18" charset="0"/>
              </a:rPr>
              <a:t>Bootstrap also gives you the ability to easily create responsive designs.</a:t>
            </a:r>
          </a:p>
          <a:p>
            <a:endParaRPr lang="en-US" sz="4200" dirty="0">
              <a:latin typeface="Times New Roman" pitchFamily="18" charset="0"/>
              <a:cs typeface="Times New Roman" pitchFamily="18" charset="0"/>
            </a:endParaRPr>
          </a:p>
          <a:p>
            <a:r>
              <a:rPr lang="en-US" sz="4200" dirty="0">
                <a:latin typeface="Times New Roman" pitchFamily="18" charset="0"/>
                <a:cs typeface="Times New Roman" pitchFamily="18" charset="0"/>
              </a:rPr>
              <a:t>Responsive web design is about creating web sites which automatically adjust themselves to look good on all devices, from small phones to large desktops.</a:t>
            </a:r>
          </a:p>
          <a:p>
            <a:endParaRPr lang="en-US" dirty="0"/>
          </a:p>
        </p:txBody>
      </p:sp>
      <p:sp>
        <p:nvSpPr>
          <p:cNvPr id="5"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2400" b="1" dirty="0">
                <a:latin typeface="Times New Roman" pitchFamily="18" charset="0"/>
                <a:cs typeface="Times New Roman" pitchFamily="18" charset="0"/>
              </a:rPr>
              <a:t>Concept of CSS 3:Bootstrap</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8" descr="E:\Master Folder 2017-18\Approved Logo by BOG\NIET logo_.png"/>
          <p:cNvPicPr/>
          <p:nvPr/>
        </p:nvPicPr>
        <p:blipFill>
          <a:blip r:embed="rId2" cstate="print"/>
          <a:srcRect/>
          <a:stretch>
            <a:fillRect/>
          </a:stretch>
        </p:blipFill>
        <p:spPr bwMode="auto">
          <a:xfrm>
            <a:off x="83820" y="83128"/>
            <a:ext cx="1287780" cy="1059872"/>
          </a:xfrm>
          <a:prstGeom prst="rect">
            <a:avLst/>
          </a:prstGeom>
          <a:noFill/>
          <a:ln w="9525">
            <a:noFill/>
            <a:miter lim="800000"/>
            <a:headEnd/>
            <a:tailEnd/>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3:Bootstrap</a:t>
            </a:r>
            <a:endParaRPr lang="en-US" sz="2400" dirty="0"/>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8" descr="E:\Master Folder 2017-18\Approved Logo by BOG\NIET logo_.png"/>
          <p:cNvPicPr/>
          <p:nvPr/>
        </p:nvPicPr>
        <p:blipFill>
          <a:blip r:embed="rId2" cstate="print"/>
          <a:srcRect/>
          <a:stretch>
            <a:fillRect/>
          </a:stretch>
        </p:blipFill>
        <p:spPr bwMode="auto">
          <a:xfrm>
            <a:off x="83820" y="83128"/>
            <a:ext cx="1287780" cy="1059872"/>
          </a:xfrm>
          <a:prstGeom prst="rect">
            <a:avLst/>
          </a:prstGeom>
          <a:noFill/>
          <a:ln w="9525">
            <a:noFill/>
            <a:miter lim="800000"/>
            <a:headEnd/>
            <a:tailEnd/>
          </a:ln>
        </p:spPr>
      </p:pic>
      <p:sp>
        <p:nvSpPr>
          <p:cNvPr id="8" name="Rectangle 7"/>
          <p:cNvSpPr/>
          <p:nvPr/>
        </p:nvSpPr>
        <p:spPr>
          <a:xfrm>
            <a:off x="500034" y="1071547"/>
            <a:ext cx="8286808" cy="6370975"/>
          </a:xfrm>
          <a:prstGeom prst="rect">
            <a:avLst/>
          </a:prstGeom>
        </p:spPr>
        <p:txBody>
          <a:bodyPr wrap="square">
            <a:spAutoFit/>
          </a:bodyPr>
          <a:lstStyle/>
          <a:p>
            <a:pPr>
              <a:buNone/>
            </a:pPr>
            <a:r>
              <a:rPr lang="en-US" sz="2400" dirty="0">
                <a:latin typeface="Times New Roman" pitchFamily="18" charset="0"/>
                <a:cs typeface="Times New Roman" pitchFamily="18" charset="0"/>
              </a:rPr>
              <a:t>Bootstrap is the most popular HTML, CSS, and JavaScript framework for developing responsive, mobile-first web sites.</a:t>
            </a:r>
          </a:p>
          <a:p>
            <a:pPr>
              <a:buNone/>
            </a:pPr>
            <a:endParaRPr lang="en-IN" sz="2400" dirty="0">
              <a:latin typeface="Times New Roman" pitchFamily="18" charset="0"/>
              <a:cs typeface="Times New Roman" pitchFamily="18" charset="0"/>
            </a:endParaRPr>
          </a:p>
          <a:p>
            <a:pPr>
              <a:buNone/>
            </a:pPr>
            <a:r>
              <a:rPr lang="en-IN" sz="2400" dirty="0">
                <a:latin typeface="Times New Roman" pitchFamily="18" charset="0"/>
                <a:cs typeface="Times New Roman" pitchFamily="18" charset="0"/>
              </a:rPr>
              <a:t>Advantages of Boot Strapping-</a:t>
            </a:r>
          </a:p>
          <a:p>
            <a:pPr>
              <a:buNone/>
            </a:pPr>
            <a:r>
              <a:rPr lang="en-IN" sz="2400" b="1" dirty="0">
                <a:latin typeface="Times New Roman" pitchFamily="18" charset="0"/>
                <a:cs typeface="Times New Roman" pitchFamily="18" charset="0"/>
              </a:rPr>
              <a:t>Easy to use: </a:t>
            </a:r>
            <a:r>
              <a:rPr lang="en-IN" sz="2400" dirty="0">
                <a:latin typeface="Times New Roman" pitchFamily="18" charset="0"/>
                <a:cs typeface="Times New Roman" pitchFamily="18" charset="0"/>
              </a:rPr>
              <a:t>Anybody with just basic Knowledge of HTML and CSS can start using Bootstrap.</a:t>
            </a:r>
          </a:p>
          <a:p>
            <a:pPr>
              <a:buNone/>
            </a:pPr>
            <a:endParaRPr lang="en-IN" sz="2400" b="1" dirty="0">
              <a:latin typeface="Times New Roman" pitchFamily="18" charset="0"/>
              <a:cs typeface="Times New Roman" pitchFamily="18" charset="0"/>
            </a:endParaRPr>
          </a:p>
          <a:p>
            <a:pPr>
              <a:buNone/>
            </a:pPr>
            <a:r>
              <a:rPr lang="en-IN" sz="2400" b="1" dirty="0">
                <a:latin typeface="Times New Roman" pitchFamily="18" charset="0"/>
                <a:cs typeface="Times New Roman" pitchFamily="18" charset="0"/>
              </a:rPr>
              <a:t>Responsive features: </a:t>
            </a:r>
            <a:r>
              <a:rPr lang="en-IN" sz="2400" dirty="0">
                <a:latin typeface="Times New Roman" pitchFamily="18" charset="0"/>
                <a:cs typeface="Times New Roman" pitchFamily="18" charset="0"/>
              </a:rPr>
              <a:t>Bootstrap’s responsive CSS adjusts to phones, tablets, and desktops.</a:t>
            </a:r>
          </a:p>
          <a:p>
            <a:pPr>
              <a:buNone/>
            </a:pPr>
            <a:endParaRPr lang="en-IN" sz="2400" b="1" dirty="0">
              <a:latin typeface="Times New Roman" pitchFamily="18" charset="0"/>
              <a:cs typeface="Times New Roman" pitchFamily="18" charset="0"/>
            </a:endParaRPr>
          </a:p>
          <a:p>
            <a:pPr>
              <a:buNone/>
            </a:pPr>
            <a:r>
              <a:rPr lang="en-IN" sz="2400" b="1" dirty="0">
                <a:latin typeface="Times New Roman" pitchFamily="18" charset="0"/>
                <a:cs typeface="Times New Roman" pitchFamily="18" charset="0"/>
              </a:rPr>
              <a:t>Mobile –First approach: </a:t>
            </a:r>
            <a:r>
              <a:rPr lang="en-IN" sz="2400" dirty="0">
                <a:latin typeface="Times New Roman" pitchFamily="18" charset="0"/>
                <a:cs typeface="Times New Roman" pitchFamily="18" charset="0"/>
              </a:rPr>
              <a:t>In Bootstrap 3, mobile first styles are part of the core framework.</a:t>
            </a:r>
          </a:p>
          <a:p>
            <a:pPr>
              <a:buNone/>
            </a:pPr>
            <a:endParaRPr lang="en-IN" sz="2400" dirty="0">
              <a:latin typeface="Times New Roman" pitchFamily="18" charset="0"/>
              <a:cs typeface="Times New Roman" pitchFamily="18" charset="0"/>
            </a:endParaRPr>
          </a:p>
          <a:p>
            <a:pPr>
              <a:buNone/>
            </a:pPr>
            <a:endParaRPr lang="en-IN" sz="2400" b="1"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a:p>
            <a:pPr>
              <a:buNone/>
            </a:pPr>
            <a:r>
              <a:rPr lang="en-US" sz="2400" dirty="0">
                <a:latin typeface="Times New Roman" pitchFamily="18" charset="0"/>
                <a:cs typeface="Times New Roman" pitchFamily="18" charset="0"/>
              </a:rPr>
              <a:t>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1000108"/>
            <a:ext cx="8405842" cy="5214974"/>
          </a:xfrm>
        </p:spPr>
        <p:txBody>
          <a:bodyPr>
            <a:normAutofit/>
          </a:bodyPr>
          <a:lstStyle/>
          <a:p>
            <a:r>
              <a:rPr lang="en-IN" sz="2400" dirty="0">
                <a:latin typeface="Times New Roman" pitchFamily="18" charset="0"/>
                <a:cs typeface="Times New Roman" pitchFamily="18" charset="0"/>
              </a:rPr>
              <a:t>This is the strongest part of bootstrap framework. Bootstrap offers a 12 column grid system. The grid system is responsive, that it adjust itself depending upon the device resolution of the client. These grids have further classes that have been defined in sync with the device resolution that they are represent.</a:t>
            </a:r>
          </a:p>
          <a:p>
            <a:r>
              <a:rPr lang="en-IN" sz="2400" dirty="0">
                <a:latin typeface="Times New Roman" pitchFamily="18" charset="0"/>
                <a:cs typeface="Times New Roman" pitchFamily="18" charset="0"/>
              </a:rPr>
              <a:t>These grids have classes </a:t>
            </a:r>
            <a:r>
              <a:rPr lang="en-IN" sz="2400" dirty="0" err="1">
                <a:latin typeface="Times New Roman" pitchFamily="18" charset="0"/>
                <a:cs typeface="Times New Roman" pitchFamily="18" charset="0"/>
              </a:rPr>
              <a:t>xs</a:t>
            </a:r>
            <a:r>
              <a:rPr lang="en-IN" sz="2400" dirty="0">
                <a:latin typeface="Times New Roman" pitchFamily="18" charset="0"/>
                <a:cs typeface="Times New Roman" pitchFamily="18" charset="0"/>
              </a:rPr>
              <a:t>, </a:t>
            </a:r>
            <a:r>
              <a:rPr lang="en-IN" sz="2400" dirty="0" err="1">
                <a:latin typeface="Times New Roman" pitchFamily="18" charset="0"/>
                <a:cs typeface="Times New Roman" pitchFamily="18" charset="0"/>
              </a:rPr>
              <a:t>sm</a:t>
            </a:r>
            <a:r>
              <a:rPr lang="en-IN" sz="2400" dirty="0">
                <a:latin typeface="Times New Roman" pitchFamily="18" charset="0"/>
                <a:cs typeface="Times New Roman" pitchFamily="18" charset="0"/>
              </a:rPr>
              <a:t>, </a:t>
            </a:r>
            <a:r>
              <a:rPr lang="en-IN" sz="2400" dirty="0" err="1">
                <a:latin typeface="Times New Roman" pitchFamily="18" charset="0"/>
                <a:cs typeface="Times New Roman" pitchFamily="18" charset="0"/>
              </a:rPr>
              <a:t>md</a:t>
            </a:r>
            <a:r>
              <a:rPr lang="en-IN" sz="2400" dirty="0">
                <a:latin typeface="Times New Roman" pitchFamily="18" charset="0"/>
                <a:cs typeface="Times New Roman" pitchFamily="18" charset="0"/>
              </a:rPr>
              <a:t> and </a:t>
            </a:r>
            <a:r>
              <a:rPr lang="en-IN" sz="2400" dirty="0" err="1">
                <a:latin typeface="Times New Roman" pitchFamily="18" charset="0"/>
                <a:cs typeface="Times New Roman" pitchFamily="18" charset="0"/>
              </a:rPr>
              <a:t>lg</a:t>
            </a:r>
            <a:r>
              <a:rPr lang="en-IN" sz="2400" dirty="0">
                <a:latin typeface="Times New Roman" pitchFamily="18" charset="0"/>
                <a:cs typeface="Times New Roman" pitchFamily="18" charset="0"/>
              </a:rPr>
              <a:t> each representing a device resolution. All the developer needs to do is include these classes while defining the visibility of element in the mark-up  and hence come up  with a responsive website. The responsive grid makes developing responsive websites really easy using bootstrap.</a:t>
            </a:r>
            <a:endParaRPr lang="en-US" sz="2400" dirty="0">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3:Bootstrap</a:t>
            </a:r>
            <a:endParaRPr lang="en-US" sz="2400" dirty="0"/>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8" descr="E:\Master Folder 2017-18\Approved Logo by BOG\NIET logo_.png"/>
          <p:cNvPicPr/>
          <p:nvPr/>
        </p:nvPicPr>
        <p:blipFill>
          <a:blip r:embed="rId2" cstate="print"/>
          <a:srcRect/>
          <a:stretch>
            <a:fillRect/>
          </a:stretch>
        </p:blipFill>
        <p:spPr bwMode="auto">
          <a:xfrm>
            <a:off x="83820" y="83128"/>
            <a:ext cx="1287780" cy="1059872"/>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71546"/>
            <a:ext cx="8182004" cy="4597417"/>
          </a:xfrm>
        </p:spPr>
        <p:txBody>
          <a:bodyPr>
            <a:noAutofit/>
          </a:bodyPr>
          <a:lstStyle/>
          <a:p>
            <a:r>
              <a:rPr lang="en-US" sz="2400" dirty="0">
                <a:latin typeface="Times New Roman" pitchFamily="18" charset="0"/>
                <a:cs typeface="Times New Roman" pitchFamily="18" charset="0"/>
              </a:rPr>
              <a:t>Bootstrap Components</a:t>
            </a:r>
          </a:p>
          <a:p>
            <a:pPr>
              <a:buNone/>
            </a:pPr>
            <a:r>
              <a:rPr lang="en-US" sz="2400" dirty="0">
                <a:latin typeface="Times New Roman" pitchFamily="18" charset="0"/>
                <a:cs typeface="Times New Roman" pitchFamily="18" charset="0"/>
              </a:rPr>
              <a:t> Bootstrap.css  </a:t>
            </a:r>
          </a:p>
          <a:p>
            <a:r>
              <a:rPr lang="en-US" sz="2400" dirty="0">
                <a:latin typeface="Times New Roman" pitchFamily="18" charset="0"/>
                <a:cs typeface="Times New Roman" pitchFamily="18" charset="0"/>
              </a:rPr>
              <a:t>This is the basic Bootstrap package that you will need to download. CSS is a style sheet language for static information.</a:t>
            </a:r>
          </a:p>
          <a:p>
            <a:pPr>
              <a:buNone/>
            </a:pPr>
            <a:r>
              <a:rPr lang="en-US" sz="2400" dirty="0"/>
              <a:t>Bootstrap.js</a:t>
            </a:r>
          </a:p>
          <a:p>
            <a:r>
              <a:rPr lang="en-US" sz="2400" dirty="0"/>
              <a:t>A JavaScript/</a:t>
            </a:r>
            <a:r>
              <a:rPr lang="en-US" sz="2400" dirty="0" err="1"/>
              <a:t>JQuery</a:t>
            </a:r>
            <a:r>
              <a:rPr lang="en-US" sz="2400" dirty="0"/>
              <a:t> library that powers up certain components of Bootstrap such as animation, scrolling, and interactivity.</a:t>
            </a:r>
          </a:p>
          <a:p>
            <a:pPr>
              <a:buNone/>
            </a:pPr>
            <a:r>
              <a:rPr lang="en-US" sz="2400" dirty="0" err="1"/>
              <a:t>Glyphicons</a:t>
            </a:r>
            <a:endParaRPr lang="en-US" sz="2400" dirty="0"/>
          </a:p>
          <a:p>
            <a:r>
              <a:rPr lang="en-US" sz="2400" dirty="0"/>
              <a:t>Glyphs are elemental symbols with typography, such as the English Pound symbol (£). Bootstrap has a huge list of embedded glyph icons that are available for free.</a:t>
            </a:r>
            <a:endParaRPr lang="en-US" sz="2400" dirty="0">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Topic</a:t>
            </a:r>
          </a:p>
        </p:txBody>
      </p:sp>
      <p:pic>
        <p:nvPicPr>
          <p:cNvPr id="9" name="Picture 8" descr="E:\Master Folder 2017-18\Approved Logo by BOG\NIET logo_.png"/>
          <p:cNvPicPr/>
          <p:nvPr/>
        </p:nvPicPr>
        <p:blipFill>
          <a:blip r:embed="rId2" cstate="print"/>
          <a:srcRect/>
          <a:stretch>
            <a:fillRect/>
          </a:stretch>
        </p:blipFill>
        <p:spPr bwMode="auto">
          <a:xfrm>
            <a:off x="83820" y="83128"/>
            <a:ext cx="1287780" cy="1059872"/>
          </a:xfrm>
          <a:prstGeom prst="rect">
            <a:avLst/>
          </a:prstGeom>
          <a:noFill/>
          <a:ln w="9525">
            <a:noFill/>
            <a:miter lim="800000"/>
            <a:headEnd/>
            <a:tailEnd/>
          </a:ln>
        </p:spPr>
      </p:pic>
      <p:sp>
        <p:nvSpPr>
          <p:cNvPr id="8"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3:Bootstrap</a:t>
            </a:r>
            <a:endParaRPr lang="en-US" sz="2400" dirty="0"/>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r>
              <a:rPr lang="en-US" sz="2400" dirty="0">
                <a:latin typeface="Times New Roman" pitchFamily="18" charset="0"/>
                <a:cs typeface="Times New Roman" pitchFamily="18" charset="0"/>
              </a:rPr>
              <a:t>Bootstrap source code elements</a:t>
            </a:r>
          </a:p>
          <a:p>
            <a:r>
              <a:rPr lang="en-US" sz="2400" dirty="0">
                <a:latin typeface="Times New Roman" pitchFamily="18" charset="0"/>
                <a:cs typeface="Times New Roman" pitchFamily="18" charset="0"/>
              </a:rPr>
              <a:t> Bootstrap Screen Sizes The Bootstrap source code download includes the precompiled CSS, JavaScript, and font assets, along with source Less, JavaScript, and documentation.</a:t>
            </a:r>
          </a:p>
          <a:p>
            <a:r>
              <a:rPr lang="en-US" sz="2400" dirty="0">
                <a:latin typeface="Times New Roman" pitchFamily="18" charset="0"/>
                <a:cs typeface="Times New Roman" pitchFamily="18" charset="0"/>
              </a:rPr>
              <a:t> less/ - a preprocessor style sheet for CSS that eliminate repetitive coding tasks </a:t>
            </a:r>
          </a:p>
          <a:p>
            <a:r>
              <a:rPr lang="en-US" sz="2400" dirty="0">
                <a:latin typeface="Times New Roman" pitchFamily="18" charset="0"/>
                <a:cs typeface="Times New Roman" pitchFamily="18" charset="0"/>
              </a:rPr>
              <a:t>sass/ - a newer version of the preprocessor that is more popular </a:t>
            </a:r>
          </a:p>
          <a:p>
            <a:r>
              <a:rPr lang="en-US" sz="2400" dirty="0" err="1">
                <a:latin typeface="Times New Roman" pitchFamily="18" charset="0"/>
                <a:cs typeface="Times New Roman" pitchFamily="18" charset="0"/>
              </a:rPr>
              <a:t>js</a:t>
            </a:r>
            <a:r>
              <a:rPr lang="en-US" sz="2400" dirty="0">
                <a:latin typeface="Times New Roman" pitchFamily="18" charset="0"/>
                <a:cs typeface="Times New Roman" pitchFamily="18" charset="0"/>
              </a:rPr>
              <a:t>/ - simply refers to the source code JavaScript, which allows Bootstrap components to work </a:t>
            </a:r>
          </a:p>
          <a:p>
            <a:r>
              <a:rPr lang="en-US" sz="2400" dirty="0">
                <a:latin typeface="Times New Roman" pitchFamily="18" charset="0"/>
                <a:cs typeface="Times New Roman" pitchFamily="18" charset="0"/>
              </a:rPr>
              <a:t>fonts/ - these are icon fonts that come with the download</a:t>
            </a:r>
          </a:p>
          <a:p>
            <a:r>
              <a:rPr lang="en-US" sz="2400" dirty="0">
                <a:latin typeface="Times New Roman" pitchFamily="18" charset="0"/>
                <a:cs typeface="Times New Roman" pitchFamily="18" charset="0"/>
              </a:rPr>
              <a:t> dist/ - a folder that contains precompiled files for drop-in use in website development</a:t>
            </a:r>
          </a:p>
        </p:txBody>
      </p:sp>
      <p:sp>
        <p:nvSpPr>
          <p:cNvPr id="5"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8" descr="E:\Master Folder 2017-18\Approved Logo by BOG\NIET logo_.png"/>
          <p:cNvPicPr/>
          <p:nvPr/>
        </p:nvPicPr>
        <p:blipFill>
          <a:blip r:embed="rId2" cstate="print"/>
          <a:srcRect/>
          <a:stretch>
            <a:fillRect/>
          </a:stretch>
        </p:blipFill>
        <p:spPr bwMode="auto">
          <a:xfrm>
            <a:off x="83820" y="83128"/>
            <a:ext cx="1287780" cy="1059872"/>
          </a:xfrm>
          <a:prstGeom prst="rect">
            <a:avLst/>
          </a:prstGeom>
          <a:noFill/>
          <a:ln w="9525">
            <a:noFill/>
            <a:miter lim="800000"/>
            <a:headEnd/>
            <a:tailEnd/>
          </a:ln>
        </p:spPr>
      </p:pic>
      <p:sp>
        <p:nvSpPr>
          <p:cNvPr id="8"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2400" b="1" dirty="0">
                <a:latin typeface="Times New Roman" pitchFamily="18" charset="0"/>
                <a:cs typeface="Times New Roman" pitchFamily="18" charset="0"/>
              </a:rPr>
              <a:t>Concept of CSS 3:Bootstrap</a:t>
            </a:r>
            <a:endParaRPr lang="en-US" sz="2400" dirty="0"/>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lstStyle/>
          <a:p>
            <a:pPr>
              <a:buNone/>
            </a:pPr>
            <a:r>
              <a:rPr lang="en-US" sz="2000" dirty="0" err="1"/>
              <a:t>Youtube</a:t>
            </a:r>
            <a:r>
              <a:rPr lang="en-US" sz="2000" dirty="0"/>
              <a:t>/other  Video Links</a:t>
            </a:r>
          </a:p>
          <a:p>
            <a:r>
              <a:rPr lang="en-US" sz="2000" dirty="0">
                <a:hlinkClick r:id="rId2"/>
              </a:rPr>
              <a:t>https://getbootstrap.com/docs/3.3/components/</a:t>
            </a:r>
            <a:endParaRPr lang="en-US" sz="2000" dirty="0"/>
          </a:p>
          <a:p>
            <a:r>
              <a:rPr lang="en-US" sz="2000" dirty="0">
                <a:hlinkClick r:id="rId3"/>
              </a:rPr>
              <a:t>https://websitesetup.org/wp-content/uploads/2020/03/Bootstrap-Cheat-Sheet-websitesetup.org_.pdf</a:t>
            </a:r>
            <a:endParaRPr lang="en-US" sz="2000" dirty="0"/>
          </a:p>
          <a:p>
            <a:r>
              <a:rPr lang="en-US" sz="2000" dirty="0">
                <a:hlinkClick r:id="rId4"/>
              </a:rPr>
              <a:t>https://wiki.lib.sun.ac.za/images/0/07/Bootstrap-tutorial.pdf</a:t>
            </a:r>
            <a:endParaRPr lang="en-US" sz="2000" dirty="0"/>
          </a:p>
          <a:p>
            <a:r>
              <a:rPr lang="en-IN" sz="2000" u="sng" dirty="0">
                <a:hlinkClick r:id="rId5"/>
              </a:rPr>
              <a:t>https://youtu.be/1Rs2ND1ryYc</a:t>
            </a:r>
            <a:endParaRPr lang="en-IN" sz="2000" u="sng" dirty="0"/>
          </a:p>
          <a:p>
            <a:endParaRPr lang="en-US" sz="2000" dirty="0"/>
          </a:p>
          <a:p>
            <a:pPr>
              <a:buNone/>
            </a:pPr>
            <a:endParaRPr lang="en-US" sz="2000" dirty="0"/>
          </a:p>
        </p:txBody>
      </p:sp>
      <p:sp>
        <p:nvSpPr>
          <p:cNvPr id="5" name="Footer Placeholder 4"/>
          <p:cNvSpPr>
            <a:spLocks noGrp="1"/>
          </p:cNvSpPr>
          <p:nvPr>
            <p:ph type="ftr" sz="quarter" idx="11"/>
          </p:nvPr>
        </p:nvSpPr>
        <p:spPr>
          <a:xfrm>
            <a:off x="2514600" y="6356350"/>
            <a:ext cx="5029200" cy="365125"/>
          </a:xfrm>
        </p:spPr>
        <p:txBody>
          <a:bodyPr/>
          <a:lstStyle/>
          <a:p>
            <a:r>
              <a:rPr lang="fi-FI" dirty="0"/>
              <a:t>06/15/2022                    Ajeet Kumar          WT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Faculty Video</a:t>
            </a:r>
            <a:r>
              <a:rPr kumimoji="0" lang="en-US" sz="2400" b="0" i="0" u="none" strike="noStrike" kern="1200" cap="none" spc="0" normalizeH="0" noProof="0" dirty="0">
                <a:ln>
                  <a:noFill/>
                </a:ln>
                <a:solidFill>
                  <a:schemeClr val="dk1"/>
                </a:solidFill>
                <a:effectLst/>
                <a:uLnTx/>
                <a:uFillTx/>
                <a:latin typeface="+mn-lt"/>
                <a:ea typeface="+mn-ea"/>
                <a:cs typeface="+mn-cs"/>
              </a:rPr>
              <a:t> Links, </a:t>
            </a:r>
            <a:r>
              <a:rPr kumimoji="0" lang="en-US" sz="2400" b="0" i="0" u="none" strike="noStrike" kern="1200" cap="none" spc="0" normalizeH="0" noProof="0" dirty="0" err="1">
                <a:ln>
                  <a:noFill/>
                </a:ln>
                <a:solidFill>
                  <a:schemeClr val="dk1"/>
                </a:solidFill>
                <a:effectLst/>
                <a:uLnTx/>
                <a:uFillTx/>
                <a:latin typeface="+mn-lt"/>
                <a:ea typeface="+mn-ea"/>
                <a:cs typeface="+mn-cs"/>
              </a:rPr>
              <a:t>Youtube</a:t>
            </a:r>
            <a:r>
              <a:rPr kumimoji="0" lang="en-US" sz="2400" b="0" i="0" u="none" strike="noStrike" kern="1200" cap="none" spc="0" normalizeH="0" noProof="0" dirty="0">
                <a:ln>
                  <a:noFill/>
                </a:ln>
                <a:solidFill>
                  <a:schemeClr val="dk1"/>
                </a:solidFill>
                <a:effectLst/>
                <a:uLnTx/>
                <a:uFillTx/>
                <a:latin typeface="+mn-lt"/>
                <a:ea typeface="+mn-ea"/>
                <a:cs typeface="+mn-cs"/>
              </a:rPr>
              <a:t> &amp; NPTEL Video Links and Online Courses Details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9" name="Picture 8" descr="E:\Master Folder 2017-18\Approved Logo by BOG\NIET logo_.png"/>
          <p:cNvPicPr/>
          <p:nvPr/>
        </p:nvPicPr>
        <p:blipFill>
          <a:blip r:embed="rId6" cstate="print"/>
          <a:srcRect/>
          <a:stretch>
            <a:fillRect/>
          </a:stretch>
        </p:blipFill>
        <p:spPr bwMode="auto">
          <a:xfrm>
            <a:off x="83820" y="83128"/>
            <a:ext cx="1287780" cy="1059872"/>
          </a:xfrm>
          <a:prstGeom prst="rect">
            <a:avLst/>
          </a:prstGeom>
          <a:noFill/>
          <a:ln w="9525">
            <a:noFill/>
            <a:miter lim="800000"/>
            <a:headEnd/>
            <a:tailEnd/>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Footer Placeholder 4"/>
          <p:cNvSpPr>
            <a:spLocks noGrp="1"/>
          </p:cNvSpPr>
          <p:nvPr>
            <p:ph type="ftr" sz="quarter" idx="12"/>
          </p:nvPr>
        </p:nvSpPr>
        <p:spPr>
          <a:xfrm>
            <a:off x="2123728" y="6356350"/>
            <a:ext cx="5420072"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dirty="0">
                <a:solidFill>
                  <a:srgbClr val="888888"/>
                </a:solidFill>
                <a:latin typeface="Calibri" panose="020F0502020204030204" pitchFamily="34" charset="0"/>
                <a:sym typeface="Calibri" panose="020F0502020204030204" pitchFamily="34" charset="0"/>
              </a:rPr>
              <a:t>06/15/2022                    Ajeet Kumar          WT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35171" name="Slide Number Placeholder 5"/>
          <p:cNvSpPr>
            <a:spLocks noGrp="1"/>
          </p:cNvSpPr>
          <p:nvPr>
            <p:ph type="sldNum" sz="quarter" idx="4294967295"/>
          </p:nvPr>
        </p:nvSpPr>
        <p:spPr>
          <a:xfrm>
            <a:off x="6797675" y="6356350"/>
            <a:ext cx="2895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AD826430-40A3-4200-B379-99F70A90EA78}" type="slidenum">
              <a:rPr lang="en-US" altLang="en-US" sz="1200" smtClean="0">
                <a:solidFill>
                  <a:srgbClr val="888888"/>
                </a:solidFill>
                <a:latin typeface="Calibri" panose="020F0502020204030204" pitchFamily="34" charset="0"/>
                <a:sym typeface="Calibri" panose="020F0502020204030204" pitchFamily="34" charset="0"/>
              </a:rPr>
              <a:pPr algn="ctr">
                <a:buSzPts val="1400"/>
                <a:buFont typeface="Arial" panose="020B0604020202020204" pitchFamily="34" charset="0"/>
                <a:buNone/>
              </a:pPr>
              <a:t>75</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p:cNvSpPr txBox="1">
            <a:spLocks/>
          </p:cNvSpPr>
          <p:nvPr/>
        </p:nvSpPr>
        <p:spPr>
          <a:xfrm>
            <a:off x="1371600" y="-33338"/>
            <a:ext cx="7772400" cy="685801"/>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r>
              <a:rPr lang="en-US" sz="2800" dirty="0"/>
              <a:t>Sessional Papers</a:t>
            </a:r>
          </a:p>
        </p:txBody>
      </p:sp>
      <p:pic>
        <p:nvPicPr>
          <p:cNvPr id="135173" name="Picture 2" descr="E:\NIET\Project\xLogo11.png.pagespeed.ic.pydHLuCQEZ.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4478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4" name="Text Placeholder 8"/>
          <p:cNvSpPr txBox="1">
            <a:spLocks noGrp="1"/>
          </p:cNvSpPr>
          <p:nvPr>
            <p:ph type="body" idx="1"/>
          </p:nvPr>
        </p:nvSpPr>
        <p:spPr>
          <a:xfrm>
            <a:off x="461963" y="1004888"/>
            <a:ext cx="8450262" cy="5654675"/>
          </a:xfrm>
        </p:spPr>
        <p:txBody>
          <a:bodyPr/>
          <a:lstStyle/>
          <a:p>
            <a:pPr>
              <a:spcBef>
                <a:spcPts val="363"/>
              </a:spcBef>
              <a:spcAft>
                <a:spcPct val="0"/>
              </a:spcAft>
              <a:buClr>
                <a:srgbClr val="000000"/>
              </a:buClr>
              <a:buFont typeface="Arial" panose="020B0604020202020204" pitchFamily="34" charset="0"/>
              <a:buNone/>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p:txBody>
      </p:sp>
      <p:pic>
        <p:nvPicPr>
          <p:cNvPr id="135175" name="Picture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152525"/>
            <a:ext cx="8455025" cy="514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86725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Footer Placeholder 4"/>
          <p:cNvSpPr>
            <a:spLocks noGrp="1"/>
          </p:cNvSpPr>
          <p:nvPr>
            <p:ph type="ftr" sz="quarter" idx="12"/>
          </p:nvPr>
        </p:nvSpPr>
        <p:spPr>
          <a:xfrm>
            <a:off x="2514600" y="6356350"/>
            <a:ext cx="5029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dirty="0">
                <a:solidFill>
                  <a:srgbClr val="888888"/>
                </a:solidFill>
                <a:latin typeface="Calibri" panose="020F0502020204030204" pitchFamily="34" charset="0"/>
                <a:sym typeface="Calibri" panose="020F0502020204030204" pitchFamily="34" charset="0"/>
              </a:rPr>
              <a:t>06/15/2022                    Ajeet Kumar          WT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37219" name="Slide Number Placeholder 5"/>
          <p:cNvSpPr>
            <a:spLocks noGrp="1"/>
          </p:cNvSpPr>
          <p:nvPr>
            <p:ph type="sldNum" sz="quarter" idx="4294967295"/>
          </p:nvPr>
        </p:nvSpPr>
        <p:spPr>
          <a:xfrm>
            <a:off x="6797675" y="6356350"/>
            <a:ext cx="2895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CCFE795A-CD88-4175-B38E-72819458AD1C}" type="slidenum">
              <a:rPr lang="en-US" altLang="en-US" sz="1200" smtClean="0">
                <a:solidFill>
                  <a:srgbClr val="888888"/>
                </a:solidFill>
                <a:latin typeface="Calibri" panose="020F0502020204030204" pitchFamily="34" charset="0"/>
                <a:sym typeface="Calibri" panose="020F0502020204030204" pitchFamily="34" charset="0"/>
              </a:rPr>
              <a:pPr algn="ctr">
                <a:buSzPts val="1400"/>
                <a:buFont typeface="Arial" panose="020B0604020202020204" pitchFamily="34" charset="0"/>
                <a:buNone/>
              </a:pPr>
              <a:t>76</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p:cNvSpPr txBox="1">
            <a:spLocks/>
          </p:cNvSpPr>
          <p:nvPr/>
        </p:nvSpPr>
        <p:spPr>
          <a:xfrm>
            <a:off x="1371600" y="-33338"/>
            <a:ext cx="7772400" cy="685801"/>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r>
              <a:rPr lang="en-US" sz="2800" dirty="0"/>
              <a:t>Sessional Papers</a:t>
            </a:r>
          </a:p>
        </p:txBody>
      </p:sp>
      <p:pic>
        <p:nvPicPr>
          <p:cNvPr id="137221" name="Picture 2" descr="E:\NIET\Project\xLogo11.png.pagespeed.ic.pydHLuCQEZ.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44780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2" name="Text Placeholder 8"/>
          <p:cNvSpPr txBox="1">
            <a:spLocks noGrp="1"/>
          </p:cNvSpPr>
          <p:nvPr>
            <p:ph type="body" idx="1"/>
          </p:nvPr>
        </p:nvSpPr>
        <p:spPr>
          <a:xfrm>
            <a:off x="461963" y="1004888"/>
            <a:ext cx="8450262" cy="5654675"/>
          </a:xfrm>
        </p:spPr>
        <p:txBody>
          <a:bodyPr/>
          <a:lstStyle/>
          <a:p>
            <a:pPr>
              <a:spcBef>
                <a:spcPts val="363"/>
              </a:spcBef>
              <a:spcAft>
                <a:spcPct val="0"/>
              </a:spcAft>
              <a:buClr>
                <a:srgbClr val="000000"/>
              </a:buClr>
              <a:buFont typeface="Arial" panose="020B0604020202020204" pitchFamily="34" charset="0"/>
              <a:buNone/>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p:txBody>
      </p:sp>
      <p:pic>
        <p:nvPicPr>
          <p:cNvPr id="137223"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1775" y="1004888"/>
            <a:ext cx="8912225"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63858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Footer Placeholder 4"/>
          <p:cNvSpPr>
            <a:spLocks noGrp="1"/>
          </p:cNvSpPr>
          <p:nvPr>
            <p:ph type="ftr" sz="quarter" idx="12"/>
          </p:nvPr>
        </p:nvSpPr>
        <p:spPr>
          <a:xfrm>
            <a:off x="2514600" y="6356350"/>
            <a:ext cx="5029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dirty="0">
                <a:solidFill>
                  <a:srgbClr val="888888"/>
                </a:solidFill>
                <a:latin typeface="Calibri" panose="020F0502020204030204" pitchFamily="34" charset="0"/>
                <a:sym typeface="Calibri" panose="020F0502020204030204" pitchFamily="34" charset="0"/>
              </a:rPr>
              <a:t>06/15/2022                    Ajeet Kumar          WT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39267" name="Slide Number Placeholder 5"/>
          <p:cNvSpPr>
            <a:spLocks noGrp="1"/>
          </p:cNvSpPr>
          <p:nvPr>
            <p:ph type="sldNum" sz="quarter" idx="4294967295"/>
          </p:nvPr>
        </p:nvSpPr>
        <p:spPr>
          <a:xfrm>
            <a:off x="6797675" y="6356350"/>
            <a:ext cx="2895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D000CB80-6046-4A91-991C-ABF16D25E061}" type="slidenum">
              <a:rPr lang="en-US" altLang="en-US" sz="1200" smtClean="0">
                <a:solidFill>
                  <a:srgbClr val="888888"/>
                </a:solidFill>
                <a:latin typeface="Calibri" panose="020F0502020204030204" pitchFamily="34" charset="0"/>
                <a:sym typeface="Calibri" panose="020F0502020204030204" pitchFamily="34" charset="0"/>
              </a:rPr>
              <a:pPr algn="ctr">
                <a:buSzPts val="1400"/>
                <a:buFont typeface="Arial" panose="020B0604020202020204" pitchFamily="34" charset="0"/>
                <a:buNone/>
              </a:pPr>
              <a:t>77</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p:cNvSpPr txBox="1">
            <a:spLocks/>
          </p:cNvSpPr>
          <p:nvPr/>
        </p:nvSpPr>
        <p:spPr>
          <a:xfrm>
            <a:off x="1371600" y="-33338"/>
            <a:ext cx="7772400" cy="685801"/>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r>
              <a:rPr lang="en-US" sz="2800" dirty="0"/>
              <a:t>Sessional Papers</a:t>
            </a:r>
          </a:p>
        </p:txBody>
      </p:sp>
      <p:sp>
        <p:nvSpPr>
          <p:cNvPr id="139269" name="Text Placeholder 8"/>
          <p:cNvSpPr txBox="1">
            <a:spLocks noGrp="1"/>
          </p:cNvSpPr>
          <p:nvPr>
            <p:ph type="body" idx="1"/>
          </p:nvPr>
        </p:nvSpPr>
        <p:spPr>
          <a:xfrm>
            <a:off x="461963" y="1004888"/>
            <a:ext cx="8450262" cy="5654675"/>
          </a:xfrm>
        </p:spPr>
        <p:txBody>
          <a:bodyPr/>
          <a:lstStyle/>
          <a:p>
            <a:pPr>
              <a:spcBef>
                <a:spcPts val="363"/>
              </a:spcBef>
              <a:spcAft>
                <a:spcPct val="0"/>
              </a:spcAft>
              <a:buClr>
                <a:srgbClr val="000000"/>
              </a:buClr>
              <a:buFont typeface="Arial" panose="020B0604020202020204" pitchFamily="34" charset="0"/>
              <a:buNone/>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p:txBody>
      </p:sp>
      <p:pic>
        <p:nvPicPr>
          <p:cNvPr id="13927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04888"/>
            <a:ext cx="8281988"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272" name="Picture 14" descr="NIE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4288"/>
            <a:ext cx="127952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489857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Footer Placeholder 4"/>
          <p:cNvSpPr>
            <a:spLocks noGrp="1"/>
          </p:cNvSpPr>
          <p:nvPr>
            <p:ph type="ftr" sz="quarter" idx="12"/>
          </p:nvPr>
        </p:nvSpPr>
        <p:spPr>
          <a:xfrm>
            <a:off x="2514600" y="6356350"/>
            <a:ext cx="5029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dirty="0">
                <a:solidFill>
                  <a:srgbClr val="888888"/>
                </a:solidFill>
                <a:latin typeface="Calibri" panose="020F0502020204030204" pitchFamily="34" charset="0"/>
                <a:sym typeface="Calibri" panose="020F0502020204030204" pitchFamily="34" charset="0"/>
              </a:rPr>
              <a:t>06/15/2022                    Ajeet Kumar          WT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41315" name="Slide Number Placeholder 5"/>
          <p:cNvSpPr>
            <a:spLocks noGrp="1"/>
          </p:cNvSpPr>
          <p:nvPr>
            <p:ph type="sldNum" sz="quarter" idx="4294967295"/>
          </p:nvPr>
        </p:nvSpPr>
        <p:spPr>
          <a:xfrm>
            <a:off x="6797675" y="6356350"/>
            <a:ext cx="2895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3078C0AF-EE21-4E5D-9BAD-1E0AD2C4E5C4}" type="slidenum">
              <a:rPr lang="en-US" altLang="en-US" sz="1200" smtClean="0">
                <a:solidFill>
                  <a:srgbClr val="888888"/>
                </a:solidFill>
                <a:latin typeface="Calibri" panose="020F0502020204030204" pitchFamily="34" charset="0"/>
                <a:sym typeface="Calibri" panose="020F0502020204030204" pitchFamily="34" charset="0"/>
              </a:rPr>
              <a:pPr algn="ctr">
                <a:buSzPts val="1400"/>
                <a:buFont typeface="Arial" panose="020B0604020202020204" pitchFamily="34" charset="0"/>
                <a:buNone/>
              </a:pPr>
              <a:t>78</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p:cNvSpPr txBox="1">
            <a:spLocks/>
          </p:cNvSpPr>
          <p:nvPr/>
        </p:nvSpPr>
        <p:spPr>
          <a:xfrm>
            <a:off x="1371600" y="-33338"/>
            <a:ext cx="7772400" cy="685801"/>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r>
              <a:rPr lang="en-US" sz="2800" dirty="0"/>
              <a:t>Sessional Papers</a:t>
            </a:r>
          </a:p>
        </p:txBody>
      </p:sp>
      <p:sp>
        <p:nvSpPr>
          <p:cNvPr id="141317" name="Text Placeholder 8"/>
          <p:cNvSpPr txBox="1">
            <a:spLocks noGrp="1"/>
          </p:cNvSpPr>
          <p:nvPr>
            <p:ph type="body" idx="1"/>
          </p:nvPr>
        </p:nvSpPr>
        <p:spPr>
          <a:xfrm>
            <a:off x="461963" y="1004888"/>
            <a:ext cx="8450262" cy="5654675"/>
          </a:xfrm>
        </p:spPr>
        <p:txBody>
          <a:bodyPr/>
          <a:lstStyle/>
          <a:p>
            <a:pPr>
              <a:spcBef>
                <a:spcPts val="363"/>
              </a:spcBef>
              <a:spcAft>
                <a:spcPct val="0"/>
              </a:spcAft>
              <a:buClr>
                <a:srgbClr val="000000"/>
              </a:buClr>
              <a:buFont typeface="Arial" panose="020B0604020202020204" pitchFamily="34" charset="0"/>
              <a:buNone/>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p:txBody>
      </p:sp>
      <p:pic>
        <p:nvPicPr>
          <p:cNvPr id="141318"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04888"/>
            <a:ext cx="8307388" cy="516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320" name="Picture 14" descr="NIE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413" y="0"/>
            <a:ext cx="1185862" cy="652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48827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Footer Placeholder 4"/>
          <p:cNvSpPr>
            <a:spLocks noGrp="1"/>
          </p:cNvSpPr>
          <p:nvPr>
            <p:ph type="ftr" sz="quarter" idx="12"/>
          </p:nvPr>
        </p:nvSpPr>
        <p:spPr>
          <a:xfrm>
            <a:off x="2051720" y="6356350"/>
            <a:ext cx="576064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rPr>
              <a:t>06/15/2022                    Ajeet Kumar          WT     Unit 3</a:t>
            </a:r>
            <a:endParaRPr lang="en-US" altLang="en-US" sz="1200" dirty="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151555" name="Slide Number Placeholder 5"/>
          <p:cNvSpPr>
            <a:spLocks noGrp="1"/>
          </p:cNvSpPr>
          <p:nvPr>
            <p:ph type="sldNum" sz="quarter" idx="4294967295"/>
          </p:nvPr>
        </p:nvSpPr>
        <p:spPr>
          <a:xfrm>
            <a:off x="6964363" y="6356350"/>
            <a:ext cx="2895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0C55FEC9-1EF6-401B-993E-8433BFBD0270}" type="slidenum">
              <a:rPr lang="en-US" altLang="en-US" sz="1200" smtClean="0">
                <a:solidFill>
                  <a:srgbClr val="888888"/>
                </a:solidFill>
                <a:latin typeface="Calibri" panose="020F0502020204030204" pitchFamily="34" charset="0"/>
                <a:cs typeface="Calibri" panose="020F0502020204030204" pitchFamily="34" charset="0"/>
                <a:sym typeface="Calibri" panose="020F0502020204030204" pitchFamily="34" charset="0"/>
              </a:rPr>
              <a:pPr algn="ctr">
                <a:buSzPts val="1400"/>
                <a:buFont typeface="Arial" panose="020B0604020202020204" pitchFamily="34" charset="0"/>
                <a:buNone/>
              </a:pPr>
              <a:t>79</a:t>
            </a:fld>
            <a:endParaRPr lang="en-US" altLang="en-US" sz="120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7" name="Title 1"/>
          <p:cNvSpPr txBox="1">
            <a:spLocks/>
          </p:cNvSpPr>
          <p:nvPr/>
        </p:nvSpPr>
        <p:spPr>
          <a:xfrm>
            <a:off x="1371600" y="-33338"/>
            <a:ext cx="7772400" cy="685801"/>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dirty="0">
                <a:latin typeface="Times New Roman" pitchFamily="18" charset="0"/>
                <a:cs typeface="Times New Roman" pitchFamily="18" charset="0"/>
              </a:rPr>
              <a:t>References</a:t>
            </a:r>
          </a:p>
        </p:txBody>
      </p:sp>
      <p:sp>
        <p:nvSpPr>
          <p:cNvPr id="215047" name="Text Placeholder 9"/>
          <p:cNvSpPr txBox="1">
            <a:spLocks noGrp="1"/>
          </p:cNvSpPr>
          <p:nvPr>
            <p:ph type="body" idx="1"/>
          </p:nvPr>
        </p:nvSpPr>
        <p:spPr>
          <a:xfrm>
            <a:off x="457200" y="1173163"/>
            <a:ext cx="8496300" cy="4953000"/>
          </a:xfrm>
        </p:spPr>
        <p:txBody>
          <a:bodyPr/>
          <a:lstStyle/>
          <a:p>
            <a:pPr algn="just">
              <a:spcBef>
                <a:spcPts val="363"/>
              </a:spcBef>
              <a:spcAft>
                <a:spcPct val="0"/>
              </a:spcAft>
              <a:buClr>
                <a:srgbClr val="000000"/>
              </a:buClr>
              <a:buFont typeface="Arial" panose="020B0604020202020204" pitchFamily="34" charset="0"/>
              <a:buNone/>
              <a:defRPr/>
            </a:pPr>
            <a:r>
              <a:rPr lang="en-US" dirty="0">
                <a:latin typeface="Arial" pitchFamily="34" charset="0"/>
                <a:cs typeface="Arial" pitchFamily="34" charset="0"/>
              </a:rPr>
              <a:t>.</a:t>
            </a:r>
          </a:p>
          <a:p>
            <a:pPr marL="571500" indent="-457200">
              <a:buFont typeface="Wingdings" pitchFamily="2" charset="2"/>
              <a:buChar char="§"/>
              <a:defRPr/>
            </a:pPr>
            <a:r>
              <a:rPr lang="en-US" sz="2200" dirty="0" err="1"/>
              <a:t>Burdman</a:t>
            </a:r>
            <a:r>
              <a:rPr lang="en-US" sz="2200" dirty="0"/>
              <a:t>, Jessica, “Collaborative Web Development” Addison Wesley</a:t>
            </a:r>
          </a:p>
          <a:p>
            <a:pPr marL="114300" indent="0">
              <a:buFont typeface="Arial" panose="020B0604020202020204" pitchFamily="34" charset="0"/>
              <a:buNone/>
              <a:defRPr/>
            </a:pPr>
            <a:endParaRPr lang="en-US" sz="2200" dirty="0"/>
          </a:p>
          <a:p>
            <a:pPr marL="571500" indent="-457200">
              <a:buFont typeface="Wingdings" pitchFamily="2" charset="2"/>
              <a:buChar char="§"/>
              <a:defRPr/>
            </a:pPr>
            <a:r>
              <a:rPr lang="en-US" sz="2200" dirty="0"/>
              <a:t>Xavier, C, “ Web Technology and Design” , New Age International</a:t>
            </a:r>
          </a:p>
          <a:p>
            <a:pPr marL="114300" indent="0">
              <a:buFont typeface="Arial" panose="020B0604020202020204" pitchFamily="34" charset="0"/>
              <a:buNone/>
              <a:defRPr/>
            </a:pPr>
            <a:endParaRPr lang="en-US" sz="2200" dirty="0"/>
          </a:p>
          <a:p>
            <a:pPr marL="571500" indent="-457200">
              <a:buFont typeface="Wingdings" pitchFamily="2" charset="2"/>
              <a:buChar char="§"/>
              <a:defRPr/>
            </a:pPr>
            <a:r>
              <a:rPr lang="en-US" sz="2200" dirty="0"/>
              <a:t>Ivan </a:t>
            </a:r>
            <a:r>
              <a:rPr lang="en-US" sz="2200" dirty="0" err="1"/>
              <a:t>Bayross</a:t>
            </a:r>
            <a:r>
              <a:rPr lang="en-US" sz="2200" dirty="0"/>
              <a:t>,” HTML, DHTML, Java Script, Perl &amp; CGI”, BPB Publication</a:t>
            </a:r>
          </a:p>
          <a:p>
            <a:pPr>
              <a:spcBef>
                <a:spcPts val="363"/>
              </a:spcBef>
              <a:spcAft>
                <a:spcPct val="0"/>
              </a:spcAft>
              <a:buClr>
                <a:srgbClr val="000000"/>
              </a:buClr>
              <a:defRPr/>
            </a:pPr>
            <a:endParaRPr lang="en-US" sz="2000" dirty="0">
              <a:latin typeface="Arial" pitchFamily="34" charset="0"/>
              <a:cs typeface="Arial" pitchFamily="34" charset="0"/>
            </a:endParaRPr>
          </a:p>
          <a:p>
            <a:pPr>
              <a:spcBef>
                <a:spcPts val="363"/>
              </a:spcBef>
              <a:spcAft>
                <a:spcPct val="0"/>
              </a:spcAft>
              <a:buClr>
                <a:srgbClr val="000000"/>
              </a:buClr>
              <a:defRPr/>
            </a:pPr>
            <a:endParaRPr lang="en-US" sz="2000" dirty="0">
              <a:latin typeface="Arial" pitchFamily="34" charset="0"/>
              <a:cs typeface="Arial" pitchFamily="34" charset="0"/>
            </a:endParaRPr>
          </a:p>
        </p:txBody>
      </p:sp>
      <p:pic>
        <p:nvPicPr>
          <p:cNvPr id="151559"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288"/>
            <a:ext cx="13716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93414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Footer Placeholder 4"/>
          <p:cNvSpPr>
            <a:spLocks noGrp="1"/>
          </p:cNvSpPr>
          <p:nvPr>
            <p:ph type="ftr" sz="quarter" idx="12"/>
          </p:nvPr>
        </p:nvSpPr>
        <p:spPr>
          <a:xfrm>
            <a:off x="2514600" y="6356350"/>
            <a:ext cx="5029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a:buFont typeface="Arial" panose="020B0604020202020204" pitchFamily="34" charset="0"/>
              <a:buNone/>
            </a:pPr>
            <a:r>
              <a:rPr lang="fi-FI" altLang="en-US" sz="1200" dirty="0">
                <a:solidFill>
                  <a:srgbClr val="888888"/>
                </a:solidFill>
                <a:latin typeface="Calibri" panose="020F0502020204030204" pitchFamily="34" charset="0"/>
                <a:sym typeface="Calibri" panose="020F0502020204030204" pitchFamily="34" charset="0"/>
              </a:rPr>
              <a:t>06/15/2022                    Ajeet Kumar          WT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153603" name="Slide Number Placeholder 5"/>
          <p:cNvSpPr>
            <a:spLocks noGrp="1"/>
          </p:cNvSpPr>
          <p:nvPr>
            <p:ph type="sldNum" sz="quarter" idx="4294967295"/>
          </p:nvPr>
        </p:nvSpPr>
        <p:spPr>
          <a:xfrm>
            <a:off x="6797675" y="6356350"/>
            <a:ext cx="2895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buSzPts val="1400"/>
              <a:buFont typeface="Arial" panose="020B0604020202020204" pitchFamily="34" charset="0"/>
              <a:buNone/>
            </a:pPr>
            <a:fld id="{CA850210-5F9A-4C97-931C-FBA0ED706B7D}" type="slidenum">
              <a:rPr lang="en-US" altLang="en-US" sz="1200" smtClean="0">
                <a:solidFill>
                  <a:srgbClr val="888888"/>
                </a:solidFill>
                <a:latin typeface="Calibri" panose="020F0502020204030204" pitchFamily="34" charset="0"/>
                <a:sym typeface="Calibri" panose="020F0502020204030204" pitchFamily="34" charset="0"/>
              </a:rPr>
              <a:pPr algn="ctr">
                <a:buSzPts val="1400"/>
                <a:buFont typeface="Arial" panose="020B0604020202020204" pitchFamily="34" charset="0"/>
                <a:buNone/>
              </a:pPr>
              <a:t>80</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p:cNvSpPr txBox="1">
            <a:spLocks/>
          </p:cNvSpPr>
          <p:nvPr/>
        </p:nvSpPr>
        <p:spPr>
          <a:xfrm>
            <a:off x="1371600" y="-33338"/>
            <a:ext cx="7772400" cy="685801"/>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r>
              <a:rPr lang="en-US" sz="2800" dirty="0"/>
              <a:t>Recap of Unit 3</a:t>
            </a:r>
          </a:p>
        </p:txBody>
      </p:sp>
      <p:sp>
        <p:nvSpPr>
          <p:cNvPr id="418823" name="Text Placeholder 8"/>
          <p:cNvSpPr txBox="1">
            <a:spLocks noGrp="1"/>
          </p:cNvSpPr>
          <p:nvPr>
            <p:ph type="body" idx="1"/>
          </p:nvPr>
        </p:nvSpPr>
        <p:spPr>
          <a:xfrm>
            <a:off x="461963" y="1004888"/>
            <a:ext cx="8159750" cy="4872384"/>
          </a:xfrm>
        </p:spPr>
        <p:txBody>
          <a:bodyPr/>
          <a:lstStyle/>
          <a:p>
            <a:pPr>
              <a:spcBef>
                <a:spcPts val="363"/>
              </a:spcBef>
              <a:spcAft>
                <a:spcPct val="0"/>
              </a:spcAft>
              <a:buClr>
                <a:srgbClr val="000000"/>
              </a:buClr>
            </a:pPr>
            <a:r>
              <a:rPr lang="en-US" altLang="en-US" sz="2200" dirty="0">
                <a:latin typeface="Times New Roman" panose="02020603050405020304" pitchFamily="18" charset="0"/>
                <a:cs typeface="Times New Roman" panose="02020603050405020304" pitchFamily="18" charset="0"/>
              </a:rPr>
              <a:t>Discussed about  the concepts of CSS and its advantages</a:t>
            </a:r>
          </a:p>
          <a:p>
            <a:pPr>
              <a:spcBef>
                <a:spcPts val="363"/>
              </a:spcBef>
              <a:spcAft>
                <a:spcPct val="0"/>
              </a:spcAft>
              <a:buClr>
                <a:srgbClr val="000000"/>
              </a:buClr>
            </a:pPr>
            <a:r>
              <a:rPr lang="en-US" altLang="en-US" sz="2200" dirty="0">
                <a:latin typeface="Times New Roman" panose="02020603050405020304" pitchFamily="18" charset="0"/>
                <a:cs typeface="Times New Roman" panose="02020603050405020304" pitchFamily="18" charset="0"/>
              </a:rPr>
              <a:t>Discussed about various types CSS with its uses and properties</a:t>
            </a:r>
          </a:p>
          <a:p>
            <a:pPr>
              <a:spcBef>
                <a:spcPts val="363"/>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r>
              <a:rPr lang="en-US" altLang="en-US" sz="2200" dirty="0">
                <a:latin typeface="Times New Roman" panose="02020603050405020304" pitchFamily="18" charset="0"/>
                <a:cs typeface="Times New Roman" panose="02020603050405020304" pitchFamily="18" charset="0"/>
              </a:rPr>
              <a:t>Discussed the various types of </a:t>
            </a:r>
            <a:r>
              <a:rPr lang="en-IN" sz="2000" dirty="0">
                <a:latin typeface="Times New Roman" pitchFamily="18" charset="0"/>
                <a:cs typeface="Times New Roman" pitchFamily="18" charset="0"/>
              </a:rPr>
              <a:t>Bootstrapping techniques in web technology.</a:t>
            </a:r>
          </a:p>
          <a:p>
            <a:pPr>
              <a:spcBef>
                <a:spcPts val="363"/>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r>
              <a:rPr lang="en-US" altLang="en-US" sz="2200" dirty="0">
                <a:latin typeface="Times New Roman" panose="02020603050405020304" pitchFamily="18" charset="0"/>
                <a:cs typeface="Times New Roman" panose="02020603050405020304" pitchFamily="18" charset="0"/>
              </a:rPr>
              <a:t>Discussed about various fonts and color using CSS properties to make our page interactive</a:t>
            </a:r>
          </a:p>
          <a:p>
            <a:pPr>
              <a:spcBef>
                <a:spcPts val="363"/>
              </a:spcBef>
              <a:spcAft>
                <a:spcPct val="0"/>
              </a:spcAft>
              <a:buClr>
                <a:srgbClr val="000000"/>
              </a:buClr>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p:txBody>
      </p:sp>
      <p:pic>
        <p:nvPicPr>
          <p:cNvPr id="153607"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288"/>
            <a:ext cx="137160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34676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418823">
                                            <p:txEl>
                                              <p:pRg st="0" end="0"/>
                                            </p:txEl>
                                          </p:spTgt>
                                        </p:tgtEl>
                                        <p:attrNameLst>
                                          <p:attrName>style.visibility</p:attrName>
                                        </p:attrNameLst>
                                      </p:cBhvr>
                                      <p:to>
                                        <p:strVal val="visible"/>
                                      </p:to>
                                    </p:set>
                                    <p:anim calcmode="lin" valueType="num">
                                      <p:cBhvr additive="base">
                                        <p:cTn id="12" dur="500" fill="hold"/>
                                        <p:tgtEl>
                                          <p:spTgt spid="41882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188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418823">
                                            <p:txEl>
                                              <p:pRg st="1" end="1"/>
                                            </p:txEl>
                                          </p:spTgt>
                                        </p:tgtEl>
                                        <p:attrNameLst>
                                          <p:attrName>style.visibility</p:attrName>
                                        </p:attrNameLst>
                                      </p:cBhvr>
                                      <p:to>
                                        <p:strVal val="visible"/>
                                      </p:to>
                                    </p:set>
                                    <p:anim calcmode="lin" valueType="num">
                                      <p:cBhvr additive="base">
                                        <p:cTn id="18" dur="500" fill="hold"/>
                                        <p:tgtEl>
                                          <p:spTgt spid="41882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188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418823">
                                            <p:txEl>
                                              <p:pRg st="3" end="3"/>
                                            </p:txEl>
                                          </p:spTgt>
                                        </p:tgtEl>
                                        <p:attrNameLst>
                                          <p:attrName>style.visibility</p:attrName>
                                        </p:attrNameLst>
                                      </p:cBhvr>
                                      <p:to>
                                        <p:strVal val="visible"/>
                                      </p:to>
                                    </p:set>
                                    <p:anim calcmode="lin" valueType="num">
                                      <p:cBhvr additive="base">
                                        <p:cTn id="24" dur="500" fill="hold"/>
                                        <p:tgtEl>
                                          <p:spTgt spid="41882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188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418823">
                                            <p:txEl>
                                              <p:pRg st="5" end="5"/>
                                            </p:txEl>
                                          </p:spTgt>
                                        </p:tgtEl>
                                        <p:attrNameLst>
                                          <p:attrName>style.visibility</p:attrName>
                                        </p:attrNameLst>
                                      </p:cBhvr>
                                      <p:to>
                                        <p:strVal val="visible"/>
                                      </p:to>
                                    </p:set>
                                    <p:anim calcmode="lin" valueType="num">
                                      <p:cBhvr additive="base">
                                        <p:cTn id="30" dur="500" fill="hold"/>
                                        <p:tgtEl>
                                          <p:spTgt spid="418823">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188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734</TotalTime>
  <Words>4190</Words>
  <Application>Microsoft Office PowerPoint</Application>
  <PresentationFormat>On-screen Show (4:3)</PresentationFormat>
  <Paragraphs>669</Paragraphs>
  <Slides>80</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80</vt:i4>
      </vt:variant>
    </vt:vector>
  </HeadingPairs>
  <TitlesOfParts>
    <vt:vector size="88" baseType="lpstr">
      <vt:lpstr>Arial</vt:lpstr>
      <vt:lpstr>Calibri</vt:lpstr>
      <vt:lpstr>Constantia</vt:lpstr>
      <vt:lpstr>Lucida Sans Typewriter</vt:lpstr>
      <vt:lpstr>Times New Roman</vt:lpstr>
      <vt:lpstr>Wingdings</vt:lpstr>
      <vt:lpstr>Wingdings 2</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Ajeet</cp:lastModifiedBy>
  <cp:revision>73</cp:revision>
  <dcterms:created xsi:type="dcterms:W3CDTF">2006-08-16T00:00:00Z</dcterms:created>
  <dcterms:modified xsi:type="dcterms:W3CDTF">2022-11-16T12:53:11Z</dcterms:modified>
</cp:coreProperties>
</file>